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0"/>
  </p:notesMasterIdLst>
  <p:handoutMasterIdLst>
    <p:handoutMasterId r:id="rId31"/>
  </p:handoutMasterIdLst>
  <p:sldIdLst>
    <p:sldId id="256" r:id="rId2"/>
    <p:sldId id="585" r:id="rId3"/>
    <p:sldId id="442" r:id="rId4"/>
    <p:sldId id="443" r:id="rId5"/>
    <p:sldId id="448" r:id="rId6"/>
    <p:sldId id="447" r:id="rId7"/>
    <p:sldId id="446" r:id="rId8"/>
    <p:sldId id="445" r:id="rId9"/>
    <p:sldId id="451" r:id="rId10"/>
    <p:sldId id="440" r:id="rId11"/>
    <p:sldId id="425" r:id="rId12"/>
    <p:sldId id="426" r:id="rId13"/>
    <p:sldId id="427" r:id="rId14"/>
    <p:sldId id="439" r:id="rId15"/>
    <p:sldId id="437" r:id="rId16"/>
    <p:sldId id="435" r:id="rId17"/>
    <p:sldId id="436" r:id="rId18"/>
    <p:sldId id="594" r:id="rId19"/>
    <p:sldId id="586" r:id="rId20"/>
    <p:sldId id="589" r:id="rId21"/>
    <p:sldId id="590" r:id="rId22"/>
    <p:sldId id="591" r:id="rId23"/>
    <p:sldId id="592" r:id="rId24"/>
    <p:sldId id="593" r:id="rId25"/>
    <p:sldId id="587" r:id="rId26"/>
    <p:sldId id="597" r:id="rId27"/>
    <p:sldId id="595" r:id="rId28"/>
    <p:sldId id="596" r:id="rId29"/>
  </p:sldIdLst>
  <p:sldSz cx="9144000" cy="5143500" type="screen16x9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B1FA"/>
    <a:srgbClr val="FCF7D0"/>
    <a:srgbClr val="FFFFCC"/>
    <a:srgbClr val="FFFF99"/>
    <a:srgbClr val="FFFF66"/>
    <a:srgbClr val="FF9933"/>
    <a:srgbClr val="CCCCFF"/>
    <a:srgbClr val="00FF99"/>
    <a:srgbClr val="CC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2974A-4174-4D73-9DB8-76345478B80C}" v="3" dt="2022-06-03T08:16:20.299"/>
    <p1510:client id="{2D4BD8B0-783F-4D8B-BAAB-C4B4AB7EFDF2}" v="35" dt="2022-06-03T07:43:00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2537" autoAdjust="0"/>
  </p:normalViewPr>
  <p:slideViewPr>
    <p:cSldViewPr>
      <p:cViewPr varScale="1">
        <p:scale>
          <a:sx n="153" d="100"/>
          <a:sy n="153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71853" cy="4617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548" y="0"/>
            <a:ext cx="2971853" cy="4617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C759E-C266-4B15-9CBF-77BAF19CF850}" type="datetimeFigureOut">
              <a:rPr lang="fr-FR" smtClean="0"/>
              <a:t>03/06/2022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3" y="8772862"/>
            <a:ext cx="2971853" cy="4617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548" y="8772862"/>
            <a:ext cx="2971853" cy="4617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5C176-9878-4144-AB0C-F632E63C8F0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200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7F37F-09B1-4B29-9927-D3D3C0E89B0B}" type="datetimeFigureOut">
              <a:rPr lang="en-US" smtClean="0"/>
              <a:t>6/3/2022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49250" y="692150"/>
            <a:ext cx="6159500" cy="3465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1" y="4387136"/>
            <a:ext cx="548640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297180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772670"/>
            <a:ext cx="297180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7F486-80D2-4AA6-B466-E7A54464251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506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079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988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54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590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847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623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236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479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781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771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723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7F486-80D2-4AA6-B466-E7A54464251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707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7F486-80D2-4AA6-B466-E7A5446425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1415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7F486-80D2-4AA6-B466-E7A5446425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643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7F486-80D2-4AA6-B466-E7A5446425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254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7F486-80D2-4AA6-B466-E7A54464251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643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4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7" name="Titre 1"/>
          <p:cNvSpPr txBox="1">
            <a:spLocks/>
          </p:cNvSpPr>
          <p:nvPr userDrawn="1"/>
        </p:nvSpPr>
        <p:spPr>
          <a:xfrm>
            <a:off x="664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dirty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779664077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3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4" y="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2D007-657D-4940-96E4-E59A3DFB18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6/3/2022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1" y="843558"/>
            <a:ext cx="6048164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3276600" y="4919664"/>
            <a:ext cx="2895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dirty="0">
              <a:solidFill>
                <a:srgbClr val="EEECE1"/>
              </a:solidFill>
            </a:endParaRPr>
          </a:p>
        </p:txBody>
      </p:sp>
      <p:sp>
        <p:nvSpPr>
          <p:cNvPr id="13" name="Espace réservé du numéro de diapositive 4"/>
          <p:cNvSpPr txBox="1">
            <a:spLocks/>
          </p:cNvSpPr>
          <p:nvPr userDrawn="1"/>
        </p:nvSpPr>
        <p:spPr>
          <a:xfrm>
            <a:off x="1848" y="4783902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D5BC96-C262-44A9-A0BB-2BDA2E2D380A}" type="slidenum">
              <a:rPr lang="en-US" sz="1000" smtClean="0">
                <a:solidFill>
                  <a:srgbClr val="EEECE1"/>
                </a:solidFill>
              </a:rPr>
              <a:pPr/>
              <a:t>‹N°›</a:t>
            </a:fld>
            <a:endParaRPr lang="en-US" sz="1000" dirty="0">
              <a:solidFill>
                <a:srgbClr val="EEECE1"/>
              </a:solidFill>
            </a:endParaRP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627784" y="4767264"/>
            <a:ext cx="3888432" cy="273844"/>
          </a:xfrm>
          <a:prstGeom prst="rect">
            <a:avLst/>
          </a:prstGeom>
        </p:spPr>
        <p:txBody>
          <a:bodyPr/>
          <a:lstStyle/>
          <a:p>
            <a:r>
              <a:rPr lang="fr-FR" sz="800" dirty="0">
                <a:solidFill>
                  <a:srgbClr val="EEECE1">
                    <a:lumMod val="90000"/>
                  </a:srgbClr>
                </a:solidFill>
              </a:rPr>
              <a:t>Propriété de CCS– Distribution et reproduction interdites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4659982"/>
            <a:ext cx="9144000" cy="4835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>
                  <a:lumMod val="85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A1D40D-7491-4694-8826-B6C4E4A2935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45" y="4815672"/>
            <a:ext cx="701927" cy="172139"/>
          </a:xfrm>
          <a:prstGeom prst="rect">
            <a:avLst/>
          </a:prstGeom>
        </p:spPr>
      </p:pic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00AD5A8D-1044-438A-B87C-735A48B1AC9E}"/>
              </a:ext>
            </a:extLst>
          </p:cNvPr>
          <p:cNvSpPr txBox="1">
            <a:spLocks/>
          </p:cNvSpPr>
          <p:nvPr userDrawn="1"/>
        </p:nvSpPr>
        <p:spPr>
          <a:xfrm>
            <a:off x="0" y="4764819"/>
            <a:ext cx="457200" cy="273844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D5BC96-C262-44A9-A0BB-2BDA2E2D380A}" type="slidenum">
              <a:rPr lang="en-US" sz="600" i="1" smtClean="0">
                <a:solidFill>
                  <a:prstClr val="white">
                    <a:lumMod val="85000"/>
                  </a:prstClr>
                </a:solidFill>
              </a:rPr>
              <a:pPr/>
              <a:t>‹N°›</a:t>
            </a:fld>
            <a:endParaRPr lang="en-US" sz="600" i="1" dirty="0">
              <a:solidFill>
                <a:prstClr val="white">
                  <a:lumMod val="85000"/>
                </a:prstClr>
              </a:solidFill>
            </a:endParaRPr>
          </a:p>
        </p:txBody>
      </p:sp>
      <p:sp>
        <p:nvSpPr>
          <p:cNvPr id="18" name="Espace réservé du pied de page 4">
            <a:extLst>
              <a:ext uri="{FF2B5EF4-FFF2-40B4-BE49-F238E27FC236}">
                <a16:creationId xmlns:a16="http://schemas.microsoft.com/office/drawing/2014/main" id="{354E15B5-F445-4859-A982-A2CA01E5A95A}"/>
              </a:ext>
            </a:extLst>
          </p:cNvPr>
          <p:cNvSpPr txBox="1">
            <a:spLocks/>
          </p:cNvSpPr>
          <p:nvPr userDrawn="1"/>
        </p:nvSpPr>
        <p:spPr>
          <a:xfrm>
            <a:off x="1907704" y="4764819"/>
            <a:ext cx="2059773" cy="273844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" i="1" dirty="0">
                <a:solidFill>
                  <a:prstClr val="white">
                    <a:lumMod val="85000"/>
                  </a:prstClr>
                </a:solidFill>
              </a:rPr>
              <a:t>CHUBB FIRE &amp; SECURITY PROPRIETARY &amp; CONFIDENTIAL </a:t>
            </a:r>
          </a:p>
          <a:p>
            <a:r>
              <a:rPr lang="en-US" sz="500" i="1" dirty="0">
                <a:solidFill>
                  <a:prstClr val="white">
                    <a:lumMod val="85000"/>
                  </a:prstClr>
                </a:solidFill>
              </a:rPr>
              <a:t>No copying or distribution permitted – </a:t>
            </a:r>
          </a:p>
          <a:p>
            <a:r>
              <a:rPr lang="en-US" sz="500" i="1" dirty="0">
                <a:solidFill>
                  <a:prstClr val="white">
                    <a:lumMod val="85000"/>
                  </a:prstClr>
                </a:solidFill>
              </a:rPr>
              <a:t>All rights reserved. Copyright ©2019 Chubb</a:t>
            </a:r>
            <a:endParaRPr lang="fr-FR" sz="500" i="1" dirty="0">
              <a:solidFill>
                <a:prstClr val="white">
                  <a:lumMod val="85000"/>
                </a:prst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E3011C-3A72-4D64-996B-1A65801F7B9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45" y="256487"/>
            <a:ext cx="701927" cy="1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5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78" rtl="0" eaLnBrk="1" latinLnBrk="0" hangingPunct="1">
        <a:spcBef>
          <a:spcPct val="0"/>
        </a:spcBef>
        <a:buNone/>
        <a:defRPr sz="2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378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457189" indent="0" algn="l" defTabSz="914378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914378" indent="0" algn="l" defTabSz="914378" rtl="0" eaLnBrk="1" latinLnBrk="0" hangingPunct="1">
        <a:spcBef>
          <a:spcPct val="20000"/>
        </a:spcBef>
        <a:buFont typeface="Arial" pitchFamily="34" charset="0"/>
        <a:buNone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371566" indent="0" algn="l" defTabSz="914378" rtl="0" eaLnBrk="1" latinLnBrk="0" hangingPunct="1">
        <a:spcBef>
          <a:spcPct val="20000"/>
        </a:spcBef>
        <a:buFont typeface="Arial" pitchFamily="34" charset="0"/>
        <a:buNone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828754" indent="0" algn="l" defTabSz="914378" rtl="0" eaLnBrk="1" latinLnBrk="0" hangingPunct="1">
        <a:spcBef>
          <a:spcPct val="20000"/>
        </a:spcBef>
        <a:buFont typeface="Arial" pitchFamily="34" charset="0"/>
        <a:buNone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interieur.gouv.fr/" TargetMode="Externa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 txBox="1">
            <a:spLocks/>
          </p:cNvSpPr>
          <p:nvPr/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64" y="242181"/>
            <a:ext cx="2169443" cy="529369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" b="22161"/>
          <a:stretch/>
        </p:blipFill>
        <p:spPr>
          <a:xfrm>
            <a:off x="0" y="0"/>
            <a:ext cx="9144000" cy="4659982"/>
          </a:xfrm>
          <a:prstGeom prst="rect">
            <a:avLst/>
          </a:prstGeom>
        </p:spPr>
      </p:pic>
      <p:sp>
        <p:nvSpPr>
          <p:cNvPr id="22" name="Titre 1"/>
          <p:cNvSpPr txBox="1">
            <a:spLocks/>
          </p:cNvSpPr>
          <p:nvPr/>
        </p:nvSpPr>
        <p:spPr>
          <a:xfrm>
            <a:off x="0" y="2205388"/>
            <a:ext cx="9144000" cy="79841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dirty="0">
                <a:solidFill>
                  <a:srgbClr val="1F497D"/>
                </a:solidFill>
              </a:rPr>
              <a:t>La maintenance des 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systèmes de sécurité incendie</a:t>
            </a:r>
          </a:p>
        </p:txBody>
      </p:sp>
      <p:sp>
        <p:nvSpPr>
          <p:cNvPr id="23" name="ZoneTexte 22"/>
          <p:cNvSpPr txBox="1"/>
          <p:nvPr/>
        </p:nvSpPr>
        <p:spPr>
          <a:xfrm rot="18538676">
            <a:off x="6080928" y="3184950"/>
            <a:ext cx="32403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600" i="1" dirty="0" err="1">
                <a:solidFill>
                  <a:srgbClr val="1F497D"/>
                </a:solidFill>
              </a:rPr>
              <a:t>Kobalt</a:t>
            </a:r>
            <a:r>
              <a:rPr lang="fr-FR" sz="600" i="1" dirty="0">
                <a:solidFill>
                  <a:srgbClr val="1F497D"/>
                </a:solidFill>
              </a:rPr>
              <a:t> Communications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364088" y="299474"/>
            <a:ext cx="32403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600" i="1" dirty="0">
                <a:solidFill>
                  <a:srgbClr val="1F497D"/>
                </a:solidFill>
              </a:rPr>
              <a:t>Chubb France – systèmes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3478"/>
            <a:ext cx="2457475" cy="59965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9007A5B-7E15-42A9-A100-58F9EBEFABA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76256" y="2204538"/>
            <a:ext cx="648072" cy="79926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4BC37CE-EC68-45C1-B248-C48B06165C6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3406" y="2204538"/>
            <a:ext cx="648072" cy="7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0234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C98DFD10-C999-4CD0-94D7-662156EB4C44}"/>
              </a:ext>
            </a:extLst>
          </p:cNvPr>
          <p:cNvGrpSpPr/>
          <p:nvPr/>
        </p:nvGrpSpPr>
        <p:grpSpPr>
          <a:xfrm>
            <a:off x="378262" y="1573323"/>
            <a:ext cx="8352927" cy="2932959"/>
            <a:chOff x="378262" y="1573323"/>
            <a:chExt cx="8352927" cy="2932959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B472A030-2012-4B14-B494-B6F36CD92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2478" y="1573923"/>
              <a:ext cx="4993900" cy="2925213"/>
            </a:xfrm>
            <a:prstGeom prst="rect">
              <a:avLst/>
            </a:prstGeom>
          </p:spPr>
        </p:pic>
        <p:pic>
          <p:nvPicPr>
            <p:cNvPr id="15" name="Image 14" descr="Une image contenant intérieur, plafond, place&#10;&#10;Description générée automatiquement">
              <a:extLst>
                <a:ext uri="{FF2B5EF4-FFF2-40B4-BE49-F238E27FC236}">
                  <a16:creationId xmlns:a16="http://schemas.microsoft.com/office/drawing/2014/main" id="{927703A4-394F-4C7C-8A0C-AB43B2A089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8262" y="1573323"/>
              <a:ext cx="3600400" cy="2923869"/>
            </a:xfrm>
            <a:prstGeom prst="rect">
              <a:avLst/>
            </a:prstGeom>
          </p:spPr>
        </p:pic>
        <p:pic>
          <p:nvPicPr>
            <p:cNvPr id="18" name="Image 17" descr="Une image contenant ciel, extérieur&#10;&#10;Description générée automatiquement">
              <a:extLst>
                <a:ext uri="{FF2B5EF4-FFF2-40B4-BE49-F238E27FC236}">
                  <a16:creationId xmlns:a16="http://schemas.microsoft.com/office/drawing/2014/main" id="{47E34E1D-50F6-4BFC-9EF2-31825823A8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54926" y="1573323"/>
              <a:ext cx="2376263" cy="2932959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36AAF41-A41E-4636-841B-71F624DB82F4}"/>
              </a:ext>
            </a:extLst>
          </p:cNvPr>
          <p:cNvSpPr/>
          <p:nvPr/>
        </p:nvSpPr>
        <p:spPr>
          <a:xfrm>
            <a:off x="107504" y="1491630"/>
            <a:ext cx="8765793" cy="3096344"/>
          </a:xfrm>
          <a:prstGeom prst="rect">
            <a:avLst/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Chubb France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464" y="1648257"/>
            <a:ext cx="2866677" cy="26916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5135" y="3924385"/>
            <a:ext cx="5050007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700" b="0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(*) Statistiques des SDIS 2019 – édition 2020, hors feux sur voie publique, sur véhicules, de végétations. Informations recueillies, sur un mode déclaratif, auprès des 99 services d'incendie et de secours. Document téléchargeable sur </a:t>
            </a:r>
            <a:r>
              <a:rPr kumimoji="0" lang="fr-FR" sz="700" b="0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www.interieur.gouv.fr</a:t>
            </a:r>
            <a:r>
              <a:rPr kumimoji="0" lang="fr-FR" sz="700" b="0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4" y="987575"/>
            <a:ext cx="6043339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Une gamme de réponses pour toutes les applications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B7B0B6A-53EA-47B4-BC13-DA118DC14E82}"/>
              </a:ext>
            </a:extLst>
          </p:cNvPr>
          <p:cNvGrpSpPr/>
          <p:nvPr/>
        </p:nvGrpSpPr>
        <p:grpSpPr>
          <a:xfrm>
            <a:off x="467542" y="1648257"/>
            <a:ext cx="5037602" cy="1909541"/>
            <a:chOff x="467542" y="1807535"/>
            <a:chExt cx="5037602" cy="1909541"/>
          </a:xfrm>
        </p:grpSpPr>
        <p:sp>
          <p:nvSpPr>
            <p:cNvPr id="8" name="Rectangle 7"/>
            <p:cNvSpPr/>
            <p:nvPr/>
          </p:nvSpPr>
          <p:spPr>
            <a:xfrm rot="5400000">
              <a:off x="2031573" y="243506"/>
              <a:ext cx="1909541" cy="50375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15C4E2A-63ED-46E3-9DBE-1840E2449B6B}"/>
                </a:ext>
              </a:extLst>
            </p:cNvPr>
            <p:cNvSpPr/>
            <p:nvPr/>
          </p:nvSpPr>
          <p:spPr>
            <a:xfrm>
              <a:off x="467542" y="2370988"/>
              <a:ext cx="5037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7 241 incendies en établissements recevant du public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dont 2 484 au sein d’établissements comportant des locaux à sommeil *.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8248AA-B434-417A-8CC3-92CCAE6222C4}"/>
                </a:ext>
              </a:extLst>
            </p:cNvPr>
            <p:cNvSpPr/>
            <p:nvPr/>
          </p:nvSpPr>
          <p:spPr>
            <a:xfrm>
              <a:off x="467542" y="2803036"/>
              <a:ext cx="496923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8363 incendies en entrepôts, locaux industriels, artisanaux et agricoles *.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CBD1F4-EBD0-46A2-AB78-6AE1A2F7B7AD}"/>
                </a:ext>
              </a:extLst>
            </p:cNvPr>
            <p:cNvSpPr/>
            <p:nvPr/>
          </p:nvSpPr>
          <p:spPr>
            <a:xfrm>
              <a:off x="467544" y="3163076"/>
              <a:ext cx="5037600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Les solutions de sécurité efficaces, maitrisées et pérennes combinent facteurs d’analyses variés, requièrent des adaptations maîtrisées, dans un contexte d’exigences accrues de protection des données.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CC9E5-3434-4421-85C5-DDD7AB6C378D}"/>
                </a:ext>
              </a:extLst>
            </p:cNvPr>
            <p:cNvSpPr/>
            <p:nvPr/>
          </p:nvSpPr>
          <p:spPr>
            <a:xfrm>
              <a:off x="467542" y="1864115"/>
              <a:ext cx="5037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 risque incendie est permanent, les statistiques du ministère de l’intérieur*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 rappellent chaque année.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6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 txBox="1">
            <a:spLocks/>
          </p:cNvSpPr>
          <p:nvPr/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" b="22161"/>
          <a:stretch/>
        </p:blipFill>
        <p:spPr>
          <a:xfrm>
            <a:off x="0" y="0"/>
            <a:ext cx="9144000" cy="4659982"/>
          </a:xfrm>
          <a:prstGeom prst="rect">
            <a:avLst/>
          </a:prstGeom>
        </p:spPr>
      </p:pic>
      <p:sp>
        <p:nvSpPr>
          <p:cNvPr id="12" name="Titre 1"/>
          <p:cNvSpPr txBox="1">
            <a:spLocks/>
          </p:cNvSpPr>
          <p:nvPr/>
        </p:nvSpPr>
        <p:spPr>
          <a:xfrm>
            <a:off x="0" y="1780512"/>
            <a:ext cx="9144000" cy="116028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dirty="0">
                <a:solidFill>
                  <a:srgbClr val="1F497D"/>
                </a:solidFill>
              </a:rPr>
              <a:t>La maintenance des systèmes de sécurité incendie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ERP – IGH – Code du travail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NF S 61-933 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APSAD F7</a:t>
            </a:r>
          </a:p>
        </p:txBody>
      </p:sp>
      <p:sp>
        <p:nvSpPr>
          <p:cNvPr id="13" name="ZoneTexte 12"/>
          <p:cNvSpPr txBox="1"/>
          <p:nvPr/>
        </p:nvSpPr>
        <p:spPr>
          <a:xfrm rot="18538676">
            <a:off x="6080928" y="3184950"/>
            <a:ext cx="32403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600" i="1" dirty="0" err="1">
                <a:solidFill>
                  <a:srgbClr val="1F497D"/>
                </a:solidFill>
              </a:rPr>
              <a:t>Kobalt</a:t>
            </a:r>
            <a:r>
              <a:rPr lang="fr-FR" sz="600" i="1" dirty="0">
                <a:solidFill>
                  <a:srgbClr val="1F497D"/>
                </a:solidFill>
              </a:rPr>
              <a:t> Communications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40C44F0-6F4E-477A-82AC-2149ED90476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3523" y="1779663"/>
            <a:ext cx="940805" cy="116028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539706-49F6-4B3A-80FA-CFDADA9071C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3406" y="1779662"/>
            <a:ext cx="940806" cy="116028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453F4CE-919C-43D9-B832-E353212AC4D1}"/>
              </a:ext>
            </a:extLst>
          </p:cNvPr>
          <p:cNvSpPr txBox="1"/>
          <p:nvPr/>
        </p:nvSpPr>
        <p:spPr>
          <a:xfrm>
            <a:off x="6948264" y="4227934"/>
            <a:ext cx="17281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i="1" dirty="0"/>
              <a:t>Édition du diaporama : juillet 2021</a:t>
            </a:r>
          </a:p>
        </p:txBody>
      </p:sp>
    </p:spTree>
    <p:extLst>
      <p:ext uri="{BB962C8B-B14F-4D97-AF65-F5344CB8AC3E}">
        <p14:creationId xmlns:p14="http://schemas.microsoft.com/office/powerpoint/2010/main" val="289774614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9CA8050-D19F-4EED-861A-16AC22E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1200" dirty="0"/>
              <a:t>La maintenance des systèmes de sécurité incendie</a:t>
            </a:r>
            <a:br>
              <a:rPr lang="fr-FR" dirty="0"/>
            </a:br>
            <a:r>
              <a:rPr lang="fr-FR" dirty="0"/>
              <a:t>La règlementation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EB01B9-E437-4E3B-89E6-EA967EBE9954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Établissements recevant du public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303B6A9-F09E-4ABD-A13E-BCE9E1EC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442670"/>
            <a:ext cx="5328592" cy="15739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1CE379-D23C-4762-9B4C-C5F25BC58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3088464"/>
            <a:ext cx="5328592" cy="14749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BC30BE-D5DB-4938-A48B-7597C8250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82" y="1442670"/>
            <a:ext cx="2205070" cy="31207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578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9CA8050-D19F-4EED-861A-16AC22E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règlementation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75C95D6-C5C6-4E9A-83B3-1DFD4E74F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838" y="1936757"/>
            <a:ext cx="5333586" cy="19243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4A85F5D-A512-4B40-AF06-2AE4CC642D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4014"/>
          <a:stretch/>
        </p:blipFill>
        <p:spPr>
          <a:xfrm>
            <a:off x="3054838" y="1442670"/>
            <a:ext cx="5328592" cy="409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01FB8E5-8168-462D-B1D9-DD8D06B26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838" y="3946185"/>
            <a:ext cx="5328592" cy="5697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3736DF-1BA1-407D-A56A-944997194D97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Établissements recevant du public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2D2425B-9383-4FED-BF8C-2828F06C2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82" y="1442670"/>
            <a:ext cx="2205070" cy="31207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777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9CA8050-D19F-4EED-861A-16AC22E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règlementation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742A5A9-F9CE-490D-A3BD-E0973BE51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938686"/>
            <a:ext cx="5328592" cy="997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CF623DA-26C7-49E1-B725-7DF9333CBF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4014"/>
          <a:stretch/>
        </p:blipFill>
        <p:spPr>
          <a:xfrm>
            <a:off x="2987824" y="1442670"/>
            <a:ext cx="5328592" cy="409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9049C5-F9CC-405A-BF06-F3F2FFB5581C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Établissements recevant du public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F1057E0-C10B-42DD-836B-A7921CB1B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82" y="1442670"/>
            <a:ext cx="2205070" cy="31207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585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9CA8050-D19F-4EED-861A-16AC22E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règlementation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4487FA-A0D2-4DD1-96E7-25BA5965BE01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Immeubles de grande hauteur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1DAAA9C-67ED-419C-AA1A-85B65B7B1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955105"/>
            <a:ext cx="5328592" cy="13367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4AC7479-AF2E-4E26-9824-1314819C98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4014"/>
          <a:stretch/>
        </p:blipFill>
        <p:spPr>
          <a:xfrm>
            <a:off x="2987824" y="1442670"/>
            <a:ext cx="5328592" cy="409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93D7329-92EE-432E-8E42-3AF2C8D13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82" y="1442670"/>
            <a:ext cx="2205070" cy="31207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536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9CA8050-D19F-4EED-861A-16AC22E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règlementation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6A4C570-BFA9-4C4C-A272-363A0C7AF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3" y="1984418"/>
            <a:ext cx="5328593" cy="195548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BC58F38-811D-400D-BC09-6B7935D68B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4014"/>
          <a:stretch/>
        </p:blipFill>
        <p:spPr>
          <a:xfrm>
            <a:off x="2987824" y="1442670"/>
            <a:ext cx="5328592" cy="409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35CF559-84A1-4B1A-9F14-108EBA76E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82" y="1442670"/>
            <a:ext cx="2205070" cy="31207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5D0846-88A5-413E-8762-8069DC738D53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Immeubles de grande hauteur</a:t>
            </a:r>
          </a:p>
        </p:txBody>
      </p:sp>
    </p:spTree>
    <p:extLst>
      <p:ext uri="{BB962C8B-B14F-4D97-AF65-F5344CB8AC3E}">
        <p14:creationId xmlns:p14="http://schemas.microsoft.com/office/powerpoint/2010/main" val="112586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9CA8050-D19F-4EED-861A-16AC22E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règlementation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BAE8C-CD7C-4481-BB37-0F38D11D3239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Immeubles relevant du code du travail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64E769D-A9E0-47E7-B0AE-CF6D27572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2" y="1442670"/>
            <a:ext cx="5328594" cy="16277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CBC61B-AC0B-4736-9B1F-5B63EDB76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82" y="1442670"/>
            <a:ext cx="2205070" cy="31207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471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 txBox="1">
            <a:spLocks/>
          </p:cNvSpPr>
          <p:nvPr/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" b="22161"/>
          <a:stretch/>
        </p:blipFill>
        <p:spPr>
          <a:xfrm>
            <a:off x="0" y="0"/>
            <a:ext cx="9144000" cy="4659982"/>
          </a:xfrm>
          <a:prstGeom prst="rect">
            <a:avLst/>
          </a:prstGeom>
        </p:spPr>
      </p:pic>
      <p:sp>
        <p:nvSpPr>
          <p:cNvPr id="12" name="Titre 1"/>
          <p:cNvSpPr txBox="1">
            <a:spLocks/>
          </p:cNvSpPr>
          <p:nvPr/>
        </p:nvSpPr>
        <p:spPr>
          <a:xfrm>
            <a:off x="0" y="1779661"/>
            <a:ext cx="9144000" cy="1160283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Maintenance des SSI et 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Prestations APSAD F7 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 rot="18538676">
            <a:off x="6080928" y="3184950"/>
            <a:ext cx="32403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600" i="1" dirty="0" err="1">
                <a:solidFill>
                  <a:srgbClr val="1F497D"/>
                </a:solidFill>
              </a:rPr>
              <a:t>Kobalt</a:t>
            </a:r>
            <a:r>
              <a:rPr lang="fr-FR" sz="600" i="1" dirty="0">
                <a:solidFill>
                  <a:srgbClr val="1F497D"/>
                </a:solidFill>
              </a:rPr>
              <a:t> Communications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B8186C-63A5-4E99-AA3D-AA70663F30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3523" y="1779663"/>
            <a:ext cx="940805" cy="116028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B5AC5E7-934F-4213-A6D7-6C391AD20F9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3406" y="1779662"/>
            <a:ext cx="940806" cy="116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93963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2" y="1468578"/>
            <a:ext cx="1631052" cy="23151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25"/>
          <p:cNvSpPr>
            <a:spLocks noChangeArrowheads="1"/>
          </p:cNvSpPr>
          <p:nvPr/>
        </p:nvSpPr>
        <p:spPr bwMode="auto">
          <a:xfrm>
            <a:off x="4355977" y="1490176"/>
            <a:ext cx="4503318" cy="13696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1100" kern="0" dirty="0">
              <a:solidFill>
                <a:srgbClr val="000000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Certification de service : F7 APSAD</a:t>
            </a:r>
            <a:endParaRPr 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4355977" y="3625186"/>
            <a:ext cx="4503318" cy="769441"/>
            <a:chOff x="4355977" y="3219822"/>
            <a:chExt cx="4503318" cy="769441"/>
          </a:xfrm>
        </p:grpSpPr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4355977" y="3219823"/>
              <a:ext cx="4503318" cy="769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1000" kern="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55977" y="3219822"/>
              <a:ext cx="4503318" cy="769441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fr-FR" sz="1000" b="1" kern="0" dirty="0"/>
                <a:t>Compte-rendu de Vérification Périodique Q7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400" kern="0" dirty="0"/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/>
              </a:pPr>
              <a:r>
                <a:rPr lang="fr-FR" sz="1000" kern="0" dirty="0"/>
                <a:t>Reprend la nature d’installation effectuée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/>
              </a:pPr>
              <a:r>
                <a:rPr lang="fr-FR" sz="1000" kern="0" dirty="0"/>
                <a:t>Identifie les dysfonctionnements</a:t>
              </a:r>
            </a:p>
            <a:p>
              <a:pPr marL="285750" indent="-285750" fontAlgn="base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  <a:defRPr/>
              </a:pPr>
              <a:r>
                <a:rPr lang="fr-FR" sz="1000" kern="0" dirty="0"/>
                <a:t>Propose les améliorations  par rapport au référentiel applicable.</a:t>
              </a:r>
            </a:p>
          </p:txBody>
        </p:sp>
      </p:grpSp>
      <p:sp>
        <p:nvSpPr>
          <p:cNvPr id="8" name="ZoneTexte 7"/>
          <p:cNvSpPr txBox="1"/>
          <p:nvPr/>
        </p:nvSpPr>
        <p:spPr>
          <a:xfrm>
            <a:off x="4355977" y="1490176"/>
            <a:ext cx="4503318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000" b="1" kern="0" dirty="0"/>
              <a:t>Principe général 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 sz="400" kern="0" dirty="0"/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/>
              <a:t>Analyse de l’adaptation au risque surveillé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/>
              <a:t>Vérifications périodiques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/>
              <a:t>Maintenance préventive et corrective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/>
              <a:t>Vérification de conformité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/>
              <a:t>Mise à jour dossier technique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788" y="2711504"/>
            <a:ext cx="2420092" cy="1683123"/>
          </a:xfrm>
          <a:prstGeom prst="rect">
            <a:avLst/>
          </a:prstGeom>
          <a:noFill/>
          <a:ln>
            <a:noFill/>
          </a:ln>
          <a:effectLst>
            <a:outerShdw blurRad="50800" dist="63500" dir="27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lèche droite 10"/>
          <p:cNvSpPr/>
          <p:nvPr/>
        </p:nvSpPr>
        <p:spPr>
          <a:xfrm>
            <a:off x="200023" y="1474500"/>
            <a:ext cx="4042711" cy="3082106"/>
          </a:xfrm>
          <a:prstGeom prst="rightArrow">
            <a:avLst/>
          </a:prstGeom>
          <a:solidFill>
            <a:schemeClr val="accent1">
              <a:alpha val="35000"/>
            </a:schemeClr>
          </a:solidFill>
          <a:ln w="952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975566" y="2274128"/>
            <a:ext cx="1345590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>
                <a:solidFill>
                  <a:srgbClr val="FFFF00"/>
                </a:solidFill>
              </a:rPr>
              <a:t>OBLIGATION</a:t>
            </a:r>
          </a:p>
          <a:p>
            <a:pPr algn="ctr"/>
            <a:r>
              <a:rPr lang="fr-FR" sz="1000" b="1" dirty="0">
                <a:solidFill>
                  <a:srgbClr val="FFFF00"/>
                </a:solidFill>
              </a:rPr>
              <a:t>CONTRACTUELLE</a:t>
            </a:r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5660824" y="4717182"/>
            <a:ext cx="3190774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800" i="1" kern="0" dirty="0">
                <a:solidFill>
                  <a:srgbClr val="4F81BD">
                    <a:lumMod val="20000"/>
                    <a:lumOff val="80000"/>
                  </a:srgbClr>
                </a:solidFill>
              </a:rPr>
              <a:t>Règlement &amp; certificats : www.cnpp.com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" y="987574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Maintenance SDI – CMSI</a:t>
            </a:r>
            <a:endParaRPr lang="fr-FR" sz="1200" b="1" baseline="3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98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156176" y="1474500"/>
            <a:ext cx="2808313" cy="283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Certification de service : F7 APSAD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6156175" y="1474500"/>
            <a:ext cx="2808314" cy="40011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>
                <a:solidFill>
                  <a:srgbClr val="002060"/>
                </a:solidFill>
              </a:rPr>
              <a:t>Reprise de la nature d’installation faisant l’objet de la vérification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1995686"/>
            <a:ext cx="4248473" cy="232049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4" y="987574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Maintenance SDI – CMSI</a:t>
            </a:r>
            <a:endParaRPr lang="fr-FR" sz="1200" b="1" baseline="3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9510" y="1474500"/>
            <a:ext cx="424847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100" kern="0" dirty="0"/>
              <a:t>Trame de déclaration Q7 (extrait)</a:t>
            </a:r>
          </a:p>
        </p:txBody>
      </p:sp>
    </p:spTree>
    <p:extLst>
      <p:ext uri="{BB962C8B-B14F-4D97-AF65-F5344CB8AC3E}">
        <p14:creationId xmlns:p14="http://schemas.microsoft.com/office/powerpoint/2010/main" val="259760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164761" y="1474500"/>
            <a:ext cx="2799727" cy="283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Certification de service : F7 APSAD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6164760" y="1450216"/>
            <a:ext cx="2799728" cy="615553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>
                <a:solidFill>
                  <a:srgbClr val="002060"/>
                </a:solidFill>
              </a:rPr>
              <a:t>Identification des dysfonctionnements</a:t>
            </a: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lang="fr-FR" sz="400" kern="0" dirty="0">
              <a:solidFill>
                <a:srgbClr val="002060"/>
              </a:solidFill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1000" kern="0" dirty="0">
                <a:solidFill>
                  <a:srgbClr val="002060"/>
                </a:solidFill>
              </a:rPr>
              <a:t>Proposition des améliorations  par rapport au référentiel applicable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510" y="1474500"/>
            <a:ext cx="4248474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1100" kern="0" dirty="0"/>
              <a:t>Trame de déclaration Q7 (extrait)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995686"/>
            <a:ext cx="4248472" cy="16993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4" y="987574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Maintenance SDI – CMSI</a:t>
            </a:r>
            <a:endParaRPr lang="fr-FR" sz="1200" b="1" baseline="3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97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" b="22161"/>
          <a:stretch/>
        </p:blipFill>
        <p:spPr>
          <a:xfrm>
            <a:off x="0" y="0"/>
            <a:ext cx="9144000" cy="4659982"/>
          </a:xfrm>
          <a:prstGeom prst="rect">
            <a:avLst/>
          </a:prstGeom>
        </p:spPr>
      </p:pic>
      <p:sp>
        <p:nvSpPr>
          <p:cNvPr id="41" name="Titre 1"/>
          <p:cNvSpPr txBox="1">
            <a:spLocks/>
          </p:cNvSpPr>
          <p:nvPr/>
        </p:nvSpPr>
        <p:spPr>
          <a:xfrm>
            <a:off x="0" y="1779662"/>
            <a:ext cx="9144000" cy="1160284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r>
              <a:rPr lang="fr-FR" sz="2400" dirty="0">
                <a:solidFill>
                  <a:srgbClr val="1F497D"/>
                </a:solidFill>
              </a:rPr>
              <a:t>La NF S61-933</a:t>
            </a: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  <a:p>
            <a:pPr algn="ctr"/>
            <a:endParaRPr lang="fr-FR" sz="2400" dirty="0">
              <a:solidFill>
                <a:srgbClr val="1F497D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 rot="18538676">
            <a:off x="6080928" y="3184950"/>
            <a:ext cx="32403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600" i="1" dirty="0" err="1">
                <a:solidFill>
                  <a:srgbClr val="1F497D"/>
                </a:solidFill>
              </a:rPr>
              <a:t>Kobalt</a:t>
            </a:r>
            <a:r>
              <a:rPr lang="fr-FR" sz="600" i="1" dirty="0">
                <a:solidFill>
                  <a:srgbClr val="1F497D"/>
                </a:solidFill>
              </a:rPr>
              <a:t> Communications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BB4D5F-E4E5-40DD-AFC7-9F35E03A9AB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3523" y="1779663"/>
            <a:ext cx="940805" cy="116028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F3649A1-F66A-47DD-B3AE-C1FD6B4FD31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3406" y="1779662"/>
            <a:ext cx="940806" cy="116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2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C556BF-C625-45F3-9781-0ADC56F51EFA}"/>
              </a:ext>
            </a:extLst>
          </p:cNvPr>
          <p:cNvSpPr/>
          <p:nvPr/>
        </p:nvSpPr>
        <p:spPr>
          <a:xfrm>
            <a:off x="5724128" y="2216800"/>
            <a:ext cx="424045" cy="14404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lang="fr-FR" dirty="0">
                <a:solidFill>
                  <a:srgbClr val="4F81BD">
                    <a:lumMod val="75000"/>
                  </a:srgbClr>
                </a:solidFill>
              </a:rPr>
              <a:t>NF S61-933 – avril 2019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Les grands thèmes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3808" y="1464303"/>
            <a:ext cx="3024336" cy="21929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Domaine d’application et les références normatives.</a:t>
            </a: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endParaRPr lang="fr-FR" sz="200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Enregistrement et périodicité des actions de maintenance.</a:t>
            </a: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endParaRPr lang="fr-FR" sz="200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Traçabilité des interventions préventives et correctives.</a:t>
            </a: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endParaRPr lang="fr-FR" sz="200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du SDI</a:t>
            </a: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endParaRPr lang="fr-FR" sz="200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du CMSI.</a:t>
            </a: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endParaRPr lang="fr-FR" sz="200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de l’alarme.</a:t>
            </a: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endParaRPr lang="fr-FR" sz="200" dirty="0">
              <a:solidFill>
                <a:prstClr val="black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300"/>
              </a:spcAft>
              <a:buClr>
                <a:srgbClr val="0060AE"/>
              </a:buClr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</a:pPr>
            <a:r>
              <a:rPr lang="fr-FR" sz="900" dirty="0">
                <a:solidFill>
                  <a:prstClr val="black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du compartimentage.</a:t>
            </a:r>
          </a:p>
        </p:txBody>
      </p:sp>
      <p:sp>
        <p:nvSpPr>
          <p:cNvPr id="7" name="Pentagone 7">
            <a:extLst>
              <a:ext uri="{FF2B5EF4-FFF2-40B4-BE49-F238E27FC236}">
                <a16:creationId xmlns:a16="http://schemas.microsoft.com/office/drawing/2014/main" id="{53F7ED04-E3FB-40BC-AD62-B10F7A42E577}"/>
              </a:ext>
            </a:extLst>
          </p:cNvPr>
          <p:cNvSpPr/>
          <p:nvPr/>
        </p:nvSpPr>
        <p:spPr>
          <a:xfrm>
            <a:off x="2051720" y="1491630"/>
            <a:ext cx="512059" cy="1477328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64303"/>
            <a:ext cx="2017929" cy="28684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34B2887-2AF9-44F9-96F9-96F3BCD39B1C}"/>
              </a:ext>
            </a:extLst>
          </p:cNvPr>
          <p:cNvSpPr txBox="1"/>
          <p:nvPr/>
        </p:nvSpPr>
        <p:spPr>
          <a:xfrm>
            <a:off x="6048164" y="2216800"/>
            <a:ext cx="2705530" cy="21159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du désenfumage naturel ou mécanique.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endParaRPr kumimoji="0" lang="fr-FR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des alimentations.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endParaRPr kumimoji="0" lang="fr-FR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Essais fonctionnels des SDAD.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endParaRPr kumimoji="0" lang="fr-FR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Obligations incombant à l’exploitant.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endParaRPr kumimoji="0" lang="fr-FR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Aspects aérauliques de la fonction désenfumage mécanique.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endParaRPr kumimoji="0" lang="fr-FR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Times New Roman" panose="02020603050405020304" pitchFamily="18" charset="0"/>
                <a:cs typeface="Times New Roman" panose="02020603050405020304" pitchFamily="18" charset="0"/>
              </a:rPr>
              <a:t>Ajout d’une annexe sur les méthodes de mesures pour le désenfumage mécanique (§ A.6.3 et annexe F).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60AE"/>
              </a:buClr>
              <a:buSzTx/>
              <a:buFont typeface="Wingdings" panose="05000000000000000000" pitchFamily="2" charset="2"/>
              <a:buChar char=""/>
              <a:tabLst>
                <a:tab pos="408940" algn="l"/>
                <a:tab pos="540385" algn="l"/>
                <a:tab pos="180340" algn="l"/>
                <a:tab pos="540385" algn="l"/>
              </a:tabLst>
              <a:defRPr/>
            </a:pP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entagone 7">
            <a:extLst>
              <a:ext uri="{FF2B5EF4-FFF2-40B4-BE49-F238E27FC236}">
                <a16:creationId xmlns:a16="http://schemas.microsoft.com/office/drawing/2014/main" id="{BA98630B-710A-42F4-A593-2F9F597227A7}"/>
              </a:ext>
            </a:extLst>
          </p:cNvPr>
          <p:cNvSpPr/>
          <p:nvPr/>
        </p:nvSpPr>
        <p:spPr>
          <a:xfrm rot="5400000">
            <a:off x="7124526" y="387941"/>
            <a:ext cx="552806" cy="2705530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Pentagone 7">
            <a:extLst>
              <a:ext uri="{FF2B5EF4-FFF2-40B4-BE49-F238E27FC236}">
                <a16:creationId xmlns:a16="http://schemas.microsoft.com/office/drawing/2014/main" id="{2D01DB9A-3908-451E-9633-4A4B0AE047AC}"/>
              </a:ext>
            </a:extLst>
          </p:cNvPr>
          <p:cNvSpPr/>
          <p:nvPr/>
        </p:nvSpPr>
        <p:spPr>
          <a:xfrm rot="16200000">
            <a:off x="4098441" y="2563061"/>
            <a:ext cx="531287" cy="3008117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1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923928" y="1491630"/>
            <a:ext cx="4968552" cy="20162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fr-FR" altLang="fr-FR" sz="11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Obligations générales</a:t>
            </a:r>
          </a:p>
        </p:txBody>
      </p:sp>
      <p:sp>
        <p:nvSpPr>
          <p:cNvPr id="6" name="ZoneTexte 4"/>
          <p:cNvSpPr txBox="1">
            <a:spLocks noChangeArrowheads="1"/>
          </p:cNvSpPr>
          <p:nvPr/>
        </p:nvSpPr>
        <p:spPr bwMode="auto">
          <a:xfrm>
            <a:off x="3923928" y="1491630"/>
            <a:ext cx="4968552" cy="167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fr-FR" altLang="fr-FR" sz="900" dirty="0">
                <a:latin typeface="+mj-lt"/>
              </a:rPr>
              <a:t>Obligations des exploitants ( accessibilité, sécurité)</a:t>
            </a:r>
          </a:p>
          <a:p>
            <a:pPr eaLnBrk="1" hangingPunct="1">
              <a:buFont typeface="Wingdings" pitchFamily="2" charset="2"/>
              <a:buChar char="§"/>
            </a:pPr>
            <a:endParaRPr lang="fr-FR" altLang="fr-FR" sz="900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fr-FR" altLang="fr-FR" sz="900" dirty="0">
                <a:latin typeface="+mj-lt"/>
              </a:rPr>
              <a:t>Accessibilité et formation aux outils de paramétrage aux équipements et logiciels du SSI</a:t>
            </a:r>
          </a:p>
          <a:p>
            <a:pPr eaLnBrk="1" hangingPunct="1">
              <a:buFont typeface="Wingdings" pitchFamily="2" charset="2"/>
              <a:buChar char="§"/>
            </a:pPr>
            <a:endParaRPr lang="fr-FR" altLang="fr-FR" sz="900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fr-FR" altLang="fr-FR" sz="900" dirty="0">
                <a:latin typeface="+mj-lt"/>
              </a:rPr>
              <a:t>États des lieux en cas de changement de mainteneur</a:t>
            </a:r>
          </a:p>
          <a:p>
            <a:pPr eaLnBrk="1" hangingPunct="1">
              <a:buFont typeface="Wingdings" pitchFamily="2" charset="2"/>
              <a:buChar char="§"/>
            </a:pPr>
            <a:endParaRPr lang="fr-FR" altLang="fr-FR" sz="900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fr-FR" altLang="fr-FR" sz="900" dirty="0">
                <a:latin typeface="+mj-lt"/>
              </a:rPr>
              <a:t>Définition de la périodicité des tests</a:t>
            </a:r>
          </a:p>
          <a:p>
            <a:pPr eaLnBrk="1" hangingPunct="1">
              <a:buFont typeface="Wingdings" pitchFamily="2" charset="2"/>
              <a:buChar char="§"/>
            </a:pPr>
            <a:endParaRPr lang="fr-FR" altLang="fr-FR" sz="900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fr-FR" altLang="fr-FR" sz="900" dirty="0">
                <a:latin typeface="+mj-lt"/>
              </a:rPr>
              <a:t>Essais fonctionnels de chacun des équipements</a:t>
            </a:r>
          </a:p>
          <a:p>
            <a:pPr eaLnBrk="1" hangingPunct="1">
              <a:buFont typeface="Wingdings" pitchFamily="2" charset="2"/>
              <a:buChar char="§"/>
            </a:pPr>
            <a:endParaRPr lang="fr-FR" altLang="fr-FR" sz="900" dirty="0">
              <a:latin typeface="+mj-lt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fr-FR" altLang="fr-FR" sz="900" dirty="0">
                <a:latin typeface="+mj-lt"/>
              </a:rPr>
              <a:t>Enregistrement des actions de maintenance</a:t>
            </a:r>
          </a:p>
          <a:p>
            <a:pPr eaLnBrk="1" hangingPunct="1">
              <a:buFont typeface="Wingdings" pitchFamily="2" charset="2"/>
              <a:buChar char="§"/>
            </a:pPr>
            <a:endParaRPr lang="fr-FR" altLang="fr-FR" sz="400" dirty="0">
              <a:latin typeface="+mj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E8557B7-2C38-4008-998B-91801A36C145}"/>
              </a:ext>
            </a:extLst>
          </p:cNvPr>
          <p:cNvSpPr txBox="1"/>
          <p:nvPr/>
        </p:nvSpPr>
        <p:spPr>
          <a:xfrm>
            <a:off x="8100392" y="3030512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200" i="1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Extraits </a:t>
            </a:r>
            <a:endParaRPr lang="fr-FR" i="1" dirty="0"/>
          </a:p>
        </p:txBody>
      </p:sp>
      <p:sp>
        <p:nvSpPr>
          <p:cNvPr id="13" name="Pentagone 7">
            <a:extLst>
              <a:ext uri="{FF2B5EF4-FFF2-40B4-BE49-F238E27FC236}">
                <a16:creationId xmlns:a16="http://schemas.microsoft.com/office/drawing/2014/main" id="{7082239D-5B96-4CCA-ACA8-642812BC05DE}"/>
              </a:ext>
            </a:extLst>
          </p:cNvPr>
          <p:cNvSpPr/>
          <p:nvPr/>
        </p:nvSpPr>
        <p:spPr>
          <a:xfrm>
            <a:off x="2051720" y="1491630"/>
            <a:ext cx="512059" cy="1477328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5104311-1F81-49FC-9119-7ADC6D2DA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64303"/>
            <a:ext cx="2017929" cy="28684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2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923928" y="1491629"/>
            <a:ext cx="4968552" cy="25083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fr-FR" altLang="fr-FR" sz="11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</a:t>
            </a:r>
            <a:br>
              <a:rPr lang="fr-FR" dirty="0">
                <a:solidFill>
                  <a:srgbClr val="4F81BD">
                    <a:lumMod val="75000"/>
                  </a:srgbClr>
                </a:solidFill>
              </a:rPr>
            </a:br>
            <a:r>
              <a:rPr lang="fr-FR" dirty="0">
                <a:solidFill>
                  <a:srgbClr val="4F81BD">
                    <a:lumMod val="75000"/>
                  </a:srgbClr>
                </a:solidFill>
              </a:rPr>
              <a:t>La maintenance des systèmes de sécurité incendie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23928" y="1491630"/>
            <a:ext cx="49685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b="1" dirty="0">
                <a:latin typeface="+mj-lt"/>
              </a:rPr>
              <a:t>Périodicité des opérations de maintenance</a:t>
            </a:r>
          </a:p>
          <a:p>
            <a:endParaRPr lang="fr-FR" sz="900" dirty="0">
              <a:latin typeface="+mj-lt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900" dirty="0">
                <a:latin typeface="+mj-lt"/>
              </a:rPr>
              <a:t>1x / an minimum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900" dirty="0">
              <a:latin typeface="+mj-lt"/>
            </a:endParaRP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900" dirty="0">
                <a:solidFill>
                  <a:prstClr val="black"/>
                </a:solidFill>
                <a:latin typeface="+mj-lt"/>
              </a:rPr>
              <a:t>Pour les SSI catégorie A de 2 zones de sécurité  ou plus:</a:t>
            </a:r>
          </a:p>
          <a:p>
            <a:pPr lvl="1"/>
            <a:endParaRPr lang="fr-FR" sz="900" dirty="0">
              <a:solidFill>
                <a:prstClr val="black"/>
              </a:solidFill>
              <a:latin typeface="+mj-lt"/>
            </a:endParaRPr>
          </a:p>
          <a:p>
            <a:pPr lvl="1"/>
            <a:r>
              <a:rPr lang="fr-FR" sz="900" dirty="0">
                <a:solidFill>
                  <a:prstClr val="black"/>
                </a:solidFill>
                <a:latin typeface="+mj-lt"/>
              </a:rPr>
              <a:t>Les essais fonctionnels doivent être réalisés en deux visites espacées au minimum de quatre mois :</a:t>
            </a:r>
          </a:p>
          <a:p>
            <a:pPr lvl="1"/>
            <a:endParaRPr lang="fr-FR" sz="900" dirty="0">
              <a:solidFill>
                <a:prstClr val="black"/>
              </a:solidFill>
              <a:latin typeface="+mj-lt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prstClr val="black"/>
                </a:solidFill>
                <a:latin typeface="+mj-lt"/>
              </a:rPr>
              <a:t>1 essai de chaque scénario mode UCMC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prstClr val="black"/>
                </a:solidFill>
                <a:latin typeface="+mj-lt"/>
              </a:rPr>
              <a:t>1 essai de chaque scénario mode automatique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fr-FR" sz="900" dirty="0">
              <a:solidFill>
                <a:prstClr val="black"/>
              </a:solidFill>
              <a:latin typeface="+mj-lt"/>
            </a:endParaRPr>
          </a:p>
          <a:p>
            <a:pPr lvl="1"/>
            <a:endParaRPr lang="fr-FR" sz="900" dirty="0">
              <a:solidFill>
                <a:prstClr val="black"/>
              </a:solidFill>
              <a:latin typeface="+mj-lt"/>
            </a:endParaRPr>
          </a:p>
          <a:p>
            <a:pPr lvl="1"/>
            <a:r>
              <a:rPr lang="fr-FR" sz="900" dirty="0">
                <a:solidFill>
                  <a:prstClr val="black"/>
                </a:solidFill>
                <a:latin typeface="+mj-lt"/>
              </a:rPr>
              <a:t>Ces essais peuvent être répartis à chacune des  visites.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NF S61-933 – avril 2019 </a:t>
            </a:r>
          </a:p>
        </p:txBody>
      </p:sp>
      <p:sp>
        <p:nvSpPr>
          <p:cNvPr id="6" name="Pentagone 7">
            <a:extLst>
              <a:ext uri="{FF2B5EF4-FFF2-40B4-BE49-F238E27FC236}">
                <a16:creationId xmlns:a16="http://schemas.microsoft.com/office/drawing/2014/main" id="{D092ED8A-7A58-4336-9A05-D1DC7D8A6E01}"/>
              </a:ext>
            </a:extLst>
          </p:cNvPr>
          <p:cNvSpPr/>
          <p:nvPr/>
        </p:nvSpPr>
        <p:spPr>
          <a:xfrm>
            <a:off x="2051720" y="1491630"/>
            <a:ext cx="512059" cy="1477328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F030626-0882-4A17-A43B-3119CC469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64303"/>
            <a:ext cx="2017929" cy="28684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471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e 7"/>
          <p:cNvSpPr/>
          <p:nvPr/>
        </p:nvSpPr>
        <p:spPr>
          <a:xfrm>
            <a:off x="2051720" y="1491630"/>
            <a:ext cx="512059" cy="1477328"/>
          </a:xfrm>
          <a:prstGeom prst="homePlat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23928" y="1491630"/>
            <a:ext cx="504056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900" dirty="0">
                <a:solidFill>
                  <a:schemeClr val="tx2"/>
                </a:solidFill>
              </a:rPr>
              <a:t>Lorsque plusieurs ZD commandent le même scénario, la fonction de mise en sécurité doit être sollicitée à partir d’un point de chacune des ZD (autant d’essai qu’il y a de ZD).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900" dirty="0">
              <a:solidFill>
                <a:schemeClr val="tx2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900" dirty="0">
                <a:solidFill>
                  <a:prstClr val="black"/>
                </a:solidFill>
              </a:rPr>
              <a:t>Mesure du courant débité par la source de sécurité, à l’état de veille puis à l’état d’alarme, et les comparer aux valeurs précédentes. Ces mesures doivent permettre de contrôler l’autonomie des batteries.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900" dirty="0">
              <a:solidFill>
                <a:prstClr val="black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900" dirty="0">
                <a:solidFill>
                  <a:schemeClr val="tx2"/>
                </a:solidFill>
              </a:rPr>
              <a:t>En cas de délestage programmé des alimentations des DAS à rupture, il convient de réaliser deux mesures à l’état de veille : l’une avant et l’autre après le délestage.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900" dirty="0">
              <a:solidFill>
                <a:schemeClr val="tx2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900" dirty="0">
                <a:solidFill>
                  <a:prstClr val="black"/>
                </a:solidFill>
              </a:rPr>
              <a:t>Lorsque plusieurs ZD commandent le même scénario, la fonction de mise en sécurité doit être sollicitée à partir d’un point de chacune des ZD (autant d’essai qu’il y a de ZD).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67F7D0-C6FD-473F-93F0-33F46C0A0BD7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Points particuliers (non exhaustifs)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25295C-8C04-48BF-AB92-774143D06F3D}"/>
              </a:ext>
            </a:extLst>
          </p:cNvPr>
          <p:cNvSpPr/>
          <p:nvPr/>
        </p:nvSpPr>
        <p:spPr>
          <a:xfrm>
            <a:off x="3923928" y="3728146"/>
            <a:ext cx="4968552" cy="5078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900" dirty="0"/>
              <a:t>État des lieux par le technicien à la fin de chaque jour de son intervention.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fr-FR" sz="9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fr-FR" sz="9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63AACE1-6C1F-4B8B-A7DA-E13F931BB5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576" y="3732600"/>
            <a:ext cx="451067" cy="50337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173A382-52B3-46F6-A3A0-9BB0D4960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464303"/>
            <a:ext cx="2017929" cy="28684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669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Annexes B-C-D-E : essais fonctionnels systèmes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FBBAA9-B1E4-4C11-9FE5-9181CB943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9" y="1491630"/>
            <a:ext cx="5688121" cy="1821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B313338-7B30-4185-8A7E-EF615E8E9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9" y="1707654"/>
            <a:ext cx="5688125" cy="51616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485DF5-E072-4628-BDB5-B28867E2D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2" y="2299977"/>
            <a:ext cx="5688118" cy="63660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E47885A-464B-40C3-84D2-D35200DA6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42" y="3012738"/>
            <a:ext cx="5688118" cy="64465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D5937C2-084D-402B-9B62-306306D8F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2" y="3733551"/>
            <a:ext cx="5688120" cy="89866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C43FB64-80FB-4F93-8F92-8CF42B32DC2E}"/>
              </a:ext>
            </a:extLst>
          </p:cNvPr>
          <p:cNvSpPr/>
          <p:nvPr/>
        </p:nvSpPr>
        <p:spPr>
          <a:xfrm>
            <a:off x="7092280" y="1734904"/>
            <a:ext cx="1944216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algn="just"/>
            <a:r>
              <a:rPr lang="fr-FR" sz="800" dirty="0"/>
              <a:t>Lorsque plusieurs ZD commandent le même scénario, la fonction de mise en sécurité doit être sollicitée à partir d’un point de chacune des ZD (autant d’essai qu’il y a de ZD).</a:t>
            </a:r>
          </a:p>
          <a:p>
            <a:pPr lvl="0" algn="just"/>
            <a:endParaRPr lang="fr-FR" sz="800" dirty="0"/>
          </a:p>
          <a:p>
            <a:pPr lvl="0" algn="just"/>
            <a:r>
              <a:rPr lang="fr-FR" sz="800" dirty="0"/>
              <a:t>Pour chaque scénario, lors d’une de ces visites les essais seront effectués en mode manuel depuis l’UCMC, et lors de l’autre visite, en mode automatique à partir du déclenchement d’un des éléments choisis de façon aléatoire dans la ZD considérée.</a:t>
            </a:r>
          </a:p>
          <a:p>
            <a:pPr lvl="0" algn="just"/>
            <a:endParaRPr lang="fr-FR" sz="800" dirty="0"/>
          </a:p>
          <a:p>
            <a:pPr lvl="0" algn="just"/>
            <a:r>
              <a:rPr lang="fr-FR" sz="800" dirty="0"/>
              <a:t>Lors de chaque visite de maintenance préventive, un point différent (DM, détecteur automatique) doit être sollicité afin de garantir dans le temps que tous les points affectés à un scénario seront sollicités.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7EA29-C635-4E97-ADAD-2031BD35AEC4}"/>
              </a:ext>
            </a:extLst>
          </p:cNvPr>
          <p:cNvSpPr/>
          <p:nvPr/>
        </p:nvSpPr>
        <p:spPr>
          <a:xfrm>
            <a:off x="7092280" y="1491630"/>
            <a:ext cx="1944216" cy="2308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fr-FR" sz="900" b="1" dirty="0">
                <a:solidFill>
                  <a:schemeClr val="bg1"/>
                </a:solidFill>
              </a:rPr>
              <a:t>A noter … sans exclusive ….</a:t>
            </a:r>
          </a:p>
        </p:txBody>
      </p:sp>
    </p:spTree>
    <p:extLst>
      <p:ext uri="{BB962C8B-B14F-4D97-AF65-F5344CB8AC3E}">
        <p14:creationId xmlns:p14="http://schemas.microsoft.com/office/powerpoint/2010/main" val="123573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21053568-22C7-42AA-BFDF-52EE1CB52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8" y="1707654"/>
            <a:ext cx="5688125" cy="78551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A01FF28-BA2D-4CBC-8F72-43AAF6382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8" y="2551174"/>
            <a:ext cx="5688127" cy="117270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Annexes F-G-H : essais fonctionnels compartimentage, désenfumage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F94C4A5-8F09-4A52-B179-13B41ED94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39" y="1491630"/>
            <a:ext cx="5688121" cy="18215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250407-3174-4344-9ED0-685D450A33B3}"/>
              </a:ext>
            </a:extLst>
          </p:cNvPr>
          <p:cNvSpPr/>
          <p:nvPr/>
        </p:nvSpPr>
        <p:spPr>
          <a:xfrm>
            <a:off x="6547369" y="1430655"/>
            <a:ext cx="212908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900" b="1" dirty="0">
                <a:solidFill>
                  <a:schemeClr val="accent2">
                    <a:lumMod val="50000"/>
                  </a:schemeClr>
                </a:solidFill>
              </a:rPr>
              <a:t>A noter … sans exclusive ….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03D6BE7-2FEB-4C9E-B4C2-093CC626DD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369" y="1779662"/>
            <a:ext cx="2169939" cy="300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2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03D6BE7-2FEB-4C9E-B4C2-093CC626DD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96408"/>
          <a:stretch/>
        </p:blipFill>
        <p:spPr>
          <a:xfrm>
            <a:off x="1686830" y="1491630"/>
            <a:ext cx="5945509" cy="2957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88DD5AF-A8DB-4F98-8A2C-D93853D5B6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" t="3355" r="5" b="81975"/>
          <a:stretch/>
        </p:blipFill>
        <p:spPr>
          <a:xfrm>
            <a:off x="1691680" y="1923678"/>
            <a:ext cx="5945509" cy="120730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928A812-64A2-4D95-9FF2-538C74551E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" t="17252" r="5" b="73483"/>
          <a:stretch/>
        </p:blipFill>
        <p:spPr>
          <a:xfrm>
            <a:off x="1691680" y="3579862"/>
            <a:ext cx="5945509" cy="7625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09D628-5AFF-4E75-BD62-522E4EF3E5BB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 F : essais fonctionnels compartimentage, zoom sur les portes / rideaux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CB4FEFC-5926-4D5D-BE52-D09E877FE3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01319"/>
            <a:ext cx="553016" cy="55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03D6BE7-2FEB-4C9E-B4C2-093CC626DD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96408"/>
          <a:stretch/>
        </p:blipFill>
        <p:spPr>
          <a:xfrm>
            <a:off x="2119768" y="1491630"/>
            <a:ext cx="5512572" cy="27421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076951-BBCB-4EE1-A607-E4FAC31623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125" b="48399"/>
          <a:stretch/>
        </p:blipFill>
        <p:spPr>
          <a:xfrm>
            <a:off x="2119760" y="1923678"/>
            <a:ext cx="5512580" cy="194421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EC7A6BE-79DA-4F20-9A20-16E8FCF263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01319"/>
            <a:ext cx="553016" cy="5530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40E7CC-EAAC-49C1-839F-38DD425B9D24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 F : essais fonctionnels compartimentage, zoom sur les portes / rideaux</a:t>
            </a:r>
          </a:p>
        </p:txBody>
      </p:sp>
    </p:spTree>
    <p:extLst>
      <p:ext uri="{BB962C8B-B14F-4D97-AF65-F5344CB8AC3E}">
        <p14:creationId xmlns:p14="http://schemas.microsoft.com/office/powerpoint/2010/main" val="138088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03D6BE7-2FEB-4C9E-B4C2-093CC626DD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96408"/>
          <a:stretch/>
        </p:blipFill>
        <p:spPr>
          <a:xfrm>
            <a:off x="1907704" y="1491630"/>
            <a:ext cx="5724635" cy="28476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076951-BBCB-4EE1-A607-E4FAC31623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136" b="21380"/>
          <a:stretch/>
        </p:blipFill>
        <p:spPr>
          <a:xfrm>
            <a:off x="1907704" y="1951918"/>
            <a:ext cx="5724635" cy="217855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4C2AD50-9D23-4A6D-83E9-82417641FB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01319"/>
            <a:ext cx="553016" cy="5530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4DCC72-F682-40C5-AE03-0FA7A941418E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 F : essais fonctionnels compartimentage, zoom sur les portes / rideaux</a:t>
            </a:r>
          </a:p>
        </p:txBody>
      </p:sp>
    </p:spTree>
    <p:extLst>
      <p:ext uri="{BB962C8B-B14F-4D97-AF65-F5344CB8AC3E}">
        <p14:creationId xmlns:p14="http://schemas.microsoft.com/office/powerpoint/2010/main" val="120416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03D6BE7-2FEB-4C9E-B4C2-093CC626DD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96408"/>
          <a:stretch/>
        </p:blipFill>
        <p:spPr>
          <a:xfrm>
            <a:off x="1763687" y="1491630"/>
            <a:ext cx="5868651" cy="29193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076951-BBCB-4EE1-A607-E4FAC31623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676" b="537"/>
          <a:stretch/>
        </p:blipFill>
        <p:spPr>
          <a:xfrm>
            <a:off x="1763687" y="2000878"/>
            <a:ext cx="5868651" cy="16889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0128551-8693-4FD3-988F-090B509834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01319"/>
            <a:ext cx="553016" cy="5530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71CDA1-1536-49B2-85C4-5EAE945BDF3F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 F : essais fonctionnels compartimentage, zoom sur les portes / rideaux</a:t>
            </a:r>
          </a:p>
        </p:txBody>
      </p:sp>
    </p:spTree>
    <p:extLst>
      <p:ext uri="{BB962C8B-B14F-4D97-AF65-F5344CB8AC3E}">
        <p14:creationId xmlns:p14="http://schemas.microsoft.com/office/powerpoint/2010/main" val="403614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5AFECA8-4C57-403E-A5AE-A1A1FB115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9" y="1491630"/>
            <a:ext cx="5688121" cy="18215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5A96976-AAE4-466C-B1D0-E691F335E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5" y="1707654"/>
            <a:ext cx="5688125" cy="44099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C2DE43-5C7B-474C-ACDA-696106865AE5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 I : essais fonctionnels : extinction automatique</a:t>
            </a:r>
          </a:p>
        </p:txBody>
      </p:sp>
    </p:spTree>
    <p:extLst>
      <p:ext uri="{BB962C8B-B14F-4D97-AF65-F5344CB8AC3E}">
        <p14:creationId xmlns:p14="http://schemas.microsoft.com/office/powerpoint/2010/main" val="351678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5AFECA8-4C57-403E-A5AE-A1A1FB115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9" y="1491630"/>
            <a:ext cx="5688121" cy="18215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E2E28E6-DB7F-44BF-AADC-6B77766DE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8" y="1726270"/>
            <a:ext cx="5688122" cy="3762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66F27F-F0CC-4A45-AECC-67C5AFFB5CE7}"/>
              </a:ext>
            </a:extLst>
          </p:cNvPr>
          <p:cNvSpPr/>
          <p:nvPr/>
        </p:nvSpPr>
        <p:spPr>
          <a:xfrm>
            <a:off x="6804248" y="2377050"/>
            <a:ext cx="2232248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/>
            <a:r>
              <a:rPr lang="fr-FR" sz="800" dirty="0">
                <a:solidFill>
                  <a:prstClr val="black"/>
                </a:solidFill>
              </a:rPr>
              <a:t>Mesurer le courant débité par la source de sécurité, à l’état de veille puis à l’état d’alarme, et les comparer aux valeurs précédentes. </a:t>
            </a:r>
          </a:p>
          <a:p>
            <a:pPr lvl="0" algn="just"/>
            <a:r>
              <a:rPr lang="fr-FR" sz="800" dirty="0">
                <a:solidFill>
                  <a:prstClr val="black"/>
                </a:solidFill>
              </a:rPr>
              <a:t>Ces mesures doivent permettre de contrôler l’autonomie des batteries.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6ADB3E-074D-4E3B-96AD-A249F2F85CD5}"/>
              </a:ext>
            </a:extLst>
          </p:cNvPr>
          <p:cNvSpPr/>
          <p:nvPr/>
        </p:nvSpPr>
        <p:spPr>
          <a:xfrm>
            <a:off x="6804248" y="1726270"/>
            <a:ext cx="22322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/>
            <a:r>
              <a:rPr lang="fr-FR" sz="800" dirty="0"/>
              <a:t>En cas de délestage programmé des alimentations des DAS à rupture, il convient de réaliser deux mesures à l’état de veille : l’une avant et l’autre après le délestage.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C2DE43-5C7B-474C-ACDA-696106865AE5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1" dirty="0">
                <a:solidFill>
                  <a:schemeClr val="accent1">
                    <a:lumMod val="75000"/>
                  </a:schemeClr>
                </a:solidFill>
              </a:rPr>
              <a:t>Annexe J : essais fonctionnels alimentations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53C9C-5CAF-4812-9CF2-7AC7688E6FFA}"/>
              </a:ext>
            </a:extLst>
          </p:cNvPr>
          <p:cNvSpPr/>
          <p:nvPr/>
        </p:nvSpPr>
        <p:spPr>
          <a:xfrm>
            <a:off x="6804248" y="1430655"/>
            <a:ext cx="22322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900" b="1" dirty="0">
                <a:solidFill>
                  <a:schemeClr val="accent2">
                    <a:lumMod val="50000"/>
                  </a:schemeClr>
                </a:solidFill>
              </a:rPr>
              <a:t>A noter … sans exclusive ….</a:t>
            </a:r>
          </a:p>
        </p:txBody>
      </p:sp>
    </p:spTree>
    <p:extLst>
      <p:ext uri="{BB962C8B-B14F-4D97-AF65-F5344CB8AC3E}">
        <p14:creationId xmlns:p14="http://schemas.microsoft.com/office/powerpoint/2010/main" val="129563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9ABB7D9-DB7D-4EC6-9C12-993D16133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9" y="1777760"/>
            <a:ext cx="5688125" cy="64997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5AFECA8-4C57-403E-A5AE-A1A1FB115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9" y="1491630"/>
            <a:ext cx="5688121" cy="1821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C2DE43-5C7B-474C-ACDA-696106865AE5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Annexes K : essais fonctionnels SDAD</a:t>
            </a:r>
          </a:p>
        </p:txBody>
      </p:sp>
    </p:spTree>
    <p:extLst>
      <p:ext uri="{BB962C8B-B14F-4D97-AF65-F5344CB8AC3E}">
        <p14:creationId xmlns:p14="http://schemas.microsoft.com/office/powerpoint/2010/main" val="165974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La maintenance des systèmes de sécurité incendie 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NF S61-933 – avril 2019</a:t>
            </a:r>
            <a:endParaRPr lang="fr-FR" dirty="0">
              <a:solidFill>
                <a:schemeClr val="tx2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2EA407F-BE0A-42C7-B102-E59FCC698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39" y="1764367"/>
            <a:ext cx="5688129" cy="44734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5AFECA8-4C57-403E-A5AE-A1A1FB115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39" y="1491630"/>
            <a:ext cx="5688121" cy="18215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6C2DE43-5C7B-474C-ACDA-696106865AE5}"/>
              </a:ext>
            </a:extLst>
          </p:cNvPr>
          <p:cNvSpPr/>
          <p:nvPr/>
        </p:nvSpPr>
        <p:spPr>
          <a:xfrm>
            <a:off x="664" y="982382"/>
            <a:ext cx="6047500" cy="335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Annexe L : essais fonctionnels; obligations incombant à l’exploitant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770B5C-D51F-4617-A46E-91126F1CD346}"/>
              </a:ext>
            </a:extLst>
          </p:cNvPr>
          <p:cNvSpPr/>
          <p:nvPr/>
        </p:nvSpPr>
        <p:spPr>
          <a:xfrm>
            <a:off x="6228184" y="1726270"/>
            <a:ext cx="2808312" cy="1200329"/>
          </a:xfrm>
          <a:prstGeom prst="rect">
            <a:avLst/>
          </a:prstGeom>
          <a:solidFill>
            <a:schemeClr val="accent1">
              <a:lumMod val="75000"/>
              <a:alpha val="38000"/>
            </a:schemeClr>
          </a:solidFill>
        </p:spPr>
        <p:txBody>
          <a:bodyPr wrap="square">
            <a:spAutoFit/>
          </a:bodyPr>
          <a:lstStyle/>
          <a:p>
            <a:pPr lvl="0" algn="just"/>
            <a:r>
              <a:rPr lang="fr-FR" sz="800" dirty="0"/>
              <a:t>Les obligations liées à l’exploitation sont au chapitre 6. </a:t>
            </a:r>
          </a:p>
          <a:p>
            <a:pPr lvl="0" algn="just"/>
            <a:endParaRPr lang="fr-FR" sz="800" dirty="0"/>
          </a:p>
          <a:p>
            <a:pPr lvl="0" algn="just"/>
            <a:r>
              <a:rPr lang="fr-FR" sz="800" dirty="0"/>
              <a:t>6 - Règles d’exploitation</a:t>
            </a:r>
          </a:p>
          <a:p>
            <a:pPr lvl="0" algn="just"/>
            <a:r>
              <a:rPr lang="fr-FR" sz="800" dirty="0"/>
              <a:t>  6.1 - Formation du personnel à l’exploitation du système</a:t>
            </a:r>
          </a:p>
          <a:p>
            <a:pPr lvl="0" algn="just"/>
            <a:r>
              <a:rPr lang="fr-FR" sz="800" dirty="0"/>
              <a:t>  6.2 - Traçabilité des changements d’état du système</a:t>
            </a:r>
          </a:p>
          <a:p>
            <a:pPr lvl="0" algn="just"/>
            <a:r>
              <a:rPr lang="fr-FR" sz="800" dirty="0"/>
              <a:t>  6.3 - Règles incombant au chef d’établissement</a:t>
            </a:r>
          </a:p>
          <a:p>
            <a:pPr lvl="0" algn="just"/>
            <a:r>
              <a:rPr lang="fr-FR" sz="800" dirty="0"/>
              <a:t>  6.4 - Gestion des anomalies</a:t>
            </a:r>
          </a:p>
          <a:p>
            <a:pPr lvl="0" algn="just"/>
            <a:r>
              <a:rPr lang="fr-FR" sz="800" dirty="0"/>
              <a:t>  6.5 - Cas particulier de l’UAE</a:t>
            </a:r>
          </a:p>
          <a:p>
            <a:pPr lvl="0" algn="just"/>
            <a:r>
              <a:rPr lang="fr-FR" sz="800" dirty="0"/>
              <a:t>  6.6 - Fournitures liées à l’exploitation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414371-3C5B-4A45-AF65-121C8279950F}"/>
              </a:ext>
            </a:extLst>
          </p:cNvPr>
          <p:cNvSpPr/>
          <p:nvPr/>
        </p:nvSpPr>
        <p:spPr>
          <a:xfrm>
            <a:off x="6228184" y="1430655"/>
            <a:ext cx="280831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900" b="1" dirty="0">
                <a:solidFill>
                  <a:schemeClr val="accent2">
                    <a:lumMod val="50000"/>
                  </a:schemeClr>
                </a:solidFill>
              </a:rPr>
              <a:t>A noter … sans exclusive ….</a:t>
            </a:r>
          </a:p>
        </p:txBody>
      </p:sp>
    </p:spTree>
    <p:extLst>
      <p:ext uri="{BB962C8B-B14F-4D97-AF65-F5344CB8AC3E}">
        <p14:creationId xmlns:p14="http://schemas.microsoft.com/office/powerpoint/2010/main" val="212824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3_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</TotalTime>
  <Words>1355</Words>
  <Application>Microsoft Office PowerPoint</Application>
  <PresentationFormat>Affichage à l'écran (16:9)</PresentationFormat>
  <Paragraphs>214</Paragraphs>
  <Slides>28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3_Default Theme</vt:lpstr>
      <vt:lpstr>Présentation PowerPoint</vt:lpstr>
      <vt:lpstr>Chubb France</vt:lpstr>
      <vt:lpstr>Présentation PowerPoint</vt:lpstr>
      <vt:lpstr>La maintenance des systèmes de sécurité incendie La règlementation</vt:lpstr>
      <vt:lpstr>La maintenance des systèmes de sécurité incendie La règlementation</vt:lpstr>
      <vt:lpstr>La maintenance des systèmes de sécurité incendie La règlementation</vt:lpstr>
      <vt:lpstr>La maintenance des systèmes de sécurité incendie La règlementation</vt:lpstr>
      <vt:lpstr>La maintenance des systèmes de sécurité incendie La règlementation</vt:lpstr>
      <vt:lpstr>La maintenance des systèmes de sécurité incendie La règlementation</vt:lpstr>
      <vt:lpstr>Présentation PowerPoint</vt:lpstr>
      <vt:lpstr>La maintenance des systèmes de sécurité incendie Certification de service : F7 APSAD</vt:lpstr>
      <vt:lpstr>La maintenance des systèmes de sécurité incendie Certification de service : F7 APSAD</vt:lpstr>
      <vt:lpstr>La maintenance des systèmes de sécurité incendie Certification de service : F7 APSAD</vt:lpstr>
      <vt:lpstr>Présentation PowerPoint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La maintenance des systèmes de sécurité incendie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  <vt:lpstr>La maintenance des systèmes de sécurité incendie  NF S61-933 – avril 2019</vt:lpstr>
    </vt:vector>
  </TitlesOfParts>
  <Company>United Technologies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Logistique</dc:title>
  <dc:creator>Administrator</dc:creator>
  <cp:lastModifiedBy>Caron, Pierre Nicolas</cp:lastModifiedBy>
  <cp:revision>639</cp:revision>
  <cp:lastPrinted>2017-02-21T10:40:43Z</cp:lastPrinted>
  <dcterms:created xsi:type="dcterms:W3CDTF">2017-01-18T15:57:05Z</dcterms:created>
  <dcterms:modified xsi:type="dcterms:W3CDTF">2022-06-03T08:17:55Z</dcterms:modified>
</cp:coreProperties>
</file>