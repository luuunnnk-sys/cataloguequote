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6858000" cy="9144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702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Modifiez le style des sous-titres du masque</a:t>
            </a:r>
            <a:endParaRPr lang="en-US" dirty="0"/>
          </a:p>
        </p:txBody>
      </p:sp>
      <p:sp>
        <p:nvSpPr>
          <p:cNvPr id="32" name="Forme libre 31"/>
          <p:cNvSpPr/>
          <p:nvPr userDrawn="1"/>
        </p:nvSpPr>
        <p:spPr>
          <a:xfrm>
            <a:off x="-15192" y="935389"/>
            <a:ext cx="376518" cy="147918"/>
          </a:xfrm>
          <a:custGeom>
            <a:avLst/>
            <a:gdLst>
              <a:gd name="connsiteX0" fmla="*/ 0 w 376518"/>
              <a:gd name="connsiteY0" fmla="*/ 0 h 147918"/>
              <a:gd name="connsiteX1" fmla="*/ 376518 w 376518"/>
              <a:gd name="connsiteY1" fmla="*/ 0 h 147918"/>
              <a:gd name="connsiteX2" fmla="*/ 376518 w 376518"/>
              <a:gd name="connsiteY2" fmla="*/ 147918 h 147918"/>
              <a:gd name="connsiteX3" fmla="*/ 0 w 376518"/>
              <a:gd name="connsiteY3" fmla="*/ 0 h 14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518" h="147918">
                <a:moveTo>
                  <a:pt x="0" y="0"/>
                </a:moveTo>
                <a:lnTo>
                  <a:pt x="376518" y="0"/>
                </a:lnTo>
                <a:lnTo>
                  <a:pt x="376518" y="1479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Organigramme : Processus 32"/>
          <p:cNvSpPr/>
          <p:nvPr userDrawn="1"/>
        </p:nvSpPr>
        <p:spPr>
          <a:xfrm>
            <a:off x="-1745" y="731560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4" name="Organigramme : Processus 33"/>
          <p:cNvSpPr/>
          <p:nvPr userDrawn="1"/>
        </p:nvSpPr>
        <p:spPr>
          <a:xfrm>
            <a:off x="330911" y="443528"/>
            <a:ext cx="2034730" cy="792088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5" name="Connecteur droit 34"/>
          <p:cNvCxnSpPr/>
          <p:nvPr userDrawn="1"/>
        </p:nvCxnSpPr>
        <p:spPr>
          <a:xfrm>
            <a:off x="978983" y="587544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 userDrawn="1"/>
        </p:nvSpPr>
        <p:spPr>
          <a:xfrm>
            <a:off x="1101614" y="467544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H</a:t>
            </a:r>
          </a:p>
        </p:txBody>
      </p:sp>
      <p:sp>
        <p:nvSpPr>
          <p:cNvPr id="37" name="ZoneTexte 36"/>
          <p:cNvSpPr txBox="1"/>
          <p:nvPr userDrawn="1"/>
        </p:nvSpPr>
        <p:spPr>
          <a:xfrm>
            <a:off x="1821694" y="479738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accent2">
                    <a:lumMod val="75000"/>
                  </a:schemeClr>
                </a:solidFill>
              </a:rPr>
              <a:t>S</a:t>
            </a:r>
          </a:p>
        </p:txBody>
      </p:sp>
      <p:sp>
        <p:nvSpPr>
          <p:cNvPr id="38" name="ZoneTexte 37"/>
          <p:cNvSpPr txBox="1"/>
          <p:nvPr userDrawn="1"/>
        </p:nvSpPr>
        <p:spPr>
          <a:xfrm>
            <a:off x="453542" y="487348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/>
              <a:t>E</a:t>
            </a:r>
            <a:endParaRPr lang="fr-FR" sz="4000" dirty="0"/>
          </a:p>
        </p:txBody>
      </p:sp>
      <p:cxnSp>
        <p:nvCxnSpPr>
          <p:cNvPr id="39" name="Connecteur droit 38"/>
          <p:cNvCxnSpPr/>
          <p:nvPr userDrawn="1"/>
        </p:nvCxnSpPr>
        <p:spPr>
          <a:xfrm>
            <a:off x="1699063" y="587544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 userDrawn="1"/>
        </p:nvSpPr>
        <p:spPr>
          <a:xfrm>
            <a:off x="2477459" y="731560"/>
            <a:ext cx="3974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smtClean="0">
                <a:solidFill>
                  <a:schemeClr val="bg1"/>
                </a:solidFill>
              </a:rPr>
              <a:t>Hygiène    Environnement    Management </a:t>
            </a:r>
            <a:endParaRPr lang="fr-FR" sz="1100" i="1" dirty="0">
              <a:solidFill>
                <a:schemeClr val="bg1"/>
              </a:solidFill>
            </a:endParaRPr>
          </a:p>
        </p:txBody>
      </p:sp>
      <p:sp>
        <p:nvSpPr>
          <p:cNvPr id="41" name="Pentagone 40"/>
          <p:cNvSpPr/>
          <p:nvPr userDrawn="1"/>
        </p:nvSpPr>
        <p:spPr>
          <a:xfrm>
            <a:off x="318238" y="732766"/>
            <a:ext cx="115686" cy="214818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2" name="Image 41"/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660" y="83488"/>
            <a:ext cx="837236" cy="563523"/>
          </a:xfrm>
          <a:prstGeom prst="rect">
            <a:avLst/>
          </a:prstGeom>
        </p:spPr>
      </p:pic>
      <p:grpSp>
        <p:nvGrpSpPr>
          <p:cNvPr id="2" name="Groupe 1"/>
          <p:cNvGrpSpPr/>
          <p:nvPr userDrawn="1"/>
        </p:nvGrpSpPr>
        <p:grpSpPr>
          <a:xfrm>
            <a:off x="9468" y="8532440"/>
            <a:ext cx="6854400" cy="529570"/>
            <a:chOff x="9468" y="8532440"/>
            <a:chExt cx="6854400" cy="529570"/>
          </a:xfrm>
        </p:grpSpPr>
        <p:sp>
          <p:nvSpPr>
            <p:cNvPr id="44" name="Rectangle 43"/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5" name="Image 4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29474" y="8761256"/>
              <a:ext cx="594000" cy="178971"/>
            </a:xfrm>
            <a:prstGeom prst="rect">
              <a:avLst/>
            </a:prstGeom>
          </p:spPr>
        </p:pic>
        <p:pic>
          <p:nvPicPr>
            <p:cNvPr id="46" name="Image 45"/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648" y="8656272"/>
              <a:ext cx="459354" cy="327600"/>
            </a:xfrm>
            <a:prstGeom prst="rect">
              <a:avLst/>
            </a:prstGeom>
          </p:spPr>
        </p:pic>
        <p:pic>
          <p:nvPicPr>
            <p:cNvPr id="47" name="Image 4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13410" y="8700638"/>
              <a:ext cx="627842" cy="237600"/>
            </a:xfrm>
            <a:prstGeom prst="rect">
              <a:avLst/>
            </a:prstGeom>
          </p:spPr>
        </p:pic>
        <p:pic>
          <p:nvPicPr>
            <p:cNvPr id="48" name="Image 4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052" y="8777359"/>
              <a:ext cx="460800" cy="163472"/>
            </a:xfrm>
            <a:prstGeom prst="rect">
              <a:avLst/>
            </a:prstGeom>
          </p:spPr>
        </p:pic>
        <p:pic>
          <p:nvPicPr>
            <p:cNvPr id="49" name="Image 48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7786" y="8733629"/>
              <a:ext cx="849600" cy="205186"/>
            </a:xfrm>
            <a:prstGeom prst="rect">
              <a:avLst/>
            </a:prstGeom>
          </p:spPr>
        </p:pic>
        <p:sp>
          <p:nvSpPr>
            <p:cNvPr id="51" name="ZoneTexte 50"/>
            <p:cNvSpPr txBox="1"/>
            <p:nvPr/>
          </p:nvSpPr>
          <p:spPr>
            <a:xfrm>
              <a:off x="4797152" y="8609549"/>
              <a:ext cx="1841416" cy="447197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sp>
        <p:nvSpPr>
          <p:cNvPr id="30" name="Rectangle 29"/>
          <p:cNvSpPr/>
          <p:nvPr userDrawn="1"/>
        </p:nvSpPr>
        <p:spPr>
          <a:xfrm rot="21419042">
            <a:off x="4984400" y="771237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 userDrawn="1"/>
        </p:nvSpPr>
        <p:spPr>
          <a:xfrm rot="21336737">
            <a:off x="6034285" y="721175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2900" y="2133601"/>
            <a:ext cx="6172200" cy="6034617"/>
          </a:xfrm>
        </p:spPr>
        <p:txBody>
          <a:bodyPr/>
          <a:lstStyle>
            <a:lvl1pPr>
              <a:defRPr sz="2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  <a:lvl2pPr marL="7429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31178" y="8622284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71670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12" name="Organigramme : Processus 11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Modifiez le style des sous-titres du masque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45976" y="8640298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4995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245976" y="8628370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0929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02/06/2017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6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24744" y="1085999"/>
            <a:ext cx="5236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953735"/>
                </a:solidFill>
              </a:rPr>
              <a:t>Travail isolé</a:t>
            </a:r>
            <a:endParaRPr lang="fr-FR" sz="2400" b="1" dirty="0">
              <a:solidFill>
                <a:srgbClr val="953735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23414" y="1885004"/>
            <a:ext cx="6490802" cy="385642"/>
          </a:xfrm>
          <a:prstGeom prst="rect">
            <a:avLst/>
          </a:prstGeom>
          <a:noFill/>
        </p:spPr>
        <p:txBody>
          <a:bodyPr wrap="square" lIns="77111" tIns="38556" rIns="77111" bIns="38556" rtlCol="0">
            <a:spAutoFit/>
          </a:bodyPr>
          <a:lstStyle/>
          <a:p>
            <a:pPr algn="just">
              <a:buClr>
                <a:srgbClr val="FF9933"/>
              </a:buClr>
              <a:defRPr/>
            </a:pPr>
            <a:r>
              <a:rPr lang="fr-FR" sz="1000" dirty="0">
                <a:latin typeface="Calibri" panose="020F0502020204030204" pitchFamily="34" charset="0"/>
                <a:cs typeface="Calibri" pitchFamily="34" charset="0"/>
              </a:rPr>
              <a:t>Le travail est considéré comme isolé lorsque le travailleur est </a:t>
            </a:r>
            <a:r>
              <a:rPr lang="fr-FR" sz="1000" b="1" dirty="0">
                <a:latin typeface="Calibri" panose="020F0502020204030204" pitchFamily="34" charset="0"/>
                <a:cs typeface="Calibri" pitchFamily="34" charset="0"/>
              </a:rPr>
              <a:t>hors de vue ou de portée de voix</a:t>
            </a:r>
            <a:r>
              <a:rPr lang="fr-FR" sz="1000" dirty="0">
                <a:latin typeface="Calibri" panose="020F0502020204030204" pitchFamily="34" charset="0"/>
                <a:cs typeface="Calibri" pitchFamily="34" charset="0"/>
              </a:rPr>
              <a:t> d’autres personnes, </a:t>
            </a:r>
            <a:r>
              <a:rPr lang="fr-FR" sz="1000" b="1" dirty="0">
                <a:latin typeface="Calibri" panose="020F0502020204030204" pitchFamily="34" charset="0"/>
                <a:cs typeface="Calibri" pitchFamily="34" charset="0"/>
              </a:rPr>
              <a:t>avec une probabilité de visite faible </a:t>
            </a:r>
            <a:r>
              <a:rPr lang="fr-FR" sz="1000" dirty="0">
                <a:latin typeface="Calibri" panose="020F0502020204030204" pitchFamily="34" charset="0"/>
                <a:cs typeface="Calibri" pitchFamily="34" charset="0"/>
              </a:rPr>
              <a:t>et que le travail présente un </a:t>
            </a:r>
            <a:r>
              <a:rPr lang="fr-FR" sz="1000" b="1" dirty="0">
                <a:latin typeface="Calibri" panose="020F0502020204030204" pitchFamily="34" charset="0"/>
                <a:cs typeface="Calibri" pitchFamily="34" charset="0"/>
              </a:rPr>
              <a:t>caractère dangereux</a:t>
            </a:r>
            <a:r>
              <a:rPr lang="fr-FR" sz="1000" dirty="0" smtClean="0">
                <a:latin typeface="Calibri" panose="020F0502020204030204" pitchFamily="34" charset="0"/>
                <a:cs typeface="Calibri" pitchFamily="34" charset="0"/>
              </a:rPr>
              <a:t>.</a:t>
            </a:r>
            <a:endParaRPr lang="fr-FR" sz="1000" dirty="0">
              <a:latin typeface="Calibri" panose="020F0502020204030204" pitchFamily="34" charset="0"/>
              <a:cs typeface="Calibri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83963" y="8562999"/>
            <a:ext cx="3427626" cy="200976"/>
          </a:xfrm>
          <a:prstGeom prst="rect">
            <a:avLst/>
          </a:prstGeom>
        </p:spPr>
        <p:txBody>
          <a:bodyPr lIns="77111" tIns="38556" rIns="77111" bIns="38556">
            <a:spAutoFit/>
          </a:bodyPr>
          <a:lstStyle/>
          <a:p>
            <a:pPr marL="4017">
              <a:tabLst>
                <a:tab pos="5494184" algn="r"/>
              </a:tabLst>
            </a:pPr>
            <a:r>
              <a:rPr lang="fr-FR" sz="800" b="1" dirty="0">
                <a:solidFill>
                  <a:srgbClr val="FFFFFF"/>
                </a:solidFill>
                <a:latin typeface="Calibri" panose="020F0502020204030204" pitchFamily="34" charset="0"/>
                <a:ea typeface="Times New Roman"/>
              </a:rPr>
              <a:t>MOD 19 A - Date : 27/07/2016 - Page 1 sur 2</a:t>
            </a:r>
            <a:endParaRPr lang="fr-FR" sz="800" dirty="0">
              <a:latin typeface="Calibri" panose="020F0502020204030204" pitchFamily="34" charset="0"/>
              <a:ea typeface="Times New Roman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5107577" y="539552"/>
            <a:ext cx="17492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700" i="1" dirty="0" smtClean="0">
                <a:solidFill>
                  <a:schemeClr val="bg1">
                    <a:lumMod val="65000"/>
                  </a:schemeClr>
                </a:solidFill>
              </a:rPr>
              <a:t>FP FS 005 – Version 1 du 23/05/2017</a:t>
            </a:r>
            <a:endParaRPr lang="fr-FR" sz="7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5617" y="1655696"/>
            <a:ext cx="6565751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cs typeface="Arial" pitchFamily="34" charset="0"/>
              </a:rPr>
              <a:t>Définition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466" y="2339752"/>
            <a:ext cx="6565751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cs typeface="Arial" pitchFamily="34" charset="0"/>
              </a:rPr>
              <a:t>Règles applicables</a:t>
            </a:r>
            <a:endParaRPr lang="fr-FR" sz="1400" b="1" dirty="0">
              <a:cs typeface="Arial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311978" y="6882891"/>
            <a:ext cx="6229922" cy="1355138"/>
          </a:xfrm>
          <a:prstGeom prst="rect">
            <a:avLst/>
          </a:prstGeom>
        </p:spPr>
        <p:txBody>
          <a:bodyPr wrap="square" lIns="77111" tIns="38556" rIns="77111" bIns="38556">
            <a:spAutoFit/>
          </a:bodyPr>
          <a:lstStyle/>
          <a:p>
            <a:pPr algn="just">
              <a:defRPr/>
            </a:pPr>
            <a:r>
              <a:rPr lang="fr-FR" sz="1300" b="1" u="sng" dirty="0">
                <a:solidFill>
                  <a:srgbClr val="953735"/>
                </a:solidFill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Détail du logigramme :</a:t>
            </a:r>
          </a:p>
          <a:p>
            <a:pPr algn="just">
              <a:buClr>
                <a:srgbClr val="FF9900"/>
              </a:buClr>
              <a:defRPr/>
            </a:pPr>
            <a:r>
              <a:rPr lang="fr-FR" sz="1000" dirty="0">
                <a:latin typeface="Calibri" panose="020F0502020204030204" pitchFamily="34" charset="0"/>
              </a:rPr>
              <a:t>Lors de toute opération ou planification d’intervention de travail, le schéma suivant peut être suivi. Si le travailleur se trouve seul </a:t>
            </a:r>
            <a:r>
              <a:rPr lang="fr-FR" sz="1000" b="1" dirty="0">
                <a:latin typeface="Calibri" panose="020F0502020204030204" pitchFamily="34" charset="0"/>
              </a:rPr>
              <a:t>et</a:t>
            </a:r>
            <a:r>
              <a:rPr lang="fr-FR" sz="1000" dirty="0">
                <a:latin typeface="Calibri" panose="020F0502020204030204" pitchFamily="34" charset="0"/>
              </a:rPr>
              <a:t> doit réaliser une opération comprenant des risques il faut se poser les questions suivantes :</a:t>
            </a:r>
          </a:p>
          <a:p>
            <a:pPr marL="240973" indent="-240973" algn="just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fr-FR" sz="1000" dirty="0">
                <a:latin typeface="Calibri" panose="020F0502020204030204" pitchFamily="34" charset="0"/>
              </a:rPr>
              <a:t>Un binôme est il envisageable  avec un employé du client ? Si oui, intervention en binôme</a:t>
            </a:r>
          </a:p>
          <a:p>
            <a:pPr marL="240973" indent="-240973" algn="just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fr-FR" sz="1000" dirty="0">
                <a:latin typeface="Calibri" panose="020F0502020204030204" pitchFamily="34" charset="0"/>
              </a:rPr>
              <a:t>Si le binôme n’est pas réalisable, le technicien est-il en possession d’un PTI ou peut-il s’en procurer un ? </a:t>
            </a:r>
          </a:p>
          <a:p>
            <a:pPr marL="240973" indent="-240973" algn="just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fr-FR" sz="1000" dirty="0">
                <a:latin typeface="Calibri" panose="020F0502020204030204" pitchFamily="34" charset="0"/>
              </a:rPr>
              <a:t>Si oui, l’intervention peut se réaliser avec le PTI </a:t>
            </a:r>
          </a:p>
          <a:p>
            <a:pPr marL="240973" indent="-240973" algn="just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fr-FR" sz="1000" dirty="0">
                <a:latin typeface="Calibri" panose="020F0502020204030204" pitchFamily="34" charset="0"/>
              </a:rPr>
              <a:t>S’il n’est pas possible de faire l’intervention avec un PTI (régime dérogatoire). Le technicien devra alors respecter une procédure d’appels téléphoniques  réguliers avec l’agence, à définir en fonction du temps d’intervention.</a:t>
            </a:r>
          </a:p>
        </p:txBody>
      </p:sp>
      <p:sp>
        <p:nvSpPr>
          <p:cNvPr id="79" name="Line 19"/>
          <p:cNvSpPr>
            <a:spLocks noChangeShapeType="1"/>
          </p:cNvSpPr>
          <p:nvPr/>
        </p:nvSpPr>
        <p:spPr bwMode="auto">
          <a:xfrm>
            <a:off x="2747001" y="5264751"/>
            <a:ext cx="0" cy="294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7961" tIns="43981" rIns="87961" bIns="43981"/>
          <a:lstStyle/>
          <a:p>
            <a:endParaRPr lang="fr-FR" sz="1000">
              <a:latin typeface="Calibri" panose="020F0502020204030204" pitchFamily="34" charset="0"/>
            </a:endParaRPr>
          </a:p>
        </p:txBody>
      </p:sp>
      <p:sp>
        <p:nvSpPr>
          <p:cNvPr id="80" name="ZoneTexte 30"/>
          <p:cNvSpPr txBox="1">
            <a:spLocks noChangeArrowheads="1"/>
          </p:cNvSpPr>
          <p:nvPr/>
        </p:nvSpPr>
        <p:spPr bwMode="auto">
          <a:xfrm>
            <a:off x="2768990" y="5273878"/>
            <a:ext cx="560734" cy="231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111" tIns="38556" rIns="77111" bIns="38556">
            <a:spAutoFit/>
          </a:bodyPr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fr-FR" altLang="fr-FR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Oui</a:t>
            </a:r>
          </a:p>
        </p:txBody>
      </p:sp>
      <p:sp>
        <p:nvSpPr>
          <p:cNvPr id="81" name="Line 19"/>
          <p:cNvSpPr>
            <a:spLocks noChangeShapeType="1"/>
          </p:cNvSpPr>
          <p:nvPr/>
        </p:nvSpPr>
        <p:spPr bwMode="auto">
          <a:xfrm>
            <a:off x="2734277" y="6095490"/>
            <a:ext cx="0" cy="31123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7961" tIns="43981" rIns="87961" bIns="43981"/>
          <a:lstStyle/>
          <a:p>
            <a:endParaRPr lang="fr-FR" sz="1000">
              <a:latin typeface="Calibri" panose="020F0502020204030204" pitchFamily="34" charset="0"/>
            </a:endParaRPr>
          </a:p>
        </p:txBody>
      </p:sp>
      <p:sp>
        <p:nvSpPr>
          <p:cNvPr id="82" name="Line 19"/>
          <p:cNvSpPr>
            <a:spLocks noChangeShapeType="1"/>
          </p:cNvSpPr>
          <p:nvPr/>
        </p:nvSpPr>
        <p:spPr bwMode="auto">
          <a:xfrm>
            <a:off x="4826197" y="4870259"/>
            <a:ext cx="33671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7961" tIns="43981" rIns="87961" bIns="43981"/>
          <a:lstStyle/>
          <a:p>
            <a:endParaRPr lang="fr-FR" sz="1000">
              <a:latin typeface="Calibri" panose="020F0502020204030204" pitchFamily="34" charset="0"/>
            </a:endParaRPr>
          </a:p>
        </p:txBody>
      </p:sp>
      <p:sp>
        <p:nvSpPr>
          <p:cNvPr id="83" name="ZoneTexte 2"/>
          <p:cNvSpPr txBox="1">
            <a:spLocks noChangeArrowheads="1"/>
          </p:cNvSpPr>
          <p:nvPr/>
        </p:nvSpPr>
        <p:spPr bwMode="auto">
          <a:xfrm>
            <a:off x="1023804" y="4192542"/>
            <a:ext cx="560734" cy="231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111" tIns="38556" rIns="77111" bIns="38556">
            <a:spAutoFit/>
          </a:bodyPr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fr-FR" altLang="fr-FR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Oui</a:t>
            </a:r>
          </a:p>
        </p:txBody>
      </p:sp>
      <p:sp>
        <p:nvSpPr>
          <p:cNvPr id="84" name="Line 19"/>
          <p:cNvSpPr>
            <a:spLocks noChangeShapeType="1"/>
          </p:cNvSpPr>
          <p:nvPr/>
        </p:nvSpPr>
        <p:spPr bwMode="auto">
          <a:xfrm>
            <a:off x="1709218" y="3775572"/>
            <a:ext cx="33671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7961" tIns="43981" rIns="87961" bIns="43981"/>
          <a:lstStyle/>
          <a:p>
            <a:endParaRPr lang="fr-FR" sz="1000">
              <a:latin typeface="Calibri" panose="020F0502020204030204" pitchFamily="34" charset="0"/>
            </a:endParaRPr>
          </a:p>
        </p:txBody>
      </p:sp>
      <p:sp>
        <p:nvSpPr>
          <p:cNvPr id="85" name="Line 19"/>
          <p:cNvSpPr>
            <a:spLocks noChangeShapeType="1"/>
          </p:cNvSpPr>
          <p:nvPr/>
        </p:nvSpPr>
        <p:spPr bwMode="auto">
          <a:xfrm flipH="1">
            <a:off x="1030847" y="3150168"/>
            <a:ext cx="0" cy="2048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7961" tIns="43981" rIns="87961" bIns="43981"/>
          <a:lstStyle/>
          <a:p>
            <a:endParaRPr lang="fr-FR" sz="1000">
              <a:latin typeface="Calibri" panose="020F0502020204030204" pitchFamily="34" charset="0"/>
            </a:endParaRPr>
          </a:p>
        </p:txBody>
      </p:sp>
      <p:sp>
        <p:nvSpPr>
          <p:cNvPr id="86" name="ZoneTexte 46"/>
          <p:cNvSpPr txBox="1">
            <a:spLocks noChangeArrowheads="1"/>
          </p:cNvSpPr>
          <p:nvPr/>
        </p:nvSpPr>
        <p:spPr bwMode="auto">
          <a:xfrm>
            <a:off x="1023439" y="5264751"/>
            <a:ext cx="560734" cy="231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111" tIns="38556" rIns="77111" bIns="38556">
            <a:spAutoFit/>
          </a:bodyPr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fr-FR" altLang="fr-F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Oui</a:t>
            </a:r>
          </a:p>
        </p:txBody>
      </p:sp>
      <p:sp>
        <p:nvSpPr>
          <p:cNvPr id="87" name="Line 19"/>
          <p:cNvSpPr>
            <a:spLocks noChangeShapeType="1"/>
          </p:cNvSpPr>
          <p:nvPr/>
        </p:nvSpPr>
        <p:spPr bwMode="auto">
          <a:xfrm flipH="1">
            <a:off x="1023439" y="4231098"/>
            <a:ext cx="0" cy="2048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7961" tIns="43981" rIns="87961" bIns="43981"/>
          <a:lstStyle/>
          <a:p>
            <a:endParaRPr lang="fr-FR" sz="1000">
              <a:latin typeface="Calibri" panose="020F0502020204030204" pitchFamily="34" charset="0"/>
            </a:endParaRPr>
          </a:p>
        </p:txBody>
      </p:sp>
      <p:sp>
        <p:nvSpPr>
          <p:cNvPr id="88" name="Line 19"/>
          <p:cNvSpPr>
            <a:spLocks noChangeShapeType="1"/>
          </p:cNvSpPr>
          <p:nvPr/>
        </p:nvSpPr>
        <p:spPr bwMode="auto">
          <a:xfrm>
            <a:off x="1720233" y="4847781"/>
            <a:ext cx="33671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7961" tIns="43981" rIns="87961" bIns="43981"/>
          <a:lstStyle/>
          <a:p>
            <a:endParaRPr lang="fr-FR" sz="1000">
              <a:latin typeface="Calibri" panose="020F0502020204030204" pitchFamily="34" charset="0"/>
            </a:endParaRPr>
          </a:p>
        </p:txBody>
      </p:sp>
      <p:sp>
        <p:nvSpPr>
          <p:cNvPr id="89" name="Line 19"/>
          <p:cNvSpPr>
            <a:spLocks noChangeShapeType="1"/>
          </p:cNvSpPr>
          <p:nvPr/>
        </p:nvSpPr>
        <p:spPr bwMode="auto">
          <a:xfrm>
            <a:off x="1023482" y="5264751"/>
            <a:ext cx="0" cy="294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7961" tIns="43981" rIns="87961" bIns="43981"/>
          <a:lstStyle/>
          <a:p>
            <a:endParaRPr lang="fr-FR" sz="1000">
              <a:latin typeface="Calibri" panose="020F0502020204030204" pitchFamily="34" charset="0"/>
            </a:endParaRPr>
          </a:p>
        </p:txBody>
      </p:sp>
      <p:sp>
        <p:nvSpPr>
          <p:cNvPr id="90" name="AutoShape 6"/>
          <p:cNvSpPr>
            <a:spLocks noChangeArrowheads="1"/>
          </p:cNvSpPr>
          <p:nvPr/>
        </p:nvSpPr>
        <p:spPr bwMode="auto">
          <a:xfrm>
            <a:off x="493048" y="2699792"/>
            <a:ext cx="1102485" cy="416970"/>
          </a:xfrm>
          <a:prstGeom prst="roundRect">
            <a:avLst>
              <a:gd name="adj" fmla="val 16667"/>
            </a:avLst>
          </a:prstGeom>
          <a:solidFill>
            <a:schemeClr val="bg1">
              <a:lumMod val="65000"/>
            </a:schemeClr>
          </a:solidFill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  <a:extLst/>
        </p:spPr>
        <p:txBody>
          <a:bodyPr wrap="none" lIns="76990" tIns="38496" rIns="76990" bIns="38496" anchor="ctr"/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de risque</a:t>
            </a:r>
          </a:p>
        </p:txBody>
      </p:sp>
      <p:sp>
        <p:nvSpPr>
          <p:cNvPr id="91" name="Losange 1"/>
          <p:cNvSpPr>
            <a:spLocks noChangeArrowheads="1"/>
          </p:cNvSpPr>
          <p:nvPr/>
        </p:nvSpPr>
        <p:spPr bwMode="auto">
          <a:xfrm>
            <a:off x="337746" y="3358602"/>
            <a:ext cx="1371471" cy="834214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952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/>
          <a:extLst/>
        </p:spPr>
        <p:txBody>
          <a:bodyPr wrap="none" lIns="76990" tIns="38496" rIns="76990" bIns="38496" anchor="ctr"/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Travail isolé ? </a:t>
            </a:r>
          </a:p>
        </p:txBody>
      </p:sp>
      <p:sp>
        <p:nvSpPr>
          <p:cNvPr id="92" name="Losange 91"/>
          <p:cNvSpPr>
            <a:spLocks noChangeArrowheads="1"/>
          </p:cNvSpPr>
          <p:nvPr/>
        </p:nvSpPr>
        <p:spPr bwMode="auto">
          <a:xfrm>
            <a:off x="348763" y="4430811"/>
            <a:ext cx="1349481" cy="839152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952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/>
          <a:extLst/>
        </p:spPr>
        <p:txBody>
          <a:bodyPr wrap="none" lIns="76990" tIns="38496" rIns="76990" bIns="38496" anchor="ctr"/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100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Binôme </a:t>
            </a:r>
          </a:p>
          <a:p>
            <a:pPr algn="ctr" eaLnBrk="1" hangingPunct="1"/>
            <a:r>
              <a:rPr lang="fr-FR" altLang="fr-FR" sz="100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Possible ?</a:t>
            </a:r>
          </a:p>
        </p:txBody>
      </p:sp>
      <p:sp>
        <p:nvSpPr>
          <p:cNvPr id="93" name="AutoShape 18"/>
          <p:cNvSpPr>
            <a:spLocks noChangeArrowheads="1"/>
          </p:cNvSpPr>
          <p:nvPr/>
        </p:nvSpPr>
        <p:spPr bwMode="auto">
          <a:xfrm>
            <a:off x="386729" y="5594104"/>
            <a:ext cx="1278509" cy="505592"/>
          </a:xfrm>
          <a:prstGeom prst="roundRect">
            <a:avLst>
              <a:gd name="adj" fmla="val 16667"/>
            </a:avLst>
          </a:prstGeom>
          <a:solidFill>
            <a:schemeClr val="bg1">
              <a:lumMod val="65000"/>
            </a:schemeClr>
          </a:solidFill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lIns="77111" tIns="38556" rIns="77111" bIns="38556" anchor="ctr"/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10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Intervention en </a:t>
            </a:r>
          </a:p>
          <a:p>
            <a:pPr algn="ctr" eaLnBrk="1" hangingPunct="1"/>
            <a:r>
              <a:rPr lang="fr-FR" altLang="fr-FR" sz="10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Binôme  avec   un employé du client</a:t>
            </a:r>
          </a:p>
        </p:txBody>
      </p:sp>
      <p:sp>
        <p:nvSpPr>
          <p:cNvPr id="94" name="AutoShape 18"/>
          <p:cNvSpPr>
            <a:spLocks noChangeArrowheads="1"/>
          </p:cNvSpPr>
          <p:nvPr/>
        </p:nvSpPr>
        <p:spPr bwMode="auto">
          <a:xfrm>
            <a:off x="2083254" y="3558315"/>
            <a:ext cx="1029388" cy="416970"/>
          </a:xfrm>
          <a:prstGeom prst="roundRect">
            <a:avLst>
              <a:gd name="adj" fmla="val 16667"/>
            </a:avLst>
          </a:prstGeom>
          <a:solidFill>
            <a:schemeClr val="bg1">
              <a:lumMod val="65000"/>
            </a:schemeClr>
          </a:solidFill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lIns="77111" tIns="38556" rIns="77111" bIns="38556" anchor="ctr"/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Intervention</a:t>
            </a:r>
          </a:p>
        </p:txBody>
      </p:sp>
      <p:sp>
        <p:nvSpPr>
          <p:cNvPr id="95" name="ZoneTexte 38"/>
          <p:cNvSpPr txBox="1">
            <a:spLocks noChangeArrowheads="1"/>
          </p:cNvSpPr>
          <p:nvPr/>
        </p:nvSpPr>
        <p:spPr bwMode="auto">
          <a:xfrm>
            <a:off x="1646878" y="3546024"/>
            <a:ext cx="482397" cy="231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111" tIns="38556" rIns="77111" bIns="38556">
            <a:spAutoFit/>
          </a:bodyPr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fr-FR" altLang="fr-F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</a:t>
            </a:r>
          </a:p>
        </p:txBody>
      </p:sp>
      <p:sp>
        <p:nvSpPr>
          <p:cNvPr id="96" name="Line 19"/>
          <p:cNvSpPr>
            <a:spLocks noChangeShapeType="1"/>
          </p:cNvSpPr>
          <p:nvPr/>
        </p:nvSpPr>
        <p:spPr bwMode="auto">
          <a:xfrm>
            <a:off x="3396940" y="4845134"/>
            <a:ext cx="33671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7961" tIns="43981" rIns="87961" bIns="43981"/>
          <a:lstStyle/>
          <a:p>
            <a:endParaRPr lang="fr-FR" sz="1000">
              <a:latin typeface="Calibri" panose="020F0502020204030204" pitchFamily="34" charset="0"/>
            </a:endParaRPr>
          </a:p>
        </p:txBody>
      </p:sp>
      <p:sp>
        <p:nvSpPr>
          <p:cNvPr id="97" name="AutoShape 18"/>
          <p:cNvSpPr>
            <a:spLocks noChangeArrowheads="1"/>
          </p:cNvSpPr>
          <p:nvPr/>
        </p:nvSpPr>
        <p:spPr bwMode="auto">
          <a:xfrm>
            <a:off x="3739153" y="4552756"/>
            <a:ext cx="1087044" cy="533293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chemeClr val="accent2">
                <a:lumMod val="60000"/>
                <a:lumOff val="40000"/>
              </a:schemeClr>
            </a:solidFill>
            <a:round/>
            <a:headEnd/>
            <a:tailEnd/>
          </a:ln>
          <a:effectLst/>
          <a:extLst/>
        </p:spPr>
        <p:txBody>
          <a:bodyPr wrap="none" lIns="76990" tIns="38496" rIns="76990" bIns="38496" anchor="ctr"/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1000" dirty="0">
                <a:latin typeface="Calibri" pitchFamily="34" charset="0"/>
                <a:ea typeface="Calibri" pitchFamily="34" charset="0"/>
                <a:cs typeface="Calibri" pitchFamily="34" charset="0"/>
              </a:rPr>
              <a:t>Procédure d’appel </a:t>
            </a:r>
          </a:p>
          <a:p>
            <a:pPr algn="ctr" eaLnBrk="1" hangingPunct="1"/>
            <a:r>
              <a:rPr lang="fr-FR" altLang="fr-FR" sz="1000" dirty="0">
                <a:latin typeface="Calibri" pitchFamily="34" charset="0"/>
                <a:ea typeface="Calibri" pitchFamily="34" charset="0"/>
                <a:cs typeface="Calibri" pitchFamily="34" charset="0"/>
              </a:rPr>
              <a:t>téléphonique </a:t>
            </a:r>
          </a:p>
          <a:p>
            <a:pPr algn="ctr" eaLnBrk="1" hangingPunct="1"/>
            <a:r>
              <a:rPr lang="fr-FR" altLang="fr-FR" sz="1000" dirty="0">
                <a:latin typeface="Calibri" pitchFamily="34" charset="0"/>
                <a:ea typeface="Calibri" pitchFamily="34" charset="0"/>
                <a:cs typeface="Calibri" pitchFamily="34" charset="0"/>
              </a:rPr>
              <a:t>régulière</a:t>
            </a:r>
          </a:p>
        </p:txBody>
      </p:sp>
      <p:sp>
        <p:nvSpPr>
          <p:cNvPr id="98" name="ZoneTexte 36"/>
          <p:cNvSpPr txBox="1">
            <a:spLocks noChangeArrowheads="1"/>
          </p:cNvSpPr>
          <p:nvPr/>
        </p:nvSpPr>
        <p:spPr bwMode="auto">
          <a:xfrm>
            <a:off x="3291115" y="4579862"/>
            <a:ext cx="448038" cy="231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111" tIns="38556" rIns="77111" bIns="38556">
            <a:spAutoFit/>
          </a:bodyPr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fr-FR" altLang="fr-FR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</a:t>
            </a:r>
          </a:p>
        </p:txBody>
      </p:sp>
      <p:sp>
        <p:nvSpPr>
          <p:cNvPr id="99" name="AutoShape 18"/>
          <p:cNvSpPr>
            <a:spLocks noChangeArrowheads="1"/>
          </p:cNvSpPr>
          <p:nvPr/>
        </p:nvSpPr>
        <p:spPr bwMode="auto">
          <a:xfrm>
            <a:off x="2238073" y="6406725"/>
            <a:ext cx="992408" cy="284067"/>
          </a:xfrm>
          <a:prstGeom prst="roundRect">
            <a:avLst>
              <a:gd name="adj" fmla="val 16667"/>
            </a:avLst>
          </a:prstGeom>
          <a:solidFill>
            <a:schemeClr val="bg1">
              <a:lumMod val="65000"/>
            </a:schemeClr>
          </a:solidFill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lIns="77111" tIns="38556" rIns="77111" bIns="38556" anchor="ctr"/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Intervention</a:t>
            </a:r>
          </a:p>
        </p:txBody>
      </p:sp>
      <p:sp>
        <p:nvSpPr>
          <p:cNvPr id="100" name="AutoShape 18"/>
          <p:cNvSpPr>
            <a:spLocks noChangeArrowheads="1"/>
          </p:cNvSpPr>
          <p:nvPr/>
        </p:nvSpPr>
        <p:spPr bwMode="auto">
          <a:xfrm>
            <a:off x="5200234" y="4669079"/>
            <a:ext cx="1010490" cy="394994"/>
          </a:xfrm>
          <a:prstGeom prst="roundRect">
            <a:avLst>
              <a:gd name="adj" fmla="val 16667"/>
            </a:avLst>
          </a:prstGeom>
          <a:solidFill>
            <a:schemeClr val="bg1">
              <a:lumMod val="65000"/>
            </a:schemeClr>
          </a:solidFill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lIns="77111" tIns="38556" rIns="77111" bIns="38556" anchor="ctr"/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Intervention</a:t>
            </a:r>
          </a:p>
        </p:txBody>
      </p:sp>
      <p:sp>
        <p:nvSpPr>
          <p:cNvPr id="101" name="AutoShape 18"/>
          <p:cNvSpPr>
            <a:spLocks noChangeArrowheads="1"/>
          </p:cNvSpPr>
          <p:nvPr/>
        </p:nvSpPr>
        <p:spPr bwMode="auto">
          <a:xfrm>
            <a:off x="2060192" y="5594104"/>
            <a:ext cx="1394534" cy="505592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chemeClr val="accent2">
                <a:lumMod val="60000"/>
                <a:lumOff val="40000"/>
              </a:schemeClr>
            </a:solidFill>
            <a:round/>
            <a:headEnd/>
            <a:tailEnd/>
          </a:ln>
          <a:effectLst/>
          <a:extLst/>
        </p:spPr>
        <p:txBody>
          <a:bodyPr wrap="none" lIns="76990" tIns="38496" rIns="76990" bIns="38496" anchor="ctr"/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1000" dirty="0">
                <a:latin typeface="Calibri" pitchFamily="34" charset="0"/>
                <a:ea typeface="Calibri" pitchFamily="34" charset="0"/>
                <a:cs typeface="Calibri" pitchFamily="34" charset="0"/>
              </a:rPr>
              <a:t>Utilisation d’un PTI</a:t>
            </a:r>
          </a:p>
        </p:txBody>
      </p:sp>
      <p:sp>
        <p:nvSpPr>
          <p:cNvPr id="102" name="ZoneTexte 40"/>
          <p:cNvSpPr txBox="1">
            <a:spLocks noChangeArrowheads="1"/>
          </p:cNvSpPr>
          <p:nvPr/>
        </p:nvSpPr>
        <p:spPr bwMode="auto">
          <a:xfrm>
            <a:off x="1655337" y="4612493"/>
            <a:ext cx="500263" cy="231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111" tIns="38556" rIns="77111" bIns="38556">
            <a:spAutoFit/>
          </a:bodyPr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fr-FR" altLang="fr-F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</a:t>
            </a:r>
          </a:p>
        </p:txBody>
      </p:sp>
      <p:sp>
        <p:nvSpPr>
          <p:cNvPr id="103" name="Losange 29"/>
          <p:cNvSpPr>
            <a:spLocks noChangeArrowheads="1"/>
          </p:cNvSpPr>
          <p:nvPr/>
        </p:nvSpPr>
        <p:spPr bwMode="auto">
          <a:xfrm>
            <a:off x="2045932" y="4428800"/>
            <a:ext cx="1376690" cy="82566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952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/>
          <a:extLst/>
        </p:spPr>
        <p:txBody>
          <a:bodyPr wrap="none" lIns="76990" tIns="38496" rIns="76990" bIns="38496" anchor="ctr"/>
          <a:lstStyle>
            <a:lvl1pPr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PTI disponible ?</a:t>
            </a:r>
          </a:p>
        </p:txBody>
      </p:sp>
    </p:spTree>
    <p:extLst>
      <p:ext uri="{BB962C8B-B14F-4D97-AF65-F5344CB8AC3E}">
        <p14:creationId xmlns:p14="http://schemas.microsoft.com/office/powerpoint/2010/main" val="81578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/>
      <p:bldP spid="81" grpId="0" animBg="1"/>
      <p:bldP spid="82" grpId="0" animBg="1"/>
      <p:bldP spid="83" grpId="0"/>
      <p:bldP spid="84" grpId="0" animBg="1"/>
      <p:bldP spid="85" grpId="0" animBg="1"/>
      <p:bldP spid="86" grpId="0"/>
      <p:bldP spid="87" grpId="0" animBg="1"/>
      <p:bldP spid="88" grpId="0" animBg="1"/>
      <p:bldP spid="89" grpId="0" animBg="1"/>
      <p:bldP spid="91" grpId="0" animBg="1"/>
      <p:bldP spid="92" grpId="0" animBg="1"/>
      <p:bldP spid="93" grpId="0" animBg="1"/>
      <p:bldP spid="94" grpId="0" animBg="1"/>
      <p:bldP spid="95" grpId="0"/>
      <p:bldP spid="96" grpId="0" animBg="1"/>
      <p:bldP spid="97" grpId="0" animBg="1"/>
      <p:bldP spid="98" grpId="0"/>
      <p:bldP spid="99" grpId="0" animBg="1"/>
      <p:bldP spid="100" grpId="0" animBg="1"/>
      <p:bldP spid="101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Affichage à l'écran (4:3)</PresentationFormat>
  <Paragraphs>32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Giblaine, Anais           UTC CCS</dc:creator>
  <cp:lastModifiedBy>Aurelie Montfort</cp:lastModifiedBy>
  <cp:revision>17</cp:revision>
  <dcterms:created xsi:type="dcterms:W3CDTF">2017-01-04T15:17:33Z</dcterms:created>
  <dcterms:modified xsi:type="dcterms:W3CDTF">2017-06-02T08:44:15Z</dcterms:modified>
</cp:coreProperties>
</file>