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6858000" cy="9144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615" autoAdjust="0"/>
    <p:restoredTop sz="86418" autoAdjust="0"/>
  </p:normalViewPr>
  <p:slideViewPr>
    <p:cSldViewPr>
      <p:cViewPr varScale="1">
        <p:scale>
          <a:sx n="84" d="100"/>
          <a:sy n="84" d="100"/>
        </p:scale>
        <p:origin x="3534" y="10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73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6E8C7-9AB3-409D-BE4E-8C84014797E1}" type="datetimeFigureOut">
              <a:rPr lang="fr-FR" smtClean="0"/>
              <a:t>23/08/2024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DC1B5-1D8B-468B-8271-B4E7A5CF43D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7610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1FFAF-1E8A-4333-94BA-CFE0F7FB5BAE}" type="datetimeFigureOut">
              <a:rPr lang="fr-FR" smtClean="0"/>
              <a:t>23/08/2024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38EB6-6B7A-41D6-B9C4-00805594BF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719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E38EB6-6B7A-41D6-B9C4-00805594BFA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09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32" name="Forme libre 31"/>
          <p:cNvSpPr/>
          <p:nvPr userDrawn="1"/>
        </p:nvSpPr>
        <p:spPr>
          <a:xfrm>
            <a:off x="-15192" y="935389"/>
            <a:ext cx="376518" cy="147918"/>
          </a:xfrm>
          <a:custGeom>
            <a:avLst/>
            <a:gdLst>
              <a:gd name="connsiteX0" fmla="*/ 0 w 376518"/>
              <a:gd name="connsiteY0" fmla="*/ 0 h 147918"/>
              <a:gd name="connsiteX1" fmla="*/ 376518 w 376518"/>
              <a:gd name="connsiteY1" fmla="*/ 0 h 147918"/>
              <a:gd name="connsiteX2" fmla="*/ 376518 w 376518"/>
              <a:gd name="connsiteY2" fmla="*/ 147918 h 147918"/>
              <a:gd name="connsiteX3" fmla="*/ 0 w 376518"/>
              <a:gd name="connsiteY3" fmla="*/ 0 h 14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518" h="147918">
                <a:moveTo>
                  <a:pt x="0" y="0"/>
                </a:moveTo>
                <a:lnTo>
                  <a:pt x="376518" y="0"/>
                </a:lnTo>
                <a:lnTo>
                  <a:pt x="376518" y="1479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Organigramme : Processus 32"/>
          <p:cNvSpPr/>
          <p:nvPr userDrawn="1"/>
        </p:nvSpPr>
        <p:spPr>
          <a:xfrm>
            <a:off x="-1745" y="731560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4" name="Organigramme : Processus 33"/>
          <p:cNvSpPr/>
          <p:nvPr userDrawn="1"/>
        </p:nvSpPr>
        <p:spPr>
          <a:xfrm>
            <a:off x="330911" y="443528"/>
            <a:ext cx="2034730" cy="792088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5" name="Connecteur droit 34"/>
          <p:cNvCxnSpPr/>
          <p:nvPr userDrawn="1"/>
        </p:nvCxnSpPr>
        <p:spPr>
          <a:xfrm>
            <a:off x="978983" y="587544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 userDrawn="1"/>
        </p:nvSpPr>
        <p:spPr>
          <a:xfrm>
            <a:off x="1101614" y="467544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H</a:t>
            </a:r>
          </a:p>
        </p:txBody>
      </p:sp>
      <p:sp>
        <p:nvSpPr>
          <p:cNvPr id="37" name="ZoneTexte 36"/>
          <p:cNvSpPr txBox="1"/>
          <p:nvPr userDrawn="1"/>
        </p:nvSpPr>
        <p:spPr>
          <a:xfrm>
            <a:off x="1821694" y="479738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accent2">
                    <a:lumMod val="75000"/>
                  </a:schemeClr>
                </a:solidFill>
              </a:rPr>
              <a:t>S</a:t>
            </a:r>
          </a:p>
        </p:txBody>
      </p:sp>
      <p:sp>
        <p:nvSpPr>
          <p:cNvPr id="38" name="ZoneTexte 37"/>
          <p:cNvSpPr txBox="1"/>
          <p:nvPr userDrawn="1"/>
        </p:nvSpPr>
        <p:spPr>
          <a:xfrm>
            <a:off x="453542" y="487348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E</a:t>
            </a:r>
          </a:p>
        </p:txBody>
      </p:sp>
      <p:cxnSp>
        <p:nvCxnSpPr>
          <p:cNvPr id="39" name="Connecteur droit 38"/>
          <p:cNvCxnSpPr/>
          <p:nvPr userDrawn="1"/>
        </p:nvCxnSpPr>
        <p:spPr>
          <a:xfrm>
            <a:off x="1699063" y="587544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 userDrawn="1"/>
        </p:nvSpPr>
        <p:spPr>
          <a:xfrm>
            <a:off x="2477459" y="731560"/>
            <a:ext cx="3974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>
                <a:solidFill>
                  <a:schemeClr val="bg1"/>
                </a:solidFill>
              </a:rPr>
              <a:t>Hygiène    Environnement    Management </a:t>
            </a:r>
          </a:p>
        </p:txBody>
      </p:sp>
      <p:sp>
        <p:nvSpPr>
          <p:cNvPr id="41" name="Pentagone 40"/>
          <p:cNvSpPr/>
          <p:nvPr userDrawn="1"/>
        </p:nvSpPr>
        <p:spPr>
          <a:xfrm>
            <a:off x="318238" y="732766"/>
            <a:ext cx="115686" cy="214818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2" name="Image 41"/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660" y="83488"/>
            <a:ext cx="837236" cy="563523"/>
          </a:xfrm>
          <a:prstGeom prst="rect">
            <a:avLst/>
          </a:prstGeom>
        </p:spPr>
      </p:pic>
      <p:sp>
        <p:nvSpPr>
          <p:cNvPr id="30" name="Rectangle 29"/>
          <p:cNvSpPr/>
          <p:nvPr userDrawn="1"/>
        </p:nvSpPr>
        <p:spPr>
          <a:xfrm rot="21419042">
            <a:off x="4984400" y="771237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 userDrawn="1"/>
        </p:nvSpPr>
        <p:spPr>
          <a:xfrm rot="21336737">
            <a:off x="6034285" y="721175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F0AA25EE-5345-C1C8-5A87-7C68ED41B0C6}"/>
              </a:ext>
            </a:extLst>
          </p:cNvPr>
          <p:cNvGrpSpPr/>
          <p:nvPr userDrawn="1"/>
        </p:nvGrpSpPr>
        <p:grpSpPr>
          <a:xfrm>
            <a:off x="53637" y="8556456"/>
            <a:ext cx="6747236" cy="529570"/>
            <a:chOff x="9468" y="8532440"/>
            <a:chExt cx="6854400" cy="5295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F667EE-A94F-40A6-E005-94F7ADCD8535}"/>
                </a:ext>
              </a:extLst>
            </p:cNvPr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539CDCE-11B9-3D5A-56EB-F56A3595AEC0}"/>
                </a:ext>
              </a:extLst>
            </p:cNvPr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ABBA0D22-165C-9729-92BB-2C0593A38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83" y="8639142"/>
            <a:ext cx="3688081" cy="42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2900" y="2133601"/>
            <a:ext cx="6172200" cy="6034617"/>
          </a:xfrm>
        </p:spPr>
        <p:txBody>
          <a:bodyPr/>
          <a:lstStyle>
            <a:lvl1pPr>
              <a:defRPr sz="2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31178" y="8622284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71670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2" name="Organigramme : Processus 11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991FE847-2145-1CD8-461B-690E447E0C91}"/>
              </a:ext>
            </a:extLst>
          </p:cNvPr>
          <p:cNvGrpSpPr/>
          <p:nvPr userDrawn="1"/>
        </p:nvGrpSpPr>
        <p:grpSpPr>
          <a:xfrm>
            <a:off x="9468" y="8532440"/>
            <a:ext cx="6854400" cy="529570"/>
            <a:chOff x="9468" y="8532440"/>
            <a:chExt cx="6854400" cy="5295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58DAFBA-A39E-AECF-3AC5-285F5A97CC43}"/>
                </a:ext>
              </a:extLst>
            </p:cNvPr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C47C11FC-AD26-5BB3-1E71-3F1AA630D093}"/>
                </a:ext>
              </a:extLst>
            </p:cNvPr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D1054A74-EED9-C5D5-502F-21AA0D80E5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83" y="8639142"/>
            <a:ext cx="3688081" cy="42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45976" y="8640298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3DCD8E7A-C01F-7D5F-23D3-5011FFBD5954}"/>
              </a:ext>
            </a:extLst>
          </p:cNvPr>
          <p:cNvGrpSpPr/>
          <p:nvPr userDrawn="1"/>
        </p:nvGrpSpPr>
        <p:grpSpPr>
          <a:xfrm>
            <a:off x="9468" y="8532440"/>
            <a:ext cx="6854400" cy="529570"/>
            <a:chOff x="9468" y="8532440"/>
            <a:chExt cx="6854400" cy="5295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5CEBCA2-7014-1A1B-E537-2F9322C54B0C}"/>
                </a:ext>
              </a:extLst>
            </p:cNvPr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E3604CE4-0DBC-F5D9-5EA1-40AC3F6C5F52}"/>
                </a:ext>
              </a:extLst>
            </p:cNvPr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493F8BB1-0055-CE97-C4EE-3A26E5D8F4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83" y="8639142"/>
            <a:ext cx="3688081" cy="42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4995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245976" y="8628370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7281BA58-50AC-EF07-E434-F0EFC8A7559D}"/>
              </a:ext>
            </a:extLst>
          </p:cNvPr>
          <p:cNvGrpSpPr/>
          <p:nvPr userDrawn="1"/>
        </p:nvGrpSpPr>
        <p:grpSpPr>
          <a:xfrm>
            <a:off x="9468" y="8532440"/>
            <a:ext cx="6854400" cy="529570"/>
            <a:chOff x="9468" y="8532440"/>
            <a:chExt cx="6854400" cy="52957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7F54A1-DA7B-4AF2-A037-0D66423C215C}"/>
                </a:ext>
              </a:extLst>
            </p:cNvPr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3C1E7BBD-56D4-389C-0232-7F136613AD73}"/>
                </a:ext>
              </a:extLst>
            </p:cNvPr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pic>
        <p:nvPicPr>
          <p:cNvPr id="6" name="Picture 2">
            <a:extLst>
              <a:ext uri="{FF2B5EF4-FFF2-40B4-BE49-F238E27FC236}">
                <a16:creationId xmlns:a16="http://schemas.microsoft.com/office/drawing/2014/main" id="{CC7888AD-4EE3-8B66-E6B9-249828E480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83" y="8639142"/>
            <a:ext cx="3688081" cy="429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09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6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10"/>
          <p:cNvSpPr>
            <a:spLocks noChangeArrowheads="1"/>
          </p:cNvSpPr>
          <p:nvPr/>
        </p:nvSpPr>
        <p:spPr bwMode="auto">
          <a:xfrm>
            <a:off x="189795" y="6386129"/>
            <a:ext cx="6533142" cy="1616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111" tIns="38556" rIns="77111" bIns="38556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286000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00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200400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657600"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defTabSz="771114" eaLnBrk="0" hangingPunct="0">
              <a:tabLst>
                <a:tab pos="385557" algn="l"/>
              </a:tabLst>
            </a:pPr>
            <a:r>
              <a:rPr lang="fr-FR" altLang="fr-FR" sz="1000" b="1" dirty="0">
                <a:latin typeface="Calibri" panose="020F0502020204030204" pitchFamily="34" charset="0"/>
                <a:ea typeface="Times New Roman" pitchFamily="18" charset="0"/>
                <a:cs typeface="Tahoma" pitchFamily="34" charset="0"/>
              </a:rPr>
              <a:t>EPI pour la manipulation de piles et batteries endommagées</a:t>
            </a:r>
            <a:endParaRPr lang="fr-FR" altLang="fr-FR" sz="1000" b="1" dirty="0">
              <a:latin typeface="Calibri" panose="020F0502020204030204" pitchFamily="34" charset="0"/>
            </a:endParaRPr>
          </a:p>
          <a:p>
            <a:pPr marL="144584" indent="-144584" algn="just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385557" algn="l"/>
              </a:tabLst>
            </a:pP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Gants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 </a:t>
            </a: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de manutention </a:t>
            </a: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(à jeter ensuite si contaminés par la substance)</a:t>
            </a:r>
            <a:endParaRPr lang="fr-FR" altLang="fr-FR" sz="1000" dirty="0">
              <a:latin typeface="Calibri" panose="020F0502020204030204" pitchFamily="34" charset="0"/>
            </a:endParaRPr>
          </a:p>
          <a:p>
            <a:pPr marL="144584" indent="-144584" algn="just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385557" algn="l"/>
              </a:tabLst>
            </a:pP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Lunettes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 </a:t>
            </a: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de sécurité.</a:t>
            </a:r>
            <a:endParaRPr lang="fr-FR" altLang="fr-FR" sz="1000" dirty="0">
              <a:latin typeface="Calibri" panose="020F0502020204030204" pitchFamily="34" charset="0"/>
            </a:endParaRPr>
          </a:p>
          <a:p>
            <a:pPr marL="144584" indent="-144584" algn="just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385557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Les batteries endommagées doivent être stockées dans des </a:t>
            </a:r>
            <a:r>
              <a:rPr lang="fr-FR" altLang="fr-FR" sz="1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Times New Roman" pitchFamily="18" charset="0"/>
              </a:rPr>
              <a:t>cartons individuels </a:t>
            </a: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afin d’éviter tout contact avec les autres batteries et minimiser les risques d’écoulement. Elles doivent ensuite être déposées dans le bac à batterie pour enlèvement, en conservant leur carton d’emballage.</a:t>
            </a:r>
          </a:p>
          <a:p>
            <a:pPr marL="144584" indent="-144584" algn="just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385557" algn="l"/>
              </a:tabLst>
            </a:pPr>
            <a:endParaRPr lang="fr-FR" altLang="fr-FR" sz="1000" dirty="0">
              <a:latin typeface="Calibri" panose="020F0502020204030204" pitchFamily="34" charset="0"/>
            </a:endParaRPr>
          </a:p>
          <a:p>
            <a:pPr algn="just" defTabSz="771114" eaLnBrk="0" hangingPunct="0">
              <a:tabLst>
                <a:tab pos="385557" algn="l"/>
              </a:tabLst>
            </a:pPr>
            <a:r>
              <a:rPr lang="fr-FR" altLang="fr-FR" sz="1000" b="1" dirty="0">
                <a:latin typeface="Calibri" panose="020F0502020204030204" pitchFamily="34" charset="0"/>
                <a:ea typeface="Times New Roman" pitchFamily="18" charset="0"/>
                <a:cs typeface="Tahoma" pitchFamily="34" charset="0"/>
              </a:rPr>
              <a:t>Premiers secours en cas de contact avec la substance (acide)</a:t>
            </a:r>
            <a:endParaRPr lang="fr-FR" altLang="fr-FR" sz="1000" b="1" dirty="0">
              <a:latin typeface="Calibri" panose="020F0502020204030204" pitchFamily="34" charset="0"/>
            </a:endParaRPr>
          </a:p>
          <a:p>
            <a:pPr marL="144584" indent="-144584" algn="just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385557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Se </a:t>
            </a: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laver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 </a:t>
            </a: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immédiatement et abondamment afin d'éviter la brûlure</a:t>
            </a:r>
            <a:endParaRPr lang="fr-FR" altLang="fr-FR" sz="1000" dirty="0">
              <a:latin typeface="Calibri" panose="020F0502020204030204" pitchFamily="34" charset="0"/>
            </a:endParaRPr>
          </a:p>
          <a:p>
            <a:pPr marL="144584" indent="-144584" algn="just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385557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En cas de doute, contacter un SST ou les pompiers</a:t>
            </a:r>
            <a:endParaRPr lang="fr-FR" altLang="fr-FR" sz="1000" dirty="0">
              <a:latin typeface="Calibri" panose="020F05020202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1192846"/>
            <a:ext cx="685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953735"/>
                </a:solidFill>
              </a:rPr>
              <a:t>Manutention, transport et stockage des piles et batteries dans les voitures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235555" y="1776385"/>
            <a:ext cx="6466520" cy="1155082"/>
          </a:xfrm>
          <a:prstGeom prst="rect">
            <a:avLst/>
          </a:prstGeom>
          <a:noFill/>
        </p:spPr>
        <p:txBody>
          <a:bodyPr wrap="square" lIns="77111" tIns="38556" rIns="77111" bIns="38556" rtlCol="0">
            <a:spAutoFit/>
          </a:bodyPr>
          <a:lstStyle/>
          <a:p>
            <a:pPr lvl="0" defTabSz="771114" eaLnBrk="0" hangingPunct="0">
              <a:tabLst>
                <a:tab pos="227586" algn="l"/>
              </a:tabLst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  <a:ea typeface="Times New Roman" pitchFamily="18" charset="0"/>
              </a:rPr>
              <a:t>Règles de manutention, de transport et de stockage des piles et batteries dans les véhicules et les agences pour éviter :</a:t>
            </a:r>
            <a:endParaRPr lang="fr-FR" altLang="fr-FR" sz="10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144584" lvl="0" indent="-144584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227586" algn="l"/>
              </a:tabLst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  <a:ea typeface="Times New Roman" pitchFamily="18" charset="0"/>
              </a:rPr>
              <a:t>Le risque de </a:t>
            </a: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brûlure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 </a:t>
            </a: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  <a:ea typeface="Times New Roman" pitchFamily="18" charset="0"/>
              </a:rPr>
              <a:t>à l'acide (contact avec le liquide qui coule d'une pile ou d'une batterie endommagée)</a:t>
            </a:r>
            <a:endParaRPr lang="fr-FR" altLang="fr-FR" sz="10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144584" lvl="0" indent="-144584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227586" algn="l"/>
              </a:tabLst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  <a:ea typeface="Times New Roman" pitchFamily="18" charset="0"/>
              </a:rPr>
              <a:t>Le risque 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d'</a:t>
            </a: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incendie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 </a:t>
            </a: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  <a:ea typeface="Times New Roman" pitchFamily="18" charset="0"/>
              </a:rPr>
              <a:t>ou 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d'</a:t>
            </a: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explosion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 </a:t>
            </a: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  <a:ea typeface="Times New Roman" pitchFamily="18" charset="0"/>
              </a:rPr>
              <a:t>en cas de court-circuit accidentel des bornes</a:t>
            </a:r>
            <a:endParaRPr lang="fr-FR" altLang="fr-FR" sz="10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144584" lvl="0" indent="-144584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227586" algn="l"/>
              </a:tabLst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  <a:ea typeface="Times New Roman" pitchFamily="18" charset="0"/>
              </a:rPr>
              <a:t>Les risques liés à la manipulation : </a:t>
            </a: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choc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 </a:t>
            </a: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  <a:ea typeface="Times New Roman" pitchFamily="18" charset="0"/>
              </a:rPr>
              <a:t>en cas de chute, </a:t>
            </a: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mal de dos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 </a:t>
            </a: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  <a:ea typeface="Times New Roman" pitchFamily="18" charset="0"/>
              </a:rPr>
              <a:t>si poids important</a:t>
            </a:r>
          </a:p>
          <a:p>
            <a:pPr marL="144584" indent="-144584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227586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Toujours </a:t>
            </a: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vérifier le bon état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 </a:t>
            </a: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des piles et batteries avant de les toucher (absence de fissures, de liquide …)</a:t>
            </a:r>
            <a:endParaRPr lang="fr-FR" altLang="fr-FR" sz="1000" dirty="0">
              <a:latin typeface="Calibri" panose="020F0502020204030204" pitchFamily="34" charset="0"/>
            </a:endParaRPr>
          </a:p>
          <a:p>
            <a:pPr marL="144584" indent="-144584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227586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Port de </a:t>
            </a: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chaussures de sécurité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 </a:t>
            </a: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pour la manutention</a:t>
            </a:r>
          </a:p>
          <a:p>
            <a:pPr marL="144584" indent="-144584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227586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Les batteries doivent toujours être </a:t>
            </a: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portées  à deux mains </a:t>
            </a: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avec au minimum une main en dessous de la batterie</a:t>
            </a:r>
            <a:endParaRPr lang="fr-FR" altLang="fr-FR" sz="10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83963" y="8562999"/>
            <a:ext cx="3427626" cy="200976"/>
          </a:xfrm>
          <a:prstGeom prst="rect">
            <a:avLst/>
          </a:prstGeom>
        </p:spPr>
        <p:txBody>
          <a:bodyPr lIns="77111" tIns="38556" rIns="77111" bIns="38556">
            <a:spAutoFit/>
          </a:bodyPr>
          <a:lstStyle/>
          <a:p>
            <a:pPr marL="4017">
              <a:tabLst>
                <a:tab pos="5494184" algn="r"/>
              </a:tabLst>
            </a:pPr>
            <a:r>
              <a:rPr lang="fr-FR" sz="800" b="1" dirty="0">
                <a:solidFill>
                  <a:srgbClr val="FFFFFF"/>
                </a:solidFill>
                <a:latin typeface="Calibri" panose="020F0502020204030204" pitchFamily="34" charset="0"/>
                <a:ea typeface="Times New Roman"/>
              </a:rPr>
              <a:t>MOD 19 A - Date : 27/07/2016 - Page 1 sur 2</a:t>
            </a:r>
            <a:endParaRPr lang="fr-FR" sz="800" dirty="0">
              <a:latin typeface="Calibri" panose="020F0502020204030204" pitchFamily="34" charset="0"/>
              <a:ea typeface="Times New Roman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5138979" y="539552"/>
            <a:ext cx="17492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700" i="1" dirty="0">
                <a:solidFill>
                  <a:schemeClr val="bg1">
                    <a:lumMod val="65000"/>
                  </a:schemeClr>
                </a:solidFill>
              </a:rPr>
              <a:t>FP FS 014 – Version 2 du 20/08/2024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898" y="1576692"/>
            <a:ext cx="6541190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cs typeface="Arial" pitchFamily="34" charset="0"/>
              </a:rPr>
              <a:t>Règles générales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859" y="3130312"/>
            <a:ext cx="6541190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cs typeface="Arial" pitchFamily="34" charset="0"/>
              </a:rPr>
              <a:t>Transport dans un véhicule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235014" y="3310312"/>
            <a:ext cx="5354225" cy="1770636"/>
          </a:xfrm>
          <a:prstGeom prst="rect">
            <a:avLst/>
          </a:prstGeom>
          <a:noFill/>
        </p:spPr>
        <p:txBody>
          <a:bodyPr wrap="square" lIns="77111" tIns="38556" rIns="77111" bIns="38556" rtlCol="0">
            <a:spAutoFit/>
          </a:bodyPr>
          <a:lstStyle/>
          <a:p>
            <a:pPr defTabSz="771114" eaLnBrk="0" hangingPunct="0">
              <a:tabLst>
                <a:tab pos="227586" algn="l"/>
              </a:tabLst>
            </a:pPr>
            <a:r>
              <a:rPr lang="fr-FR" altLang="fr-FR" sz="1000" b="1" dirty="0">
                <a:latin typeface="Calibri" panose="020F0502020204030204" pitchFamily="34" charset="0"/>
                <a:ea typeface="Times New Roman" pitchFamily="18" charset="0"/>
              </a:rPr>
              <a:t>Piles et batteries neuves</a:t>
            </a:r>
            <a:endParaRPr lang="fr-FR" altLang="fr-FR" sz="1000" dirty="0">
              <a:latin typeface="Calibri" panose="020F0502020204030204" pitchFamily="34" charset="0"/>
            </a:endParaRPr>
          </a:p>
          <a:p>
            <a:pPr marL="144584" indent="-144584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227586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Transport dans l'emballage d'origine </a:t>
            </a:r>
            <a:r>
              <a:rPr lang="fr-FR" altLang="fr-FR" sz="1000" b="1" dirty="0">
                <a:solidFill>
                  <a:srgbClr val="C00000"/>
                </a:solidFill>
                <a:latin typeface="Calibri" panose="020F0502020204030204" pitchFamily="34" charset="0"/>
                <a:ea typeface="Times New Roman" pitchFamily="18" charset="0"/>
              </a:rPr>
              <a:t>sans retirer les protections existantes</a:t>
            </a:r>
            <a:endParaRPr lang="fr-FR" altLang="fr-FR" sz="1000" b="1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 marL="144584" indent="-144584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227586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Transport de telle manière à ce qu’ils ne puissent ni glisser, ni tomber, ni s’endommager</a:t>
            </a:r>
            <a:endParaRPr lang="fr-FR" altLang="fr-FR" sz="1000" dirty="0">
              <a:latin typeface="Calibri" panose="020F0502020204030204" pitchFamily="34" charset="0"/>
            </a:endParaRPr>
          </a:p>
          <a:p>
            <a:pPr marL="144584" indent="-144584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227586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Ne pas transporter si le carton comporte des traces dangereuses d’alcalis ou d’acides. </a:t>
            </a:r>
          </a:p>
          <a:p>
            <a:pPr defTabSz="771114" eaLnBrk="0" hangingPunct="0">
              <a:buClr>
                <a:schemeClr val="accent2">
                  <a:lumMod val="50000"/>
                </a:schemeClr>
              </a:buClr>
              <a:tabLst>
                <a:tab pos="227586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Mettre au rebut en respectant les précautions de manipulation du § »manipulation des </a:t>
            </a:r>
          </a:p>
          <a:p>
            <a:pPr defTabSz="771114" eaLnBrk="0" hangingPunct="0">
              <a:buClr>
                <a:schemeClr val="accent2">
                  <a:lumMod val="50000"/>
                </a:schemeClr>
              </a:buClr>
              <a:tabLst>
                <a:tab pos="227586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batteries endommagées »</a:t>
            </a:r>
            <a:endParaRPr lang="fr-FR" altLang="fr-FR" sz="1000" dirty="0">
              <a:latin typeface="Calibri" panose="020F0502020204030204" pitchFamily="34" charset="0"/>
            </a:endParaRPr>
          </a:p>
          <a:p>
            <a:pPr defTabSz="771114" eaLnBrk="0" hangingPunct="0">
              <a:buClr>
                <a:srgbClr val="EB6A0C"/>
              </a:buClr>
              <a:tabLst>
                <a:tab pos="227586" algn="l"/>
              </a:tabLst>
            </a:pPr>
            <a:r>
              <a:rPr lang="fr-FR" altLang="fr-FR" sz="1000" b="1" dirty="0">
                <a:latin typeface="Calibri" panose="020F0502020204030204" pitchFamily="34" charset="0"/>
                <a:ea typeface="Times New Roman" pitchFamily="18" charset="0"/>
              </a:rPr>
              <a:t>Batteries usagées collectées chez des clients</a:t>
            </a: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 (batteries à cosses)</a:t>
            </a:r>
            <a:endParaRPr lang="fr-FR" altLang="fr-FR" sz="1000" dirty="0">
              <a:latin typeface="Calibri" panose="020F0502020204030204" pitchFamily="34" charset="0"/>
            </a:endParaRPr>
          </a:p>
          <a:p>
            <a:pPr marL="228600" indent="-228600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227586" algn="l"/>
              </a:tabLst>
            </a:pP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Isolation des cosses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 </a:t>
            </a: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avec les capuchons d'origine ou de l'adhésif isolant</a:t>
            </a:r>
          </a:p>
          <a:p>
            <a:pPr marL="228600" indent="-228600" defTabSz="771114" eaLnBrk="0" hangingPunct="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§"/>
              <a:tabLst>
                <a:tab pos="227586" algn="l"/>
              </a:tabLst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  <a:ea typeface="Times New Roman" pitchFamily="18" charset="0"/>
              </a:rPr>
              <a:t>Transport dans la </a:t>
            </a: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caisse à batteries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 </a:t>
            </a: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  <a:ea typeface="Times New Roman" pitchFamily="18" charset="0"/>
              </a:rPr>
              <a:t>fermée par un </a:t>
            </a:r>
            <a:r>
              <a:rPr lang="fr-FR" altLang="fr-FR" sz="1000" b="1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couvercle spécifique</a:t>
            </a:r>
            <a:r>
              <a:rPr lang="fr-FR" altLang="fr-FR" sz="1000" dirty="0">
                <a:solidFill>
                  <a:srgbClr val="953735"/>
                </a:solidFill>
                <a:latin typeface="Calibri" panose="020F0502020204030204" pitchFamily="34" charset="0"/>
                <a:ea typeface="Times New Roman" pitchFamily="18" charset="0"/>
              </a:rPr>
              <a:t>. </a:t>
            </a: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N</a:t>
            </a: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  <a:ea typeface="Times New Roman" pitchFamily="18" charset="0"/>
              </a:rPr>
              <a:t>e pas la surcharger. La caisse doit être systématiquement en bon état. Organiser le rangement à l’intérieur du bac de façon à ce que la batterie ne puisse ni glisser, ni tomber, ni s’endommager.</a:t>
            </a:r>
            <a:endParaRPr lang="fr-FR" altLang="fr-FR" sz="10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5859" y="5235869"/>
            <a:ext cx="6541190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cs typeface="Arial" pitchFamily="34" charset="0"/>
              </a:rPr>
              <a:t>Stockage et élimination en agence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5986656" y="8244727"/>
            <a:ext cx="8713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800" dirty="0">
                <a:solidFill>
                  <a:schemeClr val="bg1">
                    <a:lumMod val="65000"/>
                  </a:schemeClr>
                </a:solidFill>
              </a:rPr>
              <a:t>Page 1/1</a:t>
            </a:r>
          </a:p>
        </p:txBody>
      </p:sp>
      <p:pic>
        <p:nvPicPr>
          <p:cNvPr id="26" name="Picture 3" descr="P406000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157" y="4313080"/>
            <a:ext cx="810111" cy="63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5"/>
          <p:cNvPicPr>
            <a:picLocks noChangeAspect="1" noChangeArrowheads="1"/>
          </p:cNvPicPr>
          <p:nvPr/>
        </p:nvPicPr>
        <p:blipFill>
          <a:blip r:embed="rId4" cstate="print">
            <a:lum bright="-18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301" y="3798717"/>
            <a:ext cx="823918" cy="579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</a:extLst>
        </p:spPr>
      </p:pic>
      <p:pic>
        <p:nvPicPr>
          <p:cNvPr id="29" name="Picture 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8" r="3000"/>
          <a:stretch>
            <a:fillRect/>
          </a:stretch>
        </p:blipFill>
        <p:spPr bwMode="auto">
          <a:xfrm>
            <a:off x="6455674" y="6348062"/>
            <a:ext cx="262501" cy="44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281" y="6380143"/>
            <a:ext cx="618457" cy="34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-6620554" y="595198"/>
            <a:ext cx="444269" cy="200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7111" tIns="38556" rIns="77111" bIns="38556" numCol="1" anchor="ctr" anchorCtr="0" compatLnSpc="1">
            <a:prstTxWarp prst="textNoShape">
              <a:avLst/>
            </a:prstTxWarp>
            <a:spAutoFit/>
          </a:bodyPr>
          <a:lstStyle/>
          <a:p>
            <a:pPr defTabSz="771114" fontAlgn="base">
              <a:spcBef>
                <a:spcPct val="0"/>
              </a:spcBef>
              <a:spcAft>
                <a:spcPct val="0"/>
              </a:spcAft>
            </a:pPr>
            <a:r>
              <a:rPr lang="fr-FR" altLang="fr-FR" sz="800">
                <a:latin typeface="Arial" pitchFamily="34" charset="0"/>
                <a:ea typeface="Times New Roman" pitchFamily="18" charset="0"/>
                <a:cs typeface="Arial" pitchFamily="34" charset="0"/>
              </a:rPr>
              <a:t>          </a:t>
            </a:r>
            <a:endParaRPr lang="fr-FR" altLang="fr-FR" sz="15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3" name="Picture 2" descr="Batterie 00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653" y="3342062"/>
            <a:ext cx="814497" cy="608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Rectangle 46"/>
          <p:cNvSpPr/>
          <p:nvPr/>
        </p:nvSpPr>
        <p:spPr>
          <a:xfrm>
            <a:off x="185771" y="6126782"/>
            <a:ext cx="6541190" cy="18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cs typeface="Arial" pitchFamily="34" charset="0"/>
              </a:rPr>
              <a:t>Manipulation des batteries endommagées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05EB3B7-0FB0-FE96-E581-A63B2B6149FD}"/>
              </a:ext>
            </a:extLst>
          </p:cNvPr>
          <p:cNvSpPr txBox="1"/>
          <p:nvPr/>
        </p:nvSpPr>
        <p:spPr>
          <a:xfrm>
            <a:off x="235014" y="5515600"/>
            <a:ext cx="6483161" cy="385642"/>
          </a:xfrm>
          <a:prstGeom prst="rect">
            <a:avLst/>
          </a:prstGeom>
          <a:noFill/>
        </p:spPr>
        <p:txBody>
          <a:bodyPr wrap="square" lIns="77111" tIns="38556" rIns="77111" bIns="38556" rtlCol="0">
            <a:spAutoFit/>
          </a:bodyPr>
          <a:lstStyle/>
          <a:p>
            <a:pPr marL="171450" indent="-171450" defTabSz="771114" eaLnBrk="0" hangingPunct="0">
              <a:buFont typeface="Arial" panose="020B0604020202020204" pitchFamily="34" charset="0"/>
              <a:buChar char="•"/>
              <a:tabLst>
                <a:tab pos="227586" algn="l"/>
              </a:tabLst>
            </a:pPr>
            <a:r>
              <a:rPr lang="fr-FR" altLang="fr-FR" sz="1000" dirty="0">
                <a:latin typeface="Calibri" panose="020F0502020204030204" pitchFamily="34" charset="0"/>
                <a:ea typeface="Times New Roman" pitchFamily="18" charset="0"/>
              </a:rPr>
              <a:t>Ramener les batteries et les piles usagées en agence</a:t>
            </a:r>
          </a:p>
          <a:p>
            <a:pPr marL="171450" indent="-171450" defTabSz="771114" eaLnBrk="0" hangingPunct="0">
              <a:buFont typeface="Arial" panose="020B0604020202020204" pitchFamily="34" charset="0"/>
              <a:buChar char="•"/>
              <a:tabLst>
                <a:tab pos="227586" algn="l"/>
              </a:tabLst>
            </a:pPr>
            <a:r>
              <a:rPr lang="fr-FR" altLang="fr-FR" sz="1000" b="1" dirty="0">
                <a:latin typeface="Calibri" panose="020F0502020204030204" pitchFamily="34" charset="0"/>
                <a:ea typeface="Times New Roman" pitchFamily="18" charset="0"/>
              </a:rPr>
              <a:t>Respectez le tri des batteries en agence telle que définie dans </a:t>
            </a:r>
            <a:r>
              <a:rPr lang="fr-FR" altLang="fr-FR" sz="1000" b="1" dirty="0">
                <a:solidFill>
                  <a:srgbClr val="00B050"/>
                </a:solidFill>
                <a:latin typeface="Calibri" panose="020F0502020204030204" pitchFamily="34" charset="0"/>
                <a:ea typeface="Times New Roman" pitchFamily="18" charset="0"/>
              </a:rPr>
              <a:t>la FP FS 009 Gestion des stocks</a:t>
            </a:r>
            <a:endParaRPr lang="fr-FR" altLang="fr-FR" sz="1000" dirty="0">
              <a:solidFill>
                <a:srgbClr val="00B05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7882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434</Words>
  <Application>Microsoft Office PowerPoint</Application>
  <PresentationFormat>Affichage à l'écran (4:3)</PresentationFormat>
  <Paragraphs>36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Giblaine, Anais           UTC CCS</dc:creator>
  <cp:lastModifiedBy>LACHAUME, Veronique</cp:lastModifiedBy>
  <cp:revision>45</cp:revision>
  <dcterms:created xsi:type="dcterms:W3CDTF">2017-01-04T15:17:33Z</dcterms:created>
  <dcterms:modified xsi:type="dcterms:W3CDTF">2024-08-23T12:35:57Z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2024-08-23T11:50:13Z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47995fc2-1f56-47ce-9137-a87caef4be74</vt:lpwstr>
  </property>
  <property fmtid="{D5CDD505-2E9C-101B-9397-08002B2CF9AE}" pid="7" name="MSIP_Label_defa4170-0d19-0005-0004-bc88714345d2_ActionId">
    <vt:lpwstr>93931059-c080-4448-a7e1-b4bb997e8ae2</vt:lpwstr>
  </property>
  <property fmtid="{D5CDD505-2E9C-101B-9397-08002B2CF9AE}" pid="8" name="MSIP_Label_defa4170-0d19-0005-0004-bc88714345d2_ContentBits">
    <vt:lpwstr>0</vt:lpwstr>
  </property>
</Properties>
</file>