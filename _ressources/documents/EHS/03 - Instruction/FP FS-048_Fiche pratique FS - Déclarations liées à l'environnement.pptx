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7" r:id="rId2"/>
    <p:sldId id="256" r:id="rId3"/>
    <p:sldId id="258" r:id="rId4"/>
    <p:sldId id="259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556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30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openxmlformats.org/officeDocument/2006/relationships/customXml" Target="../customXml/item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customXml" Target="../customXml/item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699B1F-6D32-4E6A-8E5B-61A371703DCA}" type="datetimeFigureOut">
              <a:rPr lang="fr-FR" smtClean="0"/>
              <a:t>24/08/2023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CF84B8-663F-4801-BC0A-755FD0AAC1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4152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svg"/><Relationship Id="rId7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DF3717-71F6-4B73-9446-E6ED1F491C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7974E26-4F5D-4FEB-97BD-3EEB40991C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pic>
        <p:nvPicPr>
          <p:cNvPr id="7" name="Graphic 23">
            <a:extLst>
              <a:ext uri="{FF2B5EF4-FFF2-40B4-BE49-F238E27FC236}">
                <a16:creationId xmlns:a16="http://schemas.microsoft.com/office/drawing/2014/main" id="{FDA1CCE8-246C-BB57-B442-6AA358F0F26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194" r="28994"/>
          <a:stretch/>
        </p:blipFill>
        <p:spPr>
          <a:xfrm>
            <a:off x="10082677" y="1"/>
            <a:ext cx="2113910" cy="55678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F094F76-64D2-EED8-C3BF-F77602004F0D}"/>
              </a:ext>
            </a:extLst>
          </p:cNvPr>
          <p:cNvSpPr/>
          <p:nvPr/>
        </p:nvSpPr>
        <p:spPr>
          <a:xfrm rot="21419042">
            <a:off x="10936734" y="177257"/>
            <a:ext cx="1270054" cy="171167"/>
          </a:xfrm>
          <a:prstGeom prst="rect">
            <a:avLst/>
          </a:prstGeom>
          <a:solidFill>
            <a:srgbClr val="7793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9" name="Organigramme : Processus 39">
            <a:extLst>
              <a:ext uri="{FF2B5EF4-FFF2-40B4-BE49-F238E27FC236}">
                <a16:creationId xmlns:a16="http://schemas.microsoft.com/office/drawing/2014/main" id="{D0093A83-6349-0C40-F64A-ED57109BFF66}"/>
              </a:ext>
            </a:extLst>
          </p:cNvPr>
          <p:cNvSpPr/>
          <p:nvPr/>
        </p:nvSpPr>
        <p:spPr>
          <a:xfrm>
            <a:off x="44625" y="36006"/>
            <a:ext cx="1589723" cy="451067"/>
          </a:xfrm>
          <a:prstGeom prst="flowChartProcess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E|H|S</a:t>
            </a:r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D155D14D-4AAC-CE7B-D04F-5385BBEEA883}"/>
              </a:ext>
            </a:extLst>
          </p:cNvPr>
          <p:cNvCxnSpPr>
            <a:cxnSpLocks/>
          </p:cNvCxnSpPr>
          <p:nvPr/>
        </p:nvCxnSpPr>
        <p:spPr>
          <a:xfrm>
            <a:off x="0" y="567272"/>
            <a:ext cx="12192000" cy="0"/>
          </a:xfrm>
          <a:prstGeom prst="line">
            <a:avLst/>
          </a:prstGeom>
          <a:ln w="28575">
            <a:solidFill>
              <a:srgbClr val="7793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D8A8B046-6EA9-CA5F-59EF-B17F19347A45}"/>
              </a:ext>
            </a:extLst>
          </p:cNvPr>
          <p:cNvSpPr/>
          <p:nvPr/>
        </p:nvSpPr>
        <p:spPr>
          <a:xfrm rot="21418273">
            <a:off x="11046325" y="107859"/>
            <a:ext cx="121532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Environnement</a:t>
            </a:r>
            <a:endParaRPr kumimoji="0" lang="fr-F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54163EA8-5A1A-2611-80DB-93C65EA8FEC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4001" y="52878"/>
            <a:ext cx="478325" cy="451065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4" name="Graphic 22">
            <a:extLst>
              <a:ext uri="{FF2B5EF4-FFF2-40B4-BE49-F238E27FC236}">
                <a16:creationId xmlns:a16="http://schemas.microsoft.com/office/drawing/2014/main" id="{5FC43136-98B4-93B8-C614-47A5AD5E7496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49715" b="39212"/>
          <a:stretch/>
        </p:blipFill>
        <p:spPr>
          <a:xfrm>
            <a:off x="0" y="4513043"/>
            <a:ext cx="1740566" cy="2341567"/>
          </a:xfrm>
          <a:prstGeom prst="rect">
            <a:avLst/>
          </a:prstGeom>
        </p:spPr>
      </p:pic>
      <p:grpSp>
        <p:nvGrpSpPr>
          <p:cNvPr id="18" name="Groupe 17">
            <a:extLst>
              <a:ext uri="{FF2B5EF4-FFF2-40B4-BE49-F238E27FC236}">
                <a16:creationId xmlns:a16="http://schemas.microsoft.com/office/drawing/2014/main" id="{82AB38D6-2FF5-C207-A352-F40CDEB00E24}"/>
              </a:ext>
            </a:extLst>
          </p:cNvPr>
          <p:cNvGrpSpPr/>
          <p:nvPr/>
        </p:nvGrpSpPr>
        <p:grpSpPr>
          <a:xfrm>
            <a:off x="248394" y="6411749"/>
            <a:ext cx="3333006" cy="309726"/>
            <a:chOff x="4351750" y="6411749"/>
            <a:chExt cx="3333006" cy="309726"/>
          </a:xfrm>
        </p:grpSpPr>
        <p:pic>
          <p:nvPicPr>
            <p:cNvPr id="15" name="Image 14">
              <a:extLst>
                <a:ext uri="{FF2B5EF4-FFF2-40B4-BE49-F238E27FC236}">
                  <a16:creationId xmlns:a16="http://schemas.microsoft.com/office/drawing/2014/main" id="{A84F0A0C-9004-C9A3-D945-BBF59928560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51750" y="6411749"/>
              <a:ext cx="691828" cy="271893"/>
            </a:xfrm>
            <a:prstGeom prst="rect">
              <a:avLst/>
            </a:prstGeom>
          </p:spPr>
        </p:pic>
        <p:pic>
          <p:nvPicPr>
            <p:cNvPr id="16" name="Image 15" descr="Une image contenant texte&#10;&#10;Description générée automatiquement">
              <a:extLst>
                <a:ext uri="{FF2B5EF4-FFF2-40B4-BE49-F238E27FC236}">
                  <a16:creationId xmlns:a16="http://schemas.microsoft.com/office/drawing/2014/main" id="{DC3876A2-3CEB-5330-FC83-526E53CBEBF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12045" y="6450792"/>
              <a:ext cx="672711" cy="266431"/>
            </a:xfrm>
            <a:prstGeom prst="rect">
              <a:avLst/>
            </a:prstGeom>
          </p:spPr>
        </p:pic>
        <p:pic>
          <p:nvPicPr>
            <p:cNvPr id="17" name="Image 16">
              <a:extLst>
                <a:ext uri="{FF2B5EF4-FFF2-40B4-BE49-F238E27FC236}">
                  <a16:creationId xmlns:a16="http://schemas.microsoft.com/office/drawing/2014/main" id="{F1631042-9F05-1E9A-CAAB-7D13DDE8130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40130" y="6418297"/>
              <a:ext cx="1375367" cy="303178"/>
            </a:xfrm>
            <a:prstGeom prst="rect">
              <a:avLst/>
            </a:prstGeom>
          </p:spPr>
        </p:pic>
      </p:grpSp>
      <p:sp>
        <p:nvSpPr>
          <p:cNvPr id="19" name="ZoneTexte 18">
            <a:extLst>
              <a:ext uri="{FF2B5EF4-FFF2-40B4-BE49-F238E27FC236}">
                <a16:creationId xmlns:a16="http://schemas.microsoft.com/office/drawing/2014/main" id="{A4737B2A-3D55-959D-AF7E-E99A249E9F32}"/>
              </a:ext>
            </a:extLst>
          </p:cNvPr>
          <p:cNvSpPr txBox="1"/>
          <p:nvPr/>
        </p:nvSpPr>
        <p:spPr>
          <a:xfrm>
            <a:off x="8610600" y="6346287"/>
            <a:ext cx="1841416" cy="447197"/>
          </a:xfrm>
          <a:prstGeom prst="rect">
            <a:avLst/>
          </a:prstGeom>
          <a:noFill/>
        </p:spPr>
        <p:txBody>
          <a:bodyPr wrap="square" lIns="77111" tIns="38556" rIns="77111" bIns="38556" rtlCol="0">
            <a:spAutoFit/>
          </a:bodyPr>
          <a:lstStyle/>
          <a:p>
            <a:r>
              <a:rPr lang="fr-FR" sz="800" i="1" dirty="0">
                <a:latin typeface="Calibri" panose="020F0502020204030204" pitchFamily="34" charset="0"/>
              </a:rPr>
              <a:t>Ce document est confidentiel. Toute reproduction, même partielle est interdite.</a:t>
            </a:r>
          </a:p>
        </p:txBody>
      </p:sp>
      <p:sp>
        <p:nvSpPr>
          <p:cNvPr id="23" name="Espace réservé de la date 22">
            <a:extLst>
              <a:ext uri="{FF2B5EF4-FFF2-40B4-BE49-F238E27FC236}">
                <a16:creationId xmlns:a16="http://schemas.microsoft.com/office/drawing/2014/main" id="{9647F353-736E-DABB-7F4F-164C01F80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45A92-C553-445B-86FA-5FC90AAF04B4}" type="datetime1">
              <a:rPr lang="fr-FR" smtClean="0"/>
              <a:t>24/08/2023</a:t>
            </a:fld>
            <a:endParaRPr lang="fr-FR"/>
          </a:p>
        </p:txBody>
      </p:sp>
      <p:sp>
        <p:nvSpPr>
          <p:cNvPr id="24" name="Espace réservé du pied de page 23">
            <a:extLst>
              <a:ext uri="{FF2B5EF4-FFF2-40B4-BE49-F238E27FC236}">
                <a16:creationId xmlns:a16="http://schemas.microsoft.com/office/drawing/2014/main" id="{273FE813-FAAE-051D-E722-C0008A78A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v2 - 24/08/23</a:t>
            </a:r>
          </a:p>
        </p:txBody>
      </p:sp>
      <p:sp>
        <p:nvSpPr>
          <p:cNvPr id="25" name="Espace réservé du numéro de diapositive 24">
            <a:extLst>
              <a:ext uri="{FF2B5EF4-FFF2-40B4-BE49-F238E27FC236}">
                <a16:creationId xmlns:a16="http://schemas.microsoft.com/office/drawing/2014/main" id="{854AB2F0-3DD1-410F-E793-23B0B96BA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0B943-D3BC-4251-B32E-32803001121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350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A6277B-7BC4-4BE1-9E70-B73976C37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076C4EB-2425-45B8-9DFF-54B21D3708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9A04694-7A56-4A15-A886-637242B27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BBED8-879F-4DB4-BB26-ED0DD1B116B6}" type="datetime1">
              <a:rPr lang="fr-FR" smtClean="0"/>
              <a:t>24/08/2023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6A67284-F328-4AD7-8DA7-3C2CFFD98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v2 - 24/08/23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20B3EC9-CC61-4661-96C8-3A5F292FF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0B943-D3BC-4251-B32E-32803001121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8523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85A690-52EF-4118-B069-F8A163761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481D5DD-C83E-4ABB-B351-728FC79DC3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EE9D41A-FB6E-4B7C-80E5-259FF2AFE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0A76C-523B-4479-BA2A-65CA9D1DAEA1}" type="datetime1">
              <a:rPr lang="fr-FR" smtClean="0"/>
              <a:t>24/08/2023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9D96B93-0108-40B0-BB10-5794800BD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v2 - 24/08/23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5CAACCC-1067-4470-BD41-5438C51D9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0B943-D3BC-4251-B32E-32803001121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6438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903B6C-77FF-420B-A091-21510D614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078A2C-6533-4198-A469-0153476D32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83F0AC3-D803-455E-A888-05A25A2A3C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1A52090-BEC4-42A3-A1F6-CF876D6C2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8BD9F-52BA-4ABF-AC23-BD2B31945E0F}" type="datetime1">
              <a:rPr lang="fr-FR" smtClean="0"/>
              <a:t>24/08/2023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4A69B07-A877-435F-9014-0FEF675B4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v2 - 24/08/23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D7BF169-E2D0-45FD-BF29-3394B51B6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0B943-D3BC-4251-B32E-32803001121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7707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D9E053-9D52-49A1-8DA1-0564DAA5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A385417-7805-4B01-8F9E-17F382D6FB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E33DAF3-1E71-4400-B23B-964C4C47B4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18895DD-D4DD-4A77-A083-5BAA3E7089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191001C-D34F-43D4-A137-CDEC768E15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5D4729E-5851-4063-8C1E-4A817EC16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29521-164A-4CA8-B162-B23D0BE16E33}" type="datetime1">
              <a:rPr lang="fr-FR" smtClean="0"/>
              <a:t>24/08/2023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6416992-6611-4943-87C3-4317399F6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v2 - 24/08/23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E9D9658-9A9F-4A4C-8771-C689C9A2C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0B943-D3BC-4251-B32E-32803001121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1190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BB7443-1A40-435B-8498-EDB899C23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AA41DF0-00EE-4A0B-829B-273AFD480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8F9C2-6C2C-47D4-A9C5-7D48FDD5B4E7}" type="datetime1">
              <a:rPr lang="fr-FR" smtClean="0"/>
              <a:t>24/08/2023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055878-35FB-4D3B-A23E-567BBF2B6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v2 - 24/08/23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0B355BB-961D-489E-ACE2-B14D0FE02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0B943-D3BC-4251-B32E-32803001121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1659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D245BA1-D259-4AFC-B072-3C7593FB2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4428D-02C3-42F2-901D-5FF11E13024B}" type="datetime1">
              <a:rPr lang="fr-FR" smtClean="0"/>
              <a:t>24/08/2023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572DAD7-7148-4FE2-9CC2-72228FB9F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v2 - 24/08/23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6E45C47-3FCD-4D82-AC31-BA5AD59A2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0B943-D3BC-4251-B32E-32803001121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1075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5ADA81-4A7D-4C72-A79C-1D06F899F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A9B5216-4DCC-42EA-9AEB-43200A3417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91D0F06-55EF-4D97-A7AD-56DB911AD7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3DA231C-91AA-40CD-90F5-A8E1C9410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E82A2-4B8F-4F94-9293-09629D665259}" type="datetime1">
              <a:rPr lang="fr-FR" smtClean="0"/>
              <a:t>24/08/2023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D343D76-526F-4E78-8BC8-C791F10F2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v2 - 24/08/23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BFB76DD-77EB-4140-8D31-8B6FEF23F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0B943-D3BC-4251-B32E-32803001121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4473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A240ED-0EB2-4BB0-9CB4-EF2F43DC5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CE6924E-F006-4520-B393-764FBCEF57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39E24D4-5078-4408-9853-35EDF1F84C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E5B6758-648E-4B46-B111-27FA42CBB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EF0F1-2FC8-428A-B6C7-1D8F61EFDB05}" type="datetime1">
              <a:rPr lang="fr-FR" smtClean="0"/>
              <a:t>24/08/2023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9582761-C799-4CC1-A573-5E2250A14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v2 - 24/08/23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0AB5AF3-7433-4359-B5F8-32A229FC0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0B943-D3BC-4251-B32E-32803001121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3701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77B237-C822-45AF-B827-29ED3EB67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450DD42-791A-4C0D-872F-C4F00AE6AD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1D6207E-2050-48C8-A32A-98DBA9C20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03A0B-F51B-43CA-84FD-83F53CECDAC8}" type="datetime1">
              <a:rPr lang="fr-FR" smtClean="0"/>
              <a:t>24/08/2023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4D71E7-3419-47DA-9DA3-6C9F074D9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v2 - 24/08/23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7C3CB14-F731-4A5E-8B6B-23D05A350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0B943-D3BC-4251-B32E-32803001121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3923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E7A5130-0AFF-44E6-BA1C-C3B237BE57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922F36A-B07D-4A5D-B660-57F7C81E99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7904C88-027C-4C29-8341-C30B3200A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1ACBC-8622-4DB9-8926-0E3225621FCA}" type="datetime1">
              <a:rPr lang="fr-FR" smtClean="0"/>
              <a:t>24/08/2023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D9239B8-F990-401C-BD81-4829DBB1A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v2 - 24/08/23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A9096B8-6575-466D-91DD-D26A367B5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0B943-D3BC-4251-B32E-32803001121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6687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6F60137-60AB-4111-AE7C-A766A0E54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71C0232-F4D2-40D9-B86D-FD8B838696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804FE16-F555-4301-86E2-BD233BBCA3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5C1B35-CD05-4654-B460-BCD584131E1F}" type="datetime1">
              <a:rPr lang="fr-FR" smtClean="0"/>
              <a:t>24/08/2023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1F15B1B-B338-4E86-8B8A-91F97E4E64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/>
              <a:t>v2 - 24/08/23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FD52C40-5C3E-4C26-A4D8-0A18BB28E1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40B943-D3BC-4251-B32E-32803001121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2592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Relationship Id="rId4" Type="http://schemas.openxmlformats.org/officeDocument/2006/relationships/slide" Target="slide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portail.ecosystem.eco/fr/login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portail.ecosystem.eco/fr/login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://kfrcea03/vdocopenweb/asp/center.asp?dbname=GestionDocumentaire&amp;UserLogin=Public&amp;RedirectTo=LoadHttpLinkByRef%2Easp%3Fiddoc%3D9522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itre 2">
            <a:extLst>
              <a:ext uri="{FF2B5EF4-FFF2-40B4-BE49-F238E27FC236}">
                <a16:creationId xmlns:a16="http://schemas.microsoft.com/office/drawing/2014/main" id="{209D4CF9-6392-4777-9D0D-B597CA761BAB}"/>
              </a:ext>
            </a:extLst>
          </p:cNvPr>
          <p:cNvSpPr txBox="1">
            <a:spLocks/>
          </p:cNvSpPr>
          <p:nvPr/>
        </p:nvSpPr>
        <p:spPr>
          <a:xfrm>
            <a:off x="2237874" y="53752"/>
            <a:ext cx="8197515" cy="4320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fr-FR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2000" b="1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Fiche pratique des déclarations EHS liées à l'environnement environnement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D99BE24A-C29A-478B-B972-2FDC66874DC9}"/>
              </a:ext>
            </a:extLst>
          </p:cNvPr>
          <p:cNvSpPr txBox="1"/>
          <p:nvPr/>
        </p:nvSpPr>
        <p:spPr>
          <a:xfrm>
            <a:off x="1355378" y="1573221"/>
            <a:ext cx="1083662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Cette fiche pratique définie de quelle manière sont réalisés les déclaratifs réglementaire sur l’ensemble de nos déchets</a:t>
            </a:r>
          </a:p>
          <a:p>
            <a:endParaRPr lang="fr-FR" dirty="0"/>
          </a:p>
          <a:p>
            <a:pPr marL="342900" indent="-342900">
              <a:buAutoNum type="arabicPeriod"/>
            </a:pPr>
            <a:r>
              <a:rPr lang="fr-FR" dirty="0">
                <a:hlinkClick r:id="rId2" action="ppaction://hlinksldjump"/>
              </a:rPr>
              <a:t>Procédure d’élaboration de la déclaration trimestrielle de la mise sur le marché des PAE sur ECOSYSTEME</a:t>
            </a:r>
            <a:endParaRPr lang="fr-FR" dirty="0"/>
          </a:p>
          <a:p>
            <a:pPr marL="342900" indent="-342900">
              <a:buFontTx/>
              <a:buAutoNum type="arabicPeriod"/>
            </a:pPr>
            <a:r>
              <a:rPr lang="fr-FR" dirty="0">
                <a:hlinkClick r:id="rId3" action="ppaction://hlinksldjump"/>
              </a:rPr>
              <a:t>Procédure d’élaboration de la déclaration trimestrielle de la mise sur le marché des DEEE sur ECOSYSTEME</a:t>
            </a:r>
            <a:endParaRPr lang="fr-FR" dirty="0"/>
          </a:p>
          <a:p>
            <a:pPr marL="342900" indent="-342900">
              <a:buAutoNum type="arabicPeriod"/>
            </a:pPr>
            <a:r>
              <a:rPr lang="fr-FR" dirty="0">
                <a:hlinkClick r:id="rId4" action="ppaction://hlinksldjump"/>
              </a:rPr>
              <a:t>Déclaration de nos déchets dangereux sur </a:t>
            </a:r>
            <a:r>
              <a:rPr lang="fr-FR" dirty="0" err="1">
                <a:hlinkClick r:id="rId4" action="ppaction://hlinksldjump"/>
              </a:rPr>
              <a:t>Trackdéchets</a:t>
            </a:r>
            <a:endParaRPr lang="fr-FR" dirty="0"/>
          </a:p>
          <a:p>
            <a:pPr marL="342900" indent="-342900">
              <a:buAutoNum type="arabicPeriod"/>
            </a:pPr>
            <a:r>
              <a:rPr lang="fr-FR" dirty="0"/>
              <a:t>Déclaration de nos consommations d’énergies / bilan Tertiaire (Gestionnaire de patrimoine) Alexandre</a:t>
            </a:r>
          </a:p>
          <a:p>
            <a:pPr marL="342900" indent="-342900">
              <a:buAutoNum type="arabicPeriod"/>
            </a:pPr>
            <a:r>
              <a:rPr lang="fr-FR" dirty="0"/>
              <a:t>….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F91090C-9BA2-495A-B979-2C6ACDF7BA27}"/>
              </a:ext>
            </a:extLst>
          </p:cNvPr>
          <p:cNvSpPr/>
          <p:nvPr/>
        </p:nvSpPr>
        <p:spPr>
          <a:xfrm>
            <a:off x="8950138" y="355964"/>
            <a:ext cx="3241862" cy="2595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>
              <a:spcAft>
                <a:spcPts val="0"/>
              </a:spcAft>
            </a:pPr>
            <a:r>
              <a:rPr lang="fr-FR" sz="800" b="1" kern="1200" dirty="0">
                <a:solidFill>
                  <a:srgbClr val="000000"/>
                </a:solidFill>
                <a:effectLst/>
                <a:ea typeface="Times New Roman"/>
                <a:cs typeface="Times New Roman"/>
              </a:rPr>
              <a:t>FP FS 048 – Déclaration réglementaires environnement</a:t>
            </a:r>
            <a:endParaRPr lang="fr-FR" sz="1200" dirty="0">
              <a:effectLst/>
              <a:latin typeface="Times New Roman"/>
              <a:ea typeface="Times New Roman"/>
            </a:endParaRP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59ACB62A-BF8B-24A1-8463-8EEA8E46A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v2 - 24/08/23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9ED41603-F4F4-430C-31CD-9300DDDF3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0B943-D3BC-4251-B32E-328030011219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9039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ZoneTexte 115">
            <a:extLst>
              <a:ext uri="{FF2B5EF4-FFF2-40B4-BE49-F238E27FC236}">
                <a16:creationId xmlns:a16="http://schemas.microsoft.com/office/drawing/2014/main" id="{1046879A-8B3D-42A3-84BC-8B3D2F38F0FE}"/>
              </a:ext>
            </a:extLst>
          </p:cNvPr>
          <p:cNvSpPr txBox="1"/>
          <p:nvPr/>
        </p:nvSpPr>
        <p:spPr>
          <a:xfrm>
            <a:off x="362833" y="2148498"/>
            <a:ext cx="9815759" cy="654160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5" name="Organigramme : Document 4">
            <a:extLst>
              <a:ext uri="{FF2B5EF4-FFF2-40B4-BE49-F238E27FC236}">
                <a16:creationId xmlns:a16="http://schemas.microsoft.com/office/drawing/2014/main" id="{EF70B0BB-77B6-4A8E-9487-00DBA56969E1}"/>
              </a:ext>
            </a:extLst>
          </p:cNvPr>
          <p:cNvSpPr/>
          <p:nvPr/>
        </p:nvSpPr>
        <p:spPr>
          <a:xfrm>
            <a:off x="4365630" y="1557134"/>
            <a:ext cx="1358627" cy="523861"/>
          </a:xfrm>
          <a:prstGeom prst="flowChartDocumen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Réception du Mail avec le Fichier Ventes Global Extincteurs 1_2kg en </a:t>
            </a:r>
            <a:r>
              <a:rPr lang="fr-F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pj</a:t>
            </a:r>
            <a:r>
              <a:rPr lang="fr-F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EEAEC3-F02B-4172-BA2E-89011E9476F2}"/>
              </a:ext>
            </a:extLst>
          </p:cNvPr>
          <p:cNvSpPr/>
          <p:nvPr/>
        </p:nvSpPr>
        <p:spPr>
          <a:xfrm>
            <a:off x="1851930" y="4673545"/>
            <a:ext cx="8004597" cy="5110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/>
              <a:t>Pour le trimestre considéré -:</a:t>
            </a:r>
          </a:p>
          <a:p>
            <a:pPr marL="171450" indent="-171450" algn="ctr">
              <a:buFontTx/>
              <a:buChar char="-"/>
            </a:pPr>
            <a:r>
              <a:rPr lang="fr-FR" sz="900" dirty="0"/>
              <a:t>Calculs pour PAE 1kg Total Pierrelaye puis Total Pierrelaye-Export puis Total Pierrelaye-export + DOM TOM</a:t>
            </a:r>
          </a:p>
          <a:p>
            <a:pPr marL="171450" indent="-171450" algn="ctr">
              <a:buFontTx/>
              <a:buChar char="-"/>
            </a:pPr>
            <a:r>
              <a:rPr lang="fr-FR" sz="900" dirty="0"/>
              <a:t>Calculs pour PAE 2kg Total Pierrelaye puis Total Pierrelaye-Export puis Total Pierrelaye-export + DOM TOM</a:t>
            </a:r>
          </a:p>
        </p:txBody>
      </p:sp>
      <p:sp>
        <p:nvSpPr>
          <p:cNvPr id="9" name="Organigramme : Terminateur 8">
            <a:extLst>
              <a:ext uri="{FF2B5EF4-FFF2-40B4-BE49-F238E27FC236}">
                <a16:creationId xmlns:a16="http://schemas.microsoft.com/office/drawing/2014/main" id="{69840965-D1EF-42E4-AF15-93FE7119E388}"/>
              </a:ext>
            </a:extLst>
          </p:cNvPr>
          <p:cNvSpPr/>
          <p:nvPr/>
        </p:nvSpPr>
        <p:spPr>
          <a:xfrm>
            <a:off x="2962664" y="980864"/>
            <a:ext cx="5458170" cy="251917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/>
              <a:t>Réception du Mail trimestriel </a:t>
            </a:r>
            <a:r>
              <a:rPr lang="fr-FR" sz="900" dirty="0" err="1"/>
              <a:t>d’EcoSystème</a:t>
            </a:r>
            <a:r>
              <a:rPr lang="fr-FR" sz="900" dirty="0"/>
              <a:t> &gt; Déclaration à effectuer sur le portail</a:t>
            </a:r>
          </a:p>
        </p:txBody>
      </p:sp>
      <p:sp>
        <p:nvSpPr>
          <p:cNvPr id="11" name="Organigramme : Terminateur 10">
            <a:extLst>
              <a:ext uri="{FF2B5EF4-FFF2-40B4-BE49-F238E27FC236}">
                <a16:creationId xmlns:a16="http://schemas.microsoft.com/office/drawing/2014/main" id="{260F96E9-C70B-4688-BF4F-75E8A2DE76ED}"/>
              </a:ext>
            </a:extLst>
          </p:cNvPr>
          <p:cNvSpPr/>
          <p:nvPr/>
        </p:nvSpPr>
        <p:spPr>
          <a:xfrm>
            <a:off x="4182145" y="6456524"/>
            <a:ext cx="3344167" cy="323551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/>
              <a:t>La déclaration trimestrielle est validée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27E537-8A44-4183-8E95-11A01F69F95A}"/>
              </a:ext>
            </a:extLst>
          </p:cNvPr>
          <p:cNvSpPr/>
          <p:nvPr/>
        </p:nvSpPr>
        <p:spPr>
          <a:xfrm>
            <a:off x="1845582" y="1543093"/>
            <a:ext cx="2234167" cy="5427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/>
              <a:t>Demande Fichier de </a:t>
            </a:r>
            <a:r>
              <a:rPr lang="fr-FR" sz="1000" dirty="0" err="1"/>
              <a:t>reporting</a:t>
            </a:r>
            <a:r>
              <a:rPr lang="fr-FR" sz="1000" dirty="0"/>
              <a:t> Ventes Global Extincteurs 1_2kg  au Chef Produit Extincteurs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72B6AA-7A8B-422A-826F-B954A894843F}"/>
              </a:ext>
            </a:extLst>
          </p:cNvPr>
          <p:cNvSpPr/>
          <p:nvPr/>
        </p:nvSpPr>
        <p:spPr>
          <a:xfrm>
            <a:off x="1845582" y="2774329"/>
            <a:ext cx="2234165" cy="7815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/>
              <a:t>Enregistrement du Fichier de </a:t>
            </a:r>
            <a:r>
              <a:rPr lang="fr-FR" sz="800" dirty="0" err="1"/>
              <a:t>reporting</a:t>
            </a:r>
            <a:r>
              <a:rPr lang="fr-FR" sz="800" dirty="0"/>
              <a:t> Ventes Global Extincteurs 1_2kg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CB5649A-5311-49E0-9ECB-3BEFDBF39B6E}"/>
              </a:ext>
            </a:extLst>
          </p:cNvPr>
          <p:cNvSpPr/>
          <p:nvPr/>
        </p:nvSpPr>
        <p:spPr>
          <a:xfrm>
            <a:off x="1851930" y="5372837"/>
            <a:ext cx="8004598" cy="2241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/>
              <a:t>Connection au site ECOSYSTEME </a:t>
            </a:r>
            <a:r>
              <a:rPr lang="fr-FR" sz="900" dirty="0">
                <a:solidFill>
                  <a:srgbClr val="FFFF00"/>
                </a:solidFill>
              </a:rPr>
              <a:t>- </a:t>
            </a:r>
            <a:r>
              <a:rPr lang="fr-FR" sz="900" dirty="0">
                <a:solidFill>
                  <a:srgbClr val="FFFF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https://portail.ecosystem.eco/fr/login</a:t>
            </a:r>
            <a:r>
              <a:rPr lang="fr-FR" sz="900" dirty="0">
                <a:solidFill>
                  <a:srgbClr val="FFFF00"/>
                </a:solidFill>
              </a:rPr>
              <a:t>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2E1E090-0798-4FE8-9DAB-66877D1FA136}"/>
              </a:ext>
            </a:extLst>
          </p:cNvPr>
          <p:cNvSpPr/>
          <p:nvPr/>
        </p:nvSpPr>
        <p:spPr>
          <a:xfrm>
            <a:off x="1843979" y="5764313"/>
            <a:ext cx="8004598" cy="4754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/>
              <a:t>Saisir une déclaration -&gt; Créer une déclaration depuis la déclaration validée</a:t>
            </a:r>
          </a:p>
          <a:p>
            <a:pPr algn="ctr"/>
            <a:r>
              <a:rPr lang="fr-FR" sz="900" i="1" dirty="0"/>
              <a:t>Indiquer les chiffres « Total Pierrelaye-export + DOM TOM » dans la case correspondante puis valider en prenant en compte l’</a:t>
            </a:r>
            <a:r>
              <a:rPr lang="fr-FR" sz="900" i="1" dirty="0" err="1"/>
              <a:t>eco</a:t>
            </a:r>
            <a:r>
              <a:rPr lang="fr-FR" sz="900" i="1" dirty="0"/>
              <a:t>-modulation ainsi que la marques des produits vendus</a:t>
            </a:r>
          </a:p>
        </p:txBody>
      </p:sp>
      <p:cxnSp>
        <p:nvCxnSpPr>
          <p:cNvPr id="25" name="Connecteur : en angle 24">
            <a:extLst>
              <a:ext uri="{FF2B5EF4-FFF2-40B4-BE49-F238E27FC236}">
                <a16:creationId xmlns:a16="http://schemas.microsoft.com/office/drawing/2014/main" id="{FBD6CC90-D48D-46C5-B387-8339B48354B7}"/>
              </a:ext>
            </a:extLst>
          </p:cNvPr>
          <p:cNvCxnSpPr>
            <a:cxnSpLocks/>
            <a:stCxn id="9" idx="2"/>
            <a:endCxn id="12" idx="0"/>
          </p:cNvCxnSpPr>
          <p:nvPr/>
        </p:nvCxnSpPr>
        <p:spPr>
          <a:xfrm rot="5400000">
            <a:off x="4172052" y="23396"/>
            <a:ext cx="310312" cy="2729083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 : en angle 26">
            <a:extLst>
              <a:ext uri="{FF2B5EF4-FFF2-40B4-BE49-F238E27FC236}">
                <a16:creationId xmlns:a16="http://schemas.microsoft.com/office/drawing/2014/main" id="{33AAF51F-2C7C-453E-A7AF-7376BD8E77C8}"/>
              </a:ext>
            </a:extLst>
          </p:cNvPr>
          <p:cNvCxnSpPr>
            <a:cxnSpLocks/>
            <a:stCxn id="9" idx="2"/>
            <a:endCxn id="13" idx="0"/>
          </p:cNvCxnSpPr>
          <p:nvPr/>
        </p:nvCxnSpPr>
        <p:spPr>
          <a:xfrm rot="16200000" flipH="1">
            <a:off x="6036396" y="888134"/>
            <a:ext cx="916918" cy="1606212"/>
          </a:xfrm>
          <a:prstGeom prst="bentConnector3">
            <a:avLst>
              <a:gd name="adj1" fmla="val 17047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 : en angle 28">
            <a:extLst>
              <a:ext uri="{FF2B5EF4-FFF2-40B4-BE49-F238E27FC236}">
                <a16:creationId xmlns:a16="http://schemas.microsoft.com/office/drawing/2014/main" id="{6F284CBB-BDC1-4543-B54B-9854E40B5029}"/>
              </a:ext>
            </a:extLst>
          </p:cNvPr>
          <p:cNvCxnSpPr>
            <a:cxnSpLocks/>
            <a:stCxn id="12" idx="2"/>
            <a:endCxn id="14" idx="0"/>
          </p:cNvCxnSpPr>
          <p:nvPr/>
        </p:nvCxnSpPr>
        <p:spPr>
          <a:xfrm rot="5400000">
            <a:off x="2618447" y="2430110"/>
            <a:ext cx="688438" cy="1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oneTexte 2">
            <a:extLst>
              <a:ext uri="{FF2B5EF4-FFF2-40B4-BE49-F238E27FC236}">
                <a16:creationId xmlns:a16="http://schemas.microsoft.com/office/drawing/2014/main" id="{4B25631C-0824-495B-9EE9-10D8E5939AB5}"/>
              </a:ext>
            </a:extLst>
          </p:cNvPr>
          <p:cNvSpPr txBox="1"/>
          <p:nvPr/>
        </p:nvSpPr>
        <p:spPr>
          <a:xfrm>
            <a:off x="327835" y="805572"/>
            <a:ext cx="1435693" cy="59400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1000" u="sng" dirty="0"/>
              <a:t>Responsabilité ?</a:t>
            </a:r>
          </a:p>
          <a:p>
            <a:endParaRPr lang="fr-FR" sz="1000" u="sng" dirty="0"/>
          </a:p>
          <a:p>
            <a:pPr algn="ctr"/>
            <a:r>
              <a:rPr lang="fr-FR" sz="1000" b="1" dirty="0">
                <a:solidFill>
                  <a:schemeClr val="accent2">
                    <a:lumMod val="75000"/>
                  </a:schemeClr>
                </a:solidFill>
              </a:rPr>
              <a:t>Ecosystème</a:t>
            </a:r>
          </a:p>
          <a:p>
            <a:endParaRPr lang="fr-FR" sz="1000" dirty="0"/>
          </a:p>
          <a:p>
            <a:endParaRPr lang="fr-FR" sz="1000" dirty="0"/>
          </a:p>
          <a:p>
            <a:pPr algn="ctr"/>
            <a:r>
              <a:rPr lang="fr-FR" sz="1000" b="1" dirty="0">
                <a:solidFill>
                  <a:schemeClr val="accent2">
                    <a:lumMod val="75000"/>
                  </a:schemeClr>
                </a:solidFill>
              </a:rPr>
              <a:t>Adjointe </a:t>
            </a:r>
            <a:r>
              <a:rPr lang="fr-FR" sz="1000" b="1" dirty="0" err="1">
                <a:solidFill>
                  <a:schemeClr val="accent2">
                    <a:lumMod val="75000"/>
                  </a:schemeClr>
                </a:solidFill>
              </a:rPr>
              <a:t>Dir</a:t>
            </a:r>
            <a:r>
              <a:rPr lang="fr-FR" sz="1000" b="1" dirty="0">
                <a:solidFill>
                  <a:schemeClr val="accent2">
                    <a:lumMod val="75000"/>
                  </a:schemeClr>
                </a:solidFill>
              </a:rPr>
              <a:t> EHS</a:t>
            </a:r>
          </a:p>
          <a:p>
            <a:pPr algn="ctr"/>
            <a:r>
              <a:rPr lang="fr-FR" sz="1000" dirty="0"/>
              <a:t>Chef de produit extincteur</a:t>
            </a:r>
          </a:p>
          <a:p>
            <a:pPr algn="ctr"/>
            <a:endParaRPr lang="fr-FR" sz="1000" dirty="0"/>
          </a:p>
          <a:p>
            <a:pPr algn="ctr"/>
            <a:r>
              <a:rPr lang="fr-FR" sz="1000" b="1" dirty="0">
                <a:solidFill>
                  <a:schemeClr val="accent2">
                    <a:lumMod val="75000"/>
                  </a:schemeClr>
                </a:solidFill>
              </a:rPr>
              <a:t>Adjointe </a:t>
            </a:r>
            <a:r>
              <a:rPr lang="fr-FR" sz="1000" b="1" dirty="0" err="1">
                <a:solidFill>
                  <a:schemeClr val="accent2">
                    <a:lumMod val="75000"/>
                  </a:schemeClr>
                </a:solidFill>
              </a:rPr>
              <a:t>Dir</a:t>
            </a:r>
            <a:r>
              <a:rPr lang="fr-FR" sz="1000" b="1" dirty="0">
                <a:solidFill>
                  <a:schemeClr val="accent2">
                    <a:lumMod val="75000"/>
                  </a:schemeClr>
                </a:solidFill>
              </a:rPr>
              <a:t> EHS</a:t>
            </a:r>
          </a:p>
          <a:p>
            <a:pPr algn="ctr"/>
            <a:r>
              <a:rPr lang="fr-FR" sz="1000" dirty="0"/>
              <a:t>Référent service Export</a:t>
            </a:r>
          </a:p>
          <a:p>
            <a:pPr algn="ctr"/>
            <a:endParaRPr lang="fr-FR" sz="1000" dirty="0"/>
          </a:p>
          <a:p>
            <a:endParaRPr lang="fr-FR" sz="1000" u="sng" dirty="0"/>
          </a:p>
          <a:p>
            <a:endParaRPr lang="fr-FR" sz="1000" u="sng" dirty="0"/>
          </a:p>
          <a:p>
            <a:pPr algn="ctr"/>
            <a:r>
              <a:rPr lang="fr-FR" sz="1000" b="1" dirty="0">
                <a:solidFill>
                  <a:schemeClr val="accent2">
                    <a:lumMod val="75000"/>
                  </a:schemeClr>
                </a:solidFill>
              </a:rPr>
              <a:t>Adjointe </a:t>
            </a:r>
            <a:r>
              <a:rPr lang="fr-FR" sz="1000" b="1" dirty="0" err="1">
                <a:solidFill>
                  <a:schemeClr val="accent2">
                    <a:lumMod val="75000"/>
                  </a:schemeClr>
                </a:solidFill>
              </a:rPr>
              <a:t>Dir</a:t>
            </a:r>
            <a:r>
              <a:rPr lang="fr-FR" sz="1000" b="1" dirty="0">
                <a:solidFill>
                  <a:schemeClr val="accent2">
                    <a:lumMod val="75000"/>
                  </a:schemeClr>
                </a:solidFill>
              </a:rPr>
              <a:t> EHS</a:t>
            </a:r>
          </a:p>
          <a:p>
            <a:endParaRPr lang="fr-FR" sz="1000" u="sng" dirty="0"/>
          </a:p>
          <a:p>
            <a:endParaRPr lang="fr-FR" sz="1000" u="sng" dirty="0"/>
          </a:p>
          <a:p>
            <a:endParaRPr lang="fr-FR" sz="1000" u="sng" dirty="0"/>
          </a:p>
          <a:p>
            <a:endParaRPr lang="fr-FR" sz="1000" u="sng" dirty="0"/>
          </a:p>
          <a:p>
            <a:endParaRPr lang="fr-FR" sz="1000" u="sng" dirty="0"/>
          </a:p>
          <a:p>
            <a:pPr algn="ctr"/>
            <a:r>
              <a:rPr lang="fr-FR" sz="1000" b="1" dirty="0">
                <a:solidFill>
                  <a:schemeClr val="accent2">
                    <a:lumMod val="75000"/>
                  </a:schemeClr>
                </a:solidFill>
              </a:rPr>
              <a:t>Adjointe </a:t>
            </a:r>
            <a:r>
              <a:rPr lang="fr-FR" sz="1000" b="1" dirty="0" err="1">
                <a:solidFill>
                  <a:schemeClr val="accent2">
                    <a:lumMod val="75000"/>
                  </a:schemeClr>
                </a:solidFill>
              </a:rPr>
              <a:t>Dir</a:t>
            </a:r>
            <a:r>
              <a:rPr lang="fr-FR" sz="1000" b="1" dirty="0">
                <a:solidFill>
                  <a:schemeClr val="accent2">
                    <a:lumMod val="75000"/>
                  </a:schemeClr>
                </a:solidFill>
              </a:rPr>
              <a:t> EHS</a:t>
            </a:r>
          </a:p>
          <a:p>
            <a:endParaRPr lang="fr-FR" sz="1000" u="sng" dirty="0"/>
          </a:p>
          <a:p>
            <a:endParaRPr lang="fr-FR" sz="1000" u="sng" dirty="0"/>
          </a:p>
          <a:p>
            <a:endParaRPr lang="fr-FR" sz="1000" u="sng" dirty="0"/>
          </a:p>
          <a:p>
            <a:endParaRPr lang="fr-FR" sz="1000" u="sng" dirty="0"/>
          </a:p>
          <a:p>
            <a:endParaRPr lang="fr-FR" sz="1000" u="sng" dirty="0"/>
          </a:p>
          <a:p>
            <a:endParaRPr lang="fr-FR" sz="1000" u="sng" dirty="0"/>
          </a:p>
          <a:p>
            <a:pPr algn="ctr"/>
            <a:r>
              <a:rPr lang="fr-FR" sz="1000" b="1" dirty="0">
                <a:solidFill>
                  <a:schemeClr val="accent2">
                    <a:lumMod val="75000"/>
                  </a:schemeClr>
                </a:solidFill>
              </a:rPr>
              <a:t>Adjointe </a:t>
            </a:r>
            <a:r>
              <a:rPr lang="fr-FR" sz="1000" b="1" dirty="0" err="1">
                <a:solidFill>
                  <a:schemeClr val="accent2">
                    <a:lumMod val="75000"/>
                  </a:schemeClr>
                </a:solidFill>
              </a:rPr>
              <a:t>Dir</a:t>
            </a:r>
            <a:r>
              <a:rPr lang="fr-FR" sz="1000" b="1" dirty="0">
                <a:solidFill>
                  <a:schemeClr val="accent2">
                    <a:lumMod val="75000"/>
                  </a:schemeClr>
                </a:solidFill>
              </a:rPr>
              <a:t> EHS</a:t>
            </a:r>
          </a:p>
          <a:p>
            <a:endParaRPr lang="fr-FR" sz="1000" u="sng" dirty="0"/>
          </a:p>
          <a:p>
            <a:endParaRPr lang="fr-FR" sz="1000" u="sng" dirty="0"/>
          </a:p>
          <a:p>
            <a:endParaRPr lang="fr-FR" sz="1000" u="sng" dirty="0"/>
          </a:p>
          <a:p>
            <a:endParaRPr lang="fr-FR" sz="1000" u="sng" dirty="0"/>
          </a:p>
          <a:p>
            <a:endParaRPr lang="fr-FR" sz="1000" u="sng" dirty="0"/>
          </a:p>
          <a:p>
            <a:endParaRPr lang="fr-FR" sz="1000" u="sng" dirty="0"/>
          </a:p>
          <a:p>
            <a:endParaRPr lang="fr-FR" sz="1000" u="sng" dirty="0"/>
          </a:p>
          <a:p>
            <a:endParaRPr lang="fr-FR" sz="1000" u="sng" dirty="0"/>
          </a:p>
          <a:p>
            <a:endParaRPr lang="fr-FR" sz="1000" u="sng" dirty="0"/>
          </a:p>
        </p:txBody>
      </p:sp>
      <p:sp>
        <p:nvSpPr>
          <p:cNvPr id="1060" name="ZoneTexte 1059">
            <a:extLst>
              <a:ext uri="{FF2B5EF4-FFF2-40B4-BE49-F238E27FC236}">
                <a16:creationId xmlns:a16="http://schemas.microsoft.com/office/drawing/2014/main" id="{513CF2C3-9811-4669-84DA-8503D0FB06B9}"/>
              </a:ext>
            </a:extLst>
          </p:cNvPr>
          <p:cNvSpPr txBox="1"/>
          <p:nvPr/>
        </p:nvSpPr>
        <p:spPr>
          <a:xfrm>
            <a:off x="333739" y="3762627"/>
            <a:ext cx="9815759" cy="654160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A337A03-B8D7-43FB-9F7E-1CAD9ADCBBD4}"/>
              </a:ext>
            </a:extLst>
          </p:cNvPr>
          <p:cNvSpPr/>
          <p:nvPr/>
        </p:nvSpPr>
        <p:spPr>
          <a:xfrm>
            <a:off x="6448211" y="2149699"/>
            <a:ext cx="1699499" cy="6593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/>
              <a:t>Demande Fichier de </a:t>
            </a:r>
            <a:r>
              <a:rPr lang="fr-FR" sz="1000" dirty="0" err="1"/>
              <a:t>reporting</a:t>
            </a:r>
            <a:r>
              <a:rPr lang="fr-FR" sz="1000" dirty="0"/>
              <a:t>  Ventes Export-DOM/TOM-Autre Extincteurs 1_2kg  au Service Export </a:t>
            </a:r>
          </a:p>
        </p:txBody>
      </p:sp>
      <p:sp>
        <p:nvSpPr>
          <p:cNvPr id="18" name="Organigramme : Document 17">
            <a:extLst>
              <a:ext uri="{FF2B5EF4-FFF2-40B4-BE49-F238E27FC236}">
                <a16:creationId xmlns:a16="http://schemas.microsoft.com/office/drawing/2014/main" id="{E4AC119B-2AB4-4E49-8A20-B34127714627}"/>
              </a:ext>
            </a:extLst>
          </p:cNvPr>
          <p:cNvSpPr/>
          <p:nvPr/>
        </p:nvSpPr>
        <p:spPr>
          <a:xfrm>
            <a:off x="8420834" y="2177848"/>
            <a:ext cx="1435693" cy="654160"/>
          </a:xfrm>
          <a:prstGeom prst="flowChartDocumen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Mail avec Ventes Export-DOM/TOM-Autre Extincteurs 1_2kg  dans le corps du mail</a:t>
            </a:r>
          </a:p>
        </p:txBody>
      </p:sp>
      <p:sp>
        <p:nvSpPr>
          <p:cNvPr id="103" name="Organigramme : Document 102">
            <a:extLst>
              <a:ext uri="{FF2B5EF4-FFF2-40B4-BE49-F238E27FC236}">
                <a16:creationId xmlns:a16="http://schemas.microsoft.com/office/drawing/2014/main" id="{665ADC50-02DF-402E-8396-48F8E0998DC7}"/>
              </a:ext>
            </a:extLst>
          </p:cNvPr>
          <p:cNvSpPr/>
          <p:nvPr/>
        </p:nvSpPr>
        <p:spPr>
          <a:xfrm>
            <a:off x="4365630" y="2809058"/>
            <a:ext cx="1730370" cy="710299"/>
          </a:xfrm>
          <a:prstGeom prst="flowChartDocumen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>
                <a:solidFill>
                  <a:schemeClr val="bg2">
                    <a:lumMod val="50000"/>
                  </a:schemeClr>
                </a:solidFill>
              </a:rPr>
              <a:t>Serveur EHS National : Thématiques EHS\SP 11 Déchets\4 - Reporting\Extincteurs\ECOSYSTEME - Petits extincteurs 1kg et 2kg </a:t>
            </a:r>
          </a:p>
        </p:txBody>
      </p:sp>
      <p:cxnSp>
        <p:nvCxnSpPr>
          <p:cNvPr id="1064" name="Connecteur : en angle 1063">
            <a:extLst>
              <a:ext uri="{FF2B5EF4-FFF2-40B4-BE49-F238E27FC236}">
                <a16:creationId xmlns:a16="http://schemas.microsoft.com/office/drawing/2014/main" id="{855CF90B-52DB-49B3-8474-AFD8921D46AB}"/>
              </a:ext>
            </a:extLst>
          </p:cNvPr>
          <p:cNvCxnSpPr>
            <a:cxnSpLocks/>
            <a:stCxn id="13" idx="2"/>
            <a:endCxn id="15" idx="3"/>
          </p:cNvCxnSpPr>
          <p:nvPr/>
        </p:nvCxnSpPr>
        <p:spPr>
          <a:xfrm rot="5400000">
            <a:off x="5052730" y="1836080"/>
            <a:ext cx="1272251" cy="3218212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1" name="Connecteur droit avec flèche 1070">
            <a:extLst>
              <a:ext uri="{FF2B5EF4-FFF2-40B4-BE49-F238E27FC236}">
                <a16:creationId xmlns:a16="http://schemas.microsoft.com/office/drawing/2014/main" id="{BD900AB3-4605-4F5F-885F-7C8A7F39B3F6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>
            <a:off x="2962665" y="3555911"/>
            <a:ext cx="1" cy="20201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4" name="Connecteur : en angle 1073">
            <a:extLst>
              <a:ext uri="{FF2B5EF4-FFF2-40B4-BE49-F238E27FC236}">
                <a16:creationId xmlns:a16="http://schemas.microsoft.com/office/drawing/2014/main" id="{44E4AA08-0834-49AF-BFD6-CD227862CA57}"/>
              </a:ext>
            </a:extLst>
          </p:cNvPr>
          <p:cNvCxnSpPr>
            <a:cxnSpLocks/>
            <a:stCxn id="15" idx="2"/>
            <a:endCxn id="8" idx="0"/>
          </p:cNvCxnSpPr>
          <p:nvPr/>
        </p:nvCxnSpPr>
        <p:spPr>
          <a:xfrm rot="16200000" flipH="1">
            <a:off x="4274023" y="3093339"/>
            <a:ext cx="268848" cy="2891563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E6D4B5B6-C02E-43E9-87D6-38AE5A6B5907}"/>
              </a:ext>
            </a:extLst>
          </p:cNvPr>
          <p:cNvSpPr/>
          <p:nvPr/>
        </p:nvSpPr>
        <p:spPr>
          <a:xfrm>
            <a:off x="1845583" y="3757927"/>
            <a:ext cx="2234166" cy="6467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/>
              <a:t>Renommer le Fichier « Déclaration Extincteurs QX 20XX</a:t>
            </a:r>
          </a:p>
          <a:p>
            <a:pPr algn="ctr"/>
            <a:r>
              <a:rPr lang="fr-FR" sz="900" i="1" dirty="0"/>
              <a:t>(les lignes des Extincteurs 1kg en jaune et les 2kg en blanc)</a:t>
            </a:r>
          </a:p>
        </p:txBody>
      </p:sp>
      <p:sp>
        <p:nvSpPr>
          <p:cNvPr id="19" name="Organigramme : Document 18">
            <a:extLst>
              <a:ext uri="{FF2B5EF4-FFF2-40B4-BE49-F238E27FC236}">
                <a16:creationId xmlns:a16="http://schemas.microsoft.com/office/drawing/2014/main" id="{FC2E6BD8-64C3-4825-8690-26A1E7F798B3}"/>
              </a:ext>
            </a:extLst>
          </p:cNvPr>
          <p:cNvSpPr/>
          <p:nvPr/>
        </p:nvSpPr>
        <p:spPr>
          <a:xfrm>
            <a:off x="4397734" y="3891670"/>
            <a:ext cx="1358628" cy="370802"/>
          </a:xfrm>
          <a:prstGeom prst="flowChartDocumen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Fichier « Déclaration Extincteurs QX 20XX</a:t>
            </a:r>
          </a:p>
        </p:txBody>
      </p:sp>
      <p:cxnSp>
        <p:nvCxnSpPr>
          <p:cNvPr id="1079" name="Connecteur droit avec flèche 1078">
            <a:extLst>
              <a:ext uri="{FF2B5EF4-FFF2-40B4-BE49-F238E27FC236}">
                <a16:creationId xmlns:a16="http://schemas.microsoft.com/office/drawing/2014/main" id="{65E55487-89EE-4E9D-840D-1946BD97D9CA}"/>
              </a:ext>
            </a:extLst>
          </p:cNvPr>
          <p:cNvCxnSpPr>
            <a:cxnSpLocks/>
            <a:stCxn id="8" idx="2"/>
            <a:endCxn id="21" idx="0"/>
          </p:cNvCxnSpPr>
          <p:nvPr/>
        </p:nvCxnSpPr>
        <p:spPr>
          <a:xfrm>
            <a:off x="5854229" y="5184627"/>
            <a:ext cx="0" cy="18821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necteur droit avec flèche 125">
            <a:extLst>
              <a:ext uri="{FF2B5EF4-FFF2-40B4-BE49-F238E27FC236}">
                <a16:creationId xmlns:a16="http://schemas.microsoft.com/office/drawing/2014/main" id="{B05D580E-E5A9-4545-9490-872EECF8CA6A}"/>
              </a:ext>
            </a:extLst>
          </p:cNvPr>
          <p:cNvCxnSpPr>
            <a:cxnSpLocks/>
            <a:stCxn id="21" idx="2"/>
            <a:endCxn id="22" idx="0"/>
          </p:cNvCxnSpPr>
          <p:nvPr/>
        </p:nvCxnSpPr>
        <p:spPr>
          <a:xfrm flipH="1">
            <a:off x="5846278" y="5596982"/>
            <a:ext cx="7951" cy="16733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eur : en angle 95">
            <a:extLst>
              <a:ext uri="{FF2B5EF4-FFF2-40B4-BE49-F238E27FC236}">
                <a16:creationId xmlns:a16="http://schemas.microsoft.com/office/drawing/2014/main" id="{1DFAAB0A-83BD-40F0-9CAD-F128E470DB3F}"/>
              </a:ext>
            </a:extLst>
          </p:cNvPr>
          <p:cNvCxnSpPr>
            <a:cxnSpLocks/>
            <a:stCxn id="22" idx="2"/>
            <a:endCxn id="11" idx="0"/>
          </p:cNvCxnSpPr>
          <p:nvPr/>
        </p:nvCxnSpPr>
        <p:spPr>
          <a:xfrm rot="16200000" flipH="1">
            <a:off x="5741858" y="6344152"/>
            <a:ext cx="216791" cy="7951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Organigramme : Document 135">
            <a:extLst>
              <a:ext uri="{FF2B5EF4-FFF2-40B4-BE49-F238E27FC236}">
                <a16:creationId xmlns:a16="http://schemas.microsoft.com/office/drawing/2014/main" id="{98518A57-D2F8-4627-9C4C-115EDDF83017}"/>
              </a:ext>
            </a:extLst>
          </p:cNvPr>
          <p:cNvSpPr/>
          <p:nvPr/>
        </p:nvSpPr>
        <p:spPr>
          <a:xfrm>
            <a:off x="10028583" y="5372837"/>
            <a:ext cx="1358628" cy="475420"/>
          </a:xfrm>
          <a:prstGeom prst="flowChartDocumen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Identifiant : 212334</a:t>
            </a:r>
          </a:p>
          <a:p>
            <a:pPr algn="ctr"/>
            <a:r>
              <a:rPr lang="fr-F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Mot de passe :  disponible auprès de S.GALAND</a:t>
            </a:r>
          </a:p>
        </p:txBody>
      </p:sp>
      <p:sp>
        <p:nvSpPr>
          <p:cNvPr id="146" name="Titre 2">
            <a:extLst>
              <a:ext uri="{FF2B5EF4-FFF2-40B4-BE49-F238E27FC236}">
                <a16:creationId xmlns:a16="http://schemas.microsoft.com/office/drawing/2014/main" id="{209D4CF9-6392-4777-9D0D-B597CA761BAB}"/>
              </a:ext>
            </a:extLst>
          </p:cNvPr>
          <p:cNvSpPr txBox="1">
            <a:spLocks/>
          </p:cNvSpPr>
          <p:nvPr/>
        </p:nvSpPr>
        <p:spPr>
          <a:xfrm>
            <a:off x="2280772" y="77925"/>
            <a:ext cx="8122534" cy="3840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defPPr>
              <a:defRPr lang="fr-FR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2000" b="1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1. Procédure d’élaboration de la déclaration trimestrielle de la mise sur le marché des PAE sur ECOSYSTEME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7CBB772F-306F-86D9-2028-7BCBA665F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10600" y="6347960"/>
            <a:ext cx="4114800" cy="365125"/>
          </a:xfrm>
        </p:spPr>
        <p:txBody>
          <a:bodyPr/>
          <a:lstStyle/>
          <a:p>
            <a:r>
              <a:rPr lang="fr-FR" dirty="0"/>
              <a:t>v2 - 24/08/23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598D2A0-9565-6CB1-CA7E-82BC464DB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0B943-D3BC-4251-B32E-328030011219}" type="slidenum">
              <a:rPr lang="fr-FR" smtClean="0"/>
              <a:t>2</a:t>
            </a:fld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9DC63E-B988-7943-340C-6B9FEABDC9E2}"/>
              </a:ext>
            </a:extLst>
          </p:cNvPr>
          <p:cNvSpPr/>
          <p:nvPr/>
        </p:nvSpPr>
        <p:spPr>
          <a:xfrm>
            <a:off x="8950138" y="355964"/>
            <a:ext cx="3241862" cy="2595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>
              <a:spcAft>
                <a:spcPts val="0"/>
              </a:spcAft>
            </a:pPr>
            <a:r>
              <a:rPr lang="fr-FR" sz="800" b="1" kern="1200" dirty="0">
                <a:solidFill>
                  <a:srgbClr val="000000"/>
                </a:solidFill>
                <a:effectLst/>
                <a:ea typeface="Times New Roman"/>
                <a:cs typeface="Times New Roman"/>
              </a:rPr>
              <a:t>FP FS 048 – Déclaration réglementaires environnement</a:t>
            </a:r>
            <a:endParaRPr lang="fr-FR" sz="1200" dirty="0">
              <a:effectLst/>
              <a:latin typeface="Times New Roman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96009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rganigramme : Document 4">
            <a:extLst>
              <a:ext uri="{FF2B5EF4-FFF2-40B4-BE49-F238E27FC236}">
                <a16:creationId xmlns:a16="http://schemas.microsoft.com/office/drawing/2014/main" id="{EF70B0BB-77B6-4A8E-9487-00DBA56969E1}"/>
              </a:ext>
            </a:extLst>
          </p:cNvPr>
          <p:cNvSpPr/>
          <p:nvPr/>
        </p:nvSpPr>
        <p:spPr>
          <a:xfrm>
            <a:off x="4365630" y="1557134"/>
            <a:ext cx="1358627" cy="523861"/>
          </a:xfrm>
          <a:prstGeom prst="flowChartDocumen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Réception du Mail avec Fichier Volumes DEEE DELTA et CEMIS Q X 20XX en </a:t>
            </a:r>
            <a:r>
              <a:rPr lang="fr-F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pj</a:t>
            </a:r>
            <a:r>
              <a:rPr lang="fr-F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EEAEC3-F02B-4172-BA2E-89011E9476F2}"/>
              </a:ext>
            </a:extLst>
          </p:cNvPr>
          <p:cNvSpPr/>
          <p:nvPr/>
        </p:nvSpPr>
        <p:spPr>
          <a:xfrm>
            <a:off x="1851930" y="4673545"/>
            <a:ext cx="8004597" cy="5110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/>
              <a:t>Pour le trimestre considéré, pour  chaque entité -:</a:t>
            </a:r>
          </a:p>
          <a:p>
            <a:pPr marL="171450" indent="-171450" algn="ctr">
              <a:buFontTx/>
              <a:buChar char="-"/>
            </a:pPr>
            <a:r>
              <a:rPr lang="fr-FR" sz="900" dirty="0"/>
              <a:t>Calculs des Quantités et poids (t) pour le PORTAGE DE MARQUE </a:t>
            </a:r>
          </a:p>
          <a:p>
            <a:pPr marL="171450" indent="-171450" algn="ctr">
              <a:buFontTx/>
              <a:buChar char="-"/>
            </a:pPr>
            <a:r>
              <a:rPr lang="fr-FR" sz="900" dirty="0"/>
              <a:t>Calculs des Quantités et poids (t) pour l’IMPORTATION</a:t>
            </a:r>
          </a:p>
        </p:txBody>
      </p:sp>
      <p:sp>
        <p:nvSpPr>
          <p:cNvPr id="9" name="Organigramme : Terminateur 8">
            <a:extLst>
              <a:ext uri="{FF2B5EF4-FFF2-40B4-BE49-F238E27FC236}">
                <a16:creationId xmlns:a16="http://schemas.microsoft.com/office/drawing/2014/main" id="{69840965-D1EF-42E4-AF15-93FE7119E388}"/>
              </a:ext>
            </a:extLst>
          </p:cNvPr>
          <p:cNvSpPr/>
          <p:nvPr/>
        </p:nvSpPr>
        <p:spPr>
          <a:xfrm>
            <a:off x="2962664" y="980864"/>
            <a:ext cx="5458170" cy="251917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/>
              <a:t>Réception du Mail trimestriel </a:t>
            </a:r>
            <a:r>
              <a:rPr lang="fr-FR" sz="900" dirty="0" err="1"/>
              <a:t>d’EcoSystème</a:t>
            </a:r>
            <a:r>
              <a:rPr lang="fr-FR" sz="900" dirty="0"/>
              <a:t> &gt; Déclaration à effectuer sur le portail</a:t>
            </a:r>
          </a:p>
        </p:txBody>
      </p:sp>
      <p:sp>
        <p:nvSpPr>
          <p:cNvPr id="11" name="Organigramme : Terminateur 10">
            <a:extLst>
              <a:ext uri="{FF2B5EF4-FFF2-40B4-BE49-F238E27FC236}">
                <a16:creationId xmlns:a16="http://schemas.microsoft.com/office/drawing/2014/main" id="{260F96E9-C70B-4688-BF4F-75E8A2DE76ED}"/>
              </a:ext>
            </a:extLst>
          </p:cNvPr>
          <p:cNvSpPr/>
          <p:nvPr/>
        </p:nvSpPr>
        <p:spPr>
          <a:xfrm>
            <a:off x="4182145" y="6456524"/>
            <a:ext cx="3344167" cy="323551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/>
              <a:t>La déclaration trimestrielle est validée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27E537-8A44-4183-8E95-11A01F69F95A}"/>
              </a:ext>
            </a:extLst>
          </p:cNvPr>
          <p:cNvSpPr/>
          <p:nvPr/>
        </p:nvSpPr>
        <p:spPr>
          <a:xfrm>
            <a:off x="1845582" y="1543093"/>
            <a:ext cx="2234167" cy="5427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/>
              <a:t>Demande Fichier de reporting Requête DEEE du trimestre  au Responsable Achats Directs et Production RIA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72B6AA-7A8B-422A-826F-B954A894843F}"/>
              </a:ext>
            </a:extLst>
          </p:cNvPr>
          <p:cNvSpPr/>
          <p:nvPr/>
        </p:nvSpPr>
        <p:spPr>
          <a:xfrm>
            <a:off x="1845582" y="2774329"/>
            <a:ext cx="2234165" cy="7815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/>
              <a:t>Enregistrement du Fichier de reporting Requête DEEE du trimestre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CB5649A-5311-49E0-9ECB-3BEFDBF39B6E}"/>
              </a:ext>
            </a:extLst>
          </p:cNvPr>
          <p:cNvSpPr/>
          <p:nvPr/>
        </p:nvSpPr>
        <p:spPr>
          <a:xfrm>
            <a:off x="1851930" y="5372837"/>
            <a:ext cx="8004598" cy="2241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/>
              <a:t>Connection au site ECOSYSTEME </a:t>
            </a:r>
            <a:r>
              <a:rPr lang="fr-FR" sz="900" dirty="0">
                <a:solidFill>
                  <a:srgbClr val="FFFF00"/>
                </a:solidFill>
              </a:rPr>
              <a:t>- </a:t>
            </a:r>
            <a:r>
              <a:rPr lang="fr-FR" sz="900" dirty="0">
                <a:solidFill>
                  <a:srgbClr val="FFFF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https://portail.ecosystem.eco/fr/login</a:t>
            </a:r>
            <a:r>
              <a:rPr lang="fr-FR" sz="900" dirty="0">
                <a:solidFill>
                  <a:srgbClr val="FFFF00"/>
                </a:solidFill>
              </a:rPr>
              <a:t>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2E1E090-0798-4FE8-9DAB-66877D1FA136}"/>
              </a:ext>
            </a:extLst>
          </p:cNvPr>
          <p:cNvSpPr/>
          <p:nvPr/>
        </p:nvSpPr>
        <p:spPr>
          <a:xfrm>
            <a:off x="1843979" y="5764313"/>
            <a:ext cx="8004598" cy="4754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/>
              <a:t>Saisir une déclaration -&gt; Créer une déclaration depuis la déclaration validée</a:t>
            </a:r>
          </a:p>
          <a:p>
            <a:pPr algn="ctr"/>
            <a:r>
              <a:rPr lang="fr-FR" sz="900" i="1" dirty="0"/>
              <a:t>Indiquer les Quantités puis les poids (t) par type de DEEE: « 8471» , « 8521 », « 8528 » dans les cases correspondantes puis valider en prenant en compte l’</a:t>
            </a:r>
            <a:r>
              <a:rPr lang="fr-FR" sz="900" i="1" dirty="0" err="1"/>
              <a:t>eco</a:t>
            </a:r>
            <a:r>
              <a:rPr lang="fr-FR" sz="900" i="1" dirty="0"/>
              <a:t>-modulation ainsi que la marques des produits vendus</a:t>
            </a:r>
          </a:p>
        </p:txBody>
      </p:sp>
      <p:cxnSp>
        <p:nvCxnSpPr>
          <p:cNvPr id="25" name="Connecteur : en angle 24">
            <a:extLst>
              <a:ext uri="{FF2B5EF4-FFF2-40B4-BE49-F238E27FC236}">
                <a16:creationId xmlns:a16="http://schemas.microsoft.com/office/drawing/2014/main" id="{FBD6CC90-D48D-46C5-B387-8339B48354B7}"/>
              </a:ext>
            </a:extLst>
          </p:cNvPr>
          <p:cNvCxnSpPr>
            <a:cxnSpLocks/>
            <a:stCxn id="9" idx="2"/>
            <a:endCxn id="12" idx="0"/>
          </p:cNvCxnSpPr>
          <p:nvPr/>
        </p:nvCxnSpPr>
        <p:spPr>
          <a:xfrm rot="5400000">
            <a:off x="4172052" y="23396"/>
            <a:ext cx="310312" cy="2729083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 : en angle 28">
            <a:extLst>
              <a:ext uri="{FF2B5EF4-FFF2-40B4-BE49-F238E27FC236}">
                <a16:creationId xmlns:a16="http://schemas.microsoft.com/office/drawing/2014/main" id="{6F284CBB-BDC1-4543-B54B-9854E40B5029}"/>
              </a:ext>
            </a:extLst>
          </p:cNvPr>
          <p:cNvCxnSpPr>
            <a:cxnSpLocks/>
            <a:stCxn id="12" idx="2"/>
            <a:endCxn id="14" idx="0"/>
          </p:cNvCxnSpPr>
          <p:nvPr/>
        </p:nvCxnSpPr>
        <p:spPr>
          <a:xfrm rot="5400000">
            <a:off x="2618447" y="2430110"/>
            <a:ext cx="688438" cy="1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oneTexte 2">
            <a:extLst>
              <a:ext uri="{FF2B5EF4-FFF2-40B4-BE49-F238E27FC236}">
                <a16:creationId xmlns:a16="http://schemas.microsoft.com/office/drawing/2014/main" id="{4B25631C-0824-495B-9EE9-10D8E5939AB5}"/>
              </a:ext>
            </a:extLst>
          </p:cNvPr>
          <p:cNvSpPr txBox="1"/>
          <p:nvPr/>
        </p:nvSpPr>
        <p:spPr>
          <a:xfrm>
            <a:off x="327835" y="805572"/>
            <a:ext cx="1435693" cy="58939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1000" u="sng" dirty="0"/>
              <a:t>Responsabilité ?</a:t>
            </a:r>
          </a:p>
          <a:p>
            <a:endParaRPr lang="fr-FR" sz="1000" u="sng" dirty="0"/>
          </a:p>
          <a:p>
            <a:pPr algn="ctr"/>
            <a:r>
              <a:rPr lang="fr-FR" sz="1000" b="1" dirty="0">
                <a:solidFill>
                  <a:schemeClr val="accent2">
                    <a:lumMod val="75000"/>
                  </a:schemeClr>
                </a:solidFill>
              </a:rPr>
              <a:t>Ecosystème</a:t>
            </a:r>
          </a:p>
          <a:p>
            <a:endParaRPr lang="fr-FR" sz="1000" dirty="0"/>
          </a:p>
          <a:p>
            <a:endParaRPr lang="fr-FR" sz="1000" dirty="0"/>
          </a:p>
          <a:p>
            <a:pPr algn="ctr"/>
            <a:r>
              <a:rPr lang="fr-FR" sz="1000" b="1" dirty="0">
                <a:solidFill>
                  <a:schemeClr val="accent2">
                    <a:lumMod val="75000"/>
                  </a:schemeClr>
                </a:solidFill>
              </a:rPr>
              <a:t>Adjointe </a:t>
            </a:r>
            <a:r>
              <a:rPr lang="fr-FR" sz="1000" b="1" dirty="0" err="1">
                <a:solidFill>
                  <a:schemeClr val="accent2">
                    <a:lumMod val="75000"/>
                  </a:schemeClr>
                </a:solidFill>
              </a:rPr>
              <a:t>Dir</a:t>
            </a:r>
            <a:r>
              <a:rPr lang="fr-FR" sz="1000" b="1" dirty="0">
                <a:solidFill>
                  <a:schemeClr val="accent2">
                    <a:lumMod val="75000"/>
                  </a:schemeClr>
                </a:solidFill>
              </a:rPr>
              <a:t> EHS</a:t>
            </a:r>
          </a:p>
          <a:p>
            <a:pPr algn="ctr"/>
            <a:r>
              <a:rPr lang="fr-FR" sz="900" dirty="0"/>
              <a:t>Responsable Achats Directs et Production RIA</a:t>
            </a:r>
          </a:p>
          <a:p>
            <a:pPr algn="ctr"/>
            <a:endParaRPr lang="fr-FR" sz="900" dirty="0"/>
          </a:p>
          <a:p>
            <a:pPr algn="ctr"/>
            <a:endParaRPr lang="fr-FR" sz="1000" dirty="0"/>
          </a:p>
          <a:p>
            <a:pPr algn="ctr"/>
            <a:endParaRPr lang="fr-FR" sz="1000" dirty="0"/>
          </a:p>
          <a:p>
            <a:pPr algn="ctr"/>
            <a:endParaRPr lang="fr-FR" sz="1000" dirty="0"/>
          </a:p>
          <a:p>
            <a:pPr algn="ctr"/>
            <a:endParaRPr lang="fr-FR" sz="1000" dirty="0"/>
          </a:p>
          <a:p>
            <a:endParaRPr lang="fr-FR" sz="1000" u="sng" dirty="0"/>
          </a:p>
          <a:p>
            <a:endParaRPr lang="fr-FR" sz="1000" u="sng" dirty="0"/>
          </a:p>
          <a:p>
            <a:pPr algn="ctr"/>
            <a:r>
              <a:rPr lang="fr-FR" sz="1000" b="1" dirty="0">
                <a:solidFill>
                  <a:schemeClr val="accent2">
                    <a:lumMod val="75000"/>
                  </a:schemeClr>
                </a:solidFill>
              </a:rPr>
              <a:t>Adjointe </a:t>
            </a:r>
            <a:r>
              <a:rPr lang="fr-FR" sz="1000" b="1" dirty="0" err="1">
                <a:solidFill>
                  <a:schemeClr val="accent2">
                    <a:lumMod val="75000"/>
                  </a:schemeClr>
                </a:solidFill>
              </a:rPr>
              <a:t>Dir</a:t>
            </a:r>
            <a:r>
              <a:rPr lang="fr-FR" sz="1000" b="1" dirty="0">
                <a:solidFill>
                  <a:schemeClr val="accent2">
                    <a:lumMod val="75000"/>
                  </a:schemeClr>
                </a:solidFill>
              </a:rPr>
              <a:t> EHS</a:t>
            </a:r>
          </a:p>
          <a:p>
            <a:endParaRPr lang="fr-FR" sz="1000" u="sng" dirty="0"/>
          </a:p>
          <a:p>
            <a:endParaRPr lang="fr-FR" sz="1000" u="sng" dirty="0"/>
          </a:p>
          <a:p>
            <a:endParaRPr lang="fr-FR" sz="1000" u="sng" dirty="0"/>
          </a:p>
          <a:p>
            <a:endParaRPr lang="fr-FR" sz="1000" u="sng" dirty="0"/>
          </a:p>
          <a:p>
            <a:endParaRPr lang="fr-FR" sz="1000" u="sng" dirty="0"/>
          </a:p>
          <a:p>
            <a:pPr algn="ctr"/>
            <a:r>
              <a:rPr lang="fr-FR" sz="1000" b="1" dirty="0">
                <a:solidFill>
                  <a:schemeClr val="accent2">
                    <a:lumMod val="75000"/>
                  </a:schemeClr>
                </a:solidFill>
              </a:rPr>
              <a:t>Adjointe </a:t>
            </a:r>
            <a:r>
              <a:rPr lang="fr-FR" sz="1000" b="1" dirty="0" err="1">
                <a:solidFill>
                  <a:schemeClr val="accent2">
                    <a:lumMod val="75000"/>
                  </a:schemeClr>
                </a:solidFill>
              </a:rPr>
              <a:t>Dir</a:t>
            </a:r>
            <a:r>
              <a:rPr lang="fr-FR" sz="1000" b="1" dirty="0">
                <a:solidFill>
                  <a:schemeClr val="accent2">
                    <a:lumMod val="75000"/>
                  </a:schemeClr>
                </a:solidFill>
              </a:rPr>
              <a:t> EHS</a:t>
            </a:r>
          </a:p>
          <a:p>
            <a:endParaRPr lang="fr-FR" sz="1000" u="sng" dirty="0"/>
          </a:p>
          <a:p>
            <a:endParaRPr lang="fr-FR" sz="1000" u="sng" dirty="0"/>
          </a:p>
          <a:p>
            <a:endParaRPr lang="fr-FR" sz="1000" u="sng" dirty="0"/>
          </a:p>
          <a:p>
            <a:endParaRPr lang="fr-FR" sz="1000" u="sng" dirty="0"/>
          </a:p>
          <a:p>
            <a:endParaRPr lang="fr-FR" sz="1000" u="sng" dirty="0"/>
          </a:p>
          <a:p>
            <a:endParaRPr lang="fr-FR" sz="1000" u="sng" dirty="0"/>
          </a:p>
          <a:p>
            <a:pPr algn="ctr"/>
            <a:r>
              <a:rPr lang="fr-FR" sz="1000" b="1" dirty="0">
                <a:solidFill>
                  <a:schemeClr val="accent2">
                    <a:lumMod val="75000"/>
                  </a:schemeClr>
                </a:solidFill>
              </a:rPr>
              <a:t>Adjointe </a:t>
            </a:r>
            <a:r>
              <a:rPr lang="fr-FR" sz="1000" b="1" dirty="0" err="1">
                <a:solidFill>
                  <a:schemeClr val="accent2">
                    <a:lumMod val="75000"/>
                  </a:schemeClr>
                </a:solidFill>
              </a:rPr>
              <a:t>Dir</a:t>
            </a:r>
            <a:r>
              <a:rPr lang="fr-FR" sz="1000" b="1" dirty="0">
                <a:solidFill>
                  <a:schemeClr val="accent2">
                    <a:lumMod val="75000"/>
                  </a:schemeClr>
                </a:solidFill>
              </a:rPr>
              <a:t> EHS</a:t>
            </a:r>
          </a:p>
          <a:p>
            <a:endParaRPr lang="fr-FR" sz="1000" u="sng" dirty="0"/>
          </a:p>
          <a:p>
            <a:endParaRPr lang="fr-FR" sz="1000" u="sng" dirty="0"/>
          </a:p>
          <a:p>
            <a:endParaRPr lang="fr-FR" sz="1000" u="sng" dirty="0"/>
          </a:p>
          <a:p>
            <a:endParaRPr lang="fr-FR" sz="1000" u="sng" dirty="0"/>
          </a:p>
          <a:p>
            <a:endParaRPr lang="fr-FR" sz="1000" u="sng" dirty="0"/>
          </a:p>
          <a:p>
            <a:endParaRPr lang="fr-FR" sz="1000" u="sng" dirty="0"/>
          </a:p>
          <a:p>
            <a:endParaRPr lang="fr-FR" sz="1000" u="sng" dirty="0"/>
          </a:p>
          <a:p>
            <a:endParaRPr lang="fr-FR" sz="1000" u="sng" dirty="0"/>
          </a:p>
          <a:p>
            <a:endParaRPr lang="fr-FR" sz="1000" u="sng" dirty="0"/>
          </a:p>
        </p:txBody>
      </p:sp>
      <p:sp>
        <p:nvSpPr>
          <p:cNvPr id="1060" name="ZoneTexte 1059">
            <a:extLst>
              <a:ext uri="{FF2B5EF4-FFF2-40B4-BE49-F238E27FC236}">
                <a16:creationId xmlns:a16="http://schemas.microsoft.com/office/drawing/2014/main" id="{513CF2C3-9811-4669-84DA-8503D0FB06B9}"/>
              </a:ext>
            </a:extLst>
          </p:cNvPr>
          <p:cNvSpPr txBox="1"/>
          <p:nvPr/>
        </p:nvSpPr>
        <p:spPr>
          <a:xfrm>
            <a:off x="333739" y="3762627"/>
            <a:ext cx="9815759" cy="654160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103" name="Organigramme : Document 102">
            <a:extLst>
              <a:ext uri="{FF2B5EF4-FFF2-40B4-BE49-F238E27FC236}">
                <a16:creationId xmlns:a16="http://schemas.microsoft.com/office/drawing/2014/main" id="{665ADC50-02DF-402E-8396-48F8E0998DC7}"/>
              </a:ext>
            </a:extLst>
          </p:cNvPr>
          <p:cNvSpPr/>
          <p:nvPr/>
        </p:nvSpPr>
        <p:spPr>
          <a:xfrm>
            <a:off x="4365630" y="2774328"/>
            <a:ext cx="2025934" cy="745029"/>
          </a:xfrm>
          <a:prstGeom prst="flowChartDocumen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>
                <a:solidFill>
                  <a:schemeClr val="bg2">
                    <a:lumMod val="50000"/>
                  </a:schemeClr>
                </a:solidFill>
              </a:rPr>
              <a:t>Serveur EHS National : EH&amp;S\00-Thématiques EHS\SP 11 Déchets\4 - Reporting\DEEE\CHUBB Delta &amp; CEMIS_ Eco Organisme - ECOSYSTEME\20XX\Volumes DEEE DELTA et CEMIS QX 20XX.xls</a:t>
            </a:r>
          </a:p>
        </p:txBody>
      </p:sp>
      <p:cxnSp>
        <p:nvCxnSpPr>
          <p:cNvPr id="1064" name="Connecteur : en angle 1063">
            <a:extLst>
              <a:ext uri="{FF2B5EF4-FFF2-40B4-BE49-F238E27FC236}">
                <a16:creationId xmlns:a16="http://schemas.microsoft.com/office/drawing/2014/main" id="{855CF90B-52DB-49B3-8474-AFD8921D46AB}"/>
              </a:ext>
            </a:extLst>
          </p:cNvPr>
          <p:cNvCxnSpPr>
            <a:cxnSpLocks/>
            <a:endCxn id="15" idx="3"/>
          </p:cNvCxnSpPr>
          <p:nvPr/>
        </p:nvCxnSpPr>
        <p:spPr>
          <a:xfrm rot="5400000">
            <a:off x="5052730" y="1836080"/>
            <a:ext cx="1272251" cy="3218212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1" name="Connecteur droit avec flèche 1070">
            <a:extLst>
              <a:ext uri="{FF2B5EF4-FFF2-40B4-BE49-F238E27FC236}">
                <a16:creationId xmlns:a16="http://schemas.microsoft.com/office/drawing/2014/main" id="{BD900AB3-4605-4F5F-885F-7C8A7F39B3F6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>
            <a:off x="2962665" y="3555911"/>
            <a:ext cx="1" cy="20201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4" name="Connecteur : en angle 1073">
            <a:extLst>
              <a:ext uri="{FF2B5EF4-FFF2-40B4-BE49-F238E27FC236}">
                <a16:creationId xmlns:a16="http://schemas.microsoft.com/office/drawing/2014/main" id="{44E4AA08-0834-49AF-BFD6-CD227862CA57}"/>
              </a:ext>
            </a:extLst>
          </p:cNvPr>
          <p:cNvCxnSpPr>
            <a:cxnSpLocks/>
            <a:stCxn id="15" idx="2"/>
            <a:endCxn id="8" idx="0"/>
          </p:cNvCxnSpPr>
          <p:nvPr/>
        </p:nvCxnSpPr>
        <p:spPr>
          <a:xfrm rot="16200000" flipH="1">
            <a:off x="4274023" y="3093339"/>
            <a:ext cx="268848" cy="2891563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E6D4B5B6-C02E-43E9-87D6-38AE5A6B5907}"/>
              </a:ext>
            </a:extLst>
          </p:cNvPr>
          <p:cNvSpPr/>
          <p:nvPr/>
        </p:nvSpPr>
        <p:spPr>
          <a:xfrm>
            <a:off x="1845583" y="3757927"/>
            <a:ext cx="2234166" cy="6467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700" dirty="0"/>
              <a:t>Copier/Coller les classeurs:</a:t>
            </a:r>
          </a:p>
          <a:p>
            <a:pPr marL="171450" indent="-171450" algn="ctr">
              <a:buFontTx/>
              <a:buChar char="-"/>
            </a:pPr>
            <a:r>
              <a:rPr lang="fr-FR" sz="700" i="1" dirty="0"/>
              <a:t>Feuil 1</a:t>
            </a:r>
          </a:p>
          <a:p>
            <a:pPr marL="171450" indent="-171450" algn="ctr">
              <a:buFontTx/>
              <a:buChar char="-"/>
            </a:pPr>
            <a:r>
              <a:rPr lang="fr-FR" sz="700" i="1" dirty="0"/>
              <a:t>Intrusion ( = CHUBB Delta)</a:t>
            </a:r>
          </a:p>
          <a:p>
            <a:pPr marL="171450" indent="-171450" algn="ctr">
              <a:buFontTx/>
              <a:buChar char="-"/>
            </a:pPr>
            <a:r>
              <a:rPr lang="fr-FR" sz="700" i="1" dirty="0"/>
              <a:t>Incendie ( = CEMIS)</a:t>
            </a:r>
          </a:p>
          <a:p>
            <a:pPr marL="171450" indent="-171450" algn="ctr">
              <a:buFontTx/>
              <a:buChar char="-"/>
            </a:pPr>
            <a:r>
              <a:rPr lang="fr-FR" sz="700" i="1" dirty="0"/>
              <a:t>En les reprenant du fichier du trimestre précèdent</a:t>
            </a:r>
            <a:endParaRPr lang="fr-FR" sz="600" i="1" dirty="0"/>
          </a:p>
        </p:txBody>
      </p:sp>
      <p:sp>
        <p:nvSpPr>
          <p:cNvPr id="19" name="Organigramme : Document 18">
            <a:extLst>
              <a:ext uri="{FF2B5EF4-FFF2-40B4-BE49-F238E27FC236}">
                <a16:creationId xmlns:a16="http://schemas.microsoft.com/office/drawing/2014/main" id="{FC2E6BD8-64C3-4825-8690-26A1E7F798B3}"/>
              </a:ext>
            </a:extLst>
          </p:cNvPr>
          <p:cNvSpPr/>
          <p:nvPr/>
        </p:nvSpPr>
        <p:spPr>
          <a:xfrm>
            <a:off x="4397733" y="3891670"/>
            <a:ext cx="1456495" cy="370802"/>
          </a:xfrm>
          <a:prstGeom prst="flowChartDocumen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Fichier « </a:t>
            </a:r>
            <a:r>
              <a:rPr lang="fr-FR" sz="800" dirty="0">
                <a:solidFill>
                  <a:schemeClr val="bg2">
                    <a:lumMod val="50000"/>
                  </a:schemeClr>
                </a:solidFill>
              </a:rPr>
              <a:t>Volumes DEEE DELTA et CEMIS QX 20XX.xls »</a:t>
            </a:r>
            <a:endParaRPr lang="fr-F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079" name="Connecteur droit avec flèche 1078">
            <a:extLst>
              <a:ext uri="{FF2B5EF4-FFF2-40B4-BE49-F238E27FC236}">
                <a16:creationId xmlns:a16="http://schemas.microsoft.com/office/drawing/2014/main" id="{65E55487-89EE-4E9D-840D-1946BD97D9CA}"/>
              </a:ext>
            </a:extLst>
          </p:cNvPr>
          <p:cNvCxnSpPr>
            <a:cxnSpLocks/>
            <a:stCxn id="8" idx="2"/>
            <a:endCxn id="21" idx="0"/>
          </p:cNvCxnSpPr>
          <p:nvPr/>
        </p:nvCxnSpPr>
        <p:spPr>
          <a:xfrm>
            <a:off x="5854229" y="5184627"/>
            <a:ext cx="0" cy="18821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necteur droit avec flèche 125">
            <a:extLst>
              <a:ext uri="{FF2B5EF4-FFF2-40B4-BE49-F238E27FC236}">
                <a16:creationId xmlns:a16="http://schemas.microsoft.com/office/drawing/2014/main" id="{B05D580E-E5A9-4545-9490-872EECF8CA6A}"/>
              </a:ext>
            </a:extLst>
          </p:cNvPr>
          <p:cNvCxnSpPr>
            <a:cxnSpLocks/>
            <a:stCxn id="21" idx="2"/>
            <a:endCxn id="22" idx="0"/>
          </p:cNvCxnSpPr>
          <p:nvPr/>
        </p:nvCxnSpPr>
        <p:spPr>
          <a:xfrm flipH="1">
            <a:off x="5846278" y="5596982"/>
            <a:ext cx="7951" cy="16733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eur : en angle 95">
            <a:extLst>
              <a:ext uri="{FF2B5EF4-FFF2-40B4-BE49-F238E27FC236}">
                <a16:creationId xmlns:a16="http://schemas.microsoft.com/office/drawing/2014/main" id="{1DFAAB0A-83BD-40F0-9CAD-F128E470DB3F}"/>
              </a:ext>
            </a:extLst>
          </p:cNvPr>
          <p:cNvCxnSpPr>
            <a:cxnSpLocks/>
            <a:stCxn id="22" idx="2"/>
            <a:endCxn id="11" idx="0"/>
          </p:cNvCxnSpPr>
          <p:nvPr/>
        </p:nvCxnSpPr>
        <p:spPr>
          <a:xfrm rot="16200000" flipH="1">
            <a:off x="5741858" y="6344152"/>
            <a:ext cx="216791" cy="7951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Organigramme : Document 135">
            <a:extLst>
              <a:ext uri="{FF2B5EF4-FFF2-40B4-BE49-F238E27FC236}">
                <a16:creationId xmlns:a16="http://schemas.microsoft.com/office/drawing/2014/main" id="{98518A57-D2F8-4627-9C4C-115EDDF83017}"/>
              </a:ext>
            </a:extLst>
          </p:cNvPr>
          <p:cNvSpPr/>
          <p:nvPr/>
        </p:nvSpPr>
        <p:spPr>
          <a:xfrm>
            <a:off x="10028583" y="5372837"/>
            <a:ext cx="1358628" cy="475420"/>
          </a:xfrm>
          <a:prstGeom prst="flowChartDocumen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Identifiant : 212334</a:t>
            </a:r>
          </a:p>
          <a:p>
            <a:pPr algn="ctr"/>
            <a:r>
              <a:rPr lang="fr-F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Mot de passe :  disponible auprès de S.GALAND</a:t>
            </a:r>
          </a:p>
        </p:txBody>
      </p:sp>
      <p:sp>
        <p:nvSpPr>
          <p:cNvPr id="146" name="Titre 2">
            <a:extLst>
              <a:ext uri="{FF2B5EF4-FFF2-40B4-BE49-F238E27FC236}">
                <a16:creationId xmlns:a16="http://schemas.microsoft.com/office/drawing/2014/main" id="{209D4CF9-6392-4777-9D0D-B597CA761BAB}"/>
              </a:ext>
            </a:extLst>
          </p:cNvPr>
          <p:cNvSpPr txBox="1">
            <a:spLocks/>
          </p:cNvSpPr>
          <p:nvPr/>
        </p:nvSpPr>
        <p:spPr>
          <a:xfrm>
            <a:off x="2280771" y="77925"/>
            <a:ext cx="8098471" cy="3840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defPPr>
              <a:defRPr lang="fr-FR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2000" b="1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2. Procédure d’élaboration de la déclaration trimestrielle de la mise sur le marché des DEEE sur ECOSYSTEME</a:t>
            </a:r>
          </a:p>
        </p:txBody>
      </p: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FA82EED0-B237-C89C-03FC-ED29A7EDEB57}"/>
              </a:ext>
            </a:extLst>
          </p:cNvPr>
          <p:cNvCxnSpPr>
            <a:cxnSpLocks/>
          </p:cNvCxnSpPr>
          <p:nvPr/>
        </p:nvCxnSpPr>
        <p:spPr>
          <a:xfrm>
            <a:off x="5688855" y="1387937"/>
            <a:ext cx="1609107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16628CF1-B33F-FB55-C6FE-C89A8CA6A077}"/>
              </a:ext>
            </a:extLst>
          </p:cNvPr>
          <p:cNvCxnSpPr>
            <a:cxnSpLocks/>
          </p:cNvCxnSpPr>
          <p:nvPr/>
        </p:nvCxnSpPr>
        <p:spPr>
          <a:xfrm flipV="1">
            <a:off x="7297962" y="1387937"/>
            <a:ext cx="0" cy="162472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4" name="Image 103">
            <a:extLst>
              <a:ext uri="{FF2B5EF4-FFF2-40B4-BE49-F238E27FC236}">
                <a16:creationId xmlns:a16="http://schemas.microsoft.com/office/drawing/2014/main" id="{D4461021-F098-0A98-098B-D71F8F5B40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3016" y="4582840"/>
            <a:ext cx="2185567" cy="643256"/>
          </a:xfrm>
          <a:prstGeom prst="rect">
            <a:avLst/>
          </a:prstGeom>
        </p:spPr>
      </p:pic>
      <p:pic>
        <p:nvPicPr>
          <p:cNvPr id="106" name="Image 105">
            <a:extLst>
              <a:ext uri="{FF2B5EF4-FFF2-40B4-BE49-F238E27FC236}">
                <a16:creationId xmlns:a16="http://schemas.microsoft.com/office/drawing/2014/main" id="{4F6C0803-A82D-55B2-C841-4F32CF6472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1039" y="4852473"/>
            <a:ext cx="150546" cy="144000"/>
          </a:xfrm>
          <a:prstGeom prst="rect">
            <a:avLst/>
          </a:prstGeom>
        </p:spPr>
      </p:pic>
      <p:pic>
        <p:nvPicPr>
          <p:cNvPr id="108" name="Image 107">
            <a:extLst>
              <a:ext uri="{FF2B5EF4-FFF2-40B4-BE49-F238E27FC236}">
                <a16:creationId xmlns:a16="http://schemas.microsoft.com/office/drawing/2014/main" id="{27F4B6DF-DADE-D2AD-C635-161B42EFD4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7179" y="5000509"/>
            <a:ext cx="157091" cy="144000"/>
          </a:xfrm>
          <a:prstGeom prst="rect">
            <a:avLst/>
          </a:prstGeom>
        </p:spPr>
      </p:pic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EC1C3E00-BEDC-3979-056F-1DA24735C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10600" y="6348127"/>
            <a:ext cx="4114800" cy="365125"/>
          </a:xfrm>
        </p:spPr>
        <p:txBody>
          <a:bodyPr/>
          <a:lstStyle/>
          <a:p>
            <a:r>
              <a:rPr lang="fr-FR" dirty="0"/>
              <a:t>v2 - 24/08/23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2AB885A-AC1D-DC53-02EE-C7B1DC351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0B943-D3BC-4251-B32E-328030011219}" type="slidenum">
              <a:rPr lang="fr-FR" smtClean="0"/>
              <a:t>3</a:t>
            </a:fld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804127-73C9-876E-B2BA-D29112A87EBD}"/>
              </a:ext>
            </a:extLst>
          </p:cNvPr>
          <p:cNvSpPr/>
          <p:nvPr/>
        </p:nvSpPr>
        <p:spPr>
          <a:xfrm>
            <a:off x="8950138" y="355964"/>
            <a:ext cx="3241862" cy="2595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>
              <a:spcAft>
                <a:spcPts val="0"/>
              </a:spcAft>
            </a:pPr>
            <a:r>
              <a:rPr lang="fr-FR" sz="800" b="1" kern="1200" dirty="0">
                <a:solidFill>
                  <a:srgbClr val="000000"/>
                </a:solidFill>
                <a:effectLst/>
                <a:ea typeface="Times New Roman"/>
                <a:cs typeface="Times New Roman"/>
              </a:rPr>
              <a:t>FP FS 048 – Déclaration réglementaires environnement</a:t>
            </a:r>
            <a:endParaRPr lang="fr-FR" sz="1200" dirty="0">
              <a:effectLst/>
              <a:latin typeface="Times New Roman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27879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ZoneTexte 1058">
            <a:extLst>
              <a:ext uri="{FF2B5EF4-FFF2-40B4-BE49-F238E27FC236}">
                <a16:creationId xmlns:a16="http://schemas.microsoft.com/office/drawing/2014/main" id="{DCD93344-0FA6-EA76-A35D-BB23DDC17616}"/>
              </a:ext>
            </a:extLst>
          </p:cNvPr>
          <p:cNvSpPr txBox="1"/>
          <p:nvPr/>
        </p:nvSpPr>
        <p:spPr>
          <a:xfrm>
            <a:off x="327835" y="4099725"/>
            <a:ext cx="8655533" cy="432000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1060" name="ZoneTexte 1059">
            <a:extLst>
              <a:ext uri="{FF2B5EF4-FFF2-40B4-BE49-F238E27FC236}">
                <a16:creationId xmlns:a16="http://schemas.microsoft.com/office/drawing/2014/main" id="{513CF2C3-9811-4669-84DA-8503D0FB06B9}"/>
              </a:ext>
            </a:extLst>
          </p:cNvPr>
          <p:cNvSpPr txBox="1"/>
          <p:nvPr/>
        </p:nvSpPr>
        <p:spPr>
          <a:xfrm>
            <a:off x="327835" y="3635039"/>
            <a:ext cx="8655533" cy="432000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9" name="Organigramme : Terminateur 8">
            <a:extLst>
              <a:ext uri="{FF2B5EF4-FFF2-40B4-BE49-F238E27FC236}">
                <a16:creationId xmlns:a16="http://schemas.microsoft.com/office/drawing/2014/main" id="{69840965-D1EF-42E4-AF15-93FE7119E388}"/>
              </a:ext>
            </a:extLst>
          </p:cNvPr>
          <p:cNvSpPr/>
          <p:nvPr/>
        </p:nvSpPr>
        <p:spPr>
          <a:xfrm>
            <a:off x="2683982" y="851850"/>
            <a:ext cx="5458170" cy="251917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/>
              <a:t>Souhait de réaliser un enlèvement d’un contenant Déchets Dangereux</a:t>
            </a:r>
          </a:p>
        </p:txBody>
      </p:sp>
      <p:sp>
        <p:nvSpPr>
          <p:cNvPr id="11" name="Organigramme : Terminateur 10">
            <a:extLst>
              <a:ext uri="{FF2B5EF4-FFF2-40B4-BE49-F238E27FC236}">
                <a16:creationId xmlns:a16="http://schemas.microsoft.com/office/drawing/2014/main" id="{260F96E9-C70B-4688-BF4F-75E8A2DE76ED}"/>
              </a:ext>
            </a:extLst>
          </p:cNvPr>
          <p:cNvSpPr/>
          <p:nvPr/>
        </p:nvSpPr>
        <p:spPr>
          <a:xfrm>
            <a:off x="4175591" y="5802043"/>
            <a:ext cx="3344167" cy="323551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/>
              <a:t>BSD édité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27E537-8A44-4183-8E95-11A01F69F95A}"/>
              </a:ext>
            </a:extLst>
          </p:cNvPr>
          <p:cNvSpPr/>
          <p:nvPr/>
        </p:nvSpPr>
        <p:spPr>
          <a:xfrm>
            <a:off x="1892836" y="3689621"/>
            <a:ext cx="1080000" cy="36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 err="1"/>
              <a:t>Ecoplanète</a:t>
            </a:r>
            <a:endParaRPr lang="fr-FR" sz="10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B25631C-0824-495B-9EE9-10D8E5939AB5}"/>
              </a:ext>
            </a:extLst>
          </p:cNvPr>
          <p:cNvSpPr txBox="1"/>
          <p:nvPr/>
        </p:nvSpPr>
        <p:spPr>
          <a:xfrm>
            <a:off x="327835" y="805572"/>
            <a:ext cx="1435693" cy="54630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1000" u="sng" dirty="0"/>
              <a:t>Responsabilité ?</a:t>
            </a:r>
          </a:p>
          <a:p>
            <a:endParaRPr lang="fr-FR" sz="1000" u="sng" dirty="0"/>
          </a:p>
          <a:p>
            <a:pPr algn="ctr"/>
            <a:endParaRPr lang="fr-FR" sz="1000" b="1" dirty="0">
              <a:solidFill>
                <a:schemeClr val="accent2">
                  <a:lumMod val="75000"/>
                </a:schemeClr>
              </a:solidFill>
            </a:endParaRPr>
          </a:p>
          <a:p>
            <a:pPr algn="ctr"/>
            <a:r>
              <a:rPr lang="fr-FR" sz="1000" b="1" dirty="0">
                <a:solidFill>
                  <a:schemeClr val="accent2">
                    <a:lumMod val="75000"/>
                  </a:schemeClr>
                </a:solidFill>
              </a:rPr>
              <a:t>Gestionnaire Déchets Agence</a:t>
            </a:r>
          </a:p>
          <a:p>
            <a:endParaRPr lang="fr-FR" sz="1000" dirty="0"/>
          </a:p>
          <a:p>
            <a:endParaRPr lang="fr-FR" sz="1000" dirty="0"/>
          </a:p>
          <a:p>
            <a:endParaRPr lang="fr-FR" sz="1000" u="sng" dirty="0"/>
          </a:p>
          <a:p>
            <a:pPr algn="ctr"/>
            <a:endParaRPr lang="fr-FR" sz="1000" b="1" dirty="0">
              <a:solidFill>
                <a:schemeClr val="accent2">
                  <a:lumMod val="75000"/>
                </a:schemeClr>
              </a:solidFill>
            </a:endParaRPr>
          </a:p>
          <a:p>
            <a:pPr algn="ctr"/>
            <a:endParaRPr lang="fr-FR" sz="1000" b="1" dirty="0">
              <a:solidFill>
                <a:schemeClr val="accent2">
                  <a:lumMod val="75000"/>
                </a:schemeClr>
              </a:solidFill>
            </a:endParaRPr>
          </a:p>
          <a:p>
            <a:pPr algn="ctr"/>
            <a:endParaRPr lang="fr-FR" sz="1000" b="1" dirty="0">
              <a:solidFill>
                <a:schemeClr val="accent2">
                  <a:lumMod val="75000"/>
                </a:schemeClr>
              </a:solidFill>
            </a:endParaRPr>
          </a:p>
          <a:p>
            <a:pPr algn="ctr"/>
            <a:endParaRPr lang="fr-FR" sz="1000" b="1" dirty="0">
              <a:solidFill>
                <a:schemeClr val="accent2">
                  <a:lumMod val="75000"/>
                </a:schemeClr>
              </a:solidFill>
            </a:endParaRPr>
          </a:p>
          <a:p>
            <a:pPr algn="ctr"/>
            <a:endParaRPr lang="fr-FR" sz="1000" b="1" dirty="0">
              <a:solidFill>
                <a:schemeClr val="accent2">
                  <a:lumMod val="75000"/>
                </a:schemeClr>
              </a:solidFill>
            </a:endParaRPr>
          </a:p>
          <a:p>
            <a:pPr algn="ctr"/>
            <a:endParaRPr lang="fr-FR" sz="1000" b="1" dirty="0">
              <a:solidFill>
                <a:schemeClr val="accent2">
                  <a:lumMod val="75000"/>
                </a:schemeClr>
              </a:solidFill>
            </a:endParaRPr>
          </a:p>
          <a:p>
            <a:pPr algn="ctr"/>
            <a:endParaRPr lang="fr-FR" sz="1000" b="1" dirty="0">
              <a:solidFill>
                <a:schemeClr val="accent2">
                  <a:lumMod val="75000"/>
                </a:schemeClr>
              </a:solidFill>
            </a:endParaRPr>
          </a:p>
          <a:p>
            <a:pPr algn="ctr"/>
            <a:endParaRPr lang="fr-FR" sz="1000" b="1" dirty="0">
              <a:solidFill>
                <a:schemeClr val="accent2">
                  <a:lumMod val="75000"/>
                </a:schemeClr>
              </a:solidFill>
            </a:endParaRPr>
          </a:p>
          <a:p>
            <a:pPr algn="ctr"/>
            <a:endParaRPr lang="fr-FR" sz="1000" b="1" dirty="0">
              <a:solidFill>
                <a:schemeClr val="accent2">
                  <a:lumMod val="75000"/>
                </a:schemeClr>
              </a:solidFill>
            </a:endParaRPr>
          </a:p>
          <a:p>
            <a:pPr algn="ctr"/>
            <a:endParaRPr lang="fr-FR" sz="1000" b="1" dirty="0">
              <a:solidFill>
                <a:schemeClr val="accent2">
                  <a:lumMod val="75000"/>
                </a:schemeClr>
              </a:solidFill>
            </a:endParaRPr>
          </a:p>
          <a:p>
            <a:pPr algn="ctr"/>
            <a:endParaRPr lang="fr-FR" sz="1000" b="1" dirty="0">
              <a:solidFill>
                <a:schemeClr val="accent2">
                  <a:lumMod val="75000"/>
                </a:schemeClr>
              </a:solidFill>
            </a:endParaRPr>
          </a:p>
          <a:p>
            <a:pPr algn="ctr"/>
            <a:r>
              <a:rPr lang="fr-FR" sz="1000" b="1" dirty="0">
                <a:solidFill>
                  <a:schemeClr val="accent2">
                    <a:lumMod val="75000"/>
                  </a:schemeClr>
                </a:solidFill>
              </a:rPr>
              <a:t>Gestionnaire Déchets Agence</a:t>
            </a:r>
          </a:p>
          <a:p>
            <a:pPr algn="ctr"/>
            <a:endParaRPr lang="fr-FR" sz="1000" b="1" dirty="0">
              <a:solidFill>
                <a:schemeClr val="accent2">
                  <a:lumMod val="75000"/>
                </a:schemeClr>
              </a:solidFill>
            </a:endParaRPr>
          </a:p>
          <a:p>
            <a:pPr algn="ctr"/>
            <a:r>
              <a:rPr lang="fr-FR" sz="1000" b="1" dirty="0">
                <a:solidFill>
                  <a:schemeClr val="accent2">
                    <a:lumMod val="75000"/>
                  </a:schemeClr>
                </a:solidFill>
              </a:rPr>
              <a:t>PAPREC</a:t>
            </a:r>
          </a:p>
          <a:p>
            <a:pPr algn="ctr"/>
            <a:endParaRPr lang="fr-FR" sz="1000" b="1" dirty="0">
              <a:solidFill>
                <a:schemeClr val="accent2">
                  <a:lumMod val="75000"/>
                </a:schemeClr>
              </a:solidFill>
            </a:endParaRPr>
          </a:p>
          <a:p>
            <a:pPr algn="ctr"/>
            <a:endParaRPr lang="fr-FR" sz="1000" b="1" dirty="0">
              <a:solidFill>
                <a:schemeClr val="accent2">
                  <a:lumMod val="75000"/>
                </a:schemeClr>
              </a:solidFill>
            </a:endParaRPr>
          </a:p>
          <a:p>
            <a:pPr algn="ctr"/>
            <a:r>
              <a:rPr lang="fr-FR" sz="1000" b="1" dirty="0">
                <a:solidFill>
                  <a:schemeClr val="accent2">
                    <a:lumMod val="75000"/>
                  </a:schemeClr>
                </a:solidFill>
              </a:rPr>
              <a:t>Voir avec le Prestataire</a:t>
            </a:r>
          </a:p>
          <a:p>
            <a:endParaRPr lang="fr-FR" sz="1000" dirty="0"/>
          </a:p>
          <a:p>
            <a:pPr algn="ctr"/>
            <a:endParaRPr lang="fr-FR" sz="900" dirty="0"/>
          </a:p>
          <a:p>
            <a:endParaRPr lang="fr-FR" sz="1000" u="sng" dirty="0"/>
          </a:p>
          <a:p>
            <a:endParaRPr lang="fr-FR" sz="1000" u="sng" dirty="0"/>
          </a:p>
          <a:p>
            <a:endParaRPr lang="fr-FR" sz="1000" u="sng" dirty="0"/>
          </a:p>
          <a:p>
            <a:endParaRPr lang="fr-FR" sz="1000" u="sng" dirty="0"/>
          </a:p>
          <a:p>
            <a:endParaRPr lang="fr-FR" sz="1000" u="sng" dirty="0"/>
          </a:p>
          <a:p>
            <a:endParaRPr lang="fr-FR" sz="1000" u="sng" dirty="0"/>
          </a:p>
        </p:txBody>
      </p:sp>
      <p:sp>
        <p:nvSpPr>
          <p:cNvPr id="19" name="Organigramme : Document 18">
            <a:extLst>
              <a:ext uri="{FF2B5EF4-FFF2-40B4-BE49-F238E27FC236}">
                <a16:creationId xmlns:a16="http://schemas.microsoft.com/office/drawing/2014/main" id="{FC2E6BD8-64C3-4825-8690-26A1E7F798B3}"/>
              </a:ext>
            </a:extLst>
          </p:cNvPr>
          <p:cNvSpPr/>
          <p:nvPr/>
        </p:nvSpPr>
        <p:spPr>
          <a:xfrm>
            <a:off x="9201771" y="2343273"/>
            <a:ext cx="2015671" cy="259580"/>
          </a:xfrm>
          <a:prstGeom prst="flowChartDocumen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GED_GUID EHS-016_Trackdéchets BSDD</a:t>
            </a:r>
            <a:endParaRPr lang="fr-F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079" name="Connecteur droit avec flèche 1078">
            <a:extLst>
              <a:ext uri="{FF2B5EF4-FFF2-40B4-BE49-F238E27FC236}">
                <a16:creationId xmlns:a16="http://schemas.microsoft.com/office/drawing/2014/main" id="{65E55487-89EE-4E9D-840D-1946BD97D9CA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5847675" y="4980871"/>
            <a:ext cx="0" cy="82117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Organigramme : Document 135">
            <a:extLst>
              <a:ext uri="{FF2B5EF4-FFF2-40B4-BE49-F238E27FC236}">
                <a16:creationId xmlns:a16="http://schemas.microsoft.com/office/drawing/2014/main" id="{98518A57-D2F8-4627-9C4C-115EDDF83017}"/>
              </a:ext>
            </a:extLst>
          </p:cNvPr>
          <p:cNvSpPr/>
          <p:nvPr/>
        </p:nvSpPr>
        <p:spPr>
          <a:xfrm>
            <a:off x="9523366" y="4096531"/>
            <a:ext cx="1358628" cy="475420"/>
          </a:xfrm>
          <a:prstGeom prst="flowChartDocumen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Identifiant + mot de passe : transmis à chaque utilisateur</a:t>
            </a:r>
          </a:p>
        </p:txBody>
      </p:sp>
      <p:sp>
        <p:nvSpPr>
          <p:cNvPr id="146" name="Titre 2">
            <a:extLst>
              <a:ext uri="{FF2B5EF4-FFF2-40B4-BE49-F238E27FC236}">
                <a16:creationId xmlns:a16="http://schemas.microsoft.com/office/drawing/2014/main" id="{209D4CF9-6392-4777-9D0D-B597CA761BAB}"/>
              </a:ext>
            </a:extLst>
          </p:cNvPr>
          <p:cNvSpPr txBox="1">
            <a:spLocks/>
          </p:cNvSpPr>
          <p:nvPr/>
        </p:nvSpPr>
        <p:spPr>
          <a:xfrm>
            <a:off x="2280771" y="77925"/>
            <a:ext cx="8098471" cy="384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fr-FR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2000" b="1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3. Déclaration de nos déchets dangereux sur </a:t>
            </a:r>
            <a:r>
              <a:rPr lang="fr-FR" dirty="0" err="1"/>
              <a:t>Trackdéchets</a:t>
            </a:r>
            <a:endParaRPr lang="fr-FR" dirty="0"/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EC1C3E00-BEDC-3979-056F-1DA24735C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10600" y="6348127"/>
            <a:ext cx="4114800" cy="365125"/>
          </a:xfrm>
        </p:spPr>
        <p:txBody>
          <a:bodyPr/>
          <a:lstStyle/>
          <a:p>
            <a:r>
              <a:rPr lang="fr-FR" dirty="0"/>
              <a:t>v2 - 24/08/23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2AB885A-AC1D-DC53-02EE-C7B1DC351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0B943-D3BC-4251-B32E-328030011219}" type="slidenum">
              <a:rPr lang="fr-FR" smtClean="0"/>
              <a:t>4</a:t>
            </a:fld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804127-73C9-876E-B2BA-D29112A87EBD}"/>
              </a:ext>
            </a:extLst>
          </p:cNvPr>
          <p:cNvSpPr/>
          <p:nvPr/>
        </p:nvSpPr>
        <p:spPr>
          <a:xfrm>
            <a:off x="8950138" y="355964"/>
            <a:ext cx="3241862" cy="2595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>
              <a:spcAft>
                <a:spcPts val="0"/>
              </a:spcAft>
            </a:pPr>
            <a:r>
              <a:rPr lang="fr-FR" sz="800" b="1" kern="1200" dirty="0">
                <a:solidFill>
                  <a:srgbClr val="000000"/>
                </a:solidFill>
                <a:effectLst/>
                <a:ea typeface="Times New Roman"/>
                <a:cs typeface="Times New Roman"/>
              </a:rPr>
              <a:t>FP FS 048 – Déclaration réglementaires environnement</a:t>
            </a:r>
            <a:endParaRPr lang="fr-FR" sz="1200" dirty="0">
              <a:effectLst/>
              <a:latin typeface="Times New Roman"/>
              <a:ea typeface="Times New Roman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440A32-0F6A-CD70-5D44-291F178702DE}"/>
              </a:ext>
            </a:extLst>
          </p:cNvPr>
          <p:cNvSpPr/>
          <p:nvPr/>
        </p:nvSpPr>
        <p:spPr>
          <a:xfrm>
            <a:off x="4906295" y="4146406"/>
            <a:ext cx="1080000" cy="36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/>
              <a:t>PAPREC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09495F-278F-E0F4-350B-199E1A8E7FE5}"/>
              </a:ext>
            </a:extLst>
          </p:cNvPr>
          <p:cNvSpPr/>
          <p:nvPr/>
        </p:nvSpPr>
        <p:spPr>
          <a:xfrm>
            <a:off x="7451039" y="4603113"/>
            <a:ext cx="1080000" cy="36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/>
              <a:t>Autres Prestataires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B8C7F5-E680-F599-2DDE-8CC8B3394F43}"/>
              </a:ext>
            </a:extLst>
          </p:cNvPr>
          <p:cNvSpPr/>
          <p:nvPr/>
        </p:nvSpPr>
        <p:spPr>
          <a:xfrm>
            <a:off x="1875994" y="1323015"/>
            <a:ext cx="7107373" cy="2828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/>
              <a:t>Etablir un Bordereau de suivi de déchet (BSD) </a:t>
            </a:r>
            <a:r>
              <a:rPr lang="fr-FR" sz="1000" dirty="0" err="1"/>
              <a:t>Trackdéchets</a:t>
            </a:r>
            <a:endParaRPr lang="fr-FR" sz="10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569C25E-BB46-B422-67D9-2111EA30CEDD}"/>
              </a:ext>
            </a:extLst>
          </p:cNvPr>
          <p:cNvSpPr/>
          <p:nvPr/>
        </p:nvSpPr>
        <p:spPr>
          <a:xfrm>
            <a:off x="1875993" y="2481465"/>
            <a:ext cx="3506133" cy="2018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/>
              <a:t>Rédaction d’un BSDD pour un Déchet Dangereux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CE3D2EC-5C11-99CD-3CA1-3D70D49195CD}"/>
              </a:ext>
            </a:extLst>
          </p:cNvPr>
          <p:cNvSpPr/>
          <p:nvPr/>
        </p:nvSpPr>
        <p:spPr>
          <a:xfrm>
            <a:off x="5446296" y="2986789"/>
            <a:ext cx="3503842" cy="2042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/>
              <a:t>Rédaction d’un BSFF pour un Déchet Fluides Frigorigènes</a:t>
            </a:r>
          </a:p>
        </p:txBody>
      </p:sp>
      <p:sp>
        <p:nvSpPr>
          <p:cNvPr id="100" name="Organigramme : Document 99">
            <a:extLst>
              <a:ext uri="{FF2B5EF4-FFF2-40B4-BE49-F238E27FC236}">
                <a16:creationId xmlns:a16="http://schemas.microsoft.com/office/drawing/2014/main" id="{5554CC81-8678-A6BF-98C6-700360D5731A}"/>
              </a:ext>
            </a:extLst>
          </p:cNvPr>
          <p:cNvSpPr/>
          <p:nvPr/>
        </p:nvSpPr>
        <p:spPr>
          <a:xfrm>
            <a:off x="9201771" y="3354315"/>
            <a:ext cx="2025934" cy="318717"/>
          </a:xfrm>
          <a:prstGeom prst="flowChartDocumen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>
                <a:solidFill>
                  <a:schemeClr val="bg2">
                    <a:lumMod val="50000"/>
                  </a:schemeClr>
                </a:solidFill>
                <a:hlinkClick r:id="rId2"/>
              </a:rPr>
              <a:t>MOP-002 Mode opératoire - Book déchet </a:t>
            </a:r>
            <a:endParaRPr lang="fr-FR" sz="8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F1D085CD-04AA-8824-AB00-C3478CCE97B1}"/>
              </a:ext>
            </a:extLst>
          </p:cNvPr>
          <p:cNvSpPr/>
          <p:nvPr/>
        </p:nvSpPr>
        <p:spPr>
          <a:xfrm>
            <a:off x="1909224" y="3370071"/>
            <a:ext cx="7074144" cy="1064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000" dirty="0"/>
              <a:t>Prestataire de traitement</a:t>
            </a:r>
          </a:p>
        </p:txBody>
      </p:sp>
      <p:cxnSp>
        <p:nvCxnSpPr>
          <p:cNvPr id="114" name="Connecteur : en angle 113">
            <a:extLst>
              <a:ext uri="{FF2B5EF4-FFF2-40B4-BE49-F238E27FC236}">
                <a16:creationId xmlns:a16="http://schemas.microsoft.com/office/drawing/2014/main" id="{2671B257-8A31-8FA9-9A53-6F50EF2B36DF}"/>
              </a:ext>
            </a:extLst>
          </p:cNvPr>
          <p:cNvCxnSpPr>
            <a:cxnSpLocks/>
            <a:stCxn id="9" idx="2"/>
            <a:endCxn id="17" idx="0"/>
          </p:cNvCxnSpPr>
          <p:nvPr/>
        </p:nvCxnSpPr>
        <p:spPr>
          <a:xfrm rot="16200000" flipH="1">
            <a:off x="5311750" y="1205084"/>
            <a:ext cx="219248" cy="16614"/>
          </a:xfrm>
          <a:prstGeom prst="bentConnector3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eur : en angle 117">
            <a:extLst>
              <a:ext uri="{FF2B5EF4-FFF2-40B4-BE49-F238E27FC236}">
                <a16:creationId xmlns:a16="http://schemas.microsoft.com/office/drawing/2014/main" id="{4486B659-94C0-2C77-ACA0-6555C0E377B0}"/>
              </a:ext>
            </a:extLst>
          </p:cNvPr>
          <p:cNvCxnSpPr>
            <a:cxnSpLocks/>
            <a:stCxn id="1075" idx="2"/>
            <a:endCxn id="18" idx="0"/>
          </p:cNvCxnSpPr>
          <p:nvPr/>
        </p:nvCxnSpPr>
        <p:spPr>
          <a:xfrm rot="5400000">
            <a:off x="4278340" y="1330123"/>
            <a:ext cx="502063" cy="1800621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necteur : en angle 120">
            <a:extLst>
              <a:ext uri="{FF2B5EF4-FFF2-40B4-BE49-F238E27FC236}">
                <a16:creationId xmlns:a16="http://schemas.microsoft.com/office/drawing/2014/main" id="{63135F0B-A500-2AFC-B4DB-EBB2C0BE68EC}"/>
              </a:ext>
            </a:extLst>
          </p:cNvPr>
          <p:cNvCxnSpPr>
            <a:cxnSpLocks/>
            <a:stCxn id="1075" idx="2"/>
            <a:endCxn id="20" idx="0"/>
          </p:cNvCxnSpPr>
          <p:nvPr/>
        </p:nvCxnSpPr>
        <p:spPr>
          <a:xfrm rot="16200000" flipH="1">
            <a:off x="5810256" y="1598827"/>
            <a:ext cx="1007387" cy="1768536"/>
          </a:xfrm>
          <a:prstGeom prst="bentConnector3">
            <a:avLst>
              <a:gd name="adj1" fmla="val 24521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necteur : en angle 123">
            <a:extLst>
              <a:ext uri="{FF2B5EF4-FFF2-40B4-BE49-F238E27FC236}">
                <a16:creationId xmlns:a16="http://schemas.microsoft.com/office/drawing/2014/main" id="{E33F8E11-0BE1-7590-70E7-47387F010FAF}"/>
              </a:ext>
            </a:extLst>
          </p:cNvPr>
          <p:cNvCxnSpPr>
            <a:cxnSpLocks/>
            <a:stCxn id="110" idx="2"/>
            <a:endCxn id="12" idx="0"/>
          </p:cNvCxnSpPr>
          <p:nvPr/>
        </p:nvCxnSpPr>
        <p:spPr>
          <a:xfrm rot="5400000">
            <a:off x="3833015" y="2076340"/>
            <a:ext cx="213102" cy="3013460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Connecteur : en angle 128">
            <a:extLst>
              <a:ext uri="{FF2B5EF4-FFF2-40B4-BE49-F238E27FC236}">
                <a16:creationId xmlns:a16="http://schemas.microsoft.com/office/drawing/2014/main" id="{362F1615-462A-0E63-92D7-F909A70B7DD7}"/>
              </a:ext>
            </a:extLst>
          </p:cNvPr>
          <p:cNvCxnSpPr>
            <a:cxnSpLocks/>
            <a:stCxn id="110" idx="2"/>
            <a:endCxn id="7" idx="0"/>
          </p:cNvCxnSpPr>
          <p:nvPr/>
        </p:nvCxnSpPr>
        <p:spPr>
          <a:xfrm rot="5400000">
            <a:off x="5111353" y="3811462"/>
            <a:ext cx="669887" cy="1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 : en angle 131">
            <a:extLst>
              <a:ext uri="{FF2B5EF4-FFF2-40B4-BE49-F238E27FC236}">
                <a16:creationId xmlns:a16="http://schemas.microsoft.com/office/drawing/2014/main" id="{DC611CB9-C9C2-F90A-510C-103FF8425E82}"/>
              </a:ext>
            </a:extLst>
          </p:cNvPr>
          <p:cNvCxnSpPr>
            <a:cxnSpLocks/>
            <a:stCxn id="110" idx="2"/>
            <a:endCxn id="10" idx="0"/>
          </p:cNvCxnSpPr>
          <p:nvPr/>
        </p:nvCxnSpPr>
        <p:spPr>
          <a:xfrm rot="16200000" flipH="1">
            <a:off x="6155370" y="2767444"/>
            <a:ext cx="1126594" cy="2544743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Connecteur : en angle 137">
            <a:extLst>
              <a:ext uri="{FF2B5EF4-FFF2-40B4-BE49-F238E27FC236}">
                <a16:creationId xmlns:a16="http://schemas.microsoft.com/office/drawing/2014/main" id="{DE05053D-66E7-B209-7D1D-CBCD82FC3478}"/>
              </a:ext>
            </a:extLst>
          </p:cNvPr>
          <p:cNvCxnSpPr>
            <a:cxnSpLocks/>
            <a:stCxn id="18" idx="2"/>
            <a:endCxn id="110" idx="0"/>
          </p:cNvCxnSpPr>
          <p:nvPr/>
        </p:nvCxnSpPr>
        <p:spPr>
          <a:xfrm rot="16200000" flipH="1">
            <a:off x="4194285" y="2118059"/>
            <a:ext cx="686787" cy="1817236"/>
          </a:xfrm>
          <a:prstGeom prst="bentConnector3">
            <a:avLst>
              <a:gd name="adj1" fmla="val 87373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 : en angle 140">
            <a:extLst>
              <a:ext uri="{FF2B5EF4-FFF2-40B4-BE49-F238E27FC236}">
                <a16:creationId xmlns:a16="http://schemas.microsoft.com/office/drawing/2014/main" id="{A31BAA33-C220-7CE0-0C4E-B21D6A8BB99B}"/>
              </a:ext>
            </a:extLst>
          </p:cNvPr>
          <p:cNvCxnSpPr>
            <a:cxnSpLocks/>
            <a:stCxn id="20" idx="2"/>
            <a:endCxn id="110" idx="0"/>
          </p:cNvCxnSpPr>
          <p:nvPr/>
        </p:nvCxnSpPr>
        <p:spPr>
          <a:xfrm rot="5400000">
            <a:off x="6232755" y="2404609"/>
            <a:ext cx="179004" cy="1751921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Organigramme : Document 154">
            <a:extLst>
              <a:ext uri="{FF2B5EF4-FFF2-40B4-BE49-F238E27FC236}">
                <a16:creationId xmlns:a16="http://schemas.microsoft.com/office/drawing/2014/main" id="{D2A7D060-053C-09DE-6771-CE7711CD5C6B}"/>
              </a:ext>
            </a:extLst>
          </p:cNvPr>
          <p:cNvSpPr/>
          <p:nvPr/>
        </p:nvSpPr>
        <p:spPr>
          <a:xfrm>
            <a:off x="9201771" y="2976644"/>
            <a:ext cx="2015671" cy="259580"/>
          </a:xfrm>
          <a:prstGeom prst="flowChartDocumen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GED_GUID EHS-017_Trackdéchets BSFF</a:t>
            </a:r>
          </a:p>
        </p:txBody>
      </p:sp>
      <p:sp>
        <p:nvSpPr>
          <p:cNvPr id="156" name="ZoneTexte 155">
            <a:extLst>
              <a:ext uri="{FF2B5EF4-FFF2-40B4-BE49-F238E27FC236}">
                <a16:creationId xmlns:a16="http://schemas.microsoft.com/office/drawing/2014/main" id="{D8C97D00-E2E1-7004-C59C-348728F264FE}"/>
              </a:ext>
            </a:extLst>
          </p:cNvPr>
          <p:cNvSpPr txBox="1"/>
          <p:nvPr/>
        </p:nvSpPr>
        <p:spPr>
          <a:xfrm rot="20293769">
            <a:off x="10923304" y="2182505"/>
            <a:ext cx="9224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highlight>
                  <a:srgbClr val="FFFF00"/>
                </a:highlight>
              </a:rPr>
              <a:t>Ajouter les liens GED une fois enregistré sur GED</a:t>
            </a:r>
          </a:p>
        </p:txBody>
      </p:sp>
      <p:sp>
        <p:nvSpPr>
          <p:cNvPr id="157" name="ZoneTexte 156">
            <a:extLst>
              <a:ext uri="{FF2B5EF4-FFF2-40B4-BE49-F238E27FC236}">
                <a16:creationId xmlns:a16="http://schemas.microsoft.com/office/drawing/2014/main" id="{9E410316-63DC-7AF2-642A-41C23F0C5C05}"/>
              </a:ext>
            </a:extLst>
          </p:cNvPr>
          <p:cNvSpPr txBox="1"/>
          <p:nvPr/>
        </p:nvSpPr>
        <p:spPr>
          <a:xfrm rot="20293769">
            <a:off x="10892589" y="2722350"/>
            <a:ext cx="9224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highlight>
                  <a:srgbClr val="FFFF00"/>
                </a:highlight>
              </a:rPr>
              <a:t>Ajouter les liens GED une fois enregistré sur GED</a:t>
            </a:r>
          </a:p>
        </p:txBody>
      </p:sp>
      <p:sp>
        <p:nvSpPr>
          <p:cNvPr id="1061" name="ZoneTexte 1060">
            <a:extLst>
              <a:ext uri="{FF2B5EF4-FFF2-40B4-BE49-F238E27FC236}">
                <a16:creationId xmlns:a16="http://schemas.microsoft.com/office/drawing/2014/main" id="{CD9D1AFE-B346-61A6-0A09-45E45202FADF}"/>
              </a:ext>
            </a:extLst>
          </p:cNvPr>
          <p:cNvSpPr txBox="1"/>
          <p:nvPr/>
        </p:nvSpPr>
        <p:spPr>
          <a:xfrm>
            <a:off x="327835" y="4548871"/>
            <a:ext cx="8655533" cy="432000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1075" name="Rectangle 1074">
            <a:extLst>
              <a:ext uri="{FF2B5EF4-FFF2-40B4-BE49-F238E27FC236}">
                <a16:creationId xmlns:a16="http://schemas.microsoft.com/office/drawing/2014/main" id="{E3E852DB-36EA-CBA1-43ED-E6DBE1375D1C}"/>
              </a:ext>
            </a:extLst>
          </p:cNvPr>
          <p:cNvSpPr/>
          <p:nvPr/>
        </p:nvSpPr>
        <p:spPr>
          <a:xfrm>
            <a:off x="1875993" y="1755257"/>
            <a:ext cx="7107375" cy="2241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/>
              <a:t>Connection au site TRACKDECHETS </a:t>
            </a:r>
            <a:r>
              <a:rPr lang="fr-FR" sz="900" dirty="0">
                <a:solidFill>
                  <a:srgbClr val="FFFF00"/>
                </a:solidFill>
              </a:rPr>
              <a:t>- https://trackdechets.beta.gouv.fr/</a:t>
            </a:r>
          </a:p>
        </p:txBody>
      </p:sp>
      <p:pic>
        <p:nvPicPr>
          <p:cNvPr id="1076" name="Image 1075">
            <a:extLst>
              <a:ext uri="{FF2B5EF4-FFF2-40B4-BE49-F238E27FC236}">
                <a16:creationId xmlns:a16="http://schemas.microsoft.com/office/drawing/2014/main" id="{DB04EAC4-5DF4-6C53-AE6E-CB0668A2D0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7812" y="1390637"/>
            <a:ext cx="1914525" cy="838200"/>
          </a:xfrm>
          <a:prstGeom prst="rect">
            <a:avLst/>
          </a:prstGeom>
        </p:spPr>
      </p:pic>
      <p:cxnSp>
        <p:nvCxnSpPr>
          <p:cNvPr id="1080" name="Connecteur : en angle 1079">
            <a:extLst>
              <a:ext uri="{FF2B5EF4-FFF2-40B4-BE49-F238E27FC236}">
                <a16:creationId xmlns:a16="http://schemas.microsoft.com/office/drawing/2014/main" id="{A52FB72A-7A95-55E4-8DB7-D0E9CF9E7C6E}"/>
              </a:ext>
            </a:extLst>
          </p:cNvPr>
          <p:cNvCxnSpPr>
            <a:cxnSpLocks/>
            <a:stCxn id="17" idx="2"/>
            <a:endCxn id="1075" idx="0"/>
          </p:cNvCxnSpPr>
          <p:nvPr/>
        </p:nvCxnSpPr>
        <p:spPr>
          <a:xfrm rot="5400000">
            <a:off x="5354968" y="1680543"/>
            <a:ext cx="149427" cy="12700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05444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7F5F79FD40890418D173EADE56663CE" ma:contentTypeVersion="8" ma:contentTypeDescription="Crée un document." ma:contentTypeScope="" ma:versionID="6361c47ca0a713baff89572b8e35f8af">
  <xsd:schema xmlns:xsd="http://www.w3.org/2001/XMLSchema" xmlns:xs="http://www.w3.org/2001/XMLSchema" xmlns:p="http://schemas.microsoft.com/office/2006/metadata/properties" xmlns:ns2="81d48b0f-3fcf-46b2-af19-5818eea7af79" xmlns:ns3="cf01652b-2804-432b-a929-7142549b4ccb" xmlns:ns4="5ca74ee1-336a-4c0a-9b47-8403515742a9" targetNamespace="http://schemas.microsoft.com/office/2006/metadata/properties" ma:root="true" ma:fieldsID="9ce5607aaf88b8d54c5bf006e163836d" ns2:_="" ns3:_="" ns4:_="">
    <xsd:import namespace="81d48b0f-3fcf-46b2-af19-5818eea7af79"/>
    <xsd:import namespace="cf01652b-2804-432b-a929-7142549b4ccb"/>
    <xsd:import namespace="5ca74ee1-336a-4c0a-9b47-8403515742a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lcf76f155ced4ddcb4097134ff3c332f" minOccurs="0"/>
                <xsd:element ref="ns4:TaxCatchAll" minOccurs="0"/>
                <xsd:element ref="ns3:MediaServiceObjectDetectorVersion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d48b0f-3fcf-46b2-af19-5818eea7af7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f01652b-2804-432b-a929-7142549b4ccb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11" nillable="true" ma:taxonomy="true" ma:internalName="lcf76f155ced4ddcb4097134ff3c332f" ma:taxonomyFieldName="MediaServiceImageTags" ma:displayName="Balises d’images" ma:readOnly="false" ma:fieldId="{5cf76f15-5ced-4ddc-b409-7134ff3c332f}" ma:taxonomyMulti="true" ma:sspId="c492c26d-c709-4b13-843e-cf74e547853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a74ee1-336a-4c0a-9b47-8403515742a9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0ff34835-9d0d-4e3b-80b2-37de30d0244c}" ma:internalName="TaxCatchAll" ma:showField="CatchAllData" ma:web="5ca74ee1-336a-4c0a-9b47-8403515742a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f01652b-2804-432b-a929-7142549b4ccb">
      <Terms xmlns="http://schemas.microsoft.com/office/infopath/2007/PartnerControls"/>
    </lcf76f155ced4ddcb4097134ff3c332f>
    <TaxCatchAll xmlns="5ca74ee1-336a-4c0a-9b47-8403515742a9" xsi:nil="true"/>
  </documentManagement>
</p:properties>
</file>

<file path=customXml/itemProps1.xml><?xml version="1.0" encoding="utf-8"?>
<ds:datastoreItem xmlns:ds="http://schemas.openxmlformats.org/officeDocument/2006/customXml" ds:itemID="{EF597735-552D-4E9E-93D0-085BEBC53994}"/>
</file>

<file path=customXml/itemProps2.xml><?xml version="1.0" encoding="utf-8"?>
<ds:datastoreItem xmlns:ds="http://schemas.openxmlformats.org/officeDocument/2006/customXml" ds:itemID="{DE61BE20-1D08-4BB6-9D47-4FA5979B2CF5}"/>
</file>

<file path=customXml/itemProps3.xml><?xml version="1.0" encoding="utf-8"?>
<ds:datastoreItem xmlns:ds="http://schemas.openxmlformats.org/officeDocument/2006/customXml" ds:itemID="{B63650EA-FDFB-473B-A536-C4A1C7F3E128}"/>
</file>

<file path=docProps/app.xml><?xml version="1.0" encoding="utf-8"?>
<Properties xmlns="http://schemas.openxmlformats.org/officeDocument/2006/extended-properties" xmlns:vt="http://schemas.openxmlformats.org/officeDocument/2006/docPropsVTypes">
  <Template>Environnement_Trame_EHS_portrait_2023</Template>
  <TotalTime>1855</TotalTime>
  <Words>817</Words>
  <Application>Microsoft Office PowerPoint</Application>
  <PresentationFormat>Grand écran</PresentationFormat>
  <Paragraphs>177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Thème Office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Galand, Stephanie</dc:creator>
  <cp:lastModifiedBy>GALAND, Stephanie</cp:lastModifiedBy>
  <cp:revision>10</cp:revision>
  <dcterms:created xsi:type="dcterms:W3CDTF">2022-11-16T11:44:11Z</dcterms:created>
  <dcterms:modified xsi:type="dcterms:W3CDTF">2023-08-24T16:36:55Z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85f6713-6d19-40ac-a071-63e831bc1e58_Enabled">
    <vt:lpwstr>true</vt:lpwstr>
  </property>
  <property fmtid="{D5CDD505-2E9C-101B-9397-08002B2CF9AE}" pid="3" name="MSIP_Label_b85f6713-6d19-40ac-a071-63e831bc1e58_SetDate">
    <vt:lpwstr>2022-11-16T11:44:11Z</vt:lpwstr>
  </property>
  <property fmtid="{D5CDD505-2E9C-101B-9397-08002B2CF9AE}" pid="4" name="MSIP_Label_b85f6713-6d19-40ac-a071-63e831bc1e58_Method">
    <vt:lpwstr>Standard</vt:lpwstr>
  </property>
  <property fmtid="{D5CDD505-2E9C-101B-9397-08002B2CF9AE}" pid="5" name="MSIP_Label_b85f6713-6d19-40ac-a071-63e831bc1e58_Name">
    <vt:lpwstr>Confidential - Low</vt:lpwstr>
  </property>
  <property fmtid="{D5CDD505-2E9C-101B-9397-08002B2CF9AE}" pid="6" name="MSIP_Label_b85f6713-6d19-40ac-a071-63e831bc1e58_SiteId">
    <vt:lpwstr>36839a65-7f3f-4bac-9ea4-f571f10a9a03</vt:lpwstr>
  </property>
  <property fmtid="{D5CDD505-2E9C-101B-9397-08002B2CF9AE}" pid="7" name="MSIP_Label_b85f6713-6d19-40ac-a071-63e831bc1e58_ActionId">
    <vt:lpwstr>a231d386-9cc6-4c11-a811-cc8c1c5b319c</vt:lpwstr>
  </property>
  <property fmtid="{D5CDD505-2E9C-101B-9397-08002B2CF9AE}" pid="8" name="MSIP_Label_b85f6713-6d19-40ac-a071-63e831bc1e58_ContentBits">
    <vt:lpwstr>0</vt:lpwstr>
  </property>
  <property fmtid="{D5CDD505-2E9C-101B-9397-08002B2CF9AE}" pid="9" name="MSIP_Label_defa4170-0d19-0005-0004-bc88714345d2_Enabled">
    <vt:lpwstr>true</vt:lpwstr>
  </property>
  <property fmtid="{D5CDD505-2E9C-101B-9397-08002B2CF9AE}" pid="10" name="MSIP_Label_defa4170-0d19-0005-0004-bc88714345d2_SetDate">
    <vt:lpwstr>2023-08-24T09:41:55Z</vt:lpwstr>
  </property>
  <property fmtid="{D5CDD505-2E9C-101B-9397-08002B2CF9AE}" pid="11" name="MSIP_Label_defa4170-0d19-0005-0004-bc88714345d2_Method">
    <vt:lpwstr>Standard</vt:lpwstr>
  </property>
  <property fmtid="{D5CDD505-2E9C-101B-9397-08002B2CF9AE}" pid="12" name="MSIP_Label_defa4170-0d19-0005-0004-bc88714345d2_Name">
    <vt:lpwstr>defa4170-0d19-0005-0004-bc88714345d2</vt:lpwstr>
  </property>
  <property fmtid="{D5CDD505-2E9C-101B-9397-08002B2CF9AE}" pid="13" name="MSIP_Label_defa4170-0d19-0005-0004-bc88714345d2_SiteId">
    <vt:lpwstr>47995fc2-1f56-47ce-9137-a87caef4be74</vt:lpwstr>
  </property>
  <property fmtid="{D5CDD505-2E9C-101B-9397-08002B2CF9AE}" pid="14" name="MSIP_Label_defa4170-0d19-0005-0004-bc88714345d2_ActionId">
    <vt:lpwstr>950223f9-6a54-44e0-b306-4e737991ce8a</vt:lpwstr>
  </property>
  <property fmtid="{D5CDD505-2E9C-101B-9397-08002B2CF9AE}" pid="15" name="MSIP_Label_defa4170-0d19-0005-0004-bc88714345d2_ContentBits">
    <vt:lpwstr>0</vt:lpwstr>
  </property>
  <property fmtid="{D5CDD505-2E9C-101B-9397-08002B2CF9AE}" pid="16" name="ContentTypeId">
    <vt:lpwstr>0x01010027F5F79FD40890418D173EADE56663CE</vt:lpwstr>
  </property>
</Properties>
</file>