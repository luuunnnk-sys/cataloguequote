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6858000" cy="9144000" type="screen4x3"/>
  <p:notesSz cx="6808788" cy="994092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72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A93236-288F-4FCB-9D7A-D8C2261D64F0}" v="3" dt="2023-07-25T11:40:39.8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1244" y="44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URRIER, Sabine" userId="9b9af6b4-8435-4d51-af89-6891e422aa41" providerId="ADAL" clId="{A3A93236-288F-4FCB-9D7A-D8C2261D64F0}"/>
    <pc:docChg chg="modSld">
      <pc:chgData name="FOURRIER, Sabine" userId="9b9af6b4-8435-4d51-af89-6891e422aa41" providerId="ADAL" clId="{A3A93236-288F-4FCB-9D7A-D8C2261D64F0}" dt="2023-07-25T11:40:39.898" v="2" actId="1076"/>
      <pc:docMkLst>
        <pc:docMk/>
      </pc:docMkLst>
      <pc:sldChg chg="modSp">
        <pc:chgData name="FOURRIER, Sabine" userId="9b9af6b4-8435-4d51-af89-6891e422aa41" providerId="ADAL" clId="{A3A93236-288F-4FCB-9D7A-D8C2261D64F0}" dt="2023-07-25T11:40:32.798" v="0" actId="1076"/>
        <pc:sldMkLst>
          <pc:docMk/>
          <pc:sldMk cId="3735264620" sldId="256"/>
        </pc:sldMkLst>
        <pc:spChg chg="mod">
          <ac:chgData name="FOURRIER, Sabine" userId="9b9af6b4-8435-4d51-af89-6891e422aa41" providerId="ADAL" clId="{A3A93236-288F-4FCB-9D7A-D8C2261D64F0}" dt="2023-07-25T11:40:32.798" v="0" actId="1076"/>
          <ac:spMkLst>
            <pc:docMk/>
            <pc:sldMk cId="3735264620" sldId="256"/>
            <ac:spMk id="35" creationId="{00000000-0000-0000-0000-000000000000}"/>
          </ac:spMkLst>
        </pc:spChg>
      </pc:sldChg>
      <pc:sldChg chg="addSp modSp">
        <pc:chgData name="FOURRIER, Sabine" userId="9b9af6b4-8435-4d51-af89-6891e422aa41" providerId="ADAL" clId="{A3A93236-288F-4FCB-9D7A-D8C2261D64F0}" dt="2023-07-25T11:40:39.898" v="2" actId="1076"/>
        <pc:sldMkLst>
          <pc:docMk/>
          <pc:sldMk cId="212518843" sldId="257"/>
        </pc:sldMkLst>
        <pc:spChg chg="add mod">
          <ac:chgData name="FOURRIER, Sabine" userId="9b9af6b4-8435-4d51-af89-6891e422aa41" providerId="ADAL" clId="{A3A93236-288F-4FCB-9D7A-D8C2261D64F0}" dt="2023-07-25T11:40:39.898" v="2" actId="1076"/>
          <ac:spMkLst>
            <pc:docMk/>
            <pc:sldMk cId="212518843" sldId="257"/>
            <ac:spMk id="2" creationId="{840CCBDF-C6B3-8315-5C26-2E85871E32E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475" cy="49877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6737" y="0"/>
            <a:ext cx="2950475" cy="49877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E2F5A3-ADE2-4EA1-B01C-886FB1D8E23D}" type="datetimeFigureOut">
              <a:rPr lang="fr-FR" smtClean="0"/>
              <a:t>25/07/2023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147888" y="1243013"/>
            <a:ext cx="2513012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0879" y="4784070"/>
            <a:ext cx="5447030" cy="3914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42154"/>
            <a:ext cx="2950475" cy="49877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6737" y="9442154"/>
            <a:ext cx="2950475" cy="49877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C3379A-4AE5-4AF3-9712-2CE8C3817C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5850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514350" y="3572074"/>
            <a:ext cx="5829300" cy="196003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  <a:endParaRPr lang="en-US" dirty="0"/>
          </a:p>
        </p:txBody>
      </p:sp>
      <p:grpSp>
        <p:nvGrpSpPr>
          <p:cNvPr id="2" name="Groupe 1"/>
          <p:cNvGrpSpPr/>
          <p:nvPr userDrawn="1"/>
        </p:nvGrpSpPr>
        <p:grpSpPr>
          <a:xfrm>
            <a:off x="9468" y="8532440"/>
            <a:ext cx="6854400" cy="529570"/>
            <a:chOff x="9468" y="8532440"/>
            <a:chExt cx="6854400" cy="529570"/>
          </a:xfrm>
        </p:grpSpPr>
        <p:sp>
          <p:nvSpPr>
            <p:cNvPr id="44" name="Rectangle 43"/>
            <p:cNvSpPr/>
            <p:nvPr/>
          </p:nvSpPr>
          <p:spPr>
            <a:xfrm>
              <a:off x="9468" y="8532440"/>
              <a:ext cx="6854400" cy="529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1" name="ZoneTexte 50"/>
            <p:cNvSpPr txBox="1"/>
            <p:nvPr/>
          </p:nvSpPr>
          <p:spPr>
            <a:xfrm>
              <a:off x="4797152" y="8609549"/>
              <a:ext cx="1841416" cy="447197"/>
            </a:xfrm>
            <a:prstGeom prst="rect">
              <a:avLst/>
            </a:prstGeom>
            <a:noFill/>
          </p:spPr>
          <p:txBody>
            <a:bodyPr wrap="square" lIns="77111" tIns="38556" rIns="77111" bIns="38556" rtlCol="0">
              <a:spAutoFit/>
            </a:bodyPr>
            <a:lstStyle/>
            <a:p>
              <a:r>
                <a:rPr lang="fr-FR" sz="800" i="1" dirty="0">
                  <a:latin typeface="Calibri" panose="020F0502020204030204" pitchFamily="34" charset="0"/>
                </a:rPr>
                <a:t>Ce document est confidentiel. Toute reproduction, même partielle est interdite.</a:t>
              </a:r>
            </a:p>
          </p:txBody>
        </p:sp>
      </p:grpSp>
      <p:sp>
        <p:nvSpPr>
          <p:cNvPr id="31" name="Rectangle 30"/>
          <p:cNvSpPr/>
          <p:nvPr userDrawn="1"/>
        </p:nvSpPr>
        <p:spPr>
          <a:xfrm rot="21336737">
            <a:off x="6034285" y="721175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35980326-3067-41E5-BBD2-1336713CC0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733" y="8718279"/>
            <a:ext cx="4491120" cy="257798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CFE8D27C-5622-4565-962F-E8179D5BE6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704" y="102355"/>
            <a:ext cx="427885" cy="288000"/>
          </a:xfrm>
          <a:prstGeom prst="rect">
            <a:avLst/>
          </a:prstGeom>
        </p:spPr>
      </p:pic>
      <p:grpSp>
        <p:nvGrpSpPr>
          <p:cNvPr id="23" name="Groupe 22">
            <a:extLst>
              <a:ext uri="{FF2B5EF4-FFF2-40B4-BE49-F238E27FC236}">
                <a16:creationId xmlns:a16="http://schemas.microsoft.com/office/drawing/2014/main" id="{6B9B6EAF-3F2C-45E7-8F12-7DB178680A09}"/>
              </a:ext>
            </a:extLst>
          </p:cNvPr>
          <p:cNvGrpSpPr/>
          <p:nvPr userDrawn="1"/>
        </p:nvGrpSpPr>
        <p:grpSpPr>
          <a:xfrm>
            <a:off x="-10646" y="8677700"/>
            <a:ext cx="6854400" cy="504857"/>
            <a:chOff x="9468" y="8532440"/>
            <a:chExt cx="6854400" cy="67514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D1D95C9-F3AF-4A06-8B0D-81971265B7D2}"/>
                </a:ext>
              </a:extLst>
            </p:cNvPr>
            <p:cNvSpPr/>
            <p:nvPr/>
          </p:nvSpPr>
          <p:spPr>
            <a:xfrm>
              <a:off x="9468" y="8532440"/>
              <a:ext cx="6854400" cy="529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A8994E67-B47C-4CA8-B3EF-8E8ABF4B14B4}"/>
                </a:ext>
              </a:extLst>
            </p:cNvPr>
            <p:cNvSpPr txBox="1"/>
            <p:nvPr/>
          </p:nvSpPr>
          <p:spPr>
            <a:xfrm>
              <a:off x="4797152" y="8609549"/>
              <a:ext cx="1841416" cy="598036"/>
            </a:xfrm>
            <a:prstGeom prst="rect">
              <a:avLst/>
            </a:prstGeom>
            <a:noFill/>
          </p:spPr>
          <p:txBody>
            <a:bodyPr wrap="square" lIns="77111" tIns="38556" rIns="77111" bIns="38556" rtlCol="0">
              <a:spAutoFit/>
            </a:bodyPr>
            <a:lstStyle/>
            <a:p>
              <a:r>
                <a:rPr lang="fr-FR" sz="800" i="1" dirty="0">
                  <a:latin typeface="Calibri" panose="020F0502020204030204" pitchFamily="34" charset="0"/>
                </a:rPr>
                <a:t>Ce document est confidentiel. Toute reproduction, même partielle est interdite.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E179ACB5-C865-4D9A-8FDA-ADE33AD7FBF9}"/>
              </a:ext>
            </a:extLst>
          </p:cNvPr>
          <p:cNvSpPr/>
          <p:nvPr userDrawn="1"/>
        </p:nvSpPr>
        <p:spPr>
          <a:xfrm rot="21336737">
            <a:off x="5707739" y="92469"/>
            <a:ext cx="12153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Sécurité</a:t>
            </a:r>
            <a:r>
              <a:rPr kumimoji="0" lang="fr-FR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29D4E278-0557-4C0C-B8CE-EF6F8F169CA5}"/>
              </a:ext>
            </a:extLst>
          </p:cNvPr>
          <p:cNvCxnSpPr>
            <a:cxnSpLocks/>
          </p:cNvCxnSpPr>
          <p:nvPr userDrawn="1"/>
        </p:nvCxnSpPr>
        <p:spPr>
          <a:xfrm>
            <a:off x="0" y="567272"/>
            <a:ext cx="6843754" cy="0"/>
          </a:xfrm>
          <a:prstGeom prst="line">
            <a:avLst/>
          </a:prstGeom>
          <a:ln w="28575">
            <a:solidFill>
              <a:srgbClr val="9537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rganigramme : Processus 39">
            <a:extLst>
              <a:ext uri="{FF2B5EF4-FFF2-40B4-BE49-F238E27FC236}">
                <a16:creationId xmlns:a16="http://schemas.microsoft.com/office/drawing/2014/main" id="{A1CDF52D-E36F-4312-8095-1557FFCA0594}"/>
              </a:ext>
            </a:extLst>
          </p:cNvPr>
          <p:cNvSpPr/>
          <p:nvPr userDrawn="1"/>
        </p:nvSpPr>
        <p:spPr>
          <a:xfrm>
            <a:off x="44625" y="36003"/>
            <a:ext cx="1589723" cy="451067"/>
          </a:xfrm>
          <a:prstGeom prst="flowChartProcess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737C707D-FD8D-4441-A408-4CEBCB96FC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1022" y="8828092"/>
            <a:ext cx="3277979" cy="188163"/>
          </a:xfrm>
          <a:prstGeom prst="rect">
            <a:avLst/>
          </a:prstGeom>
        </p:spPr>
      </p:pic>
      <p:pic>
        <p:nvPicPr>
          <p:cNvPr id="43" name="Image 42">
            <a:extLst>
              <a:ext uri="{FF2B5EF4-FFF2-40B4-BE49-F238E27FC236}">
                <a16:creationId xmlns:a16="http://schemas.microsoft.com/office/drawing/2014/main" id="{D1D3F5EE-6204-41F9-B559-C3C8085FB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704" y="102355"/>
            <a:ext cx="427885" cy="288000"/>
          </a:xfrm>
          <a:prstGeom prst="rect">
            <a:avLst/>
          </a:prstGeom>
        </p:spPr>
      </p:pic>
      <p:grpSp>
        <p:nvGrpSpPr>
          <p:cNvPr id="45" name="Groupe 44">
            <a:extLst>
              <a:ext uri="{FF2B5EF4-FFF2-40B4-BE49-F238E27FC236}">
                <a16:creationId xmlns:a16="http://schemas.microsoft.com/office/drawing/2014/main" id="{6B395DCB-D6AB-45F2-BB31-5C41AD467446}"/>
              </a:ext>
            </a:extLst>
          </p:cNvPr>
          <p:cNvGrpSpPr/>
          <p:nvPr userDrawn="1"/>
        </p:nvGrpSpPr>
        <p:grpSpPr>
          <a:xfrm>
            <a:off x="205424" y="-7667"/>
            <a:ext cx="1268125" cy="523221"/>
            <a:chOff x="225461" y="-7666"/>
            <a:chExt cx="1268125" cy="523219"/>
          </a:xfrm>
        </p:grpSpPr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21E96C58-E426-4D79-B08D-9FE2F2705B54}"/>
                </a:ext>
              </a:extLst>
            </p:cNvPr>
            <p:cNvSpPr txBox="1"/>
            <p:nvPr userDrawn="1"/>
          </p:nvSpPr>
          <p:spPr>
            <a:xfrm>
              <a:off x="225461" y="-7666"/>
              <a:ext cx="383170" cy="523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0B9E9B5F-B91E-43EB-9272-4E4B505FA96B}"/>
                </a:ext>
              </a:extLst>
            </p:cNvPr>
            <p:cNvSpPr txBox="1"/>
            <p:nvPr userDrawn="1"/>
          </p:nvSpPr>
          <p:spPr>
            <a:xfrm>
              <a:off x="667937" y="-7666"/>
              <a:ext cx="383171" cy="523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H</a:t>
              </a:r>
            </a:p>
          </p:txBody>
        </p:sp>
        <p:cxnSp>
          <p:nvCxnSpPr>
            <p:cNvPr id="48" name="Connecteur droit 47">
              <a:extLst>
                <a:ext uri="{FF2B5EF4-FFF2-40B4-BE49-F238E27FC236}">
                  <a16:creationId xmlns:a16="http://schemas.microsoft.com/office/drawing/2014/main" id="{DFBE9F78-9DB2-4A6E-AB35-EE1CD42F2F21}"/>
                </a:ext>
              </a:extLst>
            </p:cNvPr>
            <p:cNvCxnSpPr/>
            <p:nvPr userDrawn="1"/>
          </p:nvCxnSpPr>
          <p:spPr>
            <a:xfrm>
              <a:off x="638284" y="102354"/>
              <a:ext cx="0" cy="28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D9194FA2-A407-403B-86D8-037432C06E32}"/>
                </a:ext>
              </a:extLst>
            </p:cNvPr>
            <p:cNvCxnSpPr/>
            <p:nvPr userDrawn="1"/>
          </p:nvCxnSpPr>
          <p:spPr>
            <a:xfrm>
              <a:off x="1080761" y="102354"/>
              <a:ext cx="0" cy="28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3159E0BF-BEAD-4547-8D19-A2BA0AE05D30}"/>
                </a:ext>
              </a:extLst>
            </p:cNvPr>
            <p:cNvSpPr txBox="1"/>
            <p:nvPr userDrawn="1"/>
          </p:nvSpPr>
          <p:spPr>
            <a:xfrm>
              <a:off x="1110415" y="-7666"/>
              <a:ext cx="383171" cy="523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S</a:t>
              </a: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7A0E3DD9-E54C-4D8F-AA99-BE5626F96596}"/>
              </a:ext>
            </a:extLst>
          </p:cNvPr>
          <p:cNvSpPr/>
          <p:nvPr userDrawn="1"/>
        </p:nvSpPr>
        <p:spPr>
          <a:xfrm rot="21336737">
            <a:off x="5860139" y="244869"/>
            <a:ext cx="12153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Sécurité</a:t>
            </a:r>
            <a:r>
              <a:rPr kumimoji="0" lang="fr-FR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185C4D3-9AF1-4D41-A083-97EF9D2445FA}"/>
              </a:ext>
            </a:extLst>
          </p:cNvPr>
          <p:cNvSpPr/>
          <p:nvPr userDrawn="1"/>
        </p:nvSpPr>
        <p:spPr>
          <a:xfrm rot="21419042">
            <a:off x="5528528" y="201837"/>
            <a:ext cx="1260000" cy="162000"/>
          </a:xfrm>
          <a:prstGeom prst="rect">
            <a:avLst/>
          </a:prstGeom>
          <a:solidFill>
            <a:srgbClr val="9537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0389028-1865-448C-9A1F-E812A4944283}"/>
              </a:ext>
            </a:extLst>
          </p:cNvPr>
          <p:cNvSpPr/>
          <p:nvPr userDrawn="1"/>
        </p:nvSpPr>
        <p:spPr>
          <a:xfrm rot="21336737">
            <a:off x="5655902" y="98987"/>
            <a:ext cx="12153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Sécurité</a:t>
            </a:r>
            <a:r>
              <a:rPr kumimoji="0" lang="fr-FR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42900" y="2133601"/>
            <a:ext cx="6172200" cy="6034617"/>
          </a:xfrm>
        </p:spPr>
        <p:txBody>
          <a:bodyPr/>
          <a:lstStyle>
            <a:lvl1pPr>
              <a:defRPr sz="2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  <a:lvl2pPr marL="742950" indent="-2857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buClr>
                <a:schemeClr val="accent2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buClr>
                <a:schemeClr val="accent2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buClr>
                <a:schemeClr val="accent2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231178" y="8622284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71670"/>
            <a:ext cx="6172200" cy="851925"/>
          </a:xfrm>
        </p:spPr>
        <p:txBody>
          <a:bodyPr>
            <a:normAutofit/>
          </a:bodyPr>
          <a:lstStyle>
            <a:lvl1pPr>
              <a:defRPr sz="22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12" name="Organigramme : Processus 11"/>
          <p:cNvSpPr/>
          <p:nvPr userDrawn="1"/>
        </p:nvSpPr>
        <p:spPr>
          <a:xfrm>
            <a:off x="-1745" y="1187624"/>
            <a:ext cx="6858000" cy="216024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 rot="21419042">
            <a:off x="4984400" y="1224801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 userDrawn="1"/>
        </p:nvSpPr>
        <p:spPr>
          <a:xfrm rot="21336737">
            <a:off x="6034285" y="1174739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514350" y="3572074"/>
            <a:ext cx="5829300" cy="196003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  <a:endParaRPr lang="en-US" dirty="0"/>
          </a:p>
        </p:txBody>
      </p:sp>
      <p:sp>
        <p:nvSpPr>
          <p:cNvPr id="9" name="Organigramme : Processus 8"/>
          <p:cNvSpPr/>
          <p:nvPr userDrawn="1"/>
        </p:nvSpPr>
        <p:spPr>
          <a:xfrm>
            <a:off x="-1745" y="1187624"/>
            <a:ext cx="6858000" cy="216024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rot="21419042">
            <a:off x="4984400" y="1224801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 userDrawn="1"/>
        </p:nvSpPr>
        <p:spPr>
          <a:xfrm rot="21336737">
            <a:off x="6034285" y="1174739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245976" y="8640298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24995"/>
            <a:ext cx="6172200" cy="851925"/>
          </a:xfrm>
        </p:spPr>
        <p:txBody>
          <a:bodyPr>
            <a:normAutofit/>
          </a:bodyPr>
          <a:lstStyle>
            <a:lvl1pPr>
              <a:defRPr sz="22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9" name="Organigramme : Processus 8"/>
          <p:cNvSpPr/>
          <p:nvPr userDrawn="1"/>
        </p:nvSpPr>
        <p:spPr>
          <a:xfrm>
            <a:off x="-1745" y="1187624"/>
            <a:ext cx="6858000" cy="216024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rot="21419042">
            <a:off x="4984400" y="1224801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 userDrawn="1"/>
        </p:nvSpPr>
        <p:spPr>
          <a:xfrm rot="21336737">
            <a:off x="6034285" y="1174739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245976" y="8628370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092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25/07/2023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6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jpe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jpe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jpe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10" Type="http://schemas.openxmlformats.org/officeDocument/2006/relationships/image" Target="../media/image30.jpeg"/><Relationship Id="rId4" Type="http://schemas.openxmlformats.org/officeDocument/2006/relationships/image" Target="../media/image24.png"/><Relationship Id="rId9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eau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501213"/>
              </p:ext>
            </p:extLst>
          </p:nvPr>
        </p:nvGraphicFramePr>
        <p:xfrm>
          <a:off x="205187" y="6027548"/>
          <a:ext cx="6536181" cy="22516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7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60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449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04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Espace réservé du contenu 1"/>
          <p:cNvSpPr txBox="1">
            <a:spLocks/>
          </p:cNvSpPr>
          <p:nvPr/>
        </p:nvSpPr>
        <p:spPr>
          <a:xfrm>
            <a:off x="176677" y="4499992"/>
            <a:ext cx="6561989" cy="143318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–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»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fr-FR" sz="1000" dirty="0">
                <a:solidFill>
                  <a:schemeClr val="tx1"/>
                </a:solidFill>
              </a:rPr>
              <a:t>Certaines lésions musculo-squelettiques sont liées aux activités de manutention manuelle. </a:t>
            </a:r>
          </a:p>
          <a:p>
            <a:pPr marL="0" indent="0" algn="just">
              <a:buNone/>
            </a:pPr>
            <a:r>
              <a:rPr lang="fr-FR" sz="1000" dirty="0">
                <a:solidFill>
                  <a:schemeClr val="tx1"/>
                </a:solidFill>
              </a:rPr>
              <a:t>Voici quelques exercices d’échauffements afin de diminuer le risque de blessures en préparant le corps à l’effort et ainsi soulager les articulations et les muscles. </a:t>
            </a:r>
          </a:p>
          <a:p>
            <a:pPr marL="0" indent="0" algn="just" fontAlgn="base">
              <a:spcBef>
                <a:spcPts val="600"/>
              </a:spcBef>
              <a:buNone/>
            </a:pPr>
            <a:r>
              <a:rPr lang="fr-FR" sz="1000" b="1" dirty="0">
                <a:solidFill>
                  <a:schemeClr val="tx1"/>
                </a:solidFill>
              </a:rPr>
              <a:t>	</a:t>
            </a:r>
            <a:r>
              <a:rPr lang="fr-FR" sz="1000" b="1" dirty="0">
                <a:solidFill>
                  <a:schemeClr val="tx2">
                    <a:lumMod val="75000"/>
                  </a:schemeClr>
                </a:solidFill>
              </a:rPr>
              <a:t>Durée total </a:t>
            </a:r>
            <a:r>
              <a:rPr lang="fr-FR" sz="1000" dirty="0">
                <a:solidFill>
                  <a:schemeClr val="tx2">
                    <a:lumMod val="75000"/>
                  </a:schemeClr>
                </a:solidFill>
              </a:rPr>
              <a:t>: de 5 à 10 minutes </a:t>
            </a:r>
            <a:r>
              <a:rPr lang="fr-FR" sz="1000" dirty="0">
                <a:solidFill>
                  <a:schemeClr val="tx1"/>
                </a:solidFill>
              </a:rPr>
              <a:t>		</a:t>
            </a:r>
            <a:r>
              <a:rPr lang="fr-FR" sz="1000" b="1" dirty="0"/>
              <a:t>Durée par exercice </a:t>
            </a:r>
            <a:r>
              <a:rPr lang="fr-FR" sz="1000" dirty="0"/>
              <a:t>:  de 10 à 20 secondes </a:t>
            </a:r>
          </a:p>
          <a:p>
            <a:pPr marL="0" indent="0" algn="just" fontAlgn="base">
              <a:buNone/>
            </a:pPr>
            <a:r>
              <a:rPr lang="fr-FR" sz="1000" dirty="0">
                <a:solidFill>
                  <a:schemeClr val="tx1"/>
                </a:solidFill>
              </a:rPr>
              <a:t>		</a:t>
            </a:r>
            <a:r>
              <a:rPr lang="fr-FR" sz="1000" b="1" dirty="0">
                <a:solidFill>
                  <a:schemeClr val="accent3">
                    <a:lumMod val="50000"/>
                  </a:schemeClr>
                </a:solidFill>
              </a:rPr>
              <a:t>Quand </a:t>
            </a:r>
            <a:r>
              <a:rPr lang="fr-FR" sz="1000" dirty="0">
                <a:solidFill>
                  <a:schemeClr val="accent3">
                    <a:lumMod val="50000"/>
                  </a:schemeClr>
                </a:solidFill>
              </a:rPr>
              <a:t>: avant d’initier l’activité professionnelle manutention manuelle</a:t>
            </a:r>
            <a:endParaRPr lang="fr-FR" sz="1000" b="1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 algn="ctr" fontAlgn="base">
              <a:buNone/>
            </a:pPr>
            <a:endParaRPr lang="fr-FR" sz="1000" b="1" dirty="0">
              <a:solidFill>
                <a:schemeClr val="tx1"/>
              </a:solidFill>
            </a:endParaRPr>
          </a:p>
          <a:p>
            <a:pPr marL="0" indent="0" algn="ctr" fontAlgn="base">
              <a:buNone/>
            </a:pPr>
            <a:r>
              <a:rPr lang="fr-FR" sz="1000" b="1" dirty="0">
                <a:solidFill>
                  <a:schemeClr val="tx1"/>
                </a:solidFill>
              </a:rPr>
              <a:t>A réaliser lentement, sans forcer, de façon progressive, sans chercher les amplitudes maximales.</a:t>
            </a:r>
          </a:p>
          <a:p>
            <a:pPr lvl="2" fontAlgn="base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8226" y="4259878"/>
            <a:ext cx="6565751" cy="23683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fr-FR" sz="1400" b="1" dirty="0">
                <a:solidFill>
                  <a:schemeClr val="bg1"/>
                </a:solidFill>
              </a:rPr>
              <a:t>2/ Avant de commencer : s’échauffer pour bien travailler !</a:t>
            </a:r>
          </a:p>
        </p:txBody>
      </p:sp>
      <p:sp>
        <p:nvSpPr>
          <p:cNvPr id="7" name="Espace réservé du contenu 1"/>
          <p:cNvSpPr txBox="1">
            <a:spLocks/>
          </p:cNvSpPr>
          <p:nvPr/>
        </p:nvSpPr>
        <p:spPr>
          <a:xfrm>
            <a:off x="910151" y="6011837"/>
            <a:ext cx="3087662" cy="6644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fr-FR" sz="1000" b="1" dirty="0"/>
              <a:t>Etape 1 : Cou </a:t>
            </a:r>
          </a:p>
          <a:p>
            <a:pPr algn="just">
              <a:spcBef>
                <a:spcPts val="0"/>
              </a:spcBef>
            </a:pPr>
            <a:r>
              <a:rPr lang="fr-FR" sz="1000" dirty="0"/>
              <a:t>Debout, jambes tendues, pieds à la largeur des épaules et bras pendants. Rotation de la tête à gauche puis à droite.</a:t>
            </a:r>
          </a:p>
        </p:txBody>
      </p:sp>
      <p:sp>
        <p:nvSpPr>
          <p:cNvPr id="8" name="Espace réservé du contenu 1"/>
          <p:cNvSpPr txBox="1">
            <a:spLocks/>
          </p:cNvSpPr>
          <p:nvPr/>
        </p:nvSpPr>
        <p:spPr>
          <a:xfrm>
            <a:off x="4044574" y="6077189"/>
            <a:ext cx="2019240" cy="5593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–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»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fr-FR" sz="1100" b="1" dirty="0">
                <a:solidFill>
                  <a:schemeClr val="tx1"/>
                </a:solidFill>
              </a:rPr>
              <a:t>Etape 5 : Poignets</a:t>
            </a:r>
          </a:p>
          <a:p>
            <a:pPr marL="0" indent="0" algn="just">
              <a:buNone/>
            </a:pPr>
            <a:r>
              <a:rPr lang="fr-FR" sz="1100" dirty="0">
                <a:solidFill>
                  <a:schemeClr val="tx1"/>
                </a:solidFill>
              </a:rPr>
              <a:t>Doigts entremêlés, faire 5 rotations de chaque côté.</a:t>
            </a:r>
          </a:p>
        </p:txBody>
      </p:sp>
      <p:sp>
        <p:nvSpPr>
          <p:cNvPr id="9" name="Espace réservé du contenu 1"/>
          <p:cNvSpPr txBox="1">
            <a:spLocks/>
          </p:cNvSpPr>
          <p:nvPr/>
        </p:nvSpPr>
        <p:spPr>
          <a:xfrm>
            <a:off x="885503" y="6653253"/>
            <a:ext cx="3112310" cy="5176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–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»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fr-FR" sz="1000" b="1" dirty="0">
                <a:solidFill>
                  <a:schemeClr val="tx1"/>
                </a:solidFill>
              </a:rPr>
              <a:t>Etape 2 : Haut du dos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Bras étirés au-dessus de la tête puis effectuer lentement des petits mouvements latéraux.</a:t>
            </a:r>
          </a:p>
        </p:txBody>
      </p:sp>
      <p:sp>
        <p:nvSpPr>
          <p:cNvPr id="10" name="Espace réservé du contenu 1"/>
          <p:cNvSpPr txBox="1">
            <a:spLocks/>
          </p:cNvSpPr>
          <p:nvPr/>
        </p:nvSpPr>
        <p:spPr>
          <a:xfrm>
            <a:off x="4044574" y="6721072"/>
            <a:ext cx="2044618" cy="5082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–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»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fr-FR" sz="1100" b="1" dirty="0">
                <a:solidFill>
                  <a:schemeClr val="tx1"/>
                </a:solidFill>
              </a:rPr>
              <a:t>Etape 6 : Cuisses et fessiers</a:t>
            </a:r>
          </a:p>
          <a:p>
            <a:pPr marL="0" indent="0" algn="just">
              <a:buNone/>
            </a:pPr>
            <a:r>
              <a:rPr lang="fr-FR" sz="1100" dirty="0">
                <a:solidFill>
                  <a:schemeClr val="tx1"/>
                </a:solidFill>
              </a:rPr>
              <a:t>Dos droit, bras en avant, talons au sol, petites flexions des genoux.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clrChange>
              <a:clrFrom>
                <a:srgbClr val="E6E7E9"/>
              </a:clrFrom>
              <a:clrTo>
                <a:srgbClr val="E6E7E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67141" y="6744080"/>
            <a:ext cx="512121" cy="413229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3">
            <a:clrChange>
              <a:clrFrom>
                <a:srgbClr val="E6E7E9"/>
              </a:clrFrom>
              <a:clrTo>
                <a:srgbClr val="E6E7E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5187" y="7301325"/>
            <a:ext cx="658203" cy="449572"/>
          </a:xfrm>
          <a:prstGeom prst="rect">
            <a:avLst/>
          </a:prstGeom>
        </p:spPr>
      </p:pic>
      <p:sp>
        <p:nvSpPr>
          <p:cNvPr id="13" name="Espace réservé du contenu 1"/>
          <p:cNvSpPr txBox="1">
            <a:spLocks/>
          </p:cNvSpPr>
          <p:nvPr/>
        </p:nvSpPr>
        <p:spPr>
          <a:xfrm>
            <a:off x="904501" y="7185569"/>
            <a:ext cx="3129297" cy="6367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–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»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fr-FR" sz="1100" b="1" dirty="0">
                <a:solidFill>
                  <a:schemeClr val="tx1"/>
                </a:solidFill>
              </a:rPr>
              <a:t>Etape 3 : Bas du dos </a:t>
            </a:r>
          </a:p>
          <a:p>
            <a:pPr marL="0" indent="0" algn="just">
              <a:buNone/>
            </a:pPr>
            <a:r>
              <a:rPr lang="fr-FR" sz="1100" dirty="0">
                <a:solidFill>
                  <a:schemeClr val="tx1"/>
                </a:solidFill>
              </a:rPr>
              <a:t>Jambes immobiles et pieds au même largeur que le bassin. Rotation du buste de gauche à droite, puis incliner le tronc de chaque côté.</a:t>
            </a:r>
          </a:p>
        </p:txBody>
      </p:sp>
      <p:sp>
        <p:nvSpPr>
          <p:cNvPr id="14" name="Espace réservé du contenu 1"/>
          <p:cNvSpPr txBox="1">
            <a:spLocks/>
          </p:cNvSpPr>
          <p:nvPr/>
        </p:nvSpPr>
        <p:spPr>
          <a:xfrm>
            <a:off x="4044602" y="7229317"/>
            <a:ext cx="2029544" cy="53996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–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»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  <a:tabLst>
                <a:tab pos="177800" algn="l"/>
                <a:tab pos="444500" algn="l"/>
              </a:tabLst>
            </a:pPr>
            <a:r>
              <a:rPr lang="fr-FR" sz="1100" b="1" dirty="0">
                <a:solidFill>
                  <a:schemeClr val="tx1"/>
                </a:solidFill>
              </a:rPr>
              <a:t>Etape 7 : Chevilles et genoux</a:t>
            </a:r>
          </a:p>
          <a:p>
            <a:pPr marL="0" indent="0" algn="just">
              <a:buNone/>
              <a:tabLst>
                <a:tab pos="177800" algn="l"/>
                <a:tab pos="444500" algn="l"/>
              </a:tabLst>
            </a:pPr>
            <a:r>
              <a:rPr lang="fr-FR" sz="1100" dirty="0">
                <a:solidFill>
                  <a:schemeClr val="tx1"/>
                </a:solidFill>
              </a:rPr>
              <a:t>Réaliser 10 cercles avec les chevilles, puis les genoux.</a:t>
            </a:r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>
          <a:blip r:embed="rId4">
            <a:clrChange>
              <a:clrFrom>
                <a:srgbClr val="E6E7E9"/>
              </a:clrFrom>
              <a:clrTo>
                <a:srgbClr val="E6E7E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0499" y="6077189"/>
            <a:ext cx="339147" cy="544690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E6E7E9"/>
              </a:clrFrom>
              <a:clrTo>
                <a:srgbClr val="E6E7E9">
                  <a:alpha val="0"/>
                </a:srgbClr>
              </a:clrTo>
            </a:clrChange>
          </a:blip>
          <a:srcRect b="1530"/>
          <a:stretch/>
        </p:blipFill>
        <p:spPr>
          <a:xfrm>
            <a:off x="360078" y="6721071"/>
            <a:ext cx="445740" cy="436237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6">
            <a:clrChange>
              <a:clrFrom>
                <a:srgbClr val="E6E7E9"/>
              </a:clrFrom>
              <a:clrTo>
                <a:srgbClr val="E6E7E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54389" y="6149197"/>
            <a:ext cx="508362" cy="454414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7">
            <a:clrChange>
              <a:clrFrom>
                <a:srgbClr val="E6E7E9"/>
              </a:clrFrom>
              <a:clrTo>
                <a:srgbClr val="E6E7E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09843" y="7260107"/>
            <a:ext cx="588060" cy="473266"/>
          </a:xfrm>
          <a:prstGeom prst="rect">
            <a:avLst/>
          </a:prstGeom>
        </p:spPr>
      </p:pic>
      <p:sp>
        <p:nvSpPr>
          <p:cNvPr id="21" name="Espace réservé du contenu 1"/>
          <p:cNvSpPr txBox="1">
            <a:spLocks/>
          </p:cNvSpPr>
          <p:nvPr/>
        </p:nvSpPr>
        <p:spPr>
          <a:xfrm>
            <a:off x="891476" y="7773141"/>
            <a:ext cx="3080651" cy="5432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–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»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fr-FR" sz="1000" b="1" dirty="0">
                <a:solidFill>
                  <a:schemeClr val="tx1"/>
                </a:solidFill>
              </a:rPr>
              <a:t>Etape 4 : Epaules et bras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Monter les épaules et effectuer des rotations dans un sens puis dans l'autre. Faire de même avec les bras. </a:t>
            </a:r>
          </a:p>
        </p:txBody>
      </p:sp>
      <p:sp>
        <p:nvSpPr>
          <p:cNvPr id="22" name="Espace réservé du contenu 1"/>
          <p:cNvSpPr txBox="1">
            <a:spLocks/>
          </p:cNvSpPr>
          <p:nvPr/>
        </p:nvSpPr>
        <p:spPr>
          <a:xfrm>
            <a:off x="4044574" y="7805381"/>
            <a:ext cx="2003662" cy="49057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–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»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fr-FR" sz="1100" b="1" dirty="0">
                <a:solidFill>
                  <a:schemeClr val="tx1"/>
                </a:solidFill>
              </a:rPr>
              <a:t>Etape 8 : Hanches</a:t>
            </a:r>
          </a:p>
          <a:p>
            <a:pPr marL="0" indent="0" algn="just">
              <a:buNone/>
            </a:pPr>
            <a:r>
              <a:rPr lang="fr-FR" sz="1100" dirty="0">
                <a:solidFill>
                  <a:schemeClr val="tx1"/>
                </a:solidFill>
              </a:rPr>
              <a:t>Rotation des hanches dans un sens puis dans l’autre. </a:t>
            </a:r>
          </a:p>
        </p:txBody>
      </p:sp>
      <p:pic>
        <p:nvPicPr>
          <p:cNvPr id="23" name="Image 22"/>
          <p:cNvPicPr>
            <a:picLocks noChangeAspect="1"/>
          </p:cNvPicPr>
          <p:nvPr/>
        </p:nvPicPr>
        <p:blipFill>
          <a:blip r:embed="rId8">
            <a:clrChange>
              <a:clrFrom>
                <a:srgbClr val="E6E7E9"/>
              </a:clrFrom>
              <a:clrTo>
                <a:srgbClr val="E6E7E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5233" y="7790581"/>
            <a:ext cx="625168" cy="472935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E6E7E9"/>
              </a:clrFrom>
              <a:clrTo>
                <a:srgbClr val="E6E7E9">
                  <a:alpha val="0"/>
                </a:srgbClr>
              </a:clrTo>
            </a:clrChange>
          </a:blip>
          <a:srcRect r="16401"/>
          <a:stretch/>
        </p:blipFill>
        <p:spPr>
          <a:xfrm>
            <a:off x="6248398" y="7812037"/>
            <a:ext cx="293493" cy="460291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75692" y="1315257"/>
            <a:ext cx="6565751" cy="18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fr-FR" sz="1400" b="1" dirty="0">
                <a:solidFill>
                  <a:schemeClr val="bg1"/>
                </a:solidFill>
              </a:rPr>
              <a:t>Objet</a:t>
            </a:r>
          </a:p>
        </p:txBody>
      </p:sp>
      <p:sp>
        <p:nvSpPr>
          <p:cNvPr id="31" name="Titre 2"/>
          <p:cNvSpPr txBox="1">
            <a:spLocks/>
          </p:cNvSpPr>
          <p:nvPr/>
        </p:nvSpPr>
        <p:spPr>
          <a:xfrm>
            <a:off x="2059729" y="38127"/>
            <a:ext cx="4500735" cy="4118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800" dirty="0"/>
              <a:t>Fiche pratique – </a:t>
            </a:r>
          </a:p>
          <a:p>
            <a:pPr algn="l"/>
            <a:r>
              <a:rPr lang="fr-FR" sz="1800" dirty="0"/>
              <a:t>Manutention des charges lourdes</a:t>
            </a:r>
          </a:p>
        </p:txBody>
      </p:sp>
      <p:sp>
        <p:nvSpPr>
          <p:cNvPr id="32" name="Espace réservé du contenu 1"/>
          <p:cNvSpPr txBox="1">
            <a:spLocks/>
          </p:cNvSpPr>
          <p:nvPr/>
        </p:nvSpPr>
        <p:spPr>
          <a:xfrm>
            <a:off x="179454" y="1495257"/>
            <a:ext cx="5868782" cy="132660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–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»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71114" eaLnBrk="0" fontAlgn="base" hangingPunct="0">
              <a:spcBef>
                <a:spcPct val="0"/>
              </a:spcBef>
              <a:spcAft>
                <a:spcPct val="0"/>
              </a:spcAft>
              <a:buNone/>
              <a:tabLst>
                <a:tab pos="192778" algn="r"/>
              </a:tabLst>
            </a:pPr>
            <a:r>
              <a:rPr lang="fr-FR" altLang="fr-FR" sz="900" dirty="0">
                <a:solidFill>
                  <a:schemeClr val="tx1"/>
                </a:solidFill>
              </a:rPr>
              <a:t>Tous les métiers sont exposés au port de charges, même minime. Ce mode opératoire rappelle les règles indispensables de sécurité à appliquer lors de la manutention d’une charge.</a:t>
            </a:r>
          </a:p>
          <a:p>
            <a:pPr marL="0" indent="0" defTabSz="771114" eaLnBrk="0" fontAlgn="base" hangingPunct="0">
              <a:spcBef>
                <a:spcPct val="0"/>
              </a:spcBef>
              <a:spcAft>
                <a:spcPct val="0"/>
              </a:spcAft>
              <a:buNone/>
              <a:tabLst>
                <a:tab pos="192778" algn="r"/>
              </a:tabLst>
            </a:pPr>
            <a:endParaRPr lang="fr-FR" altLang="fr-FR" sz="400" dirty="0">
              <a:solidFill>
                <a:schemeClr val="tx1"/>
              </a:solidFill>
            </a:endParaRPr>
          </a:p>
          <a:p>
            <a:pPr marL="0" indent="0" defTabSz="771114" eaLnBrk="0" fontAlgn="base" hangingPunct="0">
              <a:spcBef>
                <a:spcPct val="0"/>
              </a:spcBef>
              <a:spcAft>
                <a:spcPct val="0"/>
              </a:spcAft>
              <a:buNone/>
              <a:tabLst>
                <a:tab pos="192778" algn="r"/>
              </a:tabLst>
            </a:pPr>
            <a:r>
              <a:rPr lang="fr-FR" altLang="fr-FR" sz="900" b="1" u="sng" dirty="0">
                <a:solidFill>
                  <a:schemeClr val="tx1"/>
                </a:solidFill>
              </a:rPr>
              <a:t>Règles générales :</a:t>
            </a:r>
          </a:p>
          <a:p>
            <a:pPr marL="228600" indent="-228600" defTabSz="771114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tabLst>
                <a:tab pos="192778" algn="r"/>
              </a:tabLst>
            </a:pPr>
            <a:r>
              <a:rPr lang="fr-FR" altLang="fr-FR" sz="900" dirty="0">
                <a:solidFill>
                  <a:schemeClr val="tx1"/>
                </a:solidFill>
              </a:rPr>
              <a:t>Utiliser les moyens mécaniques afin d’éviter le recours à la manutention manuelle.</a:t>
            </a:r>
          </a:p>
          <a:p>
            <a:pPr marL="228600" indent="-228600" defTabSz="771114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tabLst>
                <a:tab pos="192778" algn="r"/>
              </a:tabLst>
            </a:pPr>
            <a:r>
              <a:rPr lang="fr-FR" altLang="fr-FR" sz="900" dirty="0">
                <a:solidFill>
                  <a:schemeClr val="tx1"/>
                </a:solidFill>
              </a:rPr>
              <a:t>Lorsque le recours à la manutention manuelle ne peut être évité, la charge maximale ne peut être supérieure à </a:t>
            </a:r>
            <a:r>
              <a:rPr lang="fr-FR" altLang="fr-FR" sz="900" b="1" dirty="0">
                <a:solidFill>
                  <a:schemeClr val="tx1"/>
                </a:solidFill>
              </a:rPr>
              <a:t>25 Kg</a:t>
            </a:r>
            <a:endParaRPr lang="fr-FR" altLang="fr-FR" sz="900" dirty="0">
              <a:solidFill>
                <a:schemeClr val="tx1"/>
              </a:solidFill>
            </a:endParaRPr>
          </a:p>
          <a:p>
            <a:pPr marL="228600" indent="-228600" defTabSz="771114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tabLst>
                <a:tab pos="192778" algn="r"/>
              </a:tabLst>
            </a:pPr>
            <a:r>
              <a:rPr lang="fr-FR" altLang="fr-FR" sz="900" dirty="0">
                <a:solidFill>
                  <a:schemeClr val="tx1"/>
                </a:solidFill>
              </a:rPr>
              <a:t>Adapter la zone de travail et de manutention : sol propre, non encombré, peu d’obstacles à éviter, éclairage suffisant</a:t>
            </a:r>
          </a:p>
          <a:p>
            <a:pPr marL="228600" indent="-228600" defTabSz="771114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tabLst>
                <a:tab pos="192778" algn="r"/>
              </a:tabLst>
            </a:pPr>
            <a:r>
              <a:rPr lang="fr-FR" altLang="fr-FR" sz="900" dirty="0">
                <a:solidFill>
                  <a:schemeClr val="tx1"/>
                </a:solidFill>
              </a:rPr>
              <a:t>Le port des chaussures de sécurité ainsi que des gants de manutention est </a:t>
            </a:r>
            <a:r>
              <a:rPr lang="fr-FR" altLang="fr-FR" sz="900" b="1" dirty="0">
                <a:solidFill>
                  <a:schemeClr val="tx1"/>
                </a:solidFill>
              </a:rPr>
              <a:t>obligatoire</a:t>
            </a:r>
            <a:r>
              <a:rPr lang="fr-FR" altLang="fr-FR" sz="900" dirty="0">
                <a:solidFill>
                  <a:schemeClr val="tx1"/>
                </a:solidFill>
              </a:rPr>
              <a:t>. </a:t>
            </a:r>
          </a:p>
          <a:p>
            <a:pPr marL="0" indent="0" defTabSz="771114" eaLnBrk="0" fontAlgn="base" hangingPunct="0">
              <a:spcBef>
                <a:spcPct val="0"/>
              </a:spcBef>
              <a:spcAft>
                <a:spcPct val="0"/>
              </a:spcAft>
              <a:buNone/>
              <a:tabLst>
                <a:tab pos="192778" algn="r"/>
              </a:tabLst>
            </a:pPr>
            <a:endParaRPr lang="fr-FR" altLang="fr-FR" sz="900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72915" y="2699792"/>
            <a:ext cx="4556105" cy="2472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fr-FR" sz="1200" b="1" dirty="0">
                <a:solidFill>
                  <a:schemeClr val="bg1"/>
                </a:solidFill>
              </a:rPr>
              <a:t>1/ AIDEZ-VOUS et préférer l’utilisation de moyens de manutention</a:t>
            </a:r>
          </a:p>
        </p:txBody>
      </p:sp>
      <p:pic>
        <p:nvPicPr>
          <p:cNvPr id="1038" name="Picture 14" descr="Image associÃ©e"/>
          <p:cNvPicPr>
            <a:picLocks noChangeAspect="1" noChangeArrowheads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499" y="5476661"/>
            <a:ext cx="371976" cy="415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ZoneTexte 43"/>
          <p:cNvSpPr txBox="1">
            <a:spLocks noChangeArrowheads="1"/>
          </p:cNvSpPr>
          <p:nvPr/>
        </p:nvSpPr>
        <p:spPr bwMode="auto">
          <a:xfrm>
            <a:off x="3964926" y="382086"/>
            <a:ext cx="293035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/>
            <a:r>
              <a:rPr lang="fr-FR" sz="6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FP FS 029 Version 2 du 10 Août 2021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E5C754F1-097F-4827-A15B-F318D7D84AC0}"/>
              </a:ext>
            </a:extLst>
          </p:cNvPr>
          <p:cNvSpPr txBox="1"/>
          <p:nvPr/>
        </p:nvSpPr>
        <p:spPr>
          <a:xfrm>
            <a:off x="124024" y="2918587"/>
            <a:ext cx="2225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900" dirty="0">
                <a:latin typeface="Calibri" panose="020F0502020204030204" pitchFamily="34" charset="0"/>
              </a:rPr>
              <a:t>Aides à la manutention</a:t>
            </a:r>
          </a:p>
          <a:p>
            <a:pPr marL="285750" indent="-285750">
              <a:buFontTx/>
              <a:buChar char="-"/>
            </a:pPr>
            <a:r>
              <a:rPr lang="fr-FR" sz="900" dirty="0">
                <a:latin typeface="Calibri" panose="020F0502020204030204" pitchFamily="34" charset="0"/>
              </a:rPr>
              <a:t>Outils adaptés</a:t>
            </a:r>
          </a:p>
        </p:txBody>
      </p:sp>
      <p:pic>
        <p:nvPicPr>
          <p:cNvPr id="45" name="Image 44">
            <a:extLst>
              <a:ext uri="{FF2B5EF4-FFF2-40B4-BE49-F238E27FC236}">
                <a16:creationId xmlns:a16="http://schemas.microsoft.com/office/drawing/2014/main" id="{7B2B8740-825E-4110-93AE-C2A8F060741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12" y="3252684"/>
            <a:ext cx="1479674" cy="715176"/>
          </a:xfrm>
          <a:prstGeom prst="rect">
            <a:avLst/>
          </a:prstGeom>
        </p:spPr>
      </p:pic>
      <p:pic>
        <p:nvPicPr>
          <p:cNvPr id="46" name="Picture 4" descr="Image associÃ©e">
            <a:extLst>
              <a:ext uri="{FF2B5EF4-FFF2-40B4-BE49-F238E27FC236}">
                <a16:creationId xmlns:a16="http://schemas.microsoft.com/office/drawing/2014/main" id="{D25144FD-CF8F-47A1-BEB6-34F5DB069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533" y="3120238"/>
            <a:ext cx="686581" cy="68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062C7EAE-CF91-481B-83FC-B8B80912CEC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14580" y="1694880"/>
            <a:ext cx="676324" cy="795675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5A560F6B-E6F5-44E3-87FE-2A76556ECDD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20384" y="3055956"/>
            <a:ext cx="608636" cy="761859"/>
          </a:xfrm>
          <a:prstGeom prst="rect">
            <a:avLst/>
          </a:prstGeom>
        </p:spPr>
      </p:pic>
      <p:pic>
        <p:nvPicPr>
          <p:cNvPr id="49" name="Picture 8">
            <a:extLst>
              <a:ext uri="{FF2B5EF4-FFF2-40B4-BE49-F238E27FC236}">
                <a16:creationId xmlns:a16="http://schemas.microsoft.com/office/drawing/2014/main" id="{4F214BAD-E1EA-42C6-BB27-A24EFD02D3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60" t="8790" r="11439" b="12948"/>
          <a:stretch/>
        </p:blipFill>
        <p:spPr bwMode="auto">
          <a:xfrm>
            <a:off x="1689861" y="3212402"/>
            <a:ext cx="157959" cy="149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0" name="Picture 6">
            <a:extLst>
              <a:ext uri="{FF2B5EF4-FFF2-40B4-BE49-F238E27FC236}">
                <a16:creationId xmlns:a16="http://schemas.microsoft.com/office/drawing/2014/main" id="{8246EBAE-59EB-467A-B226-E6678E3FC9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1" t="7143" r="6349" b="15934"/>
          <a:stretch/>
        </p:blipFill>
        <p:spPr bwMode="auto">
          <a:xfrm>
            <a:off x="694548" y="3233617"/>
            <a:ext cx="188642" cy="17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" name="Picture 6">
            <a:extLst>
              <a:ext uri="{FF2B5EF4-FFF2-40B4-BE49-F238E27FC236}">
                <a16:creationId xmlns:a16="http://schemas.microsoft.com/office/drawing/2014/main" id="{C1E5C5B1-282F-4317-B2DF-2C3FBEDDAF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1" t="7143" r="6349" b="15934"/>
          <a:stretch/>
        </p:blipFill>
        <p:spPr bwMode="auto">
          <a:xfrm>
            <a:off x="1151524" y="3228953"/>
            <a:ext cx="188642" cy="17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" name="Picture 8">
            <a:extLst>
              <a:ext uri="{FF2B5EF4-FFF2-40B4-BE49-F238E27FC236}">
                <a16:creationId xmlns:a16="http://schemas.microsoft.com/office/drawing/2014/main" id="{BA8001C0-B052-45BE-A63A-2A109B70C4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60" t="8790" r="11439" b="12948"/>
          <a:stretch/>
        </p:blipFill>
        <p:spPr bwMode="auto">
          <a:xfrm>
            <a:off x="3537557" y="3049968"/>
            <a:ext cx="180807" cy="17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3" name="Picture 8">
            <a:extLst>
              <a:ext uri="{FF2B5EF4-FFF2-40B4-BE49-F238E27FC236}">
                <a16:creationId xmlns:a16="http://schemas.microsoft.com/office/drawing/2014/main" id="{A9673885-07DE-4AB7-9051-EDBE16BE36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60" t="8790" r="11439" b="12948"/>
          <a:stretch/>
        </p:blipFill>
        <p:spPr bwMode="auto">
          <a:xfrm>
            <a:off x="4528965" y="3061890"/>
            <a:ext cx="180807" cy="17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4" name="ZoneTexte 53">
            <a:extLst>
              <a:ext uri="{FF2B5EF4-FFF2-40B4-BE49-F238E27FC236}">
                <a16:creationId xmlns:a16="http://schemas.microsoft.com/office/drawing/2014/main" id="{EA6F70EE-CABF-4ECB-918F-B5BFF08FE4C7}"/>
              </a:ext>
            </a:extLst>
          </p:cNvPr>
          <p:cNvSpPr txBox="1"/>
          <p:nvPr/>
        </p:nvSpPr>
        <p:spPr>
          <a:xfrm>
            <a:off x="4538407" y="3033681"/>
            <a:ext cx="222587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900" dirty="0">
                <a:latin typeface="Calibri" panose="020F0502020204030204" pitchFamily="34" charset="0"/>
              </a:rPr>
              <a:t>Utilisez 100% du temps des gants de manutention + port de chaussures de sécurité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F75F1D4-3887-4C2B-A498-F583492FDC2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80270" y="3350465"/>
            <a:ext cx="637062" cy="525730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5808AEA3-58B1-4B4B-A0E2-8BBFB06C138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38104" y="3350465"/>
            <a:ext cx="499082" cy="511255"/>
          </a:xfrm>
          <a:prstGeom prst="rect">
            <a:avLst/>
          </a:prstGeom>
        </p:spPr>
      </p:pic>
      <p:pic>
        <p:nvPicPr>
          <p:cNvPr id="55" name="Picture 8">
            <a:extLst>
              <a:ext uri="{FF2B5EF4-FFF2-40B4-BE49-F238E27FC236}">
                <a16:creationId xmlns:a16="http://schemas.microsoft.com/office/drawing/2014/main" id="{FA790795-DC4C-405E-A4D5-914F5E8B54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60" t="8790" r="11439" b="12948"/>
          <a:stretch/>
        </p:blipFill>
        <p:spPr bwMode="auto">
          <a:xfrm>
            <a:off x="5291346" y="3525152"/>
            <a:ext cx="180807" cy="17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E7B341C6-4428-4018-955D-A70393957B74}"/>
              </a:ext>
            </a:extLst>
          </p:cNvPr>
          <p:cNvSpPr/>
          <p:nvPr/>
        </p:nvSpPr>
        <p:spPr>
          <a:xfrm>
            <a:off x="4869160" y="2701916"/>
            <a:ext cx="1864816" cy="2472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fr-FR" sz="1200" b="1" dirty="0">
                <a:solidFill>
                  <a:schemeClr val="bg1"/>
                </a:solidFill>
              </a:rPr>
              <a:t>4/ EPI obligatoire !</a:t>
            </a:r>
          </a:p>
        </p:txBody>
      </p:sp>
      <p:pic>
        <p:nvPicPr>
          <p:cNvPr id="57" name="Picture 2" descr="catuelec.com | Le monde de la sécurité électrique">
            <a:extLst>
              <a:ext uri="{FF2B5EF4-FFF2-40B4-BE49-F238E27FC236}">
                <a16:creationId xmlns:a16="http://schemas.microsoft.com/office/drawing/2014/main" id="{EF53D628-6494-4EC3-B7C2-3241023D49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644"/>
          <a:stretch/>
        </p:blipFill>
        <p:spPr bwMode="auto">
          <a:xfrm>
            <a:off x="2339873" y="3333936"/>
            <a:ext cx="751084" cy="480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8">
            <a:extLst>
              <a:ext uri="{FF2B5EF4-FFF2-40B4-BE49-F238E27FC236}">
                <a16:creationId xmlns:a16="http://schemas.microsoft.com/office/drawing/2014/main" id="{8B958D55-E9E9-440D-884A-8AC2FC03AA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60" t="8790" r="11439" b="12948"/>
          <a:stretch/>
        </p:blipFill>
        <p:spPr bwMode="auto">
          <a:xfrm>
            <a:off x="2691650" y="3059853"/>
            <a:ext cx="180807" cy="17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35264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0567" y="3957543"/>
            <a:ext cx="6565751" cy="2757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fr-FR" sz="1400" b="1" dirty="0">
                <a:solidFill>
                  <a:schemeClr val="bg1"/>
                </a:solidFill>
              </a:rPr>
              <a:t>Quelles sont les bonnes postures ?</a:t>
            </a:r>
          </a:p>
        </p:txBody>
      </p:sp>
      <p:sp>
        <p:nvSpPr>
          <p:cNvPr id="5" name="Titre 2"/>
          <p:cNvSpPr txBox="1">
            <a:spLocks/>
          </p:cNvSpPr>
          <p:nvPr/>
        </p:nvSpPr>
        <p:spPr>
          <a:xfrm>
            <a:off x="0" y="179512"/>
            <a:ext cx="6857999" cy="874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fr-FR" sz="2400" dirty="0"/>
              <a:t>Manutention des charges lourdes</a:t>
            </a:r>
          </a:p>
        </p:txBody>
      </p:sp>
      <p:pic>
        <p:nvPicPr>
          <p:cNvPr id="7" name="Picture 6" descr="RÃ©sultats de recherche d'images pour Â«Â affiche manutention manuelleÂ Â»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7856" y="4460229"/>
            <a:ext cx="1212088" cy="1507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234330" y="4233318"/>
            <a:ext cx="6544770" cy="1462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7111" tIns="38556" rIns="77111" bIns="38556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fontAlgn="base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914400" fontAlgn="base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371600" fontAlgn="base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28800" fontAlgn="base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286000" fontAlgn="base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00" fontAlgn="base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200400" fontAlgn="base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657600" fontAlgn="base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defTabSz="771114">
              <a:buClr>
                <a:srgbClr val="EB6A0C"/>
              </a:buClr>
              <a:tabLst>
                <a:tab pos="771114" algn="l"/>
              </a:tabLst>
            </a:pPr>
            <a:r>
              <a:rPr lang="fr-FR" altLang="fr-FR" sz="1000" b="1" u="sng" dirty="0">
                <a:latin typeface="Calibri" panose="020F0502020204030204" pitchFamily="34" charset="0"/>
                <a:ea typeface="Times New Roman" pitchFamily="18" charset="0"/>
              </a:rPr>
              <a:t>Pour soulever ou poser une charge, il faut : </a:t>
            </a:r>
          </a:p>
          <a:p>
            <a:pPr marL="171450" indent="-171450" defTabSz="771114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tabLst>
                <a:tab pos="771114" algn="l"/>
              </a:tabLst>
            </a:pPr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</a:rPr>
              <a:t>Prévoir des aides à la manutention ou au levage (diables, chariots, tables roulantes...)</a:t>
            </a:r>
          </a:p>
          <a:p>
            <a:pPr marL="171450" indent="-171450" defTabSz="771114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tabLst>
                <a:tab pos="771114" algn="l"/>
              </a:tabLst>
            </a:pPr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</a:rPr>
              <a:t>Equilibrer la charge si possible </a:t>
            </a:r>
          </a:p>
          <a:p>
            <a:pPr marL="171450" indent="-171450" defTabSz="771114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tabLst>
                <a:tab pos="771114" algn="l"/>
              </a:tabLst>
            </a:pPr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</a:rPr>
              <a:t>Se positionner de façon à ce que les pieds encadrent la charge</a:t>
            </a:r>
          </a:p>
          <a:p>
            <a:pPr marL="171450" indent="-171450" defTabSz="771114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tabLst>
                <a:tab pos="771114" algn="l"/>
              </a:tabLst>
            </a:pPr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</a:rPr>
              <a:t>Garder le dos droit et les jambes fléchies</a:t>
            </a:r>
          </a:p>
          <a:p>
            <a:pPr marL="171450" indent="-171450" defTabSz="771114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tabLst>
                <a:tab pos="771114" algn="l"/>
              </a:tabLst>
            </a:pPr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</a:rPr>
              <a:t>Caler l’objet à soulever, si celui-ci n’est pas stable</a:t>
            </a:r>
          </a:p>
          <a:p>
            <a:pPr marL="171450" indent="-171450" defTabSz="771114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tabLst>
                <a:tab pos="771114" algn="l"/>
              </a:tabLst>
            </a:pPr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</a:rPr>
              <a:t>Adopter la position en 4 </a:t>
            </a:r>
            <a:endParaRPr lang="fr-FR" altLang="fr-FR" sz="1000" dirty="0">
              <a:latin typeface="Calibri" panose="020F0502020204030204" pitchFamily="34" charset="0"/>
            </a:endParaRPr>
          </a:p>
          <a:p>
            <a:pPr marL="171450" indent="-171450" defTabSz="771114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tabLst>
                <a:tab pos="771114" algn="l"/>
              </a:tabLst>
            </a:pPr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</a:rPr>
              <a:t>Soulever/poser la charge à force des jambes et des cuisses, </a:t>
            </a:r>
            <a:r>
              <a:rPr lang="fr-FR" altLang="fr-FR" sz="1000" dirty="0">
                <a:latin typeface="Calibri" panose="020F0502020204030204" pitchFamily="34" charset="0"/>
              </a:rPr>
              <a:t>bras tendus et dos droit</a:t>
            </a:r>
          </a:p>
          <a:p>
            <a:pPr marL="171450" indent="-171450" defTabSz="771114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tabLst>
                <a:tab pos="771114" algn="l"/>
              </a:tabLst>
            </a:pPr>
            <a:r>
              <a:rPr lang="fr-FR" altLang="fr-FR" sz="1000" dirty="0">
                <a:latin typeface="Calibri" panose="020F0502020204030204" pitchFamily="34" charset="0"/>
              </a:rPr>
              <a:t>Porter la charge à pleine main pour assurer une bonne prise</a:t>
            </a:r>
          </a:p>
        </p:txBody>
      </p:sp>
      <p:sp>
        <p:nvSpPr>
          <p:cNvPr id="13" name="Rectangle 17"/>
          <p:cNvSpPr>
            <a:spLocks noChangeArrowheads="1"/>
          </p:cNvSpPr>
          <p:nvPr/>
        </p:nvSpPr>
        <p:spPr bwMode="auto">
          <a:xfrm>
            <a:off x="230566" y="6976539"/>
            <a:ext cx="6548533" cy="1001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7111" tIns="38556" rIns="77111" bIns="38556" numCol="1" anchor="ctr" anchorCtr="0" compatLnSpc="1">
            <a:prstTxWarp prst="textNoShape">
              <a:avLst/>
            </a:prstTxWarp>
            <a:spAutoFit/>
          </a:bodyPr>
          <a:lstStyle/>
          <a:p>
            <a:pPr defTabSz="771114" fontAlgn="base">
              <a:spcBef>
                <a:spcPct val="0"/>
              </a:spcBef>
              <a:spcAft>
                <a:spcPct val="0"/>
              </a:spcAft>
              <a:buClr>
                <a:srgbClr val="EB6A0C"/>
              </a:buClr>
            </a:pPr>
            <a:r>
              <a:rPr lang="fr-FR" altLang="fr-FR" sz="1000" b="1" u="sng" dirty="0" bmk="_Toc16568138">
                <a:latin typeface="Calibri" panose="020F0502020204030204" pitchFamily="34" charset="0"/>
                <a:ea typeface="Times New Roman" pitchFamily="18" charset="0"/>
                <a:cs typeface="Arial" pitchFamily="34" charset="0"/>
              </a:rPr>
              <a:t>Pour transporter une charge, il faut :</a:t>
            </a:r>
            <a:endParaRPr lang="fr-FR" altLang="fr-FR" sz="1000" b="1" u="sng" dirty="0" bmk="_Toc16568138">
              <a:latin typeface="Calibri" panose="020F0502020204030204" pitchFamily="34" charset="0"/>
              <a:cs typeface="Arial" pitchFamily="34" charset="0"/>
            </a:endParaRPr>
          </a:p>
          <a:p>
            <a:pPr marL="171450" indent="-171450" defTabSz="771114" fontAlgn="base">
              <a:spcBef>
                <a:spcPct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fr-FR" altLang="fr-FR" sz="1000" dirty="0" bmk="_Toc16568138">
                <a:latin typeface="Calibri" panose="020F0502020204030204" pitchFamily="34" charset="0"/>
                <a:ea typeface="Times New Roman" pitchFamily="18" charset="0"/>
                <a:cs typeface="Arial" pitchFamily="34" charset="0"/>
              </a:rPr>
              <a:t>Eviter au maximum de porter toute la charge d’un seul côté (asymétrie)</a:t>
            </a:r>
          </a:p>
          <a:p>
            <a:pPr marL="171450" indent="-171450" defTabSz="771114" fontAlgn="base">
              <a:spcBef>
                <a:spcPct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fr-FR" altLang="fr-FR" sz="1000" dirty="0" bmk="_Toc16568138">
                <a:latin typeface="Calibri" panose="020F0502020204030204" pitchFamily="34" charset="0"/>
                <a:ea typeface="Times New Roman" pitchFamily="18" charset="0"/>
                <a:cs typeface="Arial" pitchFamily="34" charset="0"/>
              </a:rPr>
              <a:t>Porter la charge le plus près du corps possible afin d’éviter les tensions dorsales inutiles</a:t>
            </a:r>
          </a:p>
          <a:p>
            <a:pPr marL="171450" indent="-171450" defTabSz="771114" fontAlgn="base">
              <a:spcBef>
                <a:spcPct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fr-FR" altLang="fr-FR" sz="1000" dirty="0" bmk="_Toc16568138">
                <a:latin typeface="Calibri" panose="020F0502020204030204" pitchFamily="34" charset="0"/>
                <a:ea typeface="Times New Roman" pitchFamily="18" charset="0"/>
                <a:cs typeface="Arial" pitchFamily="34" charset="0"/>
              </a:rPr>
              <a:t>Transporter la charge bras tendus en la maintenant près du corps</a:t>
            </a:r>
          </a:p>
          <a:p>
            <a:pPr marL="171450" indent="-171450" defTabSz="771114" fontAlgn="base">
              <a:spcBef>
                <a:spcPct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fr-FR" altLang="fr-FR" sz="1000" dirty="0" bmk="_Toc16568138">
                <a:latin typeface="Calibri" panose="020F0502020204030204" pitchFamily="34" charset="0"/>
                <a:ea typeface="Times New Roman" pitchFamily="18" charset="0"/>
                <a:cs typeface="Arial" pitchFamily="34" charset="0"/>
              </a:rPr>
              <a:t>Si possible, pousser la charge plutôt que de la tirer</a:t>
            </a:r>
          </a:p>
          <a:p>
            <a:pPr marL="171450" indent="-171450" defTabSz="771114" fontAlgn="base">
              <a:spcBef>
                <a:spcPct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fr-FR" altLang="fr-FR" sz="1000" dirty="0" bmk="_Toc16568138">
                <a:latin typeface="Calibri" panose="020F0502020204030204" pitchFamily="34" charset="0"/>
                <a:ea typeface="Times New Roman" pitchFamily="18" charset="0"/>
                <a:cs typeface="Arial" pitchFamily="34" charset="0"/>
              </a:rPr>
              <a:t>Si possible, faire plusieurs petits voyages au lieu d’un seul </a:t>
            </a:r>
          </a:p>
        </p:txBody>
      </p:sp>
      <p:grpSp>
        <p:nvGrpSpPr>
          <p:cNvPr id="18" name="Groupe 17"/>
          <p:cNvGrpSpPr/>
          <p:nvPr/>
        </p:nvGrpSpPr>
        <p:grpSpPr>
          <a:xfrm>
            <a:off x="950647" y="5728625"/>
            <a:ext cx="594442" cy="1136981"/>
            <a:chOff x="4348963" y="2765240"/>
            <a:chExt cx="703560" cy="1250004"/>
          </a:xfrm>
        </p:grpSpPr>
        <p:pic>
          <p:nvPicPr>
            <p:cNvPr id="2058" name="Picture 10" descr="RÃ©sultats de recherche d'images pour Â«Â empreinte pasÂ Â»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555" r="47298"/>
            <a:stretch/>
          </p:blipFill>
          <p:spPr bwMode="auto">
            <a:xfrm rot="4983466">
              <a:off x="4386063" y="2728140"/>
              <a:ext cx="401351" cy="475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0" descr="RÃ©sultats de recherche d'images pour Â«Â empreinte pasÂ Â»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739" b="33977"/>
            <a:stretch/>
          </p:blipFill>
          <p:spPr bwMode="auto">
            <a:xfrm rot="4996588">
              <a:off x="4605937" y="3568658"/>
              <a:ext cx="390376" cy="5027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Rectangle 16"/>
            <p:cNvSpPr/>
            <p:nvPr/>
          </p:nvSpPr>
          <p:spPr>
            <a:xfrm>
              <a:off x="4355427" y="3158510"/>
              <a:ext cx="697096" cy="466357"/>
            </a:xfrm>
            <a:prstGeom prst="rect">
              <a:avLst/>
            </a:prstGeom>
            <a:solidFill>
              <a:srgbClr val="9B7227"/>
            </a:solidFill>
            <a:ln>
              <a:solidFill>
                <a:srgbClr val="9B72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2062" name="Picture 14" descr="RÃ©sultats de recherche d'images pour Â«Â charge lourdeÂ Â»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63" y="8094151"/>
            <a:ext cx="1539386" cy="776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 descr="Image associÃ©e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9738" y="5186457"/>
            <a:ext cx="2998784" cy="1999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/>
          <p:cNvSpPr txBox="1"/>
          <p:nvPr/>
        </p:nvSpPr>
        <p:spPr>
          <a:xfrm flipH="1">
            <a:off x="3038879" y="5817494"/>
            <a:ext cx="7295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0" b="1" dirty="0">
                <a:ln w="1905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noFill/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fr-FR" sz="11000" b="1" dirty="0">
              <a:ln w="19050">
                <a:solidFill>
                  <a:schemeClr val="accent3">
                    <a:lumMod val="50000"/>
                  </a:schemeClr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072" name="Picture 24" descr="Deux boÃ®tes de carton sur un chariot Photo gratuit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07280">
            <a:off x="5170322" y="5661619"/>
            <a:ext cx="1194249" cy="1194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7072" y="7524328"/>
            <a:ext cx="1945157" cy="1351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2" descr="RÃ©sultats de recherche d'images pour Â«Â affiche manutention manuelleÂ Â»">
            <a:extLst>
              <a:ext uri="{FF2B5EF4-FFF2-40B4-BE49-F238E27FC236}">
                <a16:creationId xmlns:a16="http://schemas.microsoft.com/office/drawing/2014/main" id="{ACCB40C0-25E8-4D2B-B7ED-09483DC6A0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89" t="9537" r="47459"/>
          <a:stretch/>
        </p:blipFill>
        <p:spPr bwMode="auto">
          <a:xfrm>
            <a:off x="5983547" y="2159754"/>
            <a:ext cx="694634" cy="1138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5" name="Groupe 34">
            <a:extLst>
              <a:ext uri="{FF2B5EF4-FFF2-40B4-BE49-F238E27FC236}">
                <a16:creationId xmlns:a16="http://schemas.microsoft.com/office/drawing/2014/main" id="{91ABCAE1-D99F-4CB1-BA09-CE39F41D0737}"/>
              </a:ext>
            </a:extLst>
          </p:cNvPr>
          <p:cNvGrpSpPr/>
          <p:nvPr/>
        </p:nvGrpSpPr>
        <p:grpSpPr>
          <a:xfrm>
            <a:off x="244233" y="2139464"/>
            <a:ext cx="4500990" cy="1584399"/>
            <a:chOff x="1168211" y="6767221"/>
            <a:chExt cx="3183826" cy="1470849"/>
          </a:xfrm>
        </p:grpSpPr>
        <p:pic>
          <p:nvPicPr>
            <p:cNvPr id="36" name="Picture 10" descr="RÃ©sultats de recherche d'images pour Â«Â affiche manutention manuelleÂ Â»">
              <a:extLst>
                <a:ext uri="{FF2B5EF4-FFF2-40B4-BE49-F238E27FC236}">
                  <a16:creationId xmlns:a16="http://schemas.microsoft.com/office/drawing/2014/main" id="{CD417725-BB8E-4964-B666-D021F78314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61" t="5193" r="57214" b="8751"/>
            <a:stretch/>
          </p:blipFill>
          <p:spPr bwMode="auto">
            <a:xfrm>
              <a:off x="1496808" y="6767221"/>
              <a:ext cx="797652" cy="9995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03823CF-8B03-4B4C-8019-940E8E782EE2}"/>
                </a:ext>
              </a:extLst>
            </p:cNvPr>
            <p:cNvSpPr/>
            <p:nvPr/>
          </p:nvSpPr>
          <p:spPr>
            <a:xfrm>
              <a:off x="1168211" y="7723776"/>
              <a:ext cx="1652170" cy="51429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fr-FR" sz="1000" dirty="0"/>
                <a:t>Port de charge de </a:t>
              </a:r>
              <a:r>
                <a:rPr lang="fr-FR" sz="1000" b="1" dirty="0"/>
                <a:t>25 kg/personne </a:t>
              </a:r>
            </a:p>
            <a:p>
              <a:pPr algn="just"/>
              <a:r>
                <a:rPr lang="fr-FR" sz="1000" dirty="0"/>
                <a:t>Posture </a:t>
              </a:r>
              <a:r>
                <a:rPr lang="fr-FR" sz="1000" b="1" dirty="0"/>
                <a:t>inadaptée </a:t>
              </a:r>
              <a:r>
                <a:rPr lang="fr-FR" sz="1000" dirty="0"/>
                <a:t>= pression de </a:t>
              </a:r>
              <a:r>
                <a:rPr lang="fr-FR" sz="1000" b="1" dirty="0"/>
                <a:t>375 kg </a:t>
              </a:r>
              <a:r>
                <a:rPr lang="fr-FR" sz="1000" dirty="0"/>
                <a:t>sur la colonne vertébrale</a:t>
              </a:r>
              <a:endParaRPr lang="fr-FR" sz="1000" dirty="0">
                <a:latin typeface="Calibri" panose="020F05020202040302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B95CB09-2187-4217-A8B6-EB68F8FF9574}"/>
                </a:ext>
              </a:extLst>
            </p:cNvPr>
            <p:cNvSpPr/>
            <p:nvPr/>
          </p:nvSpPr>
          <p:spPr>
            <a:xfrm>
              <a:off x="2820381" y="7723776"/>
              <a:ext cx="1531656" cy="51429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fr-FR" sz="1000" dirty="0"/>
                <a:t>Port de charge de </a:t>
              </a:r>
              <a:r>
                <a:rPr lang="fr-FR" sz="1000" b="1" dirty="0"/>
                <a:t>25 kg/personne</a:t>
              </a:r>
            </a:p>
            <a:p>
              <a:pPr algn="just"/>
              <a:r>
                <a:rPr lang="fr-FR" sz="1000" dirty="0"/>
                <a:t>Posture </a:t>
              </a:r>
              <a:r>
                <a:rPr lang="fr-FR" sz="1000" b="1" dirty="0"/>
                <a:t>adaptée </a:t>
              </a:r>
              <a:r>
                <a:rPr lang="fr-FR" sz="1000" dirty="0"/>
                <a:t>= pression de </a:t>
              </a:r>
              <a:r>
                <a:rPr lang="fr-FR" sz="1000" b="1" dirty="0"/>
                <a:t>75 kg </a:t>
              </a:r>
              <a:r>
                <a:rPr lang="fr-FR" sz="1000" dirty="0"/>
                <a:t>sur la colonne vertébrale</a:t>
              </a:r>
              <a:endParaRPr lang="fr-FR" sz="1000" dirty="0">
                <a:latin typeface="Calibri" panose="020F0502020204030204" pitchFamily="34" charset="0"/>
              </a:endParaRPr>
            </a:p>
          </p:txBody>
        </p:sp>
      </p:grpSp>
      <p:sp>
        <p:nvSpPr>
          <p:cNvPr id="39" name="Espace réservé du contenu 1">
            <a:extLst>
              <a:ext uri="{FF2B5EF4-FFF2-40B4-BE49-F238E27FC236}">
                <a16:creationId xmlns:a16="http://schemas.microsoft.com/office/drawing/2014/main" id="{F48CBA6C-D841-4B74-9E1C-07EE110B4797}"/>
              </a:ext>
            </a:extLst>
          </p:cNvPr>
          <p:cNvSpPr txBox="1">
            <a:spLocks/>
          </p:cNvSpPr>
          <p:nvPr/>
        </p:nvSpPr>
        <p:spPr>
          <a:xfrm>
            <a:off x="794645" y="2025423"/>
            <a:ext cx="1169552" cy="24588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–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»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71114" eaLnBrk="0" fontAlgn="base" hangingPunct="0">
              <a:spcBef>
                <a:spcPct val="0"/>
              </a:spcBef>
              <a:spcAft>
                <a:spcPct val="0"/>
              </a:spcAft>
              <a:buNone/>
              <a:tabLst>
                <a:tab pos="192778" algn="r"/>
              </a:tabLst>
            </a:pPr>
            <a:r>
              <a:rPr lang="fr-FR" altLang="fr-FR" sz="1000" dirty="0">
                <a:solidFill>
                  <a:schemeClr val="tx1"/>
                </a:solidFill>
              </a:rPr>
              <a:t>Posture inadaptée </a:t>
            </a:r>
          </a:p>
          <a:p>
            <a:pPr marL="0" indent="0" defTabSz="771114" eaLnBrk="0" fontAlgn="base" hangingPunct="0">
              <a:spcBef>
                <a:spcPct val="0"/>
              </a:spcBef>
              <a:spcAft>
                <a:spcPct val="0"/>
              </a:spcAft>
              <a:buNone/>
              <a:tabLst>
                <a:tab pos="192778" algn="r"/>
              </a:tabLst>
            </a:pPr>
            <a:endParaRPr lang="fr-FR" altLang="fr-FR" sz="1000" dirty="0">
              <a:solidFill>
                <a:schemeClr val="tx1"/>
              </a:solidFill>
            </a:endParaRPr>
          </a:p>
        </p:txBody>
      </p:sp>
      <p:sp>
        <p:nvSpPr>
          <p:cNvPr id="40" name="Espace réservé du contenu 1">
            <a:extLst>
              <a:ext uri="{FF2B5EF4-FFF2-40B4-BE49-F238E27FC236}">
                <a16:creationId xmlns:a16="http://schemas.microsoft.com/office/drawing/2014/main" id="{A324ECA1-3747-48E1-932F-58D69279C9C3}"/>
              </a:ext>
            </a:extLst>
          </p:cNvPr>
          <p:cNvSpPr txBox="1">
            <a:spLocks/>
          </p:cNvSpPr>
          <p:nvPr/>
        </p:nvSpPr>
        <p:spPr>
          <a:xfrm>
            <a:off x="2867261" y="2011858"/>
            <a:ext cx="1169552" cy="24588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–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»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71114" eaLnBrk="0" fontAlgn="base" hangingPunct="0">
              <a:spcBef>
                <a:spcPct val="0"/>
              </a:spcBef>
              <a:spcAft>
                <a:spcPct val="0"/>
              </a:spcAft>
              <a:buNone/>
              <a:tabLst>
                <a:tab pos="192778" algn="r"/>
              </a:tabLst>
            </a:pPr>
            <a:r>
              <a:rPr lang="fr-FR" altLang="fr-FR" sz="1000" dirty="0">
                <a:solidFill>
                  <a:schemeClr val="tx1"/>
                </a:solidFill>
              </a:rPr>
              <a:t>Posture adaptée </a:t>
            </a:r>
          </a:p>
          <a:p>
            <a:pPr marL="0" indent="0" defTabSz="771114" eaLnBrk="0" fontAlgn="base" hangingPunct="0">
              <a:spcBef>
                <a:spcPct val="0"/>
              </a:spcBef>
              <a:spcAft>
                <a:spcPct val="0"/>
              </a:spcAft>
              <a:buNone/>
              <a:tabLst>
                <a:tab pos="192778" algn="r"/>
              </a:tabLst>
            </a:pPr>
            <a:endParaRPr lang="fr-FR" altLang="fr-FR" sz="1000" dirty="0">
              <a:solidFill>
                <a:schemeClr val="tx1"/>
              </a:solidFill>
            </a:endParaRPr>
          </a:p>
        </p:txBody>
      </p:sp>
      <p:sp>
        <p:nvSpPr>
          <p:cNvPr id="41" name="Espace réservé du contenu 1">
            <a:extLst>
              <a:ext uri="{FF2B5EF4-FFF2-40B4-BE49-F238E27FC236}">
                <a16:creationId xmlns:a16="http://schemas.microsoft.com/office/drawing/2014/main" id="{26346F55-4E71-404E-A206-AD9060E42D41}"/>
              </a:ext>
            </a:extLst>
          </p:cNvPr>
          <p:cNvSpPr txBox="1">
            <a:spLocks/>
          </p:cNvSpPr>
          <p:nvPr/>
        </p:nvSpPr>
        <p:spPr>
          <a:xfrm>
            <a:off x="4748220" y="3297781"/>
            <a:ext cx="2000026" cy="37736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–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»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771114" eaLnBrk="0" fontAlgn="base" hangingPunct="0">
              <a:spcBef>
                <a:spcPct val="0"/>
              </a:spcBef>
              <a:spcAft>
                <a:spcPct val="0"/>
              </a:spcAft>
              <a:buNone/>
              <a:tabLst>
                <a:tab pos="192778" algn="r"/>
              </a:tabLst>
            </a:pPr>
            <a:r>
              <a:rPr lang="fr-FR" altLang="fr-FR" sz="1200" b="1" dirty="0">
                <a:solidFill>
                  <a:schemeClr val="tx1"/>
                </a:solidFill>
              </a:rPr>
              <a:t>Pour votre santé, adoptez les bonnes postures !</a:t>
            </a:r>
          </a:p>
        </p:txBody>
      </p:sp>
      <p:pic>
        <p:nvPicPr>
          <p:cNvPr id="42" name="Picture 2" descr="RÃ©sultats de recherche d'images pour Â«Â affiche manutention manuelleÂ Â»">
            <a:extLst>
              <a:ext uri="{FF2B5EF4-FFF2-40B4-BE49-F238E27FC236}">
                <a16:creationId xmlns:a16="http://schemas.microsoft.com/office/drawing/2014/main" id="{299BD4E3-4CC9-43F5-82EA-D404102D18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56" t="9537" r="12119"/>
          <a:stretch/>
        </p:blipFill>
        <p:spPr bwMode="auto">
          <a:xfrm>
            <a:off x="4803144" y="2159754"/>
            <a:ext cx="706361" cy="111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10" descr="RÃ©sultats de recherche d'images pour Â«Â affiche manutention manuelleÂ Â»">
            <a:extLst>
              <a:ext uri="{FF2B5EF4-FFF2-40B4-BE49-F238E27FC236}">
                <a16:creationId xmlns:a16="http://schemas.microsoft.com/office/drawing/2014/main" id="{3405DC99-CDF0-4FDC-B0C7-28E75C4EE3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31" t="5193" r="18881" b="8751"/>
          <a:stretch/>
        </p:blipFill>
        <p:spPr bwMode="auto">
          <a:xfrm>
            <a:off x="2975592" y="2239706"/>
            <a:ext cx="795006" cy="997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10" descr="RÃ©sultats de recherche d'images pour Â«Â affiche manutention manuelleÂ Â»">
            <a:extLst>
              <a:ext uri="{FF2B5EF4-FFF2-40B4-BE49-F238E27FC236}">
                <a16:creationId xmlns:a16="http://schemas.microsoft.com/office/drawing/2014/main" id="{617EA299-BA50-4B82-A267-429A372AE0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28" t="5193" r="42747" b="8751"/>
          <a:stretch/>
        </p:blipFill>
        <p:spPr bwMode="auto">
          <a:xfrm>
            <a:off x="2094620" y="2139464"/>
            <a:ext cx="558504" cy="1076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ZoneTexte 44">
            <a:extLst>
              <a:ext uri="{FF2B5EF4-FFF2-40B4-BE49-F238E27FC236}">
                <a16:creationId xmlns:a16="http://schemas.microsoft.com/office/drawing/2014/main" id="{396630CC-1280-435C-885C-86ECE5D6B0B8}"/>
              </a:ext>
            </a:extLst>
          </p:cNvPr>
          <p:cNvSpPr txBox="1"/>
          <p:nvPr/>
        </p:nvSpPr>
        <p:spPr>
          <a:xfrm>
            <a:off x="244233" y="3652467"/>
            <a:ext cx="42609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i="1" dirty="0"/>
              <a:t>Au-delà de 25Kg, il est possible de se mettre à plusieurs par tranche de 25 Kg.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929BB10-4A4C-4C3C-B07B-6FDC7F5891D2}"/>
              </a:ext>
            </a:extLst>
          </p:cNvPr>
          <p:cNvSpPr/>
          <p:nvPr/>
        </p:nvSpPr>
        <p:spPr>
          <a:xfrm>
            <a:off x="182495" y="1632819"/>
            <a:ext cx="6565751" cy="257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fr-FR" sz="1400" b="1" dirty="0">
                <a:solidFill>
                  <a:schemeClr val="bg1"/>
                </a:solidFill>
              </a:rPr>
              <a:t>Pourquoi adopter une bonne posture ?</a:t>
            </a:r>
          </a:p>
        </p:txBody>
      </p:sp>
      <p:sp>
        <p:nvSpPr>
          <p:cNvPr id="2" name="ZoneTexte 43">
            <a:extLst>
              <a:ext uri="{FF2B5EF4-FFF2-40B4-BE49-F238E27FC236}">
                <a16:creationId xmlns:a16="http://schemas.microsoft.com/office/drawing/2014/main" id="{840CCBDF-C6B3-8315-5C26-2E85871E3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5768" y="992092"/>
            <a:ext cx="293035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/>
            <a:r>
              <a:rPr lang="fr-FR" sz="6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FP FS 029 Version 2 du 10 Août 2021</a:t>
            </a:r>
          </a:p>
        </p:txBody>
      </p:sp>
    </p:spTree>
    <p:extLst>
      <p:ext uri="{BB962C8B-B14F-4D97-AF65-F5344CB8AC3E}">
        <p14:creationId xmlns:p14="http://schemas.microsoft.com/office/powerpoint/2010/main" val="21251884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691</Words>
  <Application>Microsoft Office PowerPoint</Application>
  <PresentationFormat>Affichage à l'écran (4:3)</PresentationFormat>
  <Paragraphs>67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Calibri</vt:lpstr>
      <vt:lpstr>Courier New</vt:lpstr>
      <vt:lpstr>Wingdings</vt:lpstr>
      <vt:lpstr>Thème Office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Giblaine, Anais           UTC CCS</dc:creator>
  <cp:lastModifiedBy>FOURRIER, Sabine</cp:lastModifiedBy>
  <cp:revision>60</cp:revision>
  <cp:lastPrinted>2018-04-27T13:40:11Z</cp:lastPrinted>
  <dcterms:created xsi:type="dcterms:W3CDTF">2017-01-04T15:17:33Z</dcterms:created>
  <dcterms:modified xsi:type="dcterms:W3CDTF">2023-07-25T11:40:41Z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2023-02-09T10:17:16Z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47995fc2-1f56-47ce-9137-a87caef4be74</vt:lpwstr>
  </property>
  <property fmtid="{D5CDD505-2E9C-101B-9397-08002B2CF9AE}" pid="7" name="MSIP_Label_defa4170-0d19-0005-0004-bc88714345d2_ActionId">
    <vt:lpwstr>5af1b339-8438-4e10-bc06-2540c9fbc81c</vt:lpwstr>
  </property>
  <property fmtid="{D5CDD505-2E9C-101B-9397-08002B2CF9AE}" pid="8" name="MSIP_Label_defa4170-0d19-0005-0004-bc88714345d2_ContentBits">
    <vt:lpwstr>0</vt:lpwstr>
  </property>
</Properties>
</file>