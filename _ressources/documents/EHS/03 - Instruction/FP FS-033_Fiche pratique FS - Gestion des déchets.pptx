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6858000" cy="9144000" type="screen4x3"/>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2172" y="5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le 1"/>
          <p:cNvSpPr>
            <a:spLocks noGrp="1"/>
          </p:cNvSpPr>
          <p:nvPr>
            <p:ph type="ctrTitle"/>
          </p:nvPr>
        </p:nvSpPr>
        <p:spPr>
          <a:xfrm>
            <a:off x="514350" y="3572074"/>
            <a:ext cx="5829300" cy="1960033"/>
          </a:xfrm>
        </p:spPr>
        <p:txBody>
          <a:bodyPr>
            <a:normAutofit/>
          </a:bodyPr>
          <a:lstStyle>
            <a:lvl1pPr>
              <a:defRPr sz="4000" b="1">
                <a:solidFill>
                  <a:schemeClr val="accent3">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028700" y="5181600"/>
            <a:ext cx="4800600" cy="23368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grpSp>
        <p:nvGrpSpPr>
          <p:cNvPr id="2" name="Groupe 1"/>
          <p:cNvGrpSpPr/>
          <p:nvPr userDrawn="1"/>
        </p:nvGrpSpPr>
        <p:grpSpPr>
          <a:xfrm>
            <a:off x="9468" y="8532440"/>
            <a:ext cx="6854400" cy="529570"/>
            <a:chOff x="9468" y="8532440"/>
            <a:chExt cx="6854400" cy="529570"/>
          </a:xfrm>
        </p:grpSpPr>
        <p:sp>
          <p:nvSpPr>
            <p:cNvPr id="44" name="Rectangle 43"/>
            <p:cNvSpPr/>
            <p:nvPr/>
          </p:nvSpPr>
          <p:spPr>
            <a:xfrm>
              <a:off x="9468" y="8532440"/>
              <a:ext cx="6854400" cy="529570"/>
            </a:xfrm>
            <a:prstGeom prst="rect">
              <a:avLst/>
            </a:prstGeom>
            <a:solidFill>
              <a:schemeClr val="bg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p:cNvSpPr txBox="1"/>
            <p:nvPr/>
          </p:nvSpPr>
          <p:spPr>
            <a:xfrm>
              <a:off x="4797152" y="8609549"/>
              <a:ext cx="1841416" cy="447197"/>
            </a:xfrm>
            <a:prstGeom prst="rect">
              <a:avLst/>
            </a:prstGeom>
            <a:noFill/>
          </p:spPr>
          <p:txBody>
            <a:bodyPr wrap="square" lIns="77111" tIns="38556" rIns="77111" bIns="38556" rtlCol="0">
              <a:spAutoFit/>
            </a:bodyPr>
            <a:lstStyle/>
            <a:p>
              <a:r>
                <a:rPr lang="fr-FR" sz="800" i="1" dirty="0">
                  <a:latin typeface="Calibri" panose="020F0502020204030204" pitchFamily="34" charset="0"/>
                </a:rPr>
                <a:t>Ce document est confidentiel. Toute reproduction, même partielle est interdite.</a:t>
              </a:r>
            </a:p>
          </p:txBody>
        </p:sp>
      </p:grpSp>
      <p:sp>
        <p:nvSpPr>
          <p:cNvPr id="12" name="Forme libre 11"/>
          <p:cNvSpPr/>
          <p:nvPr userDrawn="1"/>
        </p:nvSpPr>
        <p:spPr>
          <a:xfrm>
            <a:off x="-15352" y="995410"/>
            <a:ext cx="376518" cy="147918"/>
          </a:xfrm>
          <a:custGeom>
            <a:avLst/>
            <a:gdLst>
              <a:gd name="connsiteX0" fmla="*/ 0 w 376518"/>
              <a:gd name="connsiteY0" fmla="*/ 0 h 147918"/>
              <a:gd name="connsiteX1" fmla="*/ 376518 w 376518"/>
              <a:gd name="connsiteY1" fmla="*/ 0 h 147918"/>
              <a:gd name="connsiteX2" fmla="*/ 376518 w 376518"/>
              <a:gd name="connsiteY2" fmla="*/ 147918 h 147918"/>
              <a:gd name="connsiteX3" fmla="*/ 0 w 376518"/>
              <a:gd name="connsiteY3" fmla="*/ 0 h 147918"/>
            </a:gdLst>
            <a:ahLst/>
            <a:cxnLst>
              <a:cxn ang="0">
                <a:pos x="connsiteX0" y="connsiteY0"/>
              </a:cxn>
              <a:cxn ang="0">
                <a:pos x="connsiteX1" y="connsiteY1"/>
              </a:cxn>
              <a:cxn ang="0">
                <a:pos x="connsiteX2" y="connsiteY2"/>
              </a:cxn>
              <a:cxn ang="0">
                <a:pos x="connsiteX3" y="connsiteY3"/>
              </a:cxn>
            </a:cxnLst>
            <a:rect l="l" t="t" r="r" b="b"/>
            <a:pathLst>
              <a:path w="376518" h="147918">
                <a:moveTo>
                  <a:pt x="0" y="0"/>
                </a:moveTo>
                <a:lnTo>
                  <a:pt x="376518" y="0"/>
                </a:lnTo>
                <a:lnTo>
                  <a:pt x="376518" y="147918"/>
                </a:lnTo>
                <a:lnTo>
                  <a:pt x="0" y="0"/>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Processus 12"/>
          <p:cNvSpPr/>
          <p:nvPr userDrawn="1"/>
        </p:nvSpPr>
        <p:spPr>
          <a:xfrm>
            <a:off x="-1905" y="791581"/>
            <a:ext cx="6858000" cy="216024"/>
          </a:xfrm>
          <a:prstGeom prst="flowChart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4" name="Organigramme : Processus 13"/>
          <p:cNvSpPr/>
          <p:nvPr userDrawn="1"/>
        </p:nvSpPr>
        <p:spPr>
          <a:xfrm>
            <a:off x="330751" y="503549"/>
            <a:ext cx="2034730" cy="792088"/>
          </a:xfrm>
          <a:prstGeom prst="flowChartProcess">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5" name="Connecteur droit 14"/>
          <p:cNvCxnSpPr/>
          <p:nvPr userDrawn="1"/>
        </p:nvCxnSpPr>
        <p:spPr>
          <a:xfrm>
            <a:off x="978823" y="647565"/>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ZoneTexte 15"/>
          <p:cNvSpPr txBox="1"/>
          <p:nvPr userDrawn="1"/>
        </p:nvSpPr>
        <p:spPr>
          <a:xfrm>
            <a:off x="1123130" y="559563"/>
            <a:ext cx="383170" cy="707886"/>
          </a:xfrm>
          <a:prstGeom prst="rect">
            <a:avLst/>
          </a:prstGeom>
          <a:noFill/>
        </p:spPr>
        <p:txBody>
          <a:bodyPr wrap="square" rtlCol="0">
            <a:spAutoFit/>
          </a:bodyPr>
          <a:lstStyle/>
          <a:p>
            <a:r>
              <a:rPr lang="fr-FR" sz="4000" dirty="0"/>
              <a:t>H</a:t>
            </a:r>
          </a:p>
        </p:txBody>
      </p:sp>
      <p:sp>
        <p:nvSpPr>
          <p:cNvPr id="17" name="ZoneTexte 16"/>
          <p:cNvSpPr txBox="1"/>
          <p:nvPr userDrawn="1"/>
        </p:nvSpPr>
        <p:spPr>
          <a:xfrm>
            <a:off x="1844824" y="549455"/>
            <a:ext cx="383170" cy="707886"/>
          </a:xfrm>
          <a:prstGeom prst="rect">
            <a:avLst/>
          </a:prstGeom>
          <a:noFill/>
        </p:spPr>
        <p:txBody>
          <a:bodyPr wrap="square" rtlCol="0">
            <a:spAutoFit/>
          </a:bodyPr>
          <a:lstStyle/>
          <a:p>
            <a:r>
              <a:rPr lang="fr-FR" sz="4000" dirty="0"/>
              <a:t>S</a:t>
            </a:r>
          </a:p>
        </p:txBody>
      </p:sp>
      <p:sp>
        <p:nvSpPr>
          <p:cNvPr id="18" name="ZoneTexte 17"/>
          <p:cNvSpPr txBox="1"/>
          <p:nvPr userDrawn="1"/>
        </p:nvSpPr>
        <p:spPr>
          <a:xfrm>
            <a:off x="476672" y="547369"/>
            <a:ext cx="383170" cy="707886"/>
          </a:xfrm>
          <a:prstGeom prst="rect">
            <a:avLst/>
          </a:prstGeom>
          <a:noFill/>
        </p:spPr>
        <p:txBody>
          <a:bodyPr wrap="square" rtlCol="0">
            <a:spAutoFit/>
          </a:bodyPr>
          <a:lstStyle/>
          <a:p>
            <a:r>
              <a:rPr lang="fr-FR" sz="4000" b="1" dirty="0">
                <a:solidFill>
                  <a:schemeClr val="accent3">
                    <a:lumMod val="75000"/>
                  </a:schemeClr>
                </a:solidFill>
              </a:rPr>
              <a:t>E</a:t>
            </a:r>
          </a:p>
        </p:txBody>
      </p:sp>
      <p:cxnSp>
        <p:nvCxnSpPr>
          <p:cNvPr id="19" name="Connecteur droit 18"/>
          <p:cNvCxnSpPr/>
          <p:nvPr userDrawn="1"/>
        </p:nvCxnSpPr>
        <p:spPr>
          <a:xfrm>
            <a:off x="1698903" y="647565"/>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ZoneTexte 19"/>
          <p:cNvSpPr txBox="1"/>
          <p:nvPr userDrawn="1"/>
        </p:nvSpPr>
        <p:spPr>
          <a:xfrm>
            <a:off x="2477299" y="791581"/>
            <a:ext cx="3974132" cy="246221"/>
          </a:xfrm>
          <a:prstGeom prst="rect">
            <a:avLst/>
          </a:prstGeom>
          <a:noFill/>
        </p:spPr>
        <p:txBody>
          <a:bodyPr wrap="square" rtlCol="0">
            <a:spAutoFit/>
          </a:bodyPr>
          <a:lstStyle/>
          <a:p>
            <a:r>
              <a:rPr lang="fr-FR" sz="1000" i="1" dirty="0">
                <a:solidFill>
                  <a:schemeClr val="bg1"/>
                </a:solidFill>
              </a:rPr>
              <a:t>Hygiène    Sécurité</a:t>
            </a:r>
            <a:r>
              <a:rPr lang="fr-FR" sz="1000" b="1" i="1" dirty="0">
                <a:solidFill>
                  <a:schemeClr val="bg1"/>
                </a:solidFill>
              </a:rPr>
              <a:t>    </a:t>
            </a:r>
            <a:r>
              <a:rPr lang="fr-FR" sz="1000" i="1" dirty="0">
                <a:solidFill>
                  <a:schemeClr val="bg1"/>
                </a:solidFill>
              </a:rPr>
              <a:t> Management </a:t>
            </a:r>
          </a:p>
        </p:txBody>
      </p:sp>
      <p:sp>
        <p:nvSpPr>
          <p:cNvPr id="21" name="Pentagone 20"/>
          <p:cNvSpPr/>
          <p:nvPr userDrawn="1"/>
        </p:nvSpPr>
        <p:spPr>
          <a:xfrm>
            <a:off x="330270" y="791581"/>
            <a:ext cx="115686" cy="218044"/>
          </a:xfrm>
          <a:prstGeom prst="homePlat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p:cNvSpPr/>
          <p:nvPr userDrawn="1"/>
        </p:nvSpPr>
        <p:spPr>
          <a:xfrm rot="21419042">
            <a:off x="4977387" y="84448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userDrawn="1"/>
        </p:nvSpPr>
        <p:spPr>
          <a:xfrm rot="21339805">
            <a:off x="5395865" y="776754"/>
            <a:ext cx="1525226" cy="338554"/>
          </a:xfrm>
          <a:prstGeom prst="rect">
            <a:avLst/>
          </a:prstGeom>
        </p:spPr>
        <p:txBody>
          <a:bodyPr wrap="none">
            <a:spAutoFit/>
          </a:bodyPr>
          <a:lstStyle/>
          <a:p>
            <a:r>
              <a:rPr lang="fr-FR" sz="1600" b="1" i="1" dirty="0">
                <a:solidFill>
                  <a:prstClr val="white"/>
                </a:solidFill>
              </a:rPr>
              <a:t>Environnement </a:t>
            </a:r>
            <a:endParaRPr lang="fr-FR" sz="1600" b="1" dirty="0"/>
          </a:p>
        </p:txBody>
      </p:sp>
      <p:pic>
        <p:nvPicPr>
          <p:cNvPr id="24" name="Image 23"/>
          <p:cNvPicPr>
            <a:picLocks noChangeAspect="1"/>
          </p:cNvPicPr>
          <p:nvPr userDrawn="1"/>
        </p:nvPicPr>
        <p:blipFill>
          <a:blip r:embed="rId2" cstate="print">
            <a:duotone>
              <a:prstClr val="black"/>
              <a:schemeClr val="accent3">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8113" y="-75231"/>
            <a:ext cx="972109" cy="972109"/>
          </a:xfrm>
          <a:prstGeom prst="rect">
            <a:avLst/>
          </a:prstGeom>
        </p:spPr>
      </p:pic>
      <p:pic>
        <p:nvPicPr>
          <p:cNvPr id="4" name="Picture 2">
            <a:extLst>
              <a:ext uri="{FF2B5EF4-FFF2-40B4-BE49-F238E27FC236}">
                <a16:creationId xmlns:a16="http://schemas.microsoft.com/office/drawing/2014/main" id="{BEC85B63-259E-5DEF-92E9-D99F399F0CE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0183" y="8639142"/>
            <a:ext cx="3688081" cy="4293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5231178" y="8622284"/>
            <a:ext cx="1600200" cy="486833"/>
          </a:xfrm>
        </p:spPr>
        <p:txBody>
          <a:bodyPr/>
          <a:lstStyle/>
          <a:p>
            <a:fld id="{CF4668DC-857F-487D-BFFA-8C0CA5037977}" type="slidenum">
              <a:rPr lang="fr-BE" smtClean="0"/>
              <a:t>‹N°›</a:t>
            </a:fld>
            <a:endParaRPr lang="fr-BE"/>
          </a:p>
        </p:txBody>
      </p:sp>
      <p:sp>
        <p:nvSpPr>
          <p:cNvPr id="7" name="Content Placeholder 2"/>
          <p:cNvSpPr>
            <a:spLocks noGrp="1"/>
          </p:cNvSpPr>
          <p:nvPr>
            <p:ph idx="1"/>
          </p:nvPr>
        </p:nvSpPr>
        <p:spPr>
          <a:xfrm>
            <a:off x="342900" y="2133601"/>
            <a:ext cx="6172200" cy="6034617"/>
          </a:xfrm>
        </p:spPr>
        <p:txBody>
          <a:bodyPr/>
          <a:lstStyle>
            <a:lvl1pPr>
              <a:defRPr sz="2200">
                <a:solidFill>
                  <a:schemeClr val="accent3">
                    <a:lumMod val="75000"/>
                  </a:schemeClr>
                </a:solidFill>
                <a:latin typeface="Calibri" panose="020F0502020204030204" pitchFamily="34" charset="0"/>
              </a:defRPr>
            </a:lvl1pPr>
            <a:lvl2pPr marL="742950" indent="-285750">
              <a:buClr>
                <a:schemeClr val="accent3">
                  <a:lumMod val="75000"/>
                </a:schemeClr>
              </a:buClr>
              <a:buFont typeface="Wingdings" panose="05000000000000000000" pitchFamily="2" charset="2"/>
              <a:buChar char="§"/>
              <a:defRPr sz="1300">
                <a:solidFill>
                  <a:schemeClr val="tx1"/>
                </a:solidFill>
                <a:latin typeface="Calibri" panose="020F0502020204030204" pitchFamily="34" charset="0"/>
              </a:defRPr>
            </a:lvl2pPr>
            <a:lvl3pPr>
              <a:buClr>
                <a:schemeClr val="accent3">
                  <a:lumMod val="75000"/>
                </a:schemeClr>
              </a:buClr>
              <a:defRPr sz="1300">
                <a:solidFill>
                  <a:schemeClr val="tx1"/>
                </a:solidFill>
                <a:latin typeface="Calibri" panose="020F0502020204030204" pitchFamily="34" charset="0"/>
              </a:defRPr>
            </a:lvl3pPr>
            <a:lvl4pPr>
              <a:buClr>
                <a:schemeClr val="accent3">
                  <a:lumMod val="75000"/>
                </a:schemeClr>
              </a:buClr>
              <a:defRPr sz="1300">
                <a:solidFill>
                  <a:schemeClr val="tx1"/>
                </a:solidFill>
                <a:latin typeface="Calibri" panose="020F0502020204030204" pitchFamily="34" charset="0"/>
              </a:defRPr>
            </a:lvl4pPr>
            <a:lvl5pPr>
              <a:buClr>
                <a:schemeClr val="accent3">
                  <a:lumMod val="75000"/>
                </a:schemeClr>
              </a:buClr>
              <a:defRPr sz="1300">
                <a:solidFill>
                  <a:schemeClr val="tx1"/>
                </a:solidFill>
                <a:latin typeface="Calibri" panose="020F0502020204030204"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Title 1"/>
          <p:cNvSpPr>
            <a:spLocks noGrp="1"/>
          </p:cNvSpPr>
          <p:nvPr>
            <p:ph type="title" hasCustomPrompt="1"/>
          </p:nvPr>
        </p:nvSpPr>
        <p:spPr>
          <a:xfrm>
            <a:off x="342900" y="71670"/>
            <a:ext cx="6172200" cy="851925"/>
          </a:xfrm>
        </p:spPr>
        <p:txBody>
          <a:bodyPr>
            <a:normAutofit/>
          </a:bodyPr>
          <a:lstStyle>
            <a:lvl1pPr>
              <a:defRPr sz="2200" b="1">
                <a:solidFill>
                  <a:schemeClr val="accent3">
                    <a:lumMod val="75000"/>
                  </a:schemeClr>
                </a:solidFill>
                <a:latin typeface="Calibri" panose="020F0502020204030204" pitchFamily="34" charset="0"/>
              </a:defRPr>
            </a:lvl1pPr>
          </a:lstStyle>
          <a:p>
            <a:r>
              <a:rPr lang="fr-FR" dirty="0"/>
              <a:t>MODIFIEZ LE STYLE DU TITRE</a:t>
            </a:r>
            <a:endParaRPr lang="en-US" dirty="0"/>
          </a:p>
        </p:txBody>
      </p:sp>
      <p:sp>
        <p:nvSpPr>
          <p:cNvPr id="12" name="Organigramme : Processus 11"/>
          <p:cNvSpPr/>
          <p:nvPr userDrawn="1"/>
        </p:nvSpPr>
        <p:spPr>
          <a:xfrm>
            <a:off x="-1745" y="1187624"/>
            <a:ext cx="6858000" cy="216024"/>
          </a:xfrm>
          <a:prstGeom prst="flowChart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userDrawn="1"/>
        </p:nvSpPr>
        <p:spPr>
          <a:xfrm rot="21336737">
            <a:off x="5444589" y="1165055"/>
            <a:ext cx="1502053" cy="338554"/>
          </a:xfrm>
          <a:prstGeom prst="rect">
            <a:avLst/>
          </a:prstGeom>
        </p:spPr>
        <p:txBody>
          <a:bodyPr wrap="square">
            <a:spAutoFit/>
          </a:bodyPr>
          <a:lstStyle/>
          <a:p>
            <a:r>
              <a:rPr lang="fr-FR" sz="1600" b="1" i="1" dirty="0">
                <a:solidFill>
                  <a:schemeClr val="bg1"/>
                </a:solidFill>
              </a:rPr>
              <a:t>Environnement</a:t>
            </a:r>
            <a:endParaRPr lang="fr-FR"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5245976" y="8640298"/>
            <a:ext cx="1600200" cy="486833"/>
          </a:xfrm>
        </p:spPr>
        <p:txBody>
          <a:bodyPr/>
          <a:lstStyle/>
          <a:p>
            <a:fld id="{CF4668DC-857F-487D-BFFA-8C0CA5037977}" type="slidenum">
              <a:rPr lang="fr-BE" smtClean="0"/>
              <a:t>‹N°›</a:t>
            </a:fld>
            <a:endParaRPr lang="fr-BE"/>
          </a:p>
        </p:txBody>
      </p:sp>
      <p:sp>
        <p:nvSpPr>
          <p:cNvPr id="7" name="Title 1"/>
          <p:cNvSpPr>
            <a:spLocks noGrp="1"/>
          </p:cNvSpPr>
          <p:nvPr>
            <p:ph type="ctrTitle"/>
          </p:nvPr>
        </p:nvSpPr>
        <p:spPr>
          <a:xfrm>
            <a:off x="514350" y="3572074"/>
            <a:ext cx="5829300" cy="1960033"/>
          </a:xfrm>
        </p:spPr>
        <p:txBody>
          <a:bodyPr>
            <a:normAutofit/>
          </a:bodyPr>
          <a:lstStyle>
            <a:lvl1pPr>
              <a:defRPr sz="4000" b="1">
                <a:solidFill>
                  <a:schemeClr val="accent3">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028700" y="5181600"/>
            <a:ext cx="4800600" cy="23368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12" name="Organigramme : Processus 11"/>
          <p:cNvSpPr/>
          <p:nvPr userDrawn="1"/>
        </p:nvSpPr>
        <p:spPr>
          <a:xfrm>
            <a:off x="-1745" y="1187624"/>
            <a:ext cx="6858000" cy="216024"/>
          </a:xfrm>
          <a:prstGeom prst="flowChart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userDrawn="1"/>
        </p:nvSpPr>
        <p:spPr>
          <a:xfrm rot="21336737">
            <a:off x="5444589" y="1165055"/>
            <a:ext cx="1502053" cy="338554"/>
          </a:xfrm>
          <a:prstGeom prst="rect">
            <a:avLst/>
          </a:prstGeom>
        </p:spPr>
        <p:txBody>
          <a:bodyPr wrap="square">
            <a:spAutoFit/>
          </a:bodyPr>
          <a:lstStyle/>
          <a:p>
            <a:r>
              <a:rPr lang="fr-FR" sz="1600" b="1" i="1" dirty="0">
                <a:solidFill>
                  <a:schemeClr val="bg1"/>
                </a:solidFill>
              </a:rPr>
              <a:t>Environnement</a:t>
            </a:r>
            <a:endParaRPr lang="fr-FR"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5245976" y="8628370"/>
            <a:ext cx="1600200" cy="486833"/>
          </a:xfrm>
        </p:spPr>
        <p:txBody>
          <a:bodyPr/>
          <a:lstStyle/>
          <a:p>
            <a:fld id="{CF4668DC-857F-487D-BFFA-8C0CA5037977}" type="slidenum">
              <a:rPr lang="fr-BE" smtClean="0"/>
              <a:t>‹N°›</a:t>
            </a:fld>
            <a:endParaRPr lang="fr-BE"/>
          </a:p>
        </p:txBody>
      </p:sp>
      <p:sp>
        <p:nvSpPr>
          <p:cNvPr id="8" name="Title 1"/>
          <p:cNvSpPr>
            <a:spLocks noGrp="1"/>
          </p:cNvSpPr>
          <p:nvPr>
            <p:ph type="title" hasCustomPrompt="1"/>
          </p:nvPr>
        </p:nvSpPr>
        <p:spPr>
          <a:xfrm>
            <a:off x="342900" y="24995"/>
            <a:ext cx="6172200" cy="851925"/>
          </a:xfrm>
        </p:spPr>
        <p:txBody>
          <a:bodyPr>
            <a:normAutofit/>
          </a:bodyPr>
          <a:lstStyle>
            <a:lvl1pPr>
              <a:defRPr sz="2200" b="1">
                <a:solidFill>
                  <a:schemeClr val="accent3">
                    <a:lumMod val="75000"/>
                  </a:schemeClr>
                </a:solidFill>
                <a:latin typeface="Calibri" panose="020F0502020204030204" pitchFamily="34" charset="0"/>
              </a:defRPr>
            </a:lvl1pPr>
          </a:lstStyle>
          <a:p>
            <a:r>
              <a:rPr lang="fr-FR" dirty="0"/>
              <a:t>MODIFIEZ LE STYLE DU TITRE</a:t>
            </a:r>
            <a:endParaRPr lang="en-US" dirty="0"/>
          </a:p>
        </p:txBody>
      </p:sp>
      <p:sp>
        <p:nvSpPr>
          <p:cNvPr id="7" name="Organigramme : Processus 6"/>
          <p:cNvSpPr/>
          <p:nvPr userDrawn="1"/>
        </p:nvSpPr>
        <p:spPr>
          <a:xfrm>
            <a:off x="-1745" y="1187624"/>
            <a:ext cx="6858000" cy="216024"/>
          </a:xfrm>
          <a:prstGeom prst="flowChart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 name="Rectangle 11"/>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userDrawn="1"/>
        </p:nvSpPr>
        <p:spPr>
          <a:xfrm rot="21336737">
            <a:off x="5444589" y="1165055"/>
            <a:ext cx="1502053" cy="338554"/>
          </a:xfrm>
          <a:prstGeom prst="rect">
            <a:avLst/>
          </a:prstGeom>
        </p:spPr>
        <p:txBody>
          <a:bodyPr wrap="square">
            <a:spAutoFit/>
          </a:bodyPr>
          <a:lstStyle/>
          <a:p>
            <a:r>
              <a:rPr lang="fr-FR" sz="1600" b="1" i="1" dirty="0">
                <a:solidFill>
                  <a:schemeClr val="bg1"/>
                </a:solidFill>
              </a:rPr>
              <a:t>Environnement</a:t>
            </a:r>
            <a:endParaRPr lang="fr-FR"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092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Cliquez pour modifier le style du titre</a:t>
            </a:r>
            <a:endParaRPr lang="fr-BE"/>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t>04/10/2024</a:t>
            </a:fld>
            <a:endParaRPr lang="fr-BE"/>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9" Type="http://schemas.openxmlformats.org/officeDocument/2006/relationships/image" Target="../media/image40.png"/><Relationship Id="rId3" Type="http://schemas.openxmlformats.org/officeDocument/2006/relationships/image" Target="../media/image4.jpeg"/><Relationship Id="rId21" Type="http://schemas.openxmlformats.org/officeDocument/2006/relationships/image" Target="../media/image22.png"/><Relationship Id="rId34" Type="http://schemas.openxmlformats.org/officeDocument/2006/relationships/image" Target="../media/image35.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38" Type="http://schemas.openxmlformats.org/officeDocument/2006/relationships/image" Target="../media/image39.png"/><Relationship Id="rId2" Type="http://schemas.openxmlformats.org/officeDocument/2006/relationships/image" Target="../media/image3.jpeg"/><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7.jpe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37" Type="http://schemas.openxmlformats.org/officeDocument/2006/relationships/image" Target="../media/image38.png"/><Relationship Id="rId5" Type="http://schemas.openxmlformats.org/officeDocument/2006/relationships/image" Target="../media/image6.jpe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image" Target="../media/image37.pn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jpe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jpeg"/><Relationship Id="rId35"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2"/>
          <p:cNvSpPr txBox="1">
            <a:spLocks/>
          </p:cNvSpPr>
          <p:nvPr/>
        </p:nvSpPr>
        <p:spPr>
          <a:xfrm>
            <a:off x="1878778" y="1127787"/>
            <a:ext cx="3820616" cy="8519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b="1" kern="1200">
                <a:solidFill>
                  <a:schemeClr val="accent3">
                    <a:lumMod val="75000"/>
                  </a:schemeClr>
                </a:solidFill>
                <a:latin typeface="Calibri" panose="020F0502020204030204" pitchFamily="34" charset="0"/>
                <a:ea typeface="+mj-ea"/>
                <a:cs typeface="+mj-cs"/>
              </a:defRPr>
            </a:lvl1pPr>
          </a:lstStyle>
          <a:p>
            <a:r>
              <a:rPr lang="fr-FR" sz="2400" dirty="0"/>
              <a:t>La gestion des déchets</a:t>
            </a:r>
          </a:p>
        </p:txBody>
      </p:sp>
      <p:sp>
        <p:nvSpPr>
          <p:cNvPr id="5" name="Rectangle 4"/>
          <p:cNvSpPr/>
          <p:nvPr/>
        </p:nvSpPr>
        <p:spPr>
          <a:xfrm>
            <a:off x="144517" y="1893160"/>
            <a:ext cx="6565751" cy="18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400" b="1" dirty="0">
                <a:solidFill>
                  <a:schemeClr val="bg1"/>
                </a:solidFill>
              </a:rPr>
              <a:t>Objet</a:t>
            </a:r>
          </a:p>
        </p:txBody>
      </p:sp>
      <p:sp>
        <p:nvSpPr>
          <p:cNvPr id="7" name="Rectangle 6"/>
          <p:cNvSpPr/>
          <p:nvPr/>
        </p:nvSpPr>
        <p:spPr>
          <a:xfrm>
            <a:off x="144515" y="2157844"/>
            <a:ext cx="6565751" cy="253916"/>
          </a:xfrm>
          <a:prstGeom prst="rect">
            <a:avLst/>
          </a:prstGeom>
        </p:spPr>
        <p:txBody>
          <a:bodyPr wrap="square">
            <a:spAutoFit/>
          </a:bodyPr>
          <a:lstStyle/>
          <a:p>
            <a:pPr algn="just"/>
            <a:r>
              <a:rPr lang="fr-FR" sz="1050" dirty="0"/>
              <a:t>Ce mode opératoire décrit les modalités de gestion des déchets générés lors de nos interventions ou dans nos locaux.</a:t>
            </a:r>
          </a:p>
        </p:txBody>
      </p:sp>
      <p:sp>
        <p:nvSpPr>
          <p:cNvPr id="25" name="ZoneTexte 43"/>
          <p:cNvSpPr txBox="1">
            <a:spLocks noChangeArrowheads="1"/>
          </p:cNvSpPr>
          <p:nvPr/>
        </p:nvSpPr>
        <p:spPr bwMode="auto">
          <a:xfrm>
            <a:off x="3948352" y="611560"/>
            <a:ext cx="29303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r>
              <a:rPr lang="fr-FR" sz="600" i="1" dirty="0">
                <a:solidFill>
                  <a:schemeClr val="bg1">
                    <a:lumMod val="65000"/>
                  </a:schemeClr>
                </a:solidFill>
                <a:latin typeface="Arial" panose="020B0604020202020204" pitchFamily="34" charset="0"/>
                <a:cs typeface="Arial" panose="020B0604020202020204" pitchFamily="34" charset="0"/>
              </a:rPr>
              <a:t>FP FS 033 Version 4 du 03/10/2024</a:t>
            </a:r>
          </a:p>
        </p:txBody>
      </p:sp>
      <p:sp>
        <p:nvSpPr>
          <p:cNvPr id="66" name="Rectangle 65"/>
          <p:cNvSpPr/>
          <p:nvPr/>
        </p:nvSpPr>
        <p:spPr>
          <a:xfrm>
            <a:off x="155065" y="6407180"/>
            <a:ext cx="6565751" cy="2092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400" b="1" dirty="0">
                <a:solidFill>
                  <a:schemeClr val="bg1"/>
                </a:solidFill>
              </a:rPr>
              <a:t>Règles de gestion des déchets</a:t>
            </a:r>
          </a:p>
        </p:txBody>
      </p:sp>
      <p:sp>
        <p:nvSpPr>
          <p:cNvPr id="67" name="Rectangle 66"/>
          <p:cNvSpPr/>
          <p:nvPr/>
        </p:nvSpPr>
        <p:spPr>
          <a:xfrm>
            <a:off x="133533" y="6794870"/>
            <a:ext cx="6565751" cy="1546577"/>
          </a:xfrm>
          <a:prstGeom prst="rect">
            <a:avLst/>
          </a:prstGeom>
        </p:spPr>
        <p:txBody>
          <a:bodyPr wrap="square">
            <a:spAutoFit/>
          </a:bodyPr>
          <a:lstStyle/>
          <a:p>
            <a:pPr marL="228600" indent="-228600" algn="just">
              <a:buClr>
                <a:schemeClr val="accent3">
                  <a:lumMod val="50000"/>
                </a:schemeClr>
              </a:buClr>
              <a:buFont typeface="Wingdings" panose="05000000000000000000" pitchFamily="2" charset="2"/>
              <a:buChar char="§"/>
            </a:pPr>
            <a:r>
              <a:rPr lang="fr-FR" sz="1050" dirty="0"/>
              <a:t>Sauf demande spécifique du client, il est interdit de laisser des déchets issus de nos activités chez le client. Tous les déchets générés doivent être récupérés et déposés dans les bacs de tris en agence.</a:t>
            </a:r>
          </a:p>
          <a:p>
            <a:pPr marL="228600" indent="-228600" algn="just">
              <a:buClr>
                <a:schemeClr val="accent3">
                  <a:lumMod val="50000"/>
                </a:schemeClr>
              </a:buClr>
              <a:buFont typeface="Wingdings" panose="05000000000000000000" pitchFamily="2" charset="2"/>
              <a:buChar char="§"/>
            </a:pPr>
            <a:r>
              <a:rPr lang="fr-FR" sz="1050" dirty="0"/>
              <a:t>Le tri des déchets en agence doit être scrupuleusement respecté</a:t>
            </a:r>
          </a:p>
          <a:p>
            <a:pPr marL="228600" indent="-228600" algn="just">
              <a:buClr>
                <a:schemeClr val="accent3">
                  <a:lumMod val="50000"/>
                </a:schemeClr>
              </a:buClr>
              <a:buFont typeface="Wingdings" panose="05000000000000000000" pitchFamily="2" charset="2"/>
              <a:buChar char="§"/>
            </a:pPr>
            <a:r>
              <a:rPr lang="fr-FR" sz="1050" dirty="0"/>
              <a:t>Tous les bacs de tri de déchets en agence possèdent un affichage précisant le type de déchets autorisé à y être stocké</a:t>
            </a:r>
          </a:p>
          <a:p>
            <a:pPr marL="228600" indent="-228600" algn="just">
              <a:buClr>
                <a:schemeClr val="accent3">
                  <a:lumMod val="50000"/>
                </a:schemeClr>
              </a:buClr>
              <a:buFont typeface="Wingdings" panose="05000000000000000000" pitchFamily="2" charset="2"/>
              <a:buChar char="§"/>
            </a:pPr>
            <a:r>
              <a:rPr lang="fr-FR" sz="1050" dirty="0"/>
              <a:t>Certains déchets doivent être stockés de façon particulière. Respectez les modalités de stockage </a:t>
            </a:r>
            <a:r>
              <a:rPr lang="fr-FR" sz="1050" dirty="0">
                <a:solidFill>
                  <a:srgbClr val="0070C0"/>
                </a:solidFill>
              </a:rPr>
              <a:t>et prenez connaissance des </a:t>
            </a:r>
            <a:r>
              <a:rPr lang="fr-FR" sz="1050">
                <a:solidFill>
                  <a:srgbClr val="0070C0"/>
                </a:solidFill>
              </a:rPr>
              <a:t>Affichages déchets </a:t>
            </a:r>
            <a:r>
              <a:rPr lang="fr-FR" sz="1050" dirty="0">
                <a:solidFill>
                  <a:srgbClr val="0070C0"/>
                </a:solidFill>
              </a:rPr>
              <a:t>à proximité du contenant correspondant.</a:t>
            </a:r>
          </a:p>
          <a:p>
            <a:pPr marL="228600" indent="-228600" algn="just">
              <a:buClr>
                <a:schemeClr val="accent3">
                  <a:lumMod val="50000"/>
                </a:schemeClr>
              </a:buClr>
              <a:buFont typeface="Wingdings" panose="05000000000000000000" pitchFamily="2" charset="2"/>
              <a:buChar char="§"/>
            </a:pPr>
            <a:r>
              <a:rPr lang="fr-FR" sz="1050" dirty="0"/>
              <a:t>En cas de doute, ou d’anomalie constatée dans la zone de stockage, contactez immédiatement </a:t>
            </a:r>
            <a:r>
              <a:rPr lang="fr-FR" sz="1050" dirty="0">
                <a:solidFill>
                  <a:srgbClr val="0070C0"/>
                </a:solidFill>
              </a:rPr>
              <a:t>votre Gestionnaire de stock</a:t>
            </a:r>
            <a:r>
              <a:rPr lang="fr-FR" sz="1050" dirty="0"/>
              <a:t> ou votre Responsable hiérarchique</a:t>
            </a:r>
          </a:p>
        </p:txBody>
      </p:sp>
      <p:sp>
        <p:nvSpPr>
          <p:cNvPr id="12" name="Rectangle 11"/>
          <p:cNvSpPr/>
          <p:nvPr/>
        </p:nvSpPr>
        <p:spPr>
          <a:xfrm>
            <a:off x="144516" y="2515464"/>
            <a:ext cx="6565751" cy="18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400" b="1" dirty="0">
                <a:solidFill>
                  <a:schemeClr val="bg1"/>
                </a:solidFill>
              </a:rPr>
              <a:t>Types de déchets produits</a:t>
            </a:r>
          </a:p>
        </p:txBody>
      </p:sp>
      <p:sp>
        <p:nvSpPr>
          <p:cNvPr id="122" name="Rectangle à coins arrondis 10">
            <a:extLst>
              <a:ext uri="{FF2B5EF4-FFF2-40B4-BE49-F238E27FC236}">
                <a16:creationId xmlns:a16="http://schemas.microsoft.com/office/drawing/2014/main" id="{66A3276F-9F4F-8931-90E7-0F8EF835CC1E}"/>
              </a:ext>
            </a:extLst>
          </p:cNvPr>
          <p:cNvSpPr/>
          <p:nvPr/>
        </p:nvSpPr>
        <p:spPr>
          <a:xfrm>
            <a:off x="144515" y="2756156"/>
            <a:ext cx="2420390" cy="3461753"/>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à coins arrondis 19">
            <a:extLst>
              <a:ext uri="{FF2B5EF4-FFF2-40B4-BE49-F238E27FC236}">
                <a16:creationId xmlns:a16="http://schemas.microsoft.com/office/drawing/2014/main" id="{48E643A0-94C7-91E9-F0ED-BC1C35272D69}"/>
              </a:ext>
            </a:extLst>
          </p:cNvPr>
          <p:cNvSpPr/>
          <p:nvPr/>
        </p:nvSpPr>
        <p:spPr>
          <a:xfrm>
            <a:off x="213458" y="2887737"/>
            <a:ext cx="2282505" cy="312050"/>
          </a:xfrm>
          <a:prstGeom prst="roundRect">
            <a:avLst>
              <a:gd name="adj" fmla="val 50000"/>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rgbClr val="FF0000"/>
                </a:solidFill>
              </a:rPr>
              <a:t>Les Déchets Non Dangereux</a:t>
            </a:r>
          </a:p>
        </p:txBody>
      </p:sp>
      <p:pic>
        <p:nvPicPr>
          <p:cNvPr id="126" name="Image 125" descr="Une image contenant conception&#10;&#10;Description générée automatiquement avec une confiance faible">
            <a:extLst>
              <a:ext uri="{FF2B5EF4-FFF2-40B4-BE49-F238E27FC236}">
                <a16:creationId xmlns:a16="http://schemas.microsoft.com/office/drawing/2014/main" id="{268DB339-160E-E19C-BD0D-6DE1121EC0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956" y="4662821"/>
            <a:ext cx="540000" cy="540000"/>
          </a:xfrm>
          <a:prstGeom prst="rect">
            <a:avLst/>
          </a:prstGeom>
        </p:spPr>
      </p:pic>
      <p:pic>
        <p:nvPicPr>
          <p:cNvPr id="127" name="Image 126" descr="Une image contenant jaune, ligne, Rectangle, capture d’écran&#10;&#10;Description générée automatiquement">
            <a:extLst>
              <a:ext uri="{FF2B5EF4-FFF2-40B4-BE49-F238E27FC236}">
                <a16:creationId xmlns:a16="http://schemas.microsoft.com/office/drawing/2014/main" id="{5D08B51B-B29F-6B16-9B7A-A65B7BC668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8748" y="4662821"/>
            <a:ext cx="540000" cy="540000"/>
          </a:xfrm>
          <a:prstGeom prst="rect">
            <a:avLst/>
          </a:prstGeom>
        </p:spPr>
      </p:pic>
      <p:pic>
        <p:nvPicPr>
          <p:cNvPr id="1024" name="Image 1023" descr="Une image contenant Rectangle, conception&#10;&#10;Description générée automatiquement">
            <a:extLst>
              <a:ext uri="{FF2B5EF4-FFF2-40B4-BE49-F238E27FC236}">
                <a16:creationId xmlns:a16="http://schemas.microsoft.com/office/drawing/2014/main" id="{30E59697-39EA-EBB0-395E-D94AEBE89B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5935" y="3271964"/>
            <a:ext cx="540000" cy="540000"/>
          </a:xfrm>
          <a:prstGeom prst="rect">
            <a:avLst/>
          </a:prstGeom>
        </p:spPr>
      </p:pic>
      <p:pic>
        <p:nvPicPr>
          <p:cNvPr id="1025" name="Image 1024" descr="Une image contenant plastique&#10;&#10;Description générée automatiquement">
            <a:extLst>
              <a:ext uri="{FF2B5EF4-FFF2-40B4-BE49-F238E27FC236}">
                <a16:creationId xmlns:a16="http://schemas.microsoft.com/office/drawing/2014/main" id="{7C946DAC-7011-0F39-65A8-5323503FDAA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8844" y="3995936"/>
            <a:ext cx="540000" cy="540000"/>
          </a:xfrm>
          <a:prstGeom prst="rect">
            <a:avLst/>
          </a:prstGeom>
        </p:spPr>
      </p:pic>
      <p:pic>
        <p:nvPicPr>
          <p:cNvPr id="1026" name="Image 1025" descr="Une image contenant conception&#10;&#10;Description générée automatiquement avec une confiance moyenne">
            <a:extLst>
              <a:ext uri="{FF2B5EF4-FFF2-40B4-BE49-F238E27FC236}">
                <a16:creationId xmlns:a16="http://schemas.microsoft.com/office/drawing/2014/main" id="{A71C8FDA-3E54-FD41-1A4B-E59AD329326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0083" y="4658709"/>
            <a:ext cx="540000" cy="540000"/>
          </a:xfrm>
          <a:prstGeom prst="rect">
            <a:avLst/>
          </a:prstGeom>
        </p:spPr>
      </p:pic>
      <p:pic>
        <p:nvPicPr>
          <p:cNvPr id="1027" name="Image 1026" descr="Une image contenant conception, illustration, clipart&#10;&#10;Description générée automatiquement avec une confiance moyenne">
            <a:extLst>
              <a:ext uri="{FF2B5EF4-FFF2-40B4-BE49-F238E27FC236}">
                <a16:creationId xmlns:a16="http://schemas.microsoft.com/office/drawing/2014/main" id="{52242C1A-E29F-766A-224E-1C60B813592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98652" y="3995936"/>
            <a:ext cx="540000" cy="540000"/>
          </a:xfrm>
          <a:prstGeom prst="rect">
            <a:avLst/>
          </a:prstGeom>
        </p:spPr>
      </p:pic>
      <p:pic>
        <p:nvPicPr>
          <p:cNvPr id="1029" name="Image 1028" descr="Une image contenant clipart, symbole, conception&#10;&#10;Description générée automatiquement">
            <a:extLst>
              <a:ext uri="{FF2B5EF4-FFF2-40B4-BE49-F238E27FC236}">
                <a16:creationId xmlns:a16="http://schemas.microsoft.com/office/drawing/2014/main" id="{58297BA1-73C7-AA78-D9F6-53555F17100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86841" y="5387752"/>
            <a:ext cx="540000" cy="540000"/>
          </a:xfrm>
          <a:prstGeom prst="rect">
            <a:avLst/>
          </a:prstGeom>
        </p:spPr>
      </p:pic>
      <p:pic>
        <p:nvPicPr>
          <p:cNvPr id="1030" name="Image 1029" descr="Une image contenant bois, Planche, Bloc de bois, Rectangle&#10;&#10;Description générée automatiquement">
            <a:extLst>
              <a:ext uri="{FF2B5EF4-FFF2-40B4-BE49-F238E27FC236}">
                <a16:creationId xmlns:a16="http://schemas.microsoft.com/office/drawing/2014/main" id="{B6075FC8-89D2-CDA2-066A-E5B8A7BEC60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977293" y="3996526"/>
            <a:ext cx="540000" cy="540000"/>
          </a:xfrm>
          <a:prstGeom prst="rect">
            <a:avLst/>
          </a:prstGeom>
        </p:spPr>
      </p:pic>
      <p:pic>
        <p:nvPicPr>
          <p:cNvPr id="1031" name="Image 1030" descr="Une image contenant clipart, dessin, symbole, logo&#10;&#10;Description générée automatiquement">
            <a:extLst>
              <a:ext uri="{FF2B5EF4-FFF2-40B4-BE49-F238E27FC236}">
                <a16:creationId xmlns:a16="http://schemas.microsoft.com/office/drawing/2014/main" id="{6AA4E5CB-910B-D1C1-593E-1B70A871A7A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406784" y="5387752"/>
            <a:ext cx="540000" cy="540000"/>
          </a:xfrm>
          <a:prstGeom prst="rect">
            <a:avLst/>
          </a:prstGeom>
        </p:spPr>
      </p:pic>
      <p:pic>
        <p:nvPicPr>
          <p:cNvPr id="1032" name="Image 1031" descr="Une image contenant cube, conception&#10;&#10;Description générée automatiquement">
            <a:extLst>
              <a:ext uri="{FF2B5EF4-FFF2-40B4-BE49-F238E27FC236}">
                <a16:creationId xmlns:a16="http://schemas.microsoft.com/office/drawing/2014/main" id="{983BE3FB-A3A4-8AAD-CEDE-68F2C57CA05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673199" y="3271964"/>
            <a:ext cx="540000" cy="540000"/>
          </a:xfrm>
          <a:prstGeom prst="rect">
            <a:avLst/>
          </a:prstGeom>
        </p:spPr>
      </p:pic>
      <p:pic>
        <p:nvPicPr>
          <p:cNvPr id="1034" name="Image 1033">
            <a:extLst>
              <a:ext uri="{FF2B5EF4-FFF2-40B4-BE49-F238E27FC236}">
                <a16:creationId xmlns:a16="http://schemas.microsoft.com/office/drawing/2014/main" id="{6B19D62D-C9D8-57DA-6AEB-93DAC6C48DB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399802" y="4657443"/>
            <a:ext cx="540000" cy="540000"/>
          </a:xfrm>
          <a:prstGeom prst="rect">
            <a:avLst/>
          </a:prstGeom>
        </p:spPr>
      </p:pic>
      <p:pic>
        <p:nvPicPr>
          <p:cNvPr id="1035" name="Image 1034" descr="Une image contenant dessin, clipart, illustration, croquis&#10;&#10;Description générée automatiquement">
            <a:extLst>
              <a:ext uri="{FF2B5EF4-FFF2-40B4-BE49-F238E27FC236}">
                <a16:creationId xmlns:a16="http://schemas.microsoft.com/office/drawing/2014/main" id="{08C848CE-AC6D-6721-3B89-73C28676B1C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04794" y="3271964"/>
            <a:ext cx="540000" cy="540000"/>
          </a:xfrm>
          <a:prstGeom prst="rect">
            <a:avLst/>
          </a:prstGeom>
        </p:spPr>
      </p:pic>
      <p:pic>
        <p:nvPicPr>
          <p:cNvPr id="1036" name="Image 1035" descr="Une image contenant cercle, capture d’écran, conception&#10;&#10;Description générée automatiquement">
            <a:extLst>
              <a:ext uri="{FF2B5EF4-FFF2-40B4-BE49-F238E27FC236}">
                <a16:creationId xmlns:a16="http://schemas.microsoft.com/office/drawing/2014/main" id="{8DCD3E4B-C729-5FA0-E72F-2F3B64290C1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8748" y="3995936"/>
            <a:ext cx="540000" cy="540000"/>
          </a:xfrm>
          <a:prstGeom prst="rect">
            <a:avLst/>
          </a:prstGeom>
        </p:spPr>
      </p:pic>
      <p:sp>
        <p:nvSpPr>
          <p:cNvPr id="1037" name="Rectangle à coins arrondis 11">
            <a:extLst>
              <a:ext uri="{FF2B5EF4-FFF2-40B4-BE49-F238E27FC236}">
                <a16:creationId xmlns:a16="http://schemas.microsoft.com/office/drawing/2014/main" id="{E2ED1D20-A1B4-1301-50FC-B0548981288F}"/>
              </a:ext>
            </a:extLst>
          </p:cNvPr>
          <p:cNvSpPr/>
          <p:nvPr/>
        </p:nvSpPr>
        <p:spPr>
          <a:xfrm>
            <a:off x="2658651" y="2756156"/>
            <a:ext cx="2660547" cy="3461754"/>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b="1">
              <a:solidFill>
                <a:schemeClr val="bg1"/>
              </a:solidFill>
            </a:endParaRPr>
          </a:p>
        </p:txBody>
      </p:sp>
      <p:sp>
        <p:nvSpPr>
          <p:cNvPr id="1038" name="Rectangle à coins arrondis 20">
            <a:extLst>
              <a:ext uri="{FF2B5EF4-FFF2-40B4-BE49-F238E27FC236}">
                <a16:creationId xmlns:a16="http://schemas.microsoft.com/office/drawing/2014/main" id="{ACCAF6E0-47C9-D8C0-6CC5-31D1FB059C70}"/>
              </a:ext>
            </a:extLst>
          </p:cNvPr>
          <p:cNvSpPr/>
          <p:nvPr/>
        </p:nvSpPr>
        <p:spPr>
          <a:xfrm>
            <a:off x="2730137" y="2881829"/>
            <a:ext cx="2517575" cy="313200"/>
          </a:xfrm>
          <a:prstGeom prst="roundRect">
            <a:avLst>
              <a:gd name="adj" fmla="val 50000"/>
            </a:avLst>
          </a:prstGeom>
          <a:solidFill>
            <a:schemeClr val="bg1"/>
          </a:solid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FF0000"/>
                </a:solidFill>
              </a:rPr>
              <a:t>Les Déchets Dangereux</a:t>
            </a:r>
          </a:p>
        </p:txBody>
      </p:sp>
      <p:sp>
        <p:nvSpPr>
          <p:cNvPr id="1039" name="ZoneTexte 1038">
            <a:extLst>
              <a:ext uri="{FF2B5EF4-FFF2-40B4-BE49-F238E27FC236}">
                <a16:creationId xmlns:a16="http://schemas.microsoft.com/office/drawing/2014/main" id="{6C928F72-F286-01BF-F900-E1CD74969B16}"/>
              </a:ext>
            </a:extLst>
          </p:cNvPr>
          <p:cNvSpPr txBox="1"/>
          <p:nvPr/>
        </p:nvSpPr>
        <p:spPr>
          <a:xfrm>
            <a:off x="2581792" y="3710390"/>
            <a:ext cx="838927" cy="184666"/>
          </a:xfrm>
          <a:prstGeom prst="rect">
            <a:avLst/>
          </a:prstGeom>
          <a:noFill/>
        </p:spPr>
        <p:txBody>
          <a:bodyPr wrap="square" rtlCol="0">
            <a:spAutoFit/>
          </a:bodyPr>
          <a:lstStyle/>
          <a:p>
            <a:pPr algn="ctr"/>
            <a:r>
              <a:rPr lang="fr-FR" sz="600" b="1" dirty="0">
                <a:solidFill>
                  <a:schemeClr val="bg1"/>
                </a:solidFill>
              </a:rPr>
              <a:t>Extincteurs</a:t>
            </a:r>
          </a:p>
        </p:txBody>
      </p:sp>
      <p:sp>
        <p:nvSpPr>
          <p:cNvPr id="1040" name="ZoneTexte 1039">
            <a:extLst>
              <a:ext uri="{FF2B5EF4-FFF2-40B4-BE49-F238E27FC236}">
                <a16:creationId xmlns:a16="http://schemas.microsoft.com/office/drawing/2014/main" id="{5BF1722F-FB65-4A23-5F79-9B97CA1FDE3C}"/>
              </a:ext>
            </a:extLst>
          </p:cNvPr>
          <p:cNvSpPr txBox="1"/>
          <p:nvPr/>
        </p:nvSpPr>
        <p:spPr>
          <a:xfrm>
            <a:off x="4301274" y="5444887"/>
            <a:ext cx="1255907" cy="184666"/>
          </a:xfrm>
          <a:prstGeom prst="rect">
            <a:avLst/>
          </a:prstGeom>
          <a:noFill/>
        </p:spPr>
        <p:txBody>
          <a:bodyPr wrap="square" rtlCol="0">
            <a:spAutoFit/>
          </a:bodyPr>
          <a:lstStyle/>
          <a:p>
            <a:pPr algn="ctr"/>
            <a:r>
              <a:rPr lang="fr-FR" sz="600" b="1" dirty="0">
                <a:solidFill>
                  <a:schemeClr val="bg1"/>
                </a:solidFill>
              </a:rPr>
              <a:t>Batteries Pb Gel</a:t>
            </a:r>
          </a:p>
        </p:txBody>
      </p:sp>
      <p:sp>
        <p:nvSpPr>
          <p:cNvPr id="1041" name="ZoneTexte 1040">
            <a:extLst>
              <a:ext uri="{FF2B5EF4-FFF2-40B4-BE49-F238E27FC236}">
                <a16:creationId xmlns:a16="http://schemas.microsoft.com/office/drawing/2014/main" id="{6A2828F0-688B-9131-5B58-F8602F55E981}"/>
              </a:ext>
            </a:extLst>
          </p:cNvPr>
          <p:cNvSpPr txBox="1"/>
          <p:nvPr/>
        </p:nvSpPr>
        <p:spPr>
          <a:xfrm>
            <a:off x="3953926" y="5435731"/>
            <a:ext cx="698176" cy="184666"/>
          </a:xfrm>
          <a:prstGeom prst="rect">
            <a:avLst/>
          </a:prstGeom>
          <a:noFill/>
        </p:spPr>
        <p:txBody>
          <a:bodyPr wrap="square" rtlCol="0">
            <a:spAutoFit/>
          </a:bodyPr>
          <a:lstStyle/>
          <a:p>
            <a:pPr algn="ctr"/>
            <a:r>
              <a:rPr lang="fr-FR" sz="600" b="1" dirty="0">
                <a:solidFill>
                  <a:schemeClr val="bg1"/>
                </a:solidFill>
              </a:rPr>
              <a:t>B.A.E.S.</a:t>
            </a:r>
          </a:p>
        </p:txBody>
      </p:sp>
      <p:sp>
        <p:nvSpPr>
          <p:cNvPr id="1042" name="ZoneTexte 1041">
            <a:extLst>
              <a:ext uri="{FF2B5EF4-FFF2-40B4-BE49-F238E27FC236}">
                <a16:creationId xmlns:a16="http://schemas.microsoft.com/office/drawing/2014/main" id="{A6E921BA-758C-9EA0-89F0-AEE500EF015B}"/>
              </a:ext>
            </a:extLst>
          </p:cNvPr>
          <p:cNvSpPr txBox="1"/>
          <p:nvPr/>
        </p:nvSpPr>
        <p:spPr>
          <a:xfrm>
            <a:off x="3145067" y="3717267"/>
            <a:ext cx="683236" cy="184666"/>
          </a:xfrm>
          <a:prstGeom prst="rect">
            <a:avLst/>
          </a:prstGeom>
          <a:noFill/>
        </p:spPr>
        <p:txBody>
          <a:bodyPr wrap="square" rtlCol="0">
            <a:spAutoFit/>
          </a:bodyPr>
          <a:lstStyle/>
          <a:p>
            <a:pPr algn="ctr"/>
            <a:r>
              <a:rPr lang="fr-FR" sz="600" b="1" dirty="0">
                <a:solidFill>
                  <a:schemeClr val="bg1"/>
                </a:solidFill>
              </a:rPr>
              <a:t>Additifs</a:t>
            </a:r>
          </a:p>
        </p:txBody>
      </p:sp>
      <p:sp>
        <p:nvSpPr>
          <p:cNvPr id="1043" name="ZoneTexte 1042">
            <a:extLst>
              <a:ext uri="{FF2B5EF4-FFF2-40B4-BE49-F238E27FC236}">
                <a16:creationId xmlns:a16="http://schemas.microsoft.com/office/drawing/2014/main" id="{CEA97F43-6C21-439D-F16E-BE93E5837EEC}"/>
              </a:ext>
            </a:extLst>
          </p:cNvPr>
          <p:cNvSpPr txBox="1"/>
          <p:nvPr/>
        </p:nvSpPr>
        <p:spPr>
          <a:xfrm>
            <a:off x="4316634" y="6033244"/>
            <a:ext cx="642329" cy="184666"/>
          </a:xfrm>
          <a:prstGeom prst="rect">
            <a:avLst/>
          </a:prstGeom>
          <a:noFill/>
        </p:spPr>
        <p:txBody>
          <a:bodyPr wrap="square" rtlCol="0">
            <a:spAutoFit/>
          </a:bodyPr>
          <a:lstStyle/>
          <a:p>
            <a:pPr algn="ctr"/>
            <a:r>
              <a:rPr lang="fr-FR" sz="600" b="1" dirty="0">
                <a:solidFill>
                  <a:schemeClr val="bg1"/>
                </a:solidFill>
              </a:rPr>
              <a:t>Piles</a:t>
            </a:r>
          </a:p>
        </p:txBody>
      </p:sp>
      <p:sp>
        <p:nvSpPr>
          <p:cNvPr id="1044" name="ZoneTexte 1043">
            <a:extLst>
              <a:ext uri="{FF2B5EF4-FFF2-40B4-BE49-F238E27FC236}">
                <a16:creationId xmlns:a16="http://schemas.microsoft.com/office/drawing/2014/main" id="{5CE5AC8B-61FC-3632-801C-0BEBDBE2F1F8}"/>
              </a:ext>
            </a:extLst>
          </p:cNvPr>
          <p:cNvSpPr txBox="1"/>
          <p:nvPr/>
        </p:nvSpPr>
        <p:spPr>
          <a:xfrm>
            <a:off x="3675608" y="3708890"/>
            <a:ext cx="653362" cy="184666"/>
          </a:xfrm>
          <a:prstGeom prst="rect">
            <a:avLst/>
          </a:prstGeom>
          <a:noFill/>
        </p:spPr>
        <p:txBody>
          <a:bodyPr wrap="square" rtlCol="0">
            <a:spAutoFit/>
          </a:bodyPr>
          <a:lstStyle/>
          <a:p>
            <a:pPr algn="ctr"/>
            <a:r>
              <a:rPr lang="fr-FR" sz="600" b="1" dirty="0">
                <a:solidFill>
                  <a:schemeClr val="bg1"/>
                </a:solidFill>
              </a:rPr>
              <a:t>Poudre</a:t>
            </a:r>
          </a:p>
        </p:txBody>
      </p:sp>
      <p:sp>
        <p:nvSpPr>
          <p:cNvPr id="1045" name="ZoneTexte 1044">
            <a:extLst>
              <a:ext uri="{FF2B5EF4-FFF2-40B4-BE49-F238E27FC236}">
                <a16:creationId xmlns:a16="http://schemas.microsoft.com/office/drawing/2014/main" id="{B65F2AD4-275C-6390-1756-3C51EB325175}"/>
              </a:ext>
            </a:extLst>
          </p:cNvPr>
          <p:cNvSpPr txBox="1"/>
          <p:nvPr/>
        </p:nvSpPr>
        <p:spPr>
          <a:xfrm>
            <a:off x="3960956" y="3700587"/>
            <a:ext cx="1122717" cy="215444"/>
          </a:xfrm>
          <a:prstGeom prst="rect">
            <a:avLst/>
          </a:prstGeom>
          <a:noFill/>
        </p:spPr>
        <p:txBody>
          <a:bodyPr wrap="square" rtlCol="0">
            <a:spAutoFit/>
          </a:bodyPr>
          <a:lstStyle/>
          <a:p>
            <a:pPr algn="ctr"/>
            <a:r>
              <a:rPr lang="fr-FR" sz="400" b="1" dirty="0">
                <a:solidFill>
                  <a:schemeClr val="bg1"/>
                </a:solidFill>
              </a:rPr>
              <a:t>Sparklets/ Bouteilles</a:t>
            </a:r>
          </a:p>
          <a:p>
            <a:pPr algn="ctr"/>
            <a:r>
              <a:rPr lang="fr-FR" sz="400" b="1" dirty="0">
                <a:solidFill>
                  <a:schemeClr val="bg1"/>
                </a:solidFill>
              </a:rPr>
              <a:t> de chasse</a:t>
            </a:r>
          </a:p>
        </p:txBody>
      </p:sp>
      <p:sp>
        <p:nvSpPr>
          <p:cNvPr id="1046" name="ZoneTexte 1045">
            <a:extLst>
              <a:ext uri="{FF2B5EF4-FFF2-40B4-BE49-F238E27FC236}">
                <a16:creationId xmlns:a16="http://schemas.microsoft.com/office/drawing/2014/main" id="{01DA0E38-D5C8-172F-EA03-322FCFF7F615}"/>
              </a:ext>
            </a:extLst>
          </p:cNvPr>
          <p:cNvSpPr txBox="1"/>
          <p:nvPr/>
        </p:nvSpPr>
        <p:spPr>
          <a:xfrm>
            <a:off x="3315917" y="5438564"/>
            <a:ext cx="611581" cy="184666"/>
          </a:xfrm>
          <a:prstGeom prst="rect">
            <a:avLst/>
          </a:prstGeom>
          <a:noFill/>
        </p:spPr>
        <p:txBody>
          <a:bodyPr wrap="square" rtlCol="0">
            <a:spAutoFit/>
          </a:bodyPr>
          <a:lstStyle/>
          <a:p>
            <a:pPr algn="ctr"/>
            <a:r>
              <a:rPr lang="fr-FR" sz="600" b="1" dirty="0">
                <a:solidFill>
                  <a:schemeClr val="bg1"/>
                </a:solidFill>
              </a:rPr>
              <a:t>DEEE autres</a:t>
            </a:r>
          </a:p>
        </p:txBody>
      </p:sp>
      <p:sp>
        <p:nvSpPr>
          <p:cNvPr id="1047" name="ZoneTexte 1046">
            <a:extLst>
              <a:ext uri="{FF2B5EF4-FFF2-40B4-BE49-F238E27FC236}">
                <a16:creationId xmlns:a16="http://schemas.microsoft.com/office/drawing/2014/main" id="{F44B871E-DA01-1697-D508-A2E929AD7038}"/>
              </a:ext>
            </a:extLst>
          </p:cNvPr>
          <p:cNvSpPr txBox="1"/>
          <p:nvPr/>
        </p:nvSpPr>
        <p:spPr>
          <a:xfrm>
            <a:off x="4673878" y="3702067"/>
            <a:ext cx="705388" cy="184666"/>
          </a:xfrm>
          <a:prstGeom prst="rect">
            <a:avLst/>
          </a:prstGeom>
          <a:noFill/>
        </p:spPr>
        <p:txBody>
          <a:bodyPr wrap="square" rtlCol="0">
            <a:spAutoFit/>
          </a:bodyPr>
          <a:lstStyle/>
          <a:p>
            <a:pPr algn="ctr"/>
            <a:r>
              <a:rPr lang="fr-FR" sz="600" b="1">
                <a:solidFill>
                  <a:schemeClr val="bg1"/>
                </a:solidFill>
              </a:rPr>
              <a:t>Biocide</a:t>
            </a:r>
          </a:p>
        </p:txBody>
      </p:sp>
      <p:sp>
        <p:nvSpPr>
          <p:cNvPr id="1048" name="ZoneTexte 1047">
            <a:extLst>
              <a:ext uri="{FF2B5EF4-FFF2-40B4-BE49-F238E27FC236}">
                <a16:creationId xmlns:a16="http://schemas.microsoft.com/office/drawing/2014/main" id="{24D55FFB-1056-90EA-98E8-3F00778A67FF}"/>
              </a:ext>
            </a:extLst>
          </p:cNvPr>
          <p:cNvSpPr txBox="1"/>
          <p:nvPr/>
        </p:nvSpPr>
        <p:spPr>
          <a:xfrm>
            <a:off x="2621074" y="4858770"/>
            <a:ext cx="730537" cy="169277"/>
          </a:xfrm>
          <a:prstGeom prst="rect">
            <a:avLst/>
          </a:prstGeom>
          <a:noFill/>
        </p:spPr>
        <p:txBody>
          <a:bodyPr wrap="square" rtlCol="0">
            <a:spAutoFit/>
          </a:bodyPr>
          <a:lstStyle/>
          <a:p>
            <a:pPr algn="ctr"/>
            <a:r>
              <a:rPr lang="fr-FR" sz="500" b="1" dirty="0">
                <a:solidFill>
                  <a:schemeClr val="bg1"/>
                </a:solidFill>
              </a:rPr>
              <a:t>Déchets Amiantés</a:t>
            </a:r>
          </a:p>
        </p:txBody>
      </p:sp>
      <p:sp>
        <p:nvSpPr>
          <p:cNvPr id="1049" name="ZoneTexte 1048">
            <a:extLst>
              <a:ext uri="{FF2B5EF4-FFF2-40B4-BE49-F238E27FC236}">
                <a16:creationId xmlns:a16="http://schemas.microsoft.com/office/drawing/2014/main" id="{4F068FDC-824B-ADEA-8386-84CF0C30B5D6}"/>
              </a:ext>
            </a:extLst>
          </p:cNvPr>
          <p:cNvSpPr txBox="1"/>
          <p:nvPr/>
        </p:nvSpPr>
        <p:spPr>
          <a:xfrm>
            <a:off x="3235238" y="4290909"/>
            <a:ext cx="525277" cy="215444"/>
          </a:xfrm>
          <a:prstGeom prst="rect">
            <a:avLst/>
          </a:prstGeom>
          <a:noFill/>
        </p:spPr>
        <p:txBody>
          <a:bodyPr wrap="square" rtlCol="0">
            <a:spAutoFit/>
          </a:bodyPr>
          <a:lstStyle/>
          <a:p>
            <a:pPr algn="ctr"/>
            <a:r>
              <a:rPr lang="fr-FR" sz="400" b="1" dirty="0">
                <a:solidFill>
                  <a:schemeClr val="bg1"/>
                </a:solidFill>
              </a:rPr>
              <a:t>Déchets Pyrotechniques</a:t>
            </a:r>
          </a:p>
        </p:txBody>
      </p:sp>
      <p:pic>
        <p:nvPicPr>
          <p:cNvPr id="1050" name="Image 1049" descr="Une image contenant extincteur&#10;&#10;Description générée automatiquement avec une confiance moyenne">
            <a:extLst>
              <a:ext uri="{FF2B5EF4-FFF2-40B4-BE49-F238E27FC236}">
                <a16:creationId xmlns:a16="http://schemas.microsoft.com/office/drawing/2014/main" id="{939F6A01-06D6-DBA6-A1D4-91DCF987DFAB}"/>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734723" y="3268708"/>
            <a:ext cx="468000" cy="468000"/>
          </a:xfrm>
          <a:prstGeom prst="rect">
            <a:avLst/>
          </a:prstGeom>
        </p:spPr>
      </p:pic>
      <p:pic>
        <p:nvPicPr>
          <p:cNvPr id="1051" name="Image 1050" descr="Une image contenant capture d’écran, cercle, conception, illustration&#10;&#10;Description générée automatiquement">
            <a:extLst>
              <a:ext uri="{FF2B5EF4-FFF2-40B4-BE49-F238E27FC236}">
                <a16:creationId xmlns:a16="http://schemas.microsoft.com/office/drawing/2014/main" id="{426F8575-1A65-BD12-FD0B-E257E6DAFD33}"/>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247704" y="3268708"/>
            <a:ext cx="468000" cy="468000"/>
          </a:xfrm>
          <a:prstGeom prst="rect">
            <a:avLst/>
          </a:prstGeom>
        </p:spPr>
      </p:pic>
      <p:pic>
        <p:nvPicPr>
          <p:cNvPr id="1052" name="Image 1051">
            <a:extLst>
              <a:ext uri="{FF2B5EF4-FFF2-40B4-BE49-F238E27FC236}">
                <a16:creationId xmlns:a16="http://schemas.microsoft.com/office/drawing/2014/main" id="{750095F0-6FF4-D4F7-A3A6-3C6208CB59CE}"/>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760685" y="3268708"/>
            <a:ext cx="468000" cy="468000"/>
          </a:xfrm>
          <a:prstGeom prst="rect">
            <a:avLst/>
          </a:prstGeom>
        </p:spPr>
      </p:pic>
      <p:pic>
        <p:nvPicPr>
          <p:cNvPr id="1053" name="Image 1052" descr="Une image contenant capture d’écran, conception&#10;&#10;Description générée automatiquement">
            <a:extLst>
              <a:ext uri="{FF2B5EF4-FFF2-40B4-BE49-F238E27FC236}">
                <a16:creationId xmlns:a16="http://schemas.microsoft.com/office/drawing/2014/main" id="{E4E5EA81-14DF-B1D8-A3F7-D1E905858ABF}"/>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273666" y="3268708"/>
            <a:ext cx="468000" cy="468000"/>
          </a:xfrm>
          <a:prstGeom prst="rect">
            <a:avLst/>
          </a:prstGeom>
        </p:spPr>
      </p:pic>
      <p:pic>
        <p:nvPicPr>
          <p:cNvPr id="1054" name="Image 1053" descr="Une image contenant capture d’écran, symbole, Bleu électrique, Graphique&#10;&#10;Description générée automatiquement">
            <a:extLst>
              <a:ext uri="{FF2B5EF4-FFF2-40B4-BE49-F238E27FC236}">
                <a16:creationId xmlns:a16="http://schemas.microsoft.com/office/drawing/2014/main" id="{4CC213B0-17EB-83E7-9868-A81E646943F2}"/>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043701" y="5009976"/>
            <a:ext cx="468000" cy="468000"/>
          </a:xfrm>
          <a:prstGeom prst="rect">
            <a:avLst/>
          </a:prstGeom>
        </p:spPr>
      </p:pic>
      <p:pic>
        <p:nvPicPr>
          <p:cNvPr id="1055" name="Image 1054" descr="Une image contenant bouteille, boisson gazeuse, illustration&#10;&#10;Description générée automatiquement">
            <a:extLst>
              <a:ext uri="{FF2B5EF4-FFF2-40B4-BE49-F238E27FC236}">
                <a16:creationId xmlns:a16="http://schemas.microsoft.com/office/drawing/2014/main" id="{28DDBF50-8A93-1FCE-5DF0-19A985E871D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786646" y="3268708"/>
            <a:ext cx="468000" cy="468000"/>
          </a:xfrm>
          <a:prstGeom prst="rect">
            <a:avLst/>
          </a:prstGeom>
        </p:spPr>
      </p:pic>
      <p:pic>
        <p:nvPicPr>
          <p:cNvPr id="1056" name="Image 1055" descr="Une image contenant conduire, gadget, Appareils électroniques, capture d’écran&#10;&#10;Description générée automatiquement">
            <a:extLst>
              <a:ext uri="{FF2B5EF4-FFF2-40B4-BE49-F238E27FC236}">
                <a16:creationId xmlns:a16="http://schemas.microsoft.com/office/drawing/2014/main" id="{89DEF5AA-7D27-0283-4B88-FA4A5F34B26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393702" y="5009976"/>
            <a:ext cx="468000" cy="468000"/>
          </a:xfrm>
          <a:prstGeom prst="rect">
            <a:avLst/>
          </a:prstGeom>
        </p:spPr>
      </p:pic>
      <p:pic>
        <p:nvPicPr>
          <p:cNvPr id="1057" name="Image 1056" descr="Une image contenant capture d’écran, symbole, Rectangle, Bleu électrique&#10;&#10;Description générée automatiquement">
            <a:extLst>
              <a:ext uri="{FF2B5EF4-FFF2-40B4-BE49-F238E27FC236}">
                <a16:creationId xmlns:a16="http://schemas.microsoft.com/office/drawing/2014/main" id="{23E47239-E1B9-96E9-8F58-0A649BB565A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4693701" y="5009976"/>
            <a:ext cx="468000" cy="468000"/>
          </a:xfrm>
          <a:prstGeom prst="rect">
            <a:avLst/>
          </a:prstGeom>
        </p:spPr>
      </p:pic>
      <p:pic>
        <p:nvPicPr>
          <p:cNvPr id="1058" name="Image 1057" descr="Une image contenant capture d’écran, symbole, Rectangle, ligne&#10;&#10;Description générée automatiquement">
            <a:extLst>
              <a:ext uri="{FF2B5EF4-FFF2-40B4-BE49-F238E27FC236}">
                <a16:creationId xmlns:a16="http://schemas.microsoft.com/office/drawing/2014/main" id="{2923FC77-D076-4B02-84D5-1E23CA24C9FF}"/>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4397632" y="5591083"/>
            <a:ext cx="468000" cy="468000"/>
          </a:xfrm>
          <a:prstGeom prst="rect">
            <a:avLst/>
          </a:prstGeom>
        </p:spPr>
      </p:pic>
      <p:pic>
        <p:nvPicPr>
          <p:cNvPr id="1059" name="Image 1058" descr="Une image contenant croquis, dessin, clipart, dessin humoristique&#10;&#10;Description générée automatiquement">
            <a:extLst>
              <a:ext uri="{FF2B5EF4-FFF2-40B4-BE49-F238E27FC236}">
                <a16:creationId xmlns:a16="http://schemas.microsoft.com/office/drawing/2014/main" id="{AA79042A-BD34-F5F6-16FA-59F7DCD1CA2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4270887" y="3873861"/>
            <a:ext cx="468000" cy="468000"/>
          </a:xfrm>
          <a:prstGeom prst="rect">
            <a:avLst/>
          </a:prstGeom>
        </p:spPr>
      </p:pic>
      <p:pic>
        <p:nvPicPr>
          <p:cNvPr id="1060" name="Image 1059" descr="Une image contenant dessin, dessin humoristique, plastique, illustration&#10;&#10;Description générée automatiquement">
            <a:extLst>
              <a:ext uri="{FF2B5EF4-FFF2-40B4-BE49-F238E27FC236}">
                <a16:creationId xmlns:a16="http://schemas.microsoft.com/office/drawing/2014/main" id="{25943580-476C-D0FE-5F6C-9F7B2429D4F2}"/>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3760515" y="3874347"/>
            <a:ext cx="468000" cy="468000"/>
          </a:xfrm>
          <a:prstGeom prst="rect">
            <a:avLst/>
          </a:prstGeom>
        </p:spPr>
      </p:pic>
      <p:sp>
        <p:nvSpPr>
          <p:cNvPr id="1061" name="ZoneTexte 1060">
            <a:extLst>
              <a:ext uri="{FF2B5EF4-FFF2-40B4-BE49-F238E27FC236}">
                <a16:creationId xmlns:a16="http://schemas.microsoft.com/office/drawing/2014/main" id="{9999E6E2-0D1F-9211-8475-DF2B547D5A96}"/>
              </a:ext>
            </a:extLst>
          </p:cNvPr>
          <p:cNvSpPr txBox="1"/>
          <p:nvPr/>
        </p:nvSpPr>
        <p:spPr>
          <a:xfrm>
            <a:off x="3626075" y="4298913"/>
            <a:ext cx="729290" cy="215444"/>
          </a:xfrm>
          <a:prstGeom prst="rect">
            <a:avLst/>
          </a:prstGeom>
          <a:noFill/>
        </p:spPr>
        <p:txBody>
          <a:bodyPr wrap="square" rtlCol="0">
            <a:spAutoFit/>
          </a:bodyPr>
          <a:lstStyle>
            <a:defPPr>
              <a:defRPr lang="fr-FR"/>
            </a:defPPr>
            <a:lvl1pPr algn="ctr">
              <a:defRPr sz="1000" b="1">
                <a:solidFill>
                  <a:schemeClr val="bg1"/>
                </a:solidFill>
              </a:defRPr>
            </a:lvl1pPr>
          </a:lstStyle>
          <a:p>
            <a:r>
              <a:rPr lang="fr-FR" sz="400" dirty="0"/>
              <a:t>autres produits </a:t>
            </a:r>
          </a:p>
          <a:p>
            <a:r>
              <a:rPr lang="fr-FR" sz="400" dirty="0"/>
              <a:t>chimiques</a:t>
            </a:r>
          </a:p>
        </p:txBody>
      </p:sp>
      <p:sp>
        <p:nvSpPr>
          <p:cNvPr id="1062" name="ZoneTexte 1061">
            <a:extLst>
              <a:ext uri="{FF2B5EF4-FFF2-40B4-BE49-F238E27FC236}">
                <a16:creationId xmlns:a16="http://schemas.microsoft.com/office/drawing/2014/main" id="{CC416C89-F4B7-4395-FA63-0370401A8196}"/>
              </a:ext>
            </a:extLst>
          </p:cNvPr>
          <p:cNvSpPr txBox="1"/>
          <p:nvPr/>
        </p:nvSpPr>
        <p:spPr>
          <a:xfrm>
            <a:off x="4156692" y="4322050"/>
            <a:ext cx="729290" cy="184666"/>
          </a:xfrm>
          <a:prstGeom prst="rect">
            <a:avLst/>
          </a:prstGeom>
          <a:noFill/>
        </p:spPr>
        <p:txBody>
          <a:bodyPr wrap="square" rtlCol="0">
            <a:spAutoFit/>
          </a:bodyPr>
          <a:lstStyle>
            <a:defPPr>
              <a:defRPr lang="fr-FR"/>
            </a:defPPr>
            <a:lvl1pPr algn="ctr">
              <a:defRPr sz="1000" b="1">
                <a:solidFill>
                  <a:schemeClr val="bg1"/>
                </a:solidFill>
              </a:defRPr>
            </a:lvl1pPr>
          </a:lstStyle>
          <a:p>
            <a:r>
              <a:rPr lang="fr-FR" sz="600" dirty="0"/>
              <a:t>Tissus souillés</a:t>
            </a:r>
          </a:p>
        </p:txBody>
      </p:sp>
      <p:sp>
        <p:nvSpPr>
          <p:cNvPr id="1063" name="ZoneTexte 1062">
            <a:extLst>
              <a:ext uri="{FF2B5EF4-FFF2-40B4-BE49-F238E27FC236}">
                <a16:creationId xmlns:a16="http://schemas.microsoft.com/office/drawing/2014/main" id="{5E751509-9B58-A46D-75EF-F74D832DB7EB}"/>
              </a:ext>
            </a:extLst>
          </p:cNvPr>
          <p:cNvSpPr txBox="1"/>
          <p:nvPr/>
        </p:nvSpPr>
        <p:spPr>
          <a:xfrm>
            <a:off x="4656577" y="4326040"/>
            <a:ext cx="730537" cy="184666"/>
          </a:xfrm>
          <a:prstGeom prst="rect">
            <a:avLst/>
          </a:prstGeom>
          <a:noFill/>
        </p:spPr>
        <p:txBody>
          <a:bodyPr wrap="square" rtlCol="0">
            <a:spAutoFit/>
          </a:bodyPr>
          <a:lstStyle/>
          <a:p>
            <a:pPr algn="ctr"/>
            <a:r>
              <a:rPr lang="fr-FR" sz="600" b="1" dirty="0">
                <a:solidFill>
                  <a:schemeClr val="bg1"/>
                </a:solidFill>
              </a:rPr>
              <a:t>Fluide frigo</a:t>
            </a:r>
          </a:p>
        </p:txBody>
      </p:sp>
      <p:pic>
        <p:nvPicPr>
          <p:cNvPr id="1064" name="Image 1063" descr="Une image contenant capture d’écran, Rectangle, carré, symbole&#10;&#10;Description générée automatiquement">
            <a:extLst>
              <a:ext uri="{FF2B5EF4-FFF2-40B4-BE49-F238E27FC236}">
                <a16:creationId xmlns:a16="http://schemas.microsoft.com/office/drawing/2014/main" id="{50C02649-BC5A-A8DA-E48B-1F6119602593}"/>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3711845" y="5590250"/>
            <a:ext cx="468000" cy="468000"/>
          </a:xfrm>
          <a:prstGeom prst="rect">
            <a:avLst/>
          </a:prstGeom>
        </p:spPr>
      </p:pic>
      <p:pic>
        <p:nvPicPr>
          <p:cNvPr id="1065" name="Image 1064" descr="Une image contenant cylindre, rouge, extincteur&#10;&#10;Description générée automatiquement">
            <a:extLst>
              <a:ext uri="{FF2B5EF4-FFF2-40B4-BE49-F238E27FC236}">
                <a16:creationId xmlns:a16="http://schemas.microsoft.com/office/drawing/2014/main" id="{07D0F3CC-ACE3-8CCC-34A7-628C2CFC7E9D}"/>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781111" y="3873861"/>
            <a:ext cx="468000" cy="468000"/>
          </a:xfrm>
          <a:prstGeom prst="rect">
            <a:avLst/>
          </a:prstGeom>
        </p:spPr>
      </p:pic>
      <p:pic>
        <p:nvPicPr>
          <p:cNvPr id="1066" name="Image 1065" descr="Une image contenant texte, Graphique, Police, logo&#10;&#10;Description générée automatiquement">
            <a:extLst>
              <a:ext uri="{FF2B5EF4-FFF2-40B4-BE49-F238E27FC236}">
                <a16:creationId xmlns:a16="http://schemas.microsoft.com/office/drawing/2014/main" id="{1C25F552-52DD-E53D-6672-0A8586D9D402}"/>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2737536" y="4444122"/>
            <a:ext cx="468000" cy="468000"/>
          </a:xfrm>
          <a:prstGeom prst="rect">
            <a:avLst/>
          </a:prstGeom>
        </p:spPr>
      </p:pic>
      <p:pic>
        <p:nvPicPr>
          <p:cNvPr id="1067" name="Image 1066" descr="Une image contenant bouteille&#10;&#10;Description générée automatiquement avec une confiance moyenne">
            <a:extLst>
              <a:ext uri="{FF2B5EF4-FFF2-40B4-BE49-F238E27FC236}">
                <a16:creationId xmlns:a16="http://schemas.microsoft.com/office/drawing/2014/main" id="{24296894-6547-45DC-7978-7A7647669C8A}"/>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2739919" y="3873861"/>
            <a:ext cx="468000" cy="468000"/>
          </a:xfrm>
          <a:prstGeom prst="rect">
            <a:avLst/>
          </a:prstGeom>
        </p:spPr>
      </p:pic>
      <p:pic>
        <p:nvPicPr>
          <p:cNvPr id="1068" name="Image 1067" descr="Une image contenant capture d’écran, conception&#10;&#10;Description générée automatiquement">
            <a:extLst>
              <a:ext uri="{FF2B5EF4-FFF2-40B4-BE49-F238E27FC236}">
                <a16:creationId xmlns:a16="http://schemas.microsoft.com/office/drawing/2014/main" id="{84D70B7C-3100-E4AC-FF63-FA5EB4ECD52A}"/>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3247704" y="3873861"/>
            <a:ext cx="468000" cy="468000"/>
          </a:xfrm>
          <a:prstGeom prst="rect">
            <a:avLst/>
          </a:prstGeom>
        </p:spPr>
      </p:pic>
      <p:sp>
        <p:nvSpPr>
          <p:cNvPr id="1069" name="ZoneTexte 1068">
            <a:extLst>
              <a:ext uri="{FF2B5EF4-FFF2-40B4-BE49-F238E27FC236}">
                <a16:creationId xmlns:a16="http://schemas.microsoft.com/office/drawing/2014/main" id="{465AB353-417D-0F96-BE65-06176DBCC3F3}"/>
              </a:ext>
            </a:extLst>
          </p:cNvPr>
          <p:cNvSpPr txBox="1"/>
          <p:nvPr/>
        </p:nvSpPr>
        <p:spPr>
          <a:xfrm>
            <a:off x="3596524" y="6037583"/>
            <a:ext cx="684943" cy="184666"/>
          </a:xfrm>
          <a:prstGeom prst="rect">
            <a:avLst/>
          </a:prstGeom>
          <a:noFill/>
        </p:spPr>
        <p:txBody>
          <a:bodyPr wrap="square" rtlCol="0">
            <a:spAutoFit/>
          </a:bodyPr>
          <a:lstStyle/>
          <a:p>
            <a:pPr algn="ctr"/>
            <a:r>
              <a:rPr lang="fr-FR" sz="600" b="1" dirty="0">
                <a:solidFill>
                  <a:schemeClr val="bg1"/>
                </a:solidFill>
              </a:rPr>
              <a:t>Batteries Li</a:t>
            </a:r>
          </a:p>
        </p:txBody>
      </p:sp>
      <p:sp>
        <p:nvSpPr>
          <p:cNvPr id="1070" name="Flèche : droite 1069">
            <a:extLst>
              <a:ext uri="{FF2B5EF4-FFF2-40B4-BE49-F238E27FC236}">
                <a16:creationId xmlns:a16="http://schemas.microsoft.com/office/drawing/2014/main" id="{8D1316B4-C0DE-DBBD-7CE8-9984E25D5411}"/>
              </a:ext>
            </a:extLst>
          </p:cNvPr>
          <p:cNvSpPr/>
          <p:nvPr/>
        </p:nvSpPr>
        <p:spPr>
          <a:xfrm>
            <a:off x="2718255" y="5138994"/>
            <a:ext cx="632955" cy="742597"/>
          </a:xfrm>
          <a:prstGeom prst="rightArrow">
            <a:avLst>
              <a:gd name="adj1" fmla="val 47948"/>
              <a:gd name="adj2" fmla="val 25142"/>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rgbClr val="00B0F0"/>
                </a:solidFill>
              </a:rPr>
              <a:t>Filières spécifiques</a:t>
            </a:r>
          </a:p>
        </p:txBody>
      </p:sp>
      <p:sp>
        <p:nvSpPr>
          <p:cNvPr id="1071" name="ZoneTexte 1070">
            <a:extLst>
              <a:ext uri="{FF2B5EF4-FFF2-40B4-BE49-F238E27FC236}">
                <a16:creationId xmlns:a16="http://schemas.microsoft.com/office/drawing/2014/main" id="{9EDAB1E3-A971-100B-0C5A-E65400DA04CD}"/>
              </a:ext>
            </a:extLst>
          </p:cNvPr>
          <p:cNvSpPr txBox="1"/>
          <p:nvPr/>
        </p:nvSpPr>
        <p:spPr>
          <a:xfrm>
            <a:off x="2551616" y="4296743"/>
            <a:ext cx="838927" cy="184666"/>
          </a:xfrm>
          <a:prstGeom prst="rect">
            <a:avLst/>
          </a:prstGeom>
          <a:noFill/>
        </p:spPr>
        <p:txBody>
          <a:bodyPr wrap="square" rtlCol="0">
            <a:spAutoFit/>
          </a:bodyPr>
          <a:lstStyle/>
          <a:p>
            <a:pPr algn="ctr"/>
            <a:r>
              <a:rPr lang="fr-FR" sz="600" b="1" dirty="0">
                <a:solidFill>
                  <a:schemeClr val="bg1"/>
                </a:solidFill>
              </a:rPr>
              <a:t>Aérosols</a:t>
            </a:r>
          </a:p>
        </p:txBody>
      </p:sp>
      <p:sp>
        <p:nvSpPr>
          <p:cNvPr id="1072" name="Rectangle à coins arrondis 11">
            <a:extLst>
              <a:ext uri="{FF2B5EF4-FFF2-40B4-BE49-F238E27FC236}">
                <a16:creationId xmlns:a16="http://schemas.microsoft.com/office/drawing/2014/main" id="{8C74CD5E-A077-B630-911C-C238B1CC589E}"/>
              </a:ext>
            </a:extLst>
          </p:cNvPr>
          <p:cNvSpPr/>
          <p:nvPr/>
        </p:nvSpPr>
        <p:spPr>
          <a:xfrm>
            <a:off x="5395231" y="2784344"/>
            <a:ext cx="1315034" cy="3433565"/>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b="1">
              <a:solidFill>
                <a:schemeClr val="bg1"/>
              </a:solidFill>
            </a:endParaRPr>
          </a:p>
        </p:txBody>
      </p:sp>
      <p:sp>
        <p:nvSpPr>
          <p:cNvPr id="1073" name="Rectangle à coins arrondis 20">
            <a:extLst>
              <a:ext uri="{FF2B5EF4-FFF2-40B4-BE49-F238E27FC236}">
                <a16:creationId xmlns:a16="http://schemas.microsoft.com/office/drawing/2014/main" id="{1E20B20A-318C-526C-E0C9-4F17F480A828}"/>
              </a:ext>
            </a:extLst>
          </p:cNvPr>
          <p:cNvSpPr/>
          <p:nvPr/>
        </p:nvSpPr>
        <p:spPr>
          <a:xfrm>
            <a:off x="5445225" y="2860297"/>
            <a:ext cx="1199318" cy="313200"/>
          </a:xfrm>
          <a:prstGeom prst="roundRect">
            <a:avLst>
              <a:gd name="adj" fmla="val 50000"/>
            </a:avLst>
          </a:prstGeom>
          <a:solidFill>
            <a:schemeClr val="bg1"/>
          </a:solid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rgbClr val="FF0000"/>
                </a:solidFill>
              </a:rPr>
              <a:t>Les Rénovés</a:t>
            </a:r>
          </a:p>
        </p:txBody>
      </p:sp>
      <p:sp>
        <p:nvSpPr>
          <p:cNvPr id="1074" name="ZoneTexte 1073">
            <a:extLst>
              <a:ext uri="{FF2B5EF4-FFF2-40B4-BE49-F238E27FC236}">
                <a16:creationId xmlns:a16="http://schemas.microsoft.com/office/drawing/2014/main" id="{05C19250-D178-769E-BE8E-CB6996EDDB33}"/>
              </a:ext>
            </a:extLst>
          </p:cNvPr>
          <p:cNvSpPr txBox="1"/>
          <p:nvPr/>
        </p:nvSpPr>
        <p:spPr>
          <a:xfrm>
            <a:off x="5363669" y="3674577"/>
            <a:ext cx="727311" cy="338554"/>
          </a:xfrm>
          <a:prstGeom prst="rect">
            <a:avLst/>
          </a:prstGeom>
          <a:noFill/>
        </p:spPr>
        <p:txBody>
          <a:bodyPr wrap="square" rtlCol="0">
            <a:spAutoFit/>
          </a:bodyPr>
          <a:lstStyle/>
          <a:p>
            <a:pPr algn="ctr"/>
            <a:r>
              <a:rPr lang="fr-FR" sz="800" b="1" dirty="0">
                <a:solidFill>
                  <a:schemeClr val="bg1"/>
                </a:solidFill>
              </a:rPr>
              <a:t>Bouteilles IEAG</a:t>
            </a:r>
          </a:p>
        </p:txBody>
      </p:sp>
      <p:sp>
        <p:nvSpPr>
          <p:cNvPr id="1075" name="ZoneTexte 1074">
            <a:extLst>
              <a:ext uri="{FF2B5EF4-FFF2-40B4-BE49-F238E27FC236}">
                <a16:creationId xmlns:a16="http://schemas.microsoft.com/office/drawing/2014/main" id="{F5A7C2A8-D37C-EDDC-9E70-BB256F39C396}"/>
              </a:ext>
            </a:extLst>
          </p:cNvPr>
          <p:cNvSpPr txBox="1"/>
          <p:nvPr/>
        </p:nvSpPr>
        <p:spPr>
          <a:xfrm>
            <a:off x="5930312" y="3695721"/>
            <a:ext cx="861160" cy="276999"/>
          </a:xfrm>
          <a:prstGeom prst="rect">
            <a:avLst/>
          </a:prstGeom>
          <a:noFill/>
        </p:spPr>
        <p:txBody>
          <a:bodyPr wrap="square" rtlCol="0">
            <a:spAutoFit/>
          </a:bodyPr>
          <a:lstStyle/>
          <a:p>
            <a:pPr algn="ctr"/>
            <a:r>
              <a:rPr lang="fr-FR" sz="600" b="1" dirty="0">
                <a:solidFill>
                  <a:schemeClr val="bg1"/>
                </a:solidFill>
              </a:rPr>
              <a:t>Cartes électroniques CHUBB</a:t>
            </a:r>
          </a:p>
        </p:txBody>
      </p:sp>
      <p:sp>
        <p:nvSpPr>
          <p:cNvPr id="1076" name="ZoneTexte 1075">
            <a:extLst>
              <a:ext uri="{FF2B5EF4-FFF2-40B4-BE49-F238E27FC236}">
                <a16:creationId xmlns:a16="http://schemas.microsoft.com/office/drawing/2014/main" id="{22950159-15BA-C481-822D-D5666E0AF5F7}"/>
              </a:ext>
            </a:extLst>
          </p:cNvPr>
          <p:cNvSpPr txBox="1"/>
          <p:nvPr/>
        </p:nvSpPr>
        <p:spPr>
          <a:xfrm>
            <a:off x="5271323" y="4381761"/>
            <a:ext cx="934777" cy="276999"/>
          </a:xfrm>
          <a:prstGeom prst="rect">
            <a:avLst/>
          </a:prstGeom>
          <a:noFill/>
        </p:spPr>
        <p:txBody>
          <a:bodyPr wrap="square" rtlCol="0">
            <a:spAutoFit/>
          </a:bodyPr>
          <a:lstStyle/>
          <a:p>
            <a:pPr algn="ctr"/>
            <a:r>
              <a:rPr lang="fr-FR" sz="600" b="1" dirty="0">
                <a:solidFill>
                  <a:schemeClr val="bg1"/>
                </a:solidFill>
              </a:rPr>
              <a:t>Cartouches Désenfumage</a:t>
            </a:r>
          </a:p>
        </p:txBody>
      </p:sp>
      <p:sp>
        <p:nvSpPr>
          <p:cNvPr id="1077" name="ZoneTexte 1076">
            <a:extLst>
              <a:ext uri="{FF2B5EF4-FFF2-40B4-BE49-F238E27FC236}">
                <a16:creationId xmlns:a16="http://schemas.microsoft.com/office/drawing/2014/main" id="{933E9347-F655-1F6C-D937-7CF5CC8C7632}"/>
              </a:ext>
            </a:extLst>
          </p:cNvPr>
          <p:cNvSpPr txBox="1"/>
          <p:nvPr/>
        </p:nvSpPr>
        <p:spPr>
          <a:xfrm>
            <a:off x="5815449" y="4467611"/>
            <a:ext cx="1122717" cy="184666"/>
          </a:xfrm>
          <a:prstGeom prst="rect">
            <a:avLst/>
          </a:prstGeom>
          <a:noFill/>
        </p:spPr>
        <p:txBody>
          <a:bodyPr wrap="square" rtlCol="0">
            <a:spAutoFit/>
          </a:bodyPr>
          <a:lstStyle/>
          <a:p>
            <a:pPr algn="ctr"/>
            <a:r>
              <a:rPr lang="fr-FR" sz="600" b="1" dirty="0">
                <a:solidFill>
                  <a:schemeClr val="bg1"/>
                </a:solidFill>
              </a:rPr>
              <a:t>Détecteurs Ioniques</a:t>
            </a:r>
          </a:p>
        </p:txBody>
      </p:sp>
      <p:sp>
        <p:nvSpPr>
          <p:cNvPr id="1078" name="ZoneTexte 1077">
            <a:extLst>
              <a:ext uri="{FF2B5EF4-FFF2-40B4-BE49-F238E27FC236}">
                <a16:creationId xmlns:a16="http://schemas.microsoft.com/office/drawing/2014/main" id="{EEB667F3-2BB6-459D-7498-B8BD4A3DB6C8}"/>
              </a:ext>
            </a:extLst>
          </p:cNvPr>
          <p:cNvSpPr txBox="1"/>
          <p:nvPr/>
        </p:nvSpPr>
        <p:spPr>
          <a:xfrm>
            <a:off x="5272680" y="5108187"/>
            <a:ext cx="934777" cy="276999"/>
          </a:xfrm>
          <a:prstGeom prst="rect">
            <a:avLst/>
          </a:prstGeom>
          <a:noFill/>
        </p:spPr>
        <p:txBody>
          <a:bodyPr wrap="square" rtlCol="0">
            <a:spAutoFit/>
          </a:bodyPr>
          <a:lstStyle/>
          <a:p>
            <a:pPr algn="ctr"/>
            <a:r>
              <a:rPr lang="fr-FR" sz="600" b="1">
                <a:solidFill>
                  <a:schemeClr val="bg1"/>
                </a:solidFill>
              </a:rPr>
              <a:t>Détecteurs Non Ioniques</a:t>
            </a:r>
          </a:p>
        </p:txBody>
      </p:sp>
      <p:sp>
        <p:nvSpPr>
          <p:cNvPr id="1079" name="ZoneTexte 1078">
            <a:extLst>
              <a:ext uri="{FF2B5EF4-FFF2-40B4-BE49-F238E27FC236}">
                <a16:creationId xmlns:a16="http://schemas.microsoft.com/office/drawing/2014/main" id="{DAAD1D69-6288-F4D5-8406-E356B1C9AE65}"/>
              </a:ext>
            </a:extLst>
          </p:cNvPr>
          <p:cNvSpPr txBox="1"/>
          <p:nvPr/>
        </p:nvSpPr>
        <p:spPr>
          <a:xfrm>
            <a:off x="6003931" y="5145294"/>
            <a:ext cx="797192" cy="184666"/>
          </a:xfrm>
          <a:prstGeom prst="rect">
            <a:avLst/>
          </a:prstGeom>
          <a:noFill/>
        </p:spPr>
        <p:txBody>
          <a:bodyPr wrap="square" rtlCol="0">
            <a:spAutoFit/>
          </a:bodyPr>
          <a:lstStyle>
            <a:defPPr>
              <a:defRPr lang="fr-FR"/>
            </a:defPPr>
            <a:lvl1pPr algn="ctr">
              <a:defRPr sz="1000" b="1">
                <a:solidFill>
                  <a:schemeClr val="bg1"/>
                </a:solidFill>
              </a:defRPr>
            </a:lvl1pPr>
          </a:lstStyle>
          <a:p>
            <a:r>
              <a:rPr lang="fr-FR" sz="600"/>
              <a:t>Extincteurs CO2</a:t>
            </a:r>
          </a:p>
        </p:txBody>
      </p:sp>
      <p:pic>
        <p:nvPicPr>
          <p:cNvPr id="1080" name="Image 1079" descr="Une image contenant dessin humoristique, art, illustration&#10;&#10;Description générée automatiquement">
            <a:extLst>
              <a:ext uri="{FF2B5EF4-FFF2-40B4-BE49-F238E27FC236}">
                <a16:creationId xmlns:a16="http://schemas.microsoft.com/office/drawing/2014/main" id="{E6B7D161-CA39-E3B2-B46C-E336E9CC7A8A}"/>
              </a:ext>
            </a:extLst>
          </p:cNvPr>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5494552" y="3271964"/>
            <a:ext cx="468000" cy="468000"/>
          </a:xfrm>
          <a:prstGeom prst="rect">
            <a:avLst/>
          </a:prstGeom>
        </p:spPr>
      </p:pic>
      <p:pic>
        <p:nvPicPr>
          <p:cNvPr id="1081" name="Image 1080" descr="Une image contenant capture d’écran, Rectangle, carré, Caractère coloré&#10;&#10;Description générée automatiquement">
            <a:extLst>
              <a:ext uri="{FF2B5EF4-FFF2-40B4-BE49-F238E27FC236}">
                <a16:creationId xmlns:a16="http://schemas.microsoft.com/office/drawing/2014/main" id="{DF8FB7B7-E7DD-5E7C-65DF-F928B49E00AA}"/>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6139668" y="3271964"/>
            <a:ext cx="468000" cy="468000"/>
          </a:xfrm>
          <a:prstGeom prst="rect">
            <a:avLst/>
          </a:prstGeom>
        </p:spPr>
      </p:pic>
      <p:pic>
        <p:nvPicPr>
          <p:cNvPr id="1082" name="Image 1081" descr="Une image contenant texte, capture d’écran, conception&#10;&#10;Description générée automatiquement">
            <a:extLst>
              <a:ext uri="{FF2B5EF4-FFF2-40B4-BE49-F238E27FC236}">
                <a16:creationId xmlns:a16="http://schemas.microsoft.com/office/drawing/2014/main" id="{48F09687-2352-E4AA-7416-53588629A2C3}"/>
              </a:ext>
            </a:extLst>
          </p:cNvPr>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5506553" y="3967427"/>
            <a:ext cx="468000" cy="468000"/>
          </a:xfrm>
          <a:prstGeom prst="rect">
            <a:avLst/>
          </a:prstGeom>
        </p:spPr>
      </p:pic>
      <p:pic>
        <p:nvPicPr>
          <p:cNvPr id="1083" name="Image 1082" descr="Une image contenant cercle, léger&#10;&#10;Description générée automatiquement">
            <a:extLst>
              <a:ext uri="{FF2B5EF4-FFF2-40B4-BE49-F238E27FC236}">
                <a16:creationId xmlns:a16="http://schemas.microsoft.com/office/drawing/2014/main" id="{5CCA4A0A-D7FB-54BB-1DA3-22D3AC6EE623}"/>
              </a:ext>
            </a:extLst>
          </p:cNvPr>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6142586" y="3971518"/>
            <a:ext cx="468000" cy="468000"/>
          </a:xfrm>
          <a:prstGeom prst="rect">
            <a:avLst/>
          </a:prstGeom>
        </p:spPr>
      </p:pic>
      <p:pic>
        <p:nvPicPr>
          <p:cNvPr id="1084" name="Image 1083" descr="Une image contenant cercle, léger&#10;&#10;Description générée automatiquement">
            <a:extLst>
              <a:ext uri="{FF2B5EF4-FFF2-40B4-BE49-F238E27FC236}">
                <a16:creationId xmlns:a16="http://schemas.microsoft.com/office/drawing/2014/main" id="{AC6479A3-F99C-ECDB-F1FE-3DEE4CE116C8}"/>
              </a:ext>
            </a:extLst>
          </p:cNvPr>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5490393" y="4662890"/>
            <a:ext cx="468000" cy="468000"/>
          </a:xfrm>
          <a:prstGeom prst="rect">
            <a:avLst/>
          </a:prstGeom>
        </p:spPr>
      </p:pic>
      <p:pic>
        <p:nvPicPr>
          <p:cNvPr id="1085" name="Image 1084" descr="Une image contenant bouteille&#10;&#10;Description générée automatiquement">
            <a:extLst>
              <a:ext uri="{FF2B5EF4-FFF2-40B4-BE49-F238E27FC236}">
                <a16:creationId xmlns:a16="http://schemas.microsoft.com/office/drawing/2014/main" id="{3674D482-B897-2BED-CE8A-A10602B1C245}"/>
              </a:ext>
            </a:extLst>
          </p:cNvPr>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6139668" y="4681230"/>
            <a:ext cx="468000" cy="468000"/>
          </a:xfrm>
          <a:prstGeom prst="rect">
            <a:avLst/>
          </a:prstGeom>
        </p:spPr>
      </p:pic>
      <p:pic>
        <p:nvPicPr>
          <p:cNvPr id="1086" name="Image 1085" descr="Une image contenant cylindre, extincteur&#10;&#10;Description générée automatiquement">
            <a:extLst>
              <a:ext uri="{FF2B5EF4-FFF2-40B4-BE49-F238E27FC236}">
                <a16:creationId xmlns:a16="http://schemas.microsoft.com/office/drawing/2014/main" id="{07C253A6-8666-299A-8C9C-7B3DA5DFF7CE}"/>
              </a:ext>
            </a:extLst>
          </p:cNvPr>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6139668" y="5362578"/>
            <a:ext cx="468000" cy="468000"/>
          </a:xfrm>
          <a:prstGeom prst="rect">
            <a:avLst/>
          </a:prstGeom>
        </p:spPr>
      </p:pic>
      <p:pic>
        <p:nvPicPr>
          <p:cNvPr id="1087" name="Image 1086" descr="Une image contenant bouteille&#10;&#10;Description générée automatiquement">
            <a:extLst>
              <a:ext uri="{FF2B5EF4-FFF2-40B4-BE49-F238E27FC236}">
                <a16:creationId xmlns:a16="http://schemas.microsoft.com/office/drawing/2014/main" id="{252814C2-7DC8-BA21-F3DD-7832DB90624D}"/>
              </a:ext>
            </a:extLst>
          </p:cNvPr>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5504712" y="5358354"/>
            <a:ext cx="468000" cy="468000"/>
          </a:xfrm>
          <a:prstGeom prst="rect">
            <a:avLst/>
          </a:prstGeom>
        </p:spPr>
      </p:pic>
      <p:sp>
        <p:nvSpPr>
          <p:cNvPr id="1088" name="ZoneTexte 1087">
            <a:extLst>
              <a:ext uri="{FF2B5EF4-FFF2-40B4-BE49-F238E27FC236}">
                <a16:creationId xmlns:a16="http://schemas.microsoft.com/office/drawing/2014/main" id="{7DFDA05E-1B51-AD0E-8DC9-07B7812415DA}"/>
              </a:ext>
            </a:extLst>
          </p:cNvPr>
          <p:cNvSpPr txBox="1"/>
          <p:nvPr/>
        </p:nvSpPr>
        <p:spPr>
          <a:xfrm>
            <a:off x="5328728" y="5789634"/>
            <a:ext cx="797192" cy="276999"/>
          </a:xfrm>
          <a:prstGeom prst="rect">
            <a:avLst/>
          </a:prstGeom>
          <a:noFill/>
        </p:spPr>
        <p:txBody>
          <a:bodyPr wrap="square" rtlCol="0">
            <a:spAutoFit/>
          </a:bodyPr>
          <a:lstStyle>
            <a:defPPr>
              <a:defRPr lang="fr-FR"/>
            </a:defPPr>
            <a:lvl1pPr algn="ctr">
              <a:defRPr sz="1000" b="1">
                <a:solidFill>
                  <a:schemeClr val="bg1"/>
                </a:solidFill>
              </a:defRPr>
            </a:lvl1pPr>
          </a:lstStyle>
          <a:p>
            <a:r>
              <a:rPr lang="fr-FR" sz="600" dirty="0"/>
              <a:t>Bouteilles de Chasse</a:t>
            </a:r>
          </a:p>
        </p:txBody>
      </p:sp>
      <p:sp>
        <p:nvSpPr>
          <p:cNvPr id="1089" name="ZoneTexte 1088">
            <a:extLst>
              <a:ext uri="{FF2B5EF4-FFF2-40B4-BE49-F238E27FC236}">
                <a16:creationId xmlns:a16="http://schemas.microsoft.com/office/drawing/2014/main" id="{78128592-3E04-E334-044B-4D962DABAC93}"/>
              </a:ext>
            </a:extLst>
          </p:cNvPr>
          <p:cNvSpPr txBox="1"/>
          <p:nvPr/>
        </p:nvSpPr>
        <p:spPr>
          <a:xfrm>
            <a:off x="5983774" y="5797732"/>
            <a:ext cx="797192" cy="276999"/>
          </a:xfrm>
          <a:prstGeom prst="rect">
            <a:avLst/>
          </a:prstGeom>
          <a:noFill/>
        </p:spPr>
        <p:txBody>
          <a:bodyPr wrap="square" rtlCol="0">
            <a:spAutoFit/>
          </a:bodyPr>
          <a:lstStyle>
            <a:defPPr>
              <a:defRPr lang="fr-FR"/>
            </a:defPPr>
            <a:lvl1pPr algn="ctr">
              <a:defRPr sz="1000" b="1">
                <a:solidFill>
                  <a:schemeClr val="bg1"/>
                </a:solidFill>
              </a:defRPr>
            </a:lvl1pPr>
          </a:lstStyle>
          <a:p>
            <a:r>
              <a:rPr lang="fr-FR" sz="600" dirty="0"/>
              <a:t>Bouteilles Install Fixe </a:t>
            </a:r>
            <a:r>
              <a:rPr lang="fr-FR" sz="600" dirty="0" err="1"/>
              <a:t>FireDetect</a:t>
            </a:r>
            <a:endParaRPr lang="fr-FR" sz="600" dirty="0"/>
          </a:p>
        </p:txBody>
      </p:sp>
      <p:sp>
        <p:nvSpPr>
          <p:cNvPr id="1091" name="ZoneTexte 1090">
            <a:extLst>
              <a:ext uri="{FF2B5EF4-FFF2-40B4-BE49-F238E27FC236}">
                <a16:creationId xmlns:a16="http://schemas.microsoft.com/office/drawing/2014/main" id="{BE4E4B4B-42CA-44E6-88BD-70EA430D6B7A}"/>
              </a:ext>
            </a:extLst>
          </p:cNvPr>
          <p:cNvSpPr txBox="1"/>
          <p:nvPr/>
        </p:nvSpPr>
        <p:spPr>
          <a:xfrm>
            <a:off x="380922" y="3772832"/>
            <a:ext cx="790267" cy="276999"/>
          </a:xfrm>
          <a:prstGeom prst="rect">
            <a:avLst/>
          </a:prstGeom>
          <a:noFill/>
        </p:spPr>
        <p:txBody>
          <a:bodyPr wrap="square">
            <a:spAutoFit/>
          </a:bodyPr>
          <a:lstStyle/>
          <a:p>
            <a:pPr algn="ctr"/>
            <a:r>
              <a:rPr lang="fr-FR" sz="600" dirty="0">
                <a:solidFill>
                  <a:schemeClr val="tx1"/>
                </a:solidFill>
              </a:rPr>
              <a:t>Déchets industriels banaux</a:t>
            </a:r>
            <a:endParaRPr lang="fr-FR" sz="600" dirty="0"/>
          </a:p>
        </p:txBody>
      </p:sp>
      <p:sp>
        <p:nvSpPr>
          <p:cNvPr id="1093" name="ZoneTexte 1092">
            <a:extLst>
              <a:ext uri="{FF2B5EF4-FFF2-40B4-BE49-F238E27FC236}">
                <a16:creationId xmlns:a16="http://schemas.microsoft.com/office/drawing/2014/main" id="{C52256FC-D881-3E78-C223-AB86A98751AE}"/>
              </a:ext>
            </a:extLst>
          </p:cNvPr>
          <p:cNvSpPr txBox="1"/>
          <p:nvPr/>
        </p:nvSpPr>
        <p:spPr>
          <a:xfrm>
            <a:off x="1129334" y="3794256"/>
            <a:ext cx="474405" cy="184666"/>
          </a:xfrm>
          <a:prstGeom prst="rect">
            <a:avLst/>
          </a:prstGeom>
          <a:noFill/>
        </p:spPr>
        <p:txBody>
          <a:bodyPr wrap="square">
            <a:spAutoFit/>
          </a:bodyPr>
          <a:lstStyle>
            <a:defPPr>
              <a:defRPr lang="fr-FR"/>
            </a:defPPr>
            <a:lvl1pPr algn="ctr">
              <a:defRPr sz="600"/>
            </a:lvl1pPr>
          </a:lstStyle>
          <a:p>
            <a:r>
              <a:rPr lang="fr-FR" dirty="0"/>
              <a:t>Papier</a:t>
            </a:r>
          </a:p>
        </p:txBody>
      </p:sp>
      <p:sp>
        <p:nvSpPr>
          <p:cNvPr id="1094" name="ZoneTexte 1093">
            <a:extLst>
              <a:ext uri="{FF2B5EF4-FFF2-40B4-BE49-F238E27FC236}">
                <a16:creationId xmlns:a16="http://schemas.microsoft.com/office/drawing/2014/main" id="{126C28B9-2B4A-28FE-0359-514A544694B4}"/>
              </a:ext>
            </a:extLst>
          </p:cNvPr>
          <p:cNvSpPr txBox="1"/>
          <p:nvPr/>
        </p:nvSpPr>
        <p:spPr>
          <a:xfrm>
            <a:off x="1705996" y="3799446"/>
            <a:ext cx="474405" cy="184666"/>
          </a:xfrm>
          <a:prstGeom prst="rect">
            <a:avLst/>
          </a:prstGeom>
          <a:noFill/>
        </p:spPr>
        <p:txBody>
          <a:bodyPr wrap="square">
            <a:spAutoFit/>
          </a:bodyPr>
          <a:lstStyle>
            <a:defPPr>
              <a:defRPr lang="fr-FR"/>
            </a:defPPr>
            <a:lvl1pPr algn="ctr">
              <a:defRPr sz="600"/>
            </a:lvl1pPr>
          </a:lstStyle>
          <a:p>
            <a:r>
              <a:rPr lang="fr-FR" dirty="0"/>
              <a:t>Carton</a:t>
            </a:r>
          </a:p>
        </p:txBody>
      </p:sp>
      <p:sp>
        <p:nvSpPr>
          <p:cNvPr id="1095" name="ZoneTexte 1094">
            <a:extLst>
              <a:ext uri="{FF2B5EF4-FFF2-40B4-BE49-F238E27FC236}">
                <a16:creationId xmlns:a16="http://schemas.microsoft.com/office/drawing/2014/main" id="{2CB7B706-87FF-6B1C-C8A8-3829EE18EE01}"/>
              </a:ext>
            </a:extLst>
          </p:cNvPr>
          <p:cNvSpPr txBox="1"/>
          <p:nvPr/>
        </p:nvSpPr>
        <p:spPr>
          <a:xfrm>
            <a:off x="1991505" y="4509024"/>
            <a:ext cx="474405" cy="184666"/>
          </a:xfrm>
          <a:prstGeom prst="rect">
            <a:avLst/>
          </a:prstGeom>
          <a:noFill/>
        </p:spPr>
        <p:txBody>
          <a:bodyPr wrap="square">
            <a:spAutoFit/>
          </a:bodyPr>
          <a:lstStyle>
            <a:defPPr>
              <a:defRPr lang="fr-FR"/>
            </a:defPPr>
            <a:lvl1pPr algn="ctr">
              <a:defRPr sz="600"/>
            </a:lvl1pPr>
          </a:lstStyle>
          <a:p>
            <a:r>
              <a:rPr lang="fr-FR" dirty="0"/>
              <a:t>Bois</a:t>
            </a:r>
          </a:p>
        </p:txBody>
      </p:sp>
      <p:sp>
        <p:nvSpPr>
          <p:cNvPr id="1096" name="ZoneTexte 1095">
            <a:extLst>
              <a:ext uri="{FF2B5EF4-FFF2-40B4-BE49-F238E27FC236}">
                <a16:creationId xmlns:a16="http://schemas.microsoft.com/office/drawing/2014/main" id="{31CF3A46-2DB5-9C4A-D9C1-1516DF87A3D7}"/>
              </a:ext>
            </a:extLst>
          </p:cNvPr>
          <p:cNvSpPr txBox="1"/>
          <p:nvPr/>
        </p:nvSpPr>
        <p:spPr>
          <a:xfrm>
            <a:off x="1442427" y="5196004"/>
            <a:ext cx="474405" cy="184666"/>
          </a:xfrm>
          <a:prstGeom prst="rect">
            <a:avLst/>
          </a:prstGeom>
          <a:noFill/>
        </p:spPr>
        <p:txBody>
          <a:bodyPr wrap="square">
            <a:spAutoFit/>
          </a:bodyPr>
          <a:lstStyle>
            <a:defPPr>
              <a:defRPr lang="fr-FR"/>
            </a:defPPr>
            <a:lvl1pPr algn="ctr">
              <a:defRPr sz="600"/>
            </a:lvl1pPr>
          </a:lstStyle>
          <a:p>
            <a:r>
              <a:rPr lang="fr-FR" dirty="0"/>
              <a:t>Cuivre</a:t>
            </a:r>
          </a:p>
        </p:txBody>
      </p:sp>
      <p:sp>
        <p:nvSpPr>
          <p:cNvPr id="1098" name="ZoneTexte 1097">
            <a:extLst>
              <a:ext uri="{FF2B5EF4-FFF2-40B4-BE49-F238E27FC236}">
                <a16:creationId xmlns:a16="http://schemas.microsoft.com/office/drawing/2014/main" id="{379F8890-22F7-21E0-A0FB-2BA603365973}"/>
              </a:ext>
            </a:extLst>
          </p:cNvPr>
          <p:cNvSpPr txBox="1"/>
          <p:nvPr/>
        </p:nvSpPr>
        <p:spPr>
          <a:xfrm>
            <a:off x="172495" y="5171805"/>
            <a:ext cx="556710" cy="338554"/>
          </a:xfrm>
          <a:prstGeom prst="rect">
            <a:avLst/>
          </a:prstGeom>
          <a:noFill/>
        </p:spPr>
        <p:txBody>
          <a:bodyPr wrap="square">
            <a:spAutoFit/>
          </a:bodyPr>
          <a:lstStyle>
            <a:defPPr>
              <a:defRPr lang="fr-FR"/>
            </a:defPPr>
            <a:lvl1pPr algn="ctr">
              <a:defRPr sz="600"/>
            </a:lvl1pPr>
          </a:lstStyle>
          <a:p>
            <a:r>
              <a:rPr lang="fr-FR" dirty="0"/>
              <a:t>Plastique Dur</a:t>
            </a:r>
          </a:p>
        </p:txBody>
      </p:sp>
      <p:sp>
        <p:nvSpPr>
          <p:cNvPr id="1100" name="ZoneTexte 1099">
            <a:extLst>
              <a:ext uri="{FF2B5EF4-FFF2-40B4-BE49-F238E27FC236}">
                <a16:creationId xmlns:a16="http://schemas.microsoft.com/office/drawing/2014/main" id="{07631FC2-73F3-46CB-0F1F-02F641B0AEEB}"/>
              </a:ext>
            </a:extLst>
          </p:cNvPr>
          <p:cNvSpPr txBox="1"/>
          <p:nvPr/>
        </p:nvSpPr>
        <p:spPr>
          <a:xfrm>
            <a:off x="74972" y="4509024"/>
            <a:ext cx="790267" cy="184666"/>
          </a:xfrm>
          <a:prstGeom prst="rect">
            <a:avLst/>
          </a:prstGeom>
          <a:noFill/>
        </p:spPr>
        <p:txBody>
          <a:bodyPr wrap="square">
            <a:spAutoFit/>
          </a:bodyPr>
          <a:lstStyle/>
          <a:p>
            <a:pPr algn="ctr"/>
            <a:r>
              <a:rPr lang="fr-FR" sz="600" dirty="0">
                <a:solidFill>
                  <a:schemeClr val="tx1"/>
                </a:solidFill>
              </a:rPr>
              <a:t>Métaux précieux</a:t>
            </a:r>
            <a:endParaRPr lang="fr-FR" sz="600" dirty="0"/>
          </a:p>
        </p:txBody>
      </p:sp>
      <p:sp>
        <p:nvSpPr>
          <p:cNvPr id="1102" name="ZoneTexte 1101">
            <a:extLst>
              <a:ext uri="{FF2B5EF4-FFF2-40B4-BE49-F238E27FC236}">
                <a16:creationId xmlns:a16="http://schemas.microsoft.com/office/drawing/2014/main" id="{BEA322C2-F560-229D-95C6-E6C0041C070C}"/>
              </a:ext>
            </a:extLst>
          </p:cNvPr>
          <p:cNvSpPr txBox="1"/>
          <p:nvPr/>
        </p:nvSpPr>
        <p:spPr>
          <a:xfrm>
            <a:off x="730446" y="5218912"/>
            <a:ext cx="660993" cy="184666"/>
          </a:xfrm>
          <a:prstGeom prst="rect">
            <a:avLst/>
          </a:prstGeom>
          <a:noFill/>
        </p:spPr>
        <p:txBody>
          <a:bodyPr wrap="square">
            <a:spAutoFit/>
          </a:bodyPr>
          <a:lstStyle/>
          <a:p>
            <a:pPr algn="ctr"/>
            <a:r>
              <a:rPr lang="fr-FR" sz="600" dirty="0">
                <a:solidFill>
                  <a:schemeClr val="tx1"/>
                </a:solidFill>
              </a:rPr>
              <a:t>Plastique Film</a:t>
            </a:r>
            <a:endParaRPr lang="fr-FR" sz="600" dirty="0"/>
          </a:p>
        </p:txBody>
      </p:sp>
      <p:sp>
        <p:nvSpPr>
          <p:cNvPr id="1104" name="ZoneTexte 1103">
            <a:extLst>
              <a:ext uri="{FF2B5EF4-FFF2-40B4-BE49-F238E27FC236}">
                <a16:creationId xmlns:a16="http://schemas.microsoft.com/office/drawing/2014/main" id="{D32B5E6A-BF69-8165-A622-5FB39B8A6AA2}"/>
              </a:ext>
            </a:extLst>
          </p:cNvPr>
          <p:cNvSpPr txBox="1"/>
          <p:nvPr/>
        </p:nvSpPr>
        <p:spPr>
          <a:xfrm>
            <a:off x="3115795" y="4863555"/>
            <a:ext cx="764162" cy="169277"/>
          </a:xfrm>
          <a:prstGeom prst="rect">
            <a:avLst/>
          </a:prstGeom>
          <a:noFill/>
        </p:spPr>
        <p:txBody>
          <a:bodyPr wrap="square" rtlCol="0">
            <a:spAutoFit/>
          </a:bodyPr>
          <a:lstStyle>
            <a:defPPr>
              <a:defRPr lang="fr-FR"/>
            </a:defPPr>
            <a:lvl1pPr algn="ctr">
              <a:defRPr sz="500" b="1">
                <a:solidFill>
                  <a:schemeClr val="bg1"/>
                </a:solidFill>
              </a:defRPr>
            </a:lvl1pPr>
          </a:lstStyle>
          <a:p>
            <a:r>
              <a:rPr lang="fr-FR" dirty="0"/>
              <a:t>Toners d'encre</a:t>
            </a:r>
          </a:p>
        </p:txBody>
      </p:sp>
      <p:sp>
        <p:nvSpPr>
          <p:cNvPr id="1106" name="ZoneTexte 1105">
            <a:extLst>
              <a:ext uri="{FF2B5EF4-FFF2-40B4-BE49-F238E27FC236}">
                <a16:creationId xmlns:a16="http://schemas.microsoft.com/office/drawing/2014/main" id="{CBACF8DC-2DE1-5C9E-4F0C-D5084DF3FDC7}"/>
              </a:ext>
            </a:extLst>
          </p:cNvPr>
          <p:cNvSpPr txBox="1"/>
          <p:nvPr/>
        </p:nvSpPr>
        <p:spPr>
          <a:xfrm>
            <a:off x="798748" y="4515732"/>
            <a:ext cx="520796" cy="184666"/>
          </a:xfrm>
          <a:prstGeom prst="rect">
            <a:avLst/>
          </a:prstGeom>
          <a:noFill/>
        </p:spPr>
        <p:txBody>
          <a:bodyPr wrap="square">
            <a:spAutoFit/>
          </a:bodyPr>
          <a:lstStyle/>
          <a:p>
            <a:pPr algn="ctr"/>
            <a:r>
              <a:rPr lang="fr-FR" sz="600" dirty="0">
                <a:solidFill>
                  <a:schemeClr val="tx1"/>
                </a:solidFill>
              </a:rPr>
              <a:t>Ferraille</a:t>
            </a:r>
            <a:endParaRPr lang="fr-FR" sz="600" dirty="0"/>
          </a:p>
        </p:txBody>
      </p:sp>
      <p:sp>
        <p:nvSpPr>
          <p:cNvPr id="1108" name="ZoneTexte 1107">
            <a:extLst>
              <a:ext uri="{FF2B5EF4-FFF2-40B4-BE49-F238E27FC236}">
                <a16:creationId xmlns:a16="http://schemas.microsoft.com/office/drawing/2014/main" id="{B5E5E470-F52B-CAE4-9168-CB92E320AAC7}"/>
              </a:ext>
            </a:extLst>
          </p:cNvPr>
          <p:cNvSpPr txBox="1"/>
          <p:nvPr/>
        </p:nvSpPr>
        <p:spPr>
          <a:xfrm>
            <a:off x="618318" y="5887767"/>
            <a:ext cx="904884" cy="369332"/>
          </a:xfrm>
          <a:prstGeom prst="rect">
            <a:avLst/>
          </a:prstGeom>
          <a:noFill/>
        </p:spPr>
        <p:txBody>
          <a:bodyPr wrap="square">
            <a:spAutoFit/>
          </a:bodyPr>
          <a:lstStyle/>
          <a:p>
            <a:pPr algn="ctr"/>
            <a:r>
              <a:rPr lang="fr-FR" sz="600" dirty="0">
                <a:solidFill>
                  <a:schemeClr val="tx1"/>
                </a:solidFill>
              </a:rPr>
              <a:t>Ampoules à incandescence (à filaments), </a:t>
            </a:r>
            <a:endParaRPr lang="fr-FR" sz="1400" dirty="0"/>
          </a:p>
        </p:txBody>
      </p:sp>
      <p:sp>
        <p:nvSpPr>
          <p:cNvPr id="1110" name="ZoneTexte 1109">
            <a:extLst>
              <a:ext uri="{FF2B5EF4-FFF2-40B4-BE49-F238E27FC236}">
                <a16:creationId xmlns:a16="http://schemas.microsoft.com/office/drawing/2014/main" id="{CA9CA419-599C-97D8-D15C-AEA335248575}"/>
              </a:ext>
            </a:extLst>
          </p:cNvPr>
          <p:cNvSpPr txBox="1"/>
          <p:nvPr/>
        </p:nvSpPr>
        <p:spPr>
          <a:xfrm>
            <a:off x="1408726" y="5895830"/>
            <a:ext cx="519562" cy="369332"/>
          </a:xfrm>
          <a:prstGeom prst="rect">
            <a:avLst/>
          </a:prstGeom>
          <a:noFill/>
        </p:spPr>
        <p:txBody>
          <a:bodyPr wrap="square">
            <a:spAutoFit/>
          </a:bodyPr>
          <a:lstStyle/>
          <a:p>
            <a:pPr algn="ctr"/>
            <a:r>
              <a:rPr lang="fr-FR" sz="600" dirty="0">
                <a:solidFill>
                  <a:schemeClr val="tx1"/>
                </a:solidFill>
              </a:rPr>
              <a:t>Bouchons de bouteilles</a:t>
            </a:r>
            <a:endParaRPr lang="fr-FR" sz="1400" dirty="0"/>
          </a:p>
        </p:txBody>
      </p:sp>
      <p:sp>
        <p:nvSpPr>
          <p:cNvPr id="1111" name="ZoneTexte 1110">
            <a:extLst>
              <a:ext uri="{FF2B5EF4-FFF2-40B4-BE49-F238E27FC236}">
                <a16:creationId xmlns:a16="http://schemas.microsoft.com/office/drawing/2014/main" id="{4C278487-BA1A-8AEE-0647-E0A9515BC3D9}"/>
              </a:ext>
            </a:extLst>
          </p:cNvPr>
          <p:cNvSpPr txBox="1"/>
          <p:nvPr/>
        </p:nvSpPr>
        <p:spPr>
          <a:xfrm>
            <a:off x="2014838" y="5181663"/>
            <a:ext cx="519562" cy="184666"/>
          </a:xfrm>
          <a:prstGeom prst="rect">
            <a:avLst/>
          </a:prstGeom>
          <a:noFill/>
        </p:spPr>
        <p:txBody>
          <a:bodyPr wrap="square">
            <a:spAutoFit/>
          </a:bodyPr>
          <a:lstStyle/>
          <a:p>
            <a:pPr algn="ctr"/>
            <a:r>
              <a:rPr lang="fr-FR" sz="600" dirty="0">
                <a:solidFill>
                  <a:schemeClr val="tx1"/>
                </a:solidFill>
              </a:rPr>
              <a:t>RIA</a:t>
            </a:r>
            <a:endParaRPr lang="fr-FR" sz="1400" dirty="0"/>
          </a:p>
        </p:txBody>
      </p:sp>
      <p:pic>
        <p:nvPicPr>
          <p:cNvPr id="3" name="Image 2" descr="Une image contenant capture d’écran&#10;&#10;Description générée automatiquement">
            <a:extLst>
              <a:ext uri="{FF2B5EF4-FFF2-40B4-BE49-F238E27FC236}">
                <a16:creationId xmlns:a16="http://schemas.microsoft.com/office/drawing/2014/main" id="{6C5E8C1A-2863-E2DF-BBA0-0974E0CC59F6}"/>
              </a:ext>
            </a:extLst>
          </p:cNvPr>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3253245" y="4448870"/>
            <a:ext cx="468000" cy="468000"/>
          </a:xfrm>
          <a:prstGeom prst="rect">
            <a:avLst/>
          </a:prstGeom>
        </p:spPr>
      </p:pic>
    </p:spTree>
    <p:extLst>
      <p:ext uri="{BB962C8B-B14F-4D97-AF65-F5344CB8AC3E}">
        <p14:creationId xmlns:p14="http://schemas.microsoft.com/office/powerpoint/2010/main" val="3179460375"/>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F5F79FD40890418D173EADE56663CE" ma:contentTypeVersion="5" ma:contentTypeDescription="Create a new document." ma:contentTypeScope="" ma:versionID="fdd912766068f1e56eb53fb537eef7b3">
  <xsd:schema xmlns:xsd="http://www.w3.org/2001/XMLSchema" xmlns:xs="http://www.w3.org/2001/XMLSchema" xmlns:p="http://schemas.microsoft.com/office/2006/metadata/properties" xmlns:ns2="cf01652b-2804-432b-a929-7142549b4ccb" xmlns:ns3="5ca74ee1-336a-4c0a-9b47-8403515742a9" xmlns:ns4="53ea487e-e6eb-42bf-b14c-68816c602875" xmlns:ns5="73b01b37-30b2-47dd-abfd-d6df2fe09a6f" targetNamespace="http://schemas.microsoft.com/office/2006/metadata/properties" ma:root="true" ma:fieldsID="ed875cb3fc76cde3baad6aaa76e5f22f" ns2:_="" ns3:_="" ns4:_="" ns5:_="">
    <xsd:import namespace="cf01652b-2804-432b-a929-7142549b4ccb"/>
    <xsd:import namespace="5ca74ee1-336a-4c0a-9b47-8403515742a9"/>
    <xsd:import namespace="53ea487e-e6eb-42bf-b14c-68816c602875"/>
    <xsd:import namespace="73b01b37-30b2-47dd-abfd-d6df2fe09a6f"/>
    <xsd:element name="properties">
      <xsd:complexType>
        <xsd:sequence>
          <xsd:element name="documentManagement">
            <xsd:complexType>
              <xsd:all>
                <xsd:element ref="ns2:lcf76f155ced4ddcb4097134ff3c332f" minOccurs="0"/>
                <xsd:element ref="ns3:TaxCatchAll" minOccurs="0"/>
                <xsd:element ref="ns4:MediaServiceMetadata" minOccurs="0"/>
                <xsd:element ref="ns4:MediaServiceFastMetadata" minOccurs="0"/>
                <xsd:element ref="ns4:MediaServiceDateTaken" minOccurs="0"/>
                <xsd:element ref="ns4:MediaServiceLocation" minOccurs="0"/>
                <xsd:element ref="ns4:MediaServiceGenerationTime" minOccurs="0"/>
                <xsd:element ref="ns4:MediaServiceEventHashCode" minOccurs="0"/>
                <xsd:element ref="ns4:MediaServiceAutoTags" minOccurs="0"/>
                <xsd:element ref="ns4:MediaServiceOCR" minOccurs="0"/>
                <xsd:element ref="ns4:MediaLengthInSeconds" minOccurs="0"/>
                <xsd:element ref="ns5:SharedWithUsers" minOccurs="0"/>
                <xsd:element ref="ns5: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01652b-2804-432b-a929-7142549b4ccb" elementFormDefault="qualified">
    <xsd:import namespace="http://schemas.microsoft.com/office/2006/documentManagement/types"/>
    <xsd:import namespace="http://schemas.microsoft.com/office/infopath/2007/PartnerControls"/>
    <xsd:element name="lcf76f155ced4ddcb4097134ff3c332f" ma:index="8" nillable="true" ma:taxonomy="true" ma:internalName="lcf76f155ced4ddcb4097134ff3c332f" ma:taxonomyFieldName="MediaServiceImageTags" ma:displayName="Image Tags" ma:readOnly="false" ma:fieldId="{5cf76f15-5ced-4ddc-b409-7134ff3c332f}" ma:taxonomyMulti="true" ma:sspId="6c3282b9-7e5c-4006-bd6f-6aea32a4344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ca74ee1-336a-4c0a-9b47-8403515742a9"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9e2d3ab1-ffec-4a05-81de-acc269d3ac41}" ma:internalName="TaxCatchAll" ma:showField="CatchAllData" ma:web="5ca74ee1-336a-4c0a-9b47-8403515742a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3ea487e-e6eb-42bf-b14c-68816c60287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3b01b37-30b2-47dd-abfd-d6df2fe09a6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f01652b-2804-432b-a929-7142549b4ccb">
      <Terms xmlns="http://schemas.microsoft.com/office/infopath/2007/PartnerControls"/>
    </lcf76f155ced4ddcb4097134ff3c332f>
    <TaxCatchAll xmlns="5ca74ee1-336a-4c0a-9b47-8403515742a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C774CA-74B4-4078-836F-6CABF4B614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01652b-2804-432b-a929-7142549b4ccb"/>
    <ds:schemaRef ds:uri="5ca74ee1-336a-4c0a-9b47-8403515742a9"/>
    <ds:schemaRef ds:uri="53ea487e-e6eb-42bf-b14c-68816c602875"/>
    <ds:schemaRef ds:uri="73b01b37-30b2-47dd-abfd-d6df2fe09a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B78494-B97F-4D4E-986D-BB9989140CEF}">
  <ds:schemaRefs>
    <ds:schemaRef ds:uri="http://schemas.microsoft.com/office/2006/metadata/properties"/>
    <ds:schemaRef ds:uri="http://schemas.microsoft.com/office/infopath/2007/PartnerControls"/>
    <ds:schemaRef ds:uri="cf01652b-2804-432b-a929-7142549b4ccb"/>
    <ds:schemaRef ds:uri="5ca74ee1-336a-4c0a-9b47-8403515742a9"/>
  </ds:schemaRefs>
</ds:datastoreItem>
</file>

<file path=customXml/itemProps3.xml><?xml version="1.0" encoding="utf-8"?>
<ds:datastoreItem xmlns:ds="http://schemas.openxmlformats.org/officeDocument/2006/customXml" ds:itemID="{08BD68B6-E712-4341-90E1-B0DDB36070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TotalTime>
  <Words>258</Words>
  <Application>Microsoft Office PowerPoint</Application>
  <PresentationFormat>Affichage à l'écran (4:3)</PresentationFormat>
  <Paragraphs>54</Paragraphs>
  <Slides>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Calibri</vt:lpstr>
      <vt:lpstr>Wingdings</vt:lpstr>
      <vt:lpstr>Thème Office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Giblaine, Anais           UTC CCS</dc:creator>
  <cp:lastModifiedBy>LACHAUME, Veronique</cp:lastModifiedBy>
  <cp:revision>51</cp:revision>
  <cp:lastPrinted>2018-04-27T13:31:23Z</cp:lastPrinted>
  <dcterms:created xsi:type="dcterms:W3CDTF">2017-01-04T15:17:33Z</dcterms:created>
  <dcterms:modified xsi:type="dcterms:W3CDTF">2024-10-04T10:00:22Z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2024-08-23T14:42:23Z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47995fc2-1f56-47ce-9137-a87caef4be74</vt:lpwstr>
  </property>
  <property fmtid="{D5CDD505-2E9C-101B-9397-08002B2CF9AE}" pid="7" name="MSIP_Label_defa4170-0d19-0005-0004-bc88714345d2_ActionId">
    <vt:lpwstr>8044dd32-e29a-439a-8326-dc772ddd845b</vt:lpwstr>
  </property>
  <property fmtid="{D5CDD505-2E9C-101B-9397-08002B2CF9AE}" pid="8" name="MSIP_Label_defa4170-0d19-0005-0004-bc88714345d2_ContentBits">
    <vt:lpwstr>0</vt:lpwstr>
  </property>
  <property fmtid="{D5CDD505-2E9C-101B-9397-08002B2CF9AE}" pid="9" name="ContentTypeId">
    <vt:lpwstr>0x01010027F5F79FD40890418D173EADE56663CE</vt:lpwstr>
  </property>
</Properties>
</file>