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6858000" cy="9144000" type="screen4x3"/>
  <p:notesSz cx="6808788" cy="994092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EB344D84-9AFB-497E-A393-DC336BA19D2E}" styleName="Style moyen 3 - Accentuation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65" autoAdjust="0"/>
  </p:normalViewPr>
  <p:slideViewPr>
    <p:cSldViewPr>
      <p:cViewPr varScale="1">
        <p:scale>
          <a:sx n="48" d="100"/>
          <a:sy n="48" d="100"/>
        </p:scale>
        <p:origin x="228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grpSp>
        <p:nvGrpSpPr>
          <p:cNvPr id="2" name="Groupe 1"/>
          <p:cNvGrpSpPr/>
          <p:nvPr userDrawn="1"/>
        </p:nvGrpSpPr>
        <p:grpSpPr>
          <a:xfrm>
            <a:off x="9468" y="8532440"/>
            <a:ext cx="6854400" cy="529570"/>
            <a:chOff x="9468" y="8532440"/>
            <a:chExt cx="6854400" cy="529570"/>
          </a:xfrm>
        </p:grpSpPr>
        <p:sp>
          <p:nvSpPr>
            <p:cNvPr id="44" name="Rectangle 43"/>
            <p:cNvSpPr/>
            <p:nvPr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ZoneTexte 50"/>
            <p:cNvSpPr txBox="1"/>
            <p:nvPr/>
          </p:nvSpPr>
          <p:spPr>
            <a:xfrm>
              <a:off x="4797152" y="8609549"/>
              <a:ext cx="1841416" cy="447197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pic>
        <p:nvPicPr>
          <p:cNvPr id="22" name="Image 21">
            <a:extLst>
              <a:ext uri="{FF2B5EF4-FFF2-40B4-BE49-F238E27FC236}">
                <a16:creationId xmlns:a16="http://schemas.microsoft.com/office/drawing/2014/main" id="{94893923-E329-4B52-A528-4C6B4EC6D3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704" y="102355"/>
            <a:ext cx="427885" cy="28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972B66F-6B87-4E0C-8057-812CEE64C0BE}"/>
              </a:ext>
            </a:extLst>
          </p:cNvPr>
          <p:cNvSpPr/>
          <p:nvPr userDrawn="1"/>
        </p:nvSpPr>
        <p:spPr>
          <a:xfrm rot="21336737">
            <a:off x="5707739" y="92469"/>
            <a:ext cx="12153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Sécurité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191B1273-03AD-4350-A73D-925247FA6272}"/>
              </a:ext>
            </a:extLst>
          </p:cNvPr>
          <p:cNvCxnSpPr>
            <a:cxnSpLocks/>
          </p:cNvCxnSpPr>
          <p:nvPr userDrawn="1"/>
        </p:nvCxnSpPr>
        <p:spPr>
          <a:xfrm>
            <a:off x="0" y="567272"/>
            <a:ext cx="6843754" cy="0"/>
          </a:xfrm>
          <a:prstGeom prst="line">
            <a:avLst/>
          </a:prstGeom>
          <a:ln w="28575">
            <a:solidFill>
              <a:srgbClr val="9537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rganigramme : Processus 39">
            <a:extLst>
              <a:ext uri="{FF2B5EF4-FFF2-40B4-BE49-F238E27FC236}">
                <a16:creationId xmlns:a16="http://schemas.microsoft.com/office/drawing/2014/main" id="{992FE660-F164-4B8C-B130-4F6F312C024F}"/>
              </a:ext>
            </a:extLst>
          </p:cNvPr>
          <p:cNvSpPr/>
          <p:nvPr userDrawn="1"/>
        </p:nvSpPr>
        <p:spPr>
          <a:xfrm>
            <a:off x="44625" y="36003"/>
            <a:ext cx="1589723" cy="451067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C47D86CB-61BD-4448-A58D-B8E261C3C0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704" y="102355"/>
            <a:ext cx="427885" cy="288000"/>
          </a:xfrm>
          <a:prstGeom prst="rect">
            <a:avLst/>
          </a:prstGeom>
        </p:spPr>
      </p:pic>
      <p:grpSp>
        <p:nvGrpSpPr>
          <p:cNvPr id="41" name="Groupe 40">
            <a:extLst>
              <a:ext uri="{FF2B5EF4-FFF2-40B4-BE49-F238E27FC236}">
                <a16:creationId xmlns:a16="http://schemas.microsoft.com/office/drawing/2014/main" id="{B4E8AF15-7AA3-406F-8B58-C9EEBA9B6AC5}"/>
              </a:ext>
            </a:extLst>
          </p:cNvPr>
          <p:cNvGrpSpPr/>
          <p:nvPr userDrawn="1"/>
        </p:nvGrpSpPr>
        <p:grpSpPr>
          <a:xfrm>
            <a:off x="205424" y="-7667"/>
            <a:ext cx="1268125" cy="523221"/>
            <a:chOff x="225461" y="-7666"/>
            <a:chExt cx="1268125" cy="523219"/>
          </a:xfrm>
        </p:grpSpPr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03ECFC1A-CBAB-4D07-87A6-374567A681EC}"/>
                </a:ext>
              </a:extLst>
            </p:cNvPr>
            <p:cNvSpPr txBox="1"/>
            <p:nvPr userDrawn="1"/>
          </p:nvSpPr>
          <p:spPr>
            <a:xfrm>
              <a:off x="225461" y="-7666"/>
              <a:ext cx="383170" cy="523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14BC2157-F35B-4A68-885E-82907A2943CF}"/>
                </a:ext>
              </a:extLst>
            </p:cNvPr>
            <p:cNvSpPr txBox="1"/>
            <p:nvPr userDrawn="1"/>
          </p:nvSpPr>
          <p:spPr>
            <a:xfrm>
              <a:off x="667937" y="-7666"/>
              <a:ext cx="383171" cy="523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45" name="Connecteur droit 44">
              <a:extLst>
                <a:ext uri="{FF2B5EF4-FFF2-40B4-BE49-F238E27FC236}">
                  <a16:creationId xmlns:a16="http://schemas.microsoft.com/office/drawing/2014/main" id="{D2D67C28-23A4-444F-9B37-1064DBC6D168}"/>
                </a:ext>
              </a:extLst>
            </p:cNvPr>
            <p:cNvCxnSpPr/>
            <p:nvPr userDrawn="1"/>
          </p:nvCxnSpPr>
          <p:spPr>
            <a:xfrm>
              <a:off x="638284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6" name="Connecteur droit 45">
              <a:extLst>
                <a:ext uri="{FF2B5EF4-FFF2-40B4-BE49-F238E27FC236}">
                  <a16:creationId xmlns:a16="http://schemas.microsoft.com/office/drawing/2014/main" id="{4ADACB1E-712E-4835-895D-7C8D8D03FE56}"/>
                </a:ext>
              </a:extLst>
            </p:cNvPr>
            <p:cNvCxnSpPr/>
            <p:nvPr userDrawn="1"/>
          </p:nvCxnSpPr>
          <p:spPr>
            <a:xfrm>
              <a:off x="1080761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FB967046-9211-4328-AE97-A4B87B2AE093}"/>
                </a:ext>
              </a:extLst>
            </p:cNvPr>
            <p:cNvSpPr txBox="1"/>
            <p:nvPr userDrawn="1"/>
          </p:nvSpPr>
          <p:spPr>
            <a:xfrm>
              <a:off x="1110415" y="-7666"/>
              <a:ext cx="383171" cy="523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9EBB92AB-B6F0-466F-92B1-E30C2C0A5619}"/>
              </a:ext>
            </a:extLst>
          </p:cNvPr>
          <p:cNvSpPr/>
          <p:nvPr userDrawn="1"/>
        </p:nvSpPr>
        <p:spPr>
          <a:xfrm rot="21336737">
            <a:off x="5860139" y="244869"/>
            <a:ext cx="12153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Sécurité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9A58CFF-6BB9-4E91-A16C-D256DE8BB13D}"/>
              </a:ext>
            </a:extLst>
          </p:cNvPr>
          <p:cNvSpPr/>
          <p:nvPr userDrawn="1"/>
        </p:nvSpPr>
        <p:spPr>
          <a:xfrm rot="21419042">
            <a:off x="5528528" y="201837"/>
            <a:ext cx="1260000" cy="1620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083895C-F4C8-4BBB-AF2C-5347DAB881F0}"/>
              </a:ext>
            </a:extLst>
          </p:cNvPr>
          <p:cNvSpPr/>
          <p:nvPr userDrawn="1"/>
        </p:nvSpPr>
        <p:spPr>
          <a:xfrm rot="21336737">
            <a:off x="5655902" y="98987"/>
            <a:ext cx="12153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Sécurité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76798655-7114-4DEB-98A4-5F1F3AD539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1022" y="8828092"/>
            <a:ext cx="3277979" cy="1881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31178" y="8622284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42900" y="2133601"/>
            <a:ext cx="6172200" cy="6034617"/>
          </a:xfrm>
        </p:spPr>
        <p:txBody>
          <a:bodyPr/>
          <a:lstStyle>
            <a:lvl1pPr>
              <a:defRPr sz="22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defRPr>
            </a:lvl1pPr>
            <a:lvl2pPr marL="7429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buClr>
                <a:schemeClr val="accent1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buClr>
                <a:schemeClr val="accent1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buClr>
                <a:schemeClr val="accent1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71670"/>
            <a:ext cx="6172200" cy="851925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9688C22-A0A6-4CEC-A862-AEE8E498C9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704" y="102355"/>
            <a:ext cx="427885" cy="28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86FAF3A-D595-4DB7-A86C-63C01B5058B5}"/>
              </a:ext>
            </a:extLst>
          </p:cNvPr>
          <p:cNvSpPr/>
          <p:nvPr userDrawn="1"/>
        </p:nvSpPr>
        <p:spPr>
          <a:xfrm rot="21336737">
            <a:off x="5707739" y="92469"/>
            <a:ext cx="12153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Sécurité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694EA56-99CD-45FA-825E-F976C7AEC1D5}"/>
              </a:ext>
            </a:extLst>
          </p:cNvPr>
          <p:cNvCxnSpPr>
            <a:cxnSpLocks/>
          </p:cNvCxnSpPr>
          <p:nvPr userDrawn="1"/>
        </p:nvCxnSpPr>
        <p:spPr>
          <a:xfrm>
            <a:off x="0" y="567272"/>
            <a:ext cx="6843754" cy="0"/>
          </a:xfrm>
          <a:prstGeom prst="line">
            <a:avLst/>
          </a:prstGeom>
          <a:ln w="28575">
            <a:solidFill>
              <a:srgbClr val="9537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rganigramme : Processus 39">
            <a:extLst>
              <a:ext uri="{FF2B5EF4-FFF2-40B4-BE49-F238E27FC236}">
                <a16:creationId xmlns:a16="http://schemas.microsoft.com/office/drawing/2014/main" id="{7769DADD-9EBE-4FD4-8CEF-F7ACD83F7250}"/>
              </a:ext>
            </a:extLst>
          </p:cNvPr>
          <p:cNvSpPr/>
          <p:nvPr userDrawn="1"/>
        </p:nvSpPr>
        <p:spPr>
          <a:xfrm>
            <a:off x="44625" y="36003"/>
            <a:ext cx="1589723" cy="451067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4B7F552-77FD-458E-A543-0A3A57F3B8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704" y="102355"/>
            <a:ext cx="427885" cy="288000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E0CDD3C7-0C80-4BA7-A008-B8DBF3AC0B4B}"/>
              </a:ext>
            </a:extLst>
          </p:cNvPr>
          <p:cNvGrpSpPr/>
          <p:nvPr userDrawn="1"/>
        </p:nvGrpSpPr>
        <p:grpSpPr>
          <a:xfrm>
            <a:off x="205424" y="-7667"/>
            <a:ext cx="1268125" cy="523221"/>
            <a:chOff x="225461" y="-7666"/>
            <a:chExt cx="1268125" cy="523219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E2DDCB33-79F9-4B05-ADF8-CBB7C5E52D50}"/>
                </a:ext>
              </a:extLst>
            </p:cNvPr>
            <p:cNvSpPr txBox="1"/>
            <p:nvPr userDrawn="1"/>
          </p:nvSpPr>
          <p:spPr>
            <a:xfrm>
              <a:off x="225461" y="-7666"/>
              <a:ext cx="383170" cy="523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A2F533CC-B262-4212-A2A5-739888BF0A57}"/>
                </a:ext>
              </a:extLst>
            </p:cNvPr>
            <p:cNvSpPr txBox="1"/>
            <p:nvPr userDrawn="1"/>
          </p:nvSpPr>
          <p:spPr>
            <a:xfrm>
              <a:off x="667937" y="-7666"/>
              <a:ext cx="383171" cy="523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346F3D9D-59DC-4E09-9918-546330258D82}"/>
                </a:ext>
              </a:extLst>
            </p:cNvPr>
            <p:cNvCxnSpPr/>
            <p:nvPr userDrawn="1"/>
          </p:nvCxnSpPr>
          <p:spPr>
            <a:xfrm>
              <a:off x="638284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4EAC57FF-71FD-481E-9492-CB51A155A0AB}"/>
                </a:ext>
              </a:extLst>
            </p:cNvPr>
            <p:cNvCxnSpPr/>
            <p:nvPr userDrawn="1"/>
          </p:nvCxnSpPr>
          <p:spPr>
            <a:xfrm>
              <a:off x="1080761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C3FD2B5C-2D68-4413-8A12-0DFA081A8B59}"/>
                </a:ext>
              </a:extLst>
            </p:cNvPr>
            <p:cNvSpPr txBox="1"/>
            <p:nvPr userDrawn="1"/>
          </p:nvSpPr>
          <p:spPr>
            <a:xfrm>
              <a:off x="1110415" y="-7666"/>
              <a:ext cx="383171" cy="523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936C9920-9304-4CB1-9B96-3D7687ED7C54}"/>
              </a:ext>
            </a:extLst>
          </p:cNvPr>
          <p:cNvSpPr/>
          <p:nvPr userDrawn="1"/>
        </p:nvSpPr>
        <p:spPr>
          <a:xfrm rot="21336737">
            <a:off x="5860139" y="244869"/>
            <a:ext cx="12153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Sécurité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B16D74-B2FE-4B83-91F2-6689593CF284}"/>
              </a:ext>
            </a:extLst>
          </p:cNvPr>
          <p:cNvSpPr/>
          <p:nvPr userDrawn="1"/>
        </p:nvSpPr>
        <p:spPr>
          <a:xfrm rot="21419042">
            <a:off x="5528528" y="201837"/>
            <a:ext cx="1260000" cy="1620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D4B1FC-94A0-4EB1-9994-720504D073A7}"/>
              </a:ext>
            </a:extLst>
          </p:cNvPr>
          <p:cNvSpPr/>
          <p:nvPr userDrawn="1"/>
        </p:nvSpPr>
        <p:spPr>
          <a:xfrm rot="21336737">
            <a:off x="5655902" y="98987"/>
            <a:ext cx="12153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Sécurité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45976" y="8640298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9" name="Organigramme : Processus 8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21419042">
            <a:off x="499956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1411" y="1122023"/>
            <a:ext cx="150205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Hygiène</a:t>
            </a:r>
            <a:endParaRPr lang="fr-FR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245976" y="8628370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4995"/>
            <a:ext cx="6172200" cy="851925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9" name="Organigramme : Processus 8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21419042">
            <a:off x="499956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1411" y="1122023"/>
            <a:ext cx="150205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Hygiène</a:t>
            </a:r>
            <a:endParaRPr lang="fr-FR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092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08/09/2021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6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13" Type="http://schemas.openxmlformats.org/officeDocument/2006/relationships/image" Target="../media/image19.emf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12" Type="http://schemas.openxmlformats.org/officeDocument/2006/relationships/image" Target="../media/image18.emf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11" Type="http://schemas.openxmlformats.org/officeDocument/2006/relationships/image" Target="../media/image17.emf"/><Relationship Id="rId5" Type="http://schemas.openxmlformats.org/officeDocument/2006/relationships/image" Target="../media/image11.jpeg"/><Relationship Id="rId15" Type="http://schemas.openxmlformats.org/officeDocument/2006/relationships/image" Target="../media/image21.jpeg"/><Relationship Id="rId10" Type="http://schemas.openxmlformats.org/officeDocument/2006/relationships/image" Target="../media/image16.emf"/><Relationship Id="rId4" Type="http://schemas.openxmlformats.org/officeDocument/2006/relationships/image" Target="../media/image10.png"/><Relationship Id="rId9" Type="http://schemas.openxmlformats.org/officeDocument/2006/relationships/image" Target="../media/image15.emf"/><Relationship Id="rId1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 descr="RÃ©sultats de recherche d'images pour Â«Â top flopÂ Â»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72" t="20440" r="9791" b="2792"/>
          <a:stretch/>
        </p:blipFill>
        <p:spPr bwMode="auto">
          <a:xfrm>
            <a:off x="3356992" y="2574833"/>
            <a:ext cx="607467" cy="607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contenu 1"/>
          <p:cNvSpPr txBox="1">
            <a:spLocks/>
          </p:cNvSpPr>
          <p:nvPr/>
        </p:nvSpPr>
        <p:spPr>
          <a:xfrm>
            <a:off x="155476" y="1373903"/>
            <a:ext cx="6559815" cy="576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77111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000" dirty="0">
                <a:ea typeface="Times New Roman" pitchFamily="18" charset="0"/>
                <a:cs typeface="Arial" pitchFamily="34" charset="0"/>
              </a:rPr>
              <a:t>Un agencement adéquat des postes de travail est important: une personne devant travailler durant une longue période à un poste de travail mal agencé présente un risque élevé de présenter des troubles physiques.</a:t>
            </a:r>
          </a:p>
          <a:p>
            <a:pPr algn="just" defTabSz="77111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000" dirty="0">
                <a:ea typeface="Times New Roman" pitchFamily="18" charset="0"/>
                <a:cs typeface="Arial" pitchFamily="34" charset="0"/>
              </a:rPr>
              <a:t>Cette fiche vous permet de connaître quelques bonnes pratiques à appliquer afin d’améliorer vos postures. </a:t>
            </a:r>
          </a:p>
        </p:txBody>
      </p:sp>
      <p:sp>
        <p:nvSpPr>
          <p:cNvPr id="5" name="Titre 2"/>
          <p:cNvSpPr txBox="1">
            <a:spLocks/>
          </p:cNvSpPr>
          <p:nvPr/>
        </p:nvSpPr>
        <p:spPr>
          <a:xfrm>
            <a:off x="1980728" y="827584"/>
            <a:ext cx="3320480" cy="288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fr-FR" sz="2400" dirty="0"/>
              <a:t>Travail sur écran 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5476" y="1200790"/>
            <a:ext cx="6565751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400" b="1" dirty="0">
                <a:solidFill>
                  <a:schemeClr val="bg1"/>
                </a:solidFill>
              </a:rPr>
              <a:t>Objet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9541" y="1949967"/>
            <a:ext cx="6565751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400" b="1" dirty="0">
                <a:solidFill>
                  <a:schemeClr val="bg1"/>
                </a:solidFill>
              </a:rPr>
              <a:t>Eléments matériels</a:t>
            </a:r>
          </a:p>
        </p:txBody>
      </p:sp>
      <p:sp>
        <p:nvSpPr>
          <p:cNvPr id="56" name="ZoneTexte 55"/>
          <p:cNvSpPr txBox="1"/>
          <p:nvPr/>
        </p:nvSpPr>
        <p:spPr>
          <a:xfrm>
            <a:off x="3933056" y="2165772"/>
            <a:ext cx="2736304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fr-FR" sz="800" dirty="0"/>
              <a:t>Utiliser un siège sans réglage préalable</a:t>
            </a:r>
          </a:p>
          <a:p>
            <a:r>
              <a:rPr lang="fr-FR" sz="800" dirty="0"/>
              <a:t>S’asseoir au bord du siège</a:t>
            </a:r>
          </a:p>
          <a:p>
            <a:r>
              <a:rPr lang="fr-FR" sz="800" dirty="0"/>
              <a:t>S’asseoir ou se relever brusquement</a:t>
            </a:r>
          </a:p>
          <a:p>
            <a:r>
              <a:rPr lang="fr-FR" sz="800" dirty="0"/>
              <a:t>Positionner la souris trop éloignée du clavier</a:t>
            </a:r>
          </a:p>
          <a:p>
            <a:r>
              <a:rPr lang="fr-FR" sz="800" dirty="0"/>
              <a:t>Cassure au niveau du poignet lors de l’utilisation de la souris </a:t>
            </a:r>
          </a:p>
          <a:p>
            <a:r>
              <a:rPr lang="fr-FR" sz="800" dirty="0"/>
              <a:t>Décrocher le téléphone en croisant le bras </a:t>
            </a:r>
          </a:p>
          <a:p>
            <a:r>
              <a:rPr lang="fr-FR" sz="800" dirty="0"/>
              <a:t>Placer l’écran trop bas ou contre un mur</a:t>
            </a:r>
          </a:p>
          <a:p>
            <a:r>
              <a:rPr lang="fr-FR" sz="800" dirty="0"/>
              <a:t>Avoir un éblouissement direct/indirect ou des reflets </a:t>
            </a:r>
          </a:p>
          <a:p>
            <a:r>
              <a:rPr lang="fr-FR" sz="800" dirty="0"/>
              <a:t>Avoir une différence de niveau entre les 2 écrans </a:t>
            </a:r>
          </a:p>
          <a:p>
            <a:r>
              <a:rPr lang="fr-FR" sz="800" dirty="0"/>
              <a:t>Avoir un espace entre les 2 écrans </a:t>
            </a:r>
          </a:p>
        </p:txBody>
      </p:sp>
      <p:sp>
        <p:nvSpPr>
          <p:cNvPr id="43" name="Carré corné 42"/>
          <p:cNvSpPr/>
          <p:nvPr/>
        </p:nvSpPr>
        <p:spPr>
          <a:xfrm>
            <a:off x="535473" y="6652176"/>
            <a:ext cx="2561313" cy="728136"/>
          </a:xfrm>
          <a:prstGeom prst="foldedCorner">
            <a:avLst>
              <a:gd name="adj" fmla="val 17731"/>
            </a:avLst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900" b="1" dirty="0"/>
          </a:p>
          <a:p>
            <a:r>
              <a:rPr lang="fr-FR" sz="900" b="1" dirty="0">
                <a:solidFill>
                  <a:srgbClr val="0070C0"/>
                </a:solidFill>
              </a:rPr>
              <a:t>Ordinateur portable </a:t>
            </a:r>
          </a:p>
          <a:p>
            <a:r>
              <a:rPr lang="fr-FR" sz="900" dirty="0"/>
              <a:t>Utilisation limitée à de courtes périodes (≈2H consécutives)</a:t>
            </a:r>
          </a:p>
          <a:p>
            <a:r>
              <a:rPr lang="fr-FR" sz="900" dirty="0"/>
              <a:t>Utiliser des équipements additionnels :</a:t>
            </a:r>
          </a:p>
          <a:p>
            <a:r>
              <a:rPr lang="fr-FR" sz="900" dirty="0"/>
              <a:t>clavier, écran, souris externes, station d’accueil…</a:t>
            </a:r>
          </a:p>
        </p:txBody>
      </p:sp>
      <p:grpSp>
        <p:nvGrpSpPr>
          <p:cNvPr id="53" name="Groupe 52"/>
          <p:cNvGrpSpPr/>
          <p:nvPr/>
        </p:nvGrpSpPr>
        <p:grpSpPr>
          <a:xfrm rot="5400000">
            <a:off x="1416482" y="5648413"/>
            <a:ext cx="712666" cy="1152129"/>
            <a:chOff x="3406151" y="4144497"/>
            <a:chExt cx="872200" cy="1509670"/>
          </a:xfrm>
        </p:grpSpPr>
        <p:pic>
          <p:nvPicPr>
            <p:cNvPr id="40" name="Image 39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977" r="-142" b="829"/>
            <a:stretch/>
          </p:blipFill>
          <p:spPr>
            <a:xfrm rot="16200000">
              <a:off x="3087416" y="4463232"/>
              <a:ext cx="1509670" cy="872200"/>
            </a:xfrm>
            <a:prstGeom prst="rect">
              <a:avLst/>
            </a:prstGeom>
          </p:spPr>
        </p:pic>
        <p:sp>
          <p:nvSpPr>
            <p:cNvPr id="52" name="ZoneTexte 51"/>
            <p:cNvSpPr txBox="1"/>
            <p:nvPr/>
          </p:nvSpPr>
          <p:spPr>
            <a:xfrm>
              <a:off x="4144046" y="4188534"/>
              <a:ext cx="134305" cy="34956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fr-FR" dirty="0"/>
            </a:p>
          </p:txBody>
        </p:sp>
      </p:grpSp>
      <p:sp>
        <p:nvSpPr>
          <p:cNvPr id="63" name="Carré corné 62"/>
          <p:cNvSpPr/>
          <p:nvPr/>
        </p:nvSpPr>
        <p:spPr>
          <a:xfrm>
            <a:off x="535474" y="4283968"/>
            <a:ext cx="2563106" cy="776385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500" b="1" dirty="0"/>
          </a:p>
          <a:p>
            <a:r>
              <a:rPr lang="fr-FR" sz="900" b="1" dirty="0">
                <a:solidFill>
                  <a:schemeClr val="accent3">
                    <a:lumMod val="75000"/>
                  </a:schemeClr>
                </a:solidFill>
              </a:rPr>
              <a:t>Siège </a:t>
            </a:r>
          </a:p>
          <a:p>
            <a:r>
              <a:rPr lang="fr-FR" sz="900" dirty="0"/>
              <a:t>Tête maintenue au dessus des épaules</a:t>
            </a:r>
          </a:p>
          <a:p>
            <a:r>
              <a:rPr lang="fr-FR" sz="900" dirty="0"/>
              <a:t>Poignets en position neutre (droits)</a:t>
            </a:r>
          </a:p>
          <a:p>
            <a:r>
              <a:rPr lang="fr-FR" sz="900" dirty="0"/>
              <a:t>Regard légèrement vers le bas sans incliner le cou</a:t>
            </a:r>
          </a:p>
          <a:p>
            <a:r>
              <a:rPr lang="fr-FR" sz="900" dirty="0"/>
              <a:t>Epaules détendues mais non affaissées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55475" y="4031960"/>
            <a:ext cx="6565751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400" b="1" dirty="0">
                <a:solidFill>
                  <a:schemeClr val="bg1"/>
                </a:solidFill>
              </a:rPr>
              <a:t>Implantation de poste</a:t>
            </a:r>
          </a:p>
        </p:txBody>
      </p:sp>
      <p:pic>
        <p:nvPicPr>
          <p:cNvPr id="1026" name="Picture 2" descr="RÃ©sultats de recherche d'images pour Â«Â top flopÂ Â»"/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9" t="23799" r="49732" b="5338"/>
          <a:stretch/>
        </p:blipFill>
        <p:spPr bwMode="auto">
          <a:xfrm>
            <a:off x="275081" y="2548706"/>
            <a:ext cx="633639" cy="543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ZoneTexte 28"/>
          <p:cNvSpPr txBox="1"/>
          <p:nvPr/>
        </p:nvSpPr>
        <p:spPr>
          <a:xfrm>
            <a:off x="836712" y="2165991"/>
            <a:ext cx="2592288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fr-FR" sz="800" dirty="0"/>
              <a:t>Ajuster l’assise en hauteur et profondeur </a:t>
            </a:r>
          </a:p>
          <a:p>
            <a:r>
              <a:rPr lang="fr-FR" sz="800" dirty="0"/>
              <a:t>Poser les pieds à plat au sol (si nécessaire repose-pieds)</a:t>
            </a:r>
          </a:p>
          <a:p>
            <a:pPr fontAlgn="t"/>
            <a:r>
              <a:rPr lang="fr-FR" sz="800" dirty="0"/>
              <a:t>Régler les paramètres écran : luminosité, contraste …</a:t>
            </a:r>
          </a:p>
          <a:p>
            <a:pPr fontAlgn="t"/>
            <a:r>
              <a:rPr lang="fr-FR" sz="800" dirty="0"/>
              <a:t>Incliner l’écran ≈ 20° vers l’arrière</a:t>
            </a:r>
          </a:p>
          <a:p>
            <a:pPr fontAlgn="t"/>
            <a:r>
              <a:rPr lang="fr-FR" sz="800" dirty="0"/>
              <a:t>Poser le clavier à plat </a:t>
            </a:r>
          </a:p>
          <a:p>
            <a:pPr fontAlgn="t"/>
            <a:r>
              <a:rPr lang="fr-FR" sz="800" dirty="0"/>
              <a:t>Placer le clavier à 10-20 cm du bord du bureau</a:t>
            </a:r>
          </a:p>
          <a:p>
            <a:pPr fontAlgn="t"/>
            <a:r>
              <a:rPr lang="fr-FR" sz="800" dirty="0"/>
              <a:t>Placer la souris proche du clavier</a:t>
            </a:r>
          </a:p>
          <a:p>
            <a:pPr fontAlgn="t"/>
            <a:r>
              <a:rPr lang="fr-FR" sz="800" dirty="0"/>
              <a:t>Positionner le téléphone dans la zone de préhension</a:t>
            </a:r>
          </a:p>
          <a:p>
            <a:pPr fontAlgn="t"/>
            <a:r>
              <a:rPr lang="fr-FR" sz="800" dirty="0"/>
              <a:t>Consulter les documents avec une position droite du cou </a:t>
            </a:r>
          </a:p>
          <a:p>
            <a:pPr fontAlgn="t"/>
            <a:r>
              <a:rPr lang="fr-FR" sz="800" dirty="0"/>
              <a:t>Privilégier un affichage sur fond clair</a:t>
            </a:r>
          </a:p>
        </p:txBody>
      </p:sp>
      <p:sp>
        <p:nvSpPr>
          <p:cNvPr id="30" name="Carré corné 29"/>
          <p:cNvSpPr/>
          <p:nvPr/>
        </p:nvSpPr>
        <p:spPr>
          <a:xfrm>
            <a:off x="3789040" y="4283968"/>
            <a:ext cx="2572234" cy="761682"/>
          </a:xfrm>
          <a:prstGeom prst="foldedCorner">
            <a:avLst>
              <a:gd name="adj" fmla="val 135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500" b="1" dirty="0"/>
          </a:p>
          <a:p>
            <a:r>
              <a:rPr lang="fr-FR" sz="900" b="1" dirty="0">
                <a:solidFill>
                  <a:schemeClr val="accent2"/>
                </a:solidFill>
              </a:rPr>
              <a:t>Ecran </a:t>
            </a:r>
          </a:p>
          <a:p>
            <a:r>
              <a:rPr lang="fr-FR" sz="900" dirty="0"/>
              <a:t>Le centre de l’écran dans la ligne du regard</a:t>
            </a:r>
          </a:p>
          <a:p>
            <a:r>
              <a:rPr lang="fr-FR" sz="900" dirty="0"/>
              <a:t>Le haut de l’écran sous la hauteur des yeux</a:t>
            </a:r>
          </a:p>
          <a:p>
            <a:r>
              <a:rPr lang="fr-FR" sz="900" dirty="0"/>
              <a:t>Placé à une distance de votre longueur de bras</a:t>
            </a:r>
          </a:p>
        </p:txBody>
      </p:sp>
      <p:sp>
        <p:nvSpPr>
          <p:cNvPr id="31" name="Carré corné 30"/>
          <p:cNvSpPr/>
          <p:nvPr/>
        </p:nvSpPr>
        <p:spPr>
          <a:xfrm>
            <a:off x="535474" y="5122310"/>
            <a:ext cx="2561313" cy="695257"/>
          </a:xfrm>
          <a:prstGeom prst="foldedCorner">
            <a:avLst>
              <a:gd name="adj" fmla="val 1902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500" b="1" dirty="0"/>
          </a:p>
          <a:p>
            <a:r>
              <a:rPr lang="fr-FR" sz="900" b="1" dirty="0">
                <a:solidFill>
                  <a:schemeClr val="accent2"/>
                </a:solidFill>
              </a:rPr>
              <a:t>Double écran</a:t>
            </a:r>
          </a:p>
          <a:p>
            <a:r>
              <a:rPr lang="fr-FR" sz="900" dirty="0"/>
              <a:t>Les écrans doivent être centrés face à vous</a:t>
            </a:r>
          </a:p>
          <a:p>
            <a:r>
              <a:rPr lang="fr-FR" sz="900" dirty="0"/>
              <a:t>L’angle des écrans doit être de ≈ 170°</a:t>
            </a:r>
          </a:p>
          <a:p>
            <a:r>
              <a:rPr lang="fr-FR" sz="900" dirty="0"/>
              <a:t>Homogénéiser les réglages des écrans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68760" y="7380312"/>
            <a:ext cx="663389" cy="871276"/>
          </a:xfrm>
          <a:prstGeom prst="rect">
            <a:avLst/>
          </a:prstGeom>
        </p:spPr>
      </p:pic>
      <p:sp>
        <p:nvSpPr>
          <p:cNvPr id="33" name="Carré corné 32"/>
          <p:cNvSpPr/>
          <p:nvPr/>
        </p:nvSpPr>
        <p:spPr>
          <a:xfrm>
            <a:off x="158669" y="3534143"/>
            <a:ext cx="6556622" cy="389785"/>
          </a:xfrm>
          <a:prstGeom prst="foldedCorner">
            <a:avLst>
              <a:gd name="adj" fmla="val 1779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fr-FR" sz="500" dirty="0">
              <a:latin typeface="Calibri" panose="020F0502020204030204" pitchFamily="34" charset="0"/>
              <a:ea typeface="Times New Roman" pitchFamily="18" charset="0"/>
              <a:cs typeface="Arial" pitchFamily="34" charset="0"/>
            </a:endParaRPr>
          </a:p>
          <a:p>
            <a:pPr algn="ctr"/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  <a:cs typeface="Arial" pitchFamily="34" charset="0"/>
              </a:rPr>
              <a:t>Il revient à chacun de régler son poste de travail de manière à supprimer les contraintes pour le corps et de positionner ses articulations de la manière la plus neutre possible.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0725" y="5101692"/>
            <a:ext cx="2864619" cy="299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ZoneTexte 43"/>
          <p:cNvSpPr txBox="1">
            <a:spLocks noChangeArrowheads="1"/>
          </p:cNvSpPr>
          <p:nvPr/>
        </p:nvSpPr>
        <p:spPr bwMode="auto">
          <a:xfrm>
            <a:off x="3948352" y="426894"/>
            <a:ext cx="293035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r>
              <a:rPr lang="fr-FR" sz="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FP FS 031 Version 1 du 11/04/2018</a:t>
            </a:r>
          </a:p>
        </p:txBody>
      </p:sp>
    </p:spTree>
    <p:extLst>
      <p:ext uri="{BB962C8B-B14F-4D97-AF65-F5344CB8AC3E}">
        <p14:creationId xmlns:p14="http://schemas.microsoft.com/office/powerpoint/2010/main" val="258200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723591"/>
              </p:ext>
            </p:extLst>
          </p:nvPr>
        </p:nvGraphicFramePr>
        <p:xfrm>
          <a:off x="305445" y="1776462"/>
          <a:ext cx="1971427" cy="870403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71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algn="ctr"/>
                      <a:r>
                        <a:rPr lang="fr-FR" sz="1400" baseline="0" dirty="0"/>
                        <a:t>Bruit</a:t>
                      </a:r>
                      <a:endParaRPr lang="fr-FR" sz="1400" dirty="0"/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137">
                <a:tc>
                  <a:txBody>
                    <a:bodyPr/>
                    <a:lstStyle/>
                    <a:p>
                      <a:pPr algn="l"/>
                      <a:r>
                        <a:rPr lang="fr-FR" sz="800" dirty="0"/>
                        <a:t>Régler le volume sonore des sonneries de téléphone au minimum </a:t>
                      </a:r>
                    </a:p>
                    <a:p>
                      <a:pPr algn="l"/>
                      <a:r>
                        <a:rPr lang="fr-FR" sz="800" dirty="0"/>
                        <a:t>Privilégier les sonneries graves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9" name="Tableau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603044"/>
              </p:ext>
            </p:extLst>
          </p:nvPr>
        </p:nvGraphicFramePr>
        <p:xfrm>
          <a:off x="4528432" y="1763688"/>
          <a:ext cx="1996912" cy="874473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996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1336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Température</a:t>
                      </a:r>
                      <a:endParaRPr lang="fr-FR" dirty="0"/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137">
                <a:tc>
                  <a:txBody>
                    <a:bodyPr/>
                    <a:lstStyle/>
                    <a:p>
                      <a:pPr algn="l"/>
                      <a:r>
                        <a:rPr lang="fr-FR" sz="800" dirty="0"/>
                        <a:t>Eviter d’être sous/sur une sortie d’air Température homogène :</a:t>
                      </a:r>
                      <a:r>
                        <a:rPr lang="fr-FR" sz="800" baseline="0" dirty="0"/>
                        <a:t> </a:t>
                      </a:r>
                      <a:r>
                        <a:rPr lang="fr-FR" sz="800" dirty="0"/>
                        <a:t>22°C -</a:t>
                      </a:r>
                      <a:r>
                        <a:rPr lang="fr-FR" sz="800" baseline="0" dirty="0"/>
                        <a:t> </a:t>
                      </a:r>
                      <a:r>
                        <a:rPr lang="fr-FR" sz="800" dirty="0"/>
                        <a:t>26°C</a:t>
                      </a:r>
                    </a:p>
                    <a:p>
                      <a:pPr algn="l"/>
                      <a:r>
                        <a:rPr lang="fr-FR" sz="800" dirty="0"/>
                        <a:t>Penser au renouvellement de l’air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8" name="Tableau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835431"/>
              </p:ext>
            </p:extLst>
          </p:nvPr>
        </p:nvGraphicFramePr>
        <p:xfrm>
          <a:off x="2420888" y="1776462"/>
          <a:ext cx="1983256" cy="87801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983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15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Lumière</a:t>
                      </a:r>
                      <a:r>
                        <a:rPr lang="fr-FR" dirty="0"/>
                        <a:t> 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253">
                <a:tc>
                  <a:txBody>
                    <a:bodyPr/>
                    <a:lstStyle/>
                    <a:p>
                      <a:pPr algn="l"/>
                      <a:r>
                        <a:rPr lang="fr-FR" sz="800" dirty="0"/>
                        <a:t>Privilégier la lumière naturelle</a:t>
                      </a:r>
                    </a:p>
                    <a:p>
                      <a:pPr algn="l"/>
                      <a:r>
                        <a:rPr lang="fr-FR" sz="800" dirty="0"/>
                        <a:t>Éviter éblouissement/reflets sur</a:t>
                      </a:r>
                      <a:r>
                        <a:rPr lang="fr-FR" sz="800" baseline="0" dirty="0"/>
                        <a:t> écran</a:t>
                      </a:r>
                      <a:endParaRPr lang="fr-FR" sz="800" dirty="0"/>
                    </a:p>
                    <a:p>
                      <a:pPr algn="l"/>
                      <a:r>
                        <a:rPr lang="fr-FR" sz="800" dirty="0"/>
                        <a:t>Éviter la source de lumière artificielle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itre 2"/>
          <p:cNvSpPr txBox="1">
            <a:spLocks/>
          </p:cNvSpPr>
          <p:nvPr/>
        </p:nvSpPr>
        <p:spPr>
          <a:xfrm>
            <a:off x="132306" y="459767"/>
            <a:ext cx="6858000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fr-FR" sz="3200" dirty="0"/>
              <a:t>Travail sur écran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40223" y="1187624"/>
            <a:ext cx="6565751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400" b="1" dirty="0">
                <a:solidFill>
                  <a:schemeClr val="bg1"/>
                </a:solidFill>
              </a:rPr>
              <a:t>Implantation de poste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199" y="1539992"/>
            <a:ext cx="61926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000" dirty="0">
                <a:latin typeface="Calibri" panose="020F0502020204030204" pitchFamily="34" charset="0"/>
              </a:rPr>
              <a:t>Au niveau de l’ambiance physique trois éléments sont à prendre en compte et ont un lien direct avec la posture : </a:t>
            </a:r>
            <a:endParaRPr lang="fr-FR" sz="1000" dirty="0"/>
          </a:p>
        </p:txBody>
      </p:sp>
      <p:pic>
        <p:nvPicPr>
          <p:cNvPr id="2050" name="Picture 2" descr="RÃ©sultats de recherche d'images pour Â«Â son pngÂ Â»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743" y="1835696"/>
            <a:ext cx="262961" cy="262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Ã©sultats de recherche d'images pour Â«Â ampoule pngÂ Â»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397" y="1829402"/>
            <a:ext cx="265343" cy="29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Ã©sultats de recherche d'images pour Â«Â tempÃ©rature pngÂ Â»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136" y="1816881"/>
            <a:ext cx="328446" cy="234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Rectangle 74"/>
          <p:cNvSpPr/>
          <p:nvPr/>
        </p:nvSpPr>
        <p:spPr>
          <a:xfrm>
            <a:off x="140223" y="2627784"/>
            <a:ext cx="6565751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400" b="1" dirty="0">
                <a:solidFill>
                  <a:schemeClr val="bg1"/>
                </a:solidFill>
              </a:rPr>
              <a:t>Exercices activités sédentaires</a:t>
            </a:r>
          </a:p>
        </p:txBody>
      </p:sp>
      <p:graphicFrame>
        <p:nvGraphicFramePr>
          <p:cNvPr id="76" name="Tableau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385153"/>
              </p:ext>
            </p:extLst>
          </p:nvPr>
        </p:nvGraphicFramePr>
        <p:xfrm>
          <a:off x="155005" y="4107162"/>
          <a:ext cx="6533069" cy="288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8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6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1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7" name="Espace réservé du contenu 1"/>
          <p:cNvSpPr txBox="1">
            <a:spLocks/>
          </p:cNvSpPr>
          <p:nvPr/>
        </p:nvSpPr>
        <p:spPr>
          <a:xfrm>
            <a:off x="721499" y="4884617"/>
            <a:ext cx="2743757" cy="8533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fr-FR" sz="1000" b="1" dirty="0"/>
              <a:t>Etape 2 : Poignets (droit et gauche)</a:t>
            </a:r>
          </a:p>
          <a:p>
            <a:pPr algn="just">
              <a:spcBef>
                <a:spcPts val="0"/>
              </a:spcBef>
            </a:pPr>
            <a:r>
              <a:rPr lang="fr-FR" sz="1000" dirty="0"/>
              <a:t>Bras tendus, placez une main sur les doigts de l'autre main en extension. Appuyez doucement vers vous (jusqu’à étirement). Poussez ensuite sur le dos de la main, main en flexion.</a:t>
            </a:r>
          </a:p>
        </p:txBody>
      </p:sp>
      <p:sp>
        <p:nvSpPr>
          <p:cNvPr id="78" name="Espace réservé du contenu 1"/>
          <p:cNvSpPr txBox="1">
            <a:spLocks/>
          </p:cNvSpPr>
          <p:nvPr/>
        </p:nvSpPr>
        <p:spPr>
          <a:xfrm>
            <a:off x="721732" y="5672322"/>
            <a:ext cx="2759974" cy="7194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fr-FR" sz="1000" b="1" dirty="0">
                <a:solidFill>
                  <a:schemeClr val="tx1"/>
                </a:solidFill>
              </a:rPr>
              <a:t>Etape 3 : Triceps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Main derrière la nuque et coude en hauteur. Avec l’autre main tirer sur le coude pour l’approcher de la tête. De même avec l’autre main.</a:t>
            </a:r>
          </a:p>
        </p:txBody>
      </p:sp>
      <p:sp>
        <p:nvSpPr>
          <p:cNvPr id="79" name="Espace réservé du contenu 1"/>
          <p:cNvSpPr txBox="1">
            <a:spLocks/>
          </p:cNvSpPr>
          <p:nvPr/>
        </p:nvSpPr>
        <p:spPr>
          <a:xfrm>
            <a:off x="739316" y="4078179"/>
            <a:ext cx="2725939" cy="8680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fr-FR" sz="1000" b="1" dirty="0">
                <a:solidFill>
                  <a:schemeClr val="tx1"/>
                </a:solidFill>
              </a:rPr>
              <a:t>Etape 1 : Poignets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Assis, coudes sur votre bureau, joignez vos mains (les doigts vers le haut). Les paumes ensemble, abaissez doucement vos poignets vers le bureau (jusqu’à étirement).</a:t>
            </a:r>
          </a:p>
        </p:txBody>
      </p:sp>
      <p:sp>
        <p:nvSpPr>
          <p:cNvPr id="80" name="Espace réservé du contenu 1"/>
          <p:cNvSpPr txBox="1">
            <a:spLocks/>
          </p:cNvSpPr>
          <p:nvPr/>
        </p:nvSpPr>
        <p:spPr>
          <a:xfrm>
            <a:off x="719937" y="6430255"/>
            <a:ext cx="2777889" cy="475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fr-FR" sz="1000" b="1" dirty="0">
                <a:solidFill>
                  <a:schemeClr val="tx1"/>
                </a:solidFill>
              </a:rPr>
              <a:t>Etape 4 : Bras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Monter les bras puis tirer les bras vers le haut. </a:t>
            </a:r>
          </a:p>
        </p:txBody>
      </p:sp>
      <p:sp>
        <p:nvSpPr>
          <p:cNvPr id="81" name="Espace réservé du contenu 1"/>
          <p:cNvSpPr txBox="1">
            <a:spLocks/>
          </p:cNvSpPr>
          <p:nvPr/>
        </p:nvSpPr>
        <p:spPr>
          <a:xfrm>
            <a:off x="3349827" y="4067944"/>
            <a:ext cx="2665717" cy="802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fr-FR" sz="1000" b="1" dirty="0">
                <a:solidFill>
                  <a:schemeClr val="tx1"/>
                </a:solidFill>
              </a:rPr>
              <a:t>Etape 5 : Epaules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Monter les épaules et effectuer des rotations dans un sens puis dans l'autre. Tenir le bras à l’arrière et pencher la tête du même côté. Faire de même de l’autre côté.</a:t>
            </a:r>
          </a:p>
        </p:txBody>
      </p:sp>
      <p:sp>
        <p:nvSpPr>
          <p:cNvPr id="82" name="Espace réservé du contenu 1"/>
          <p:cNvSpPr txBox="1">
            <a:spLocks/>
          </p:cNvSpPr>
          <p:nvPr/>
        </p:nvSpPr>
        <p:spPr>
          <a:xfrm>
            <a:off x="3367838" y="5668506"/>
            <a:ext cx="2603074" cy="615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fr-FR" sz="1000" b="1" dirty="0">
                <a:solidFill>
                  <a:schemeClr val="tx1"/>
                </a:solidFill>
              </a:rPr>
              <a:t>Etape 7 : Avant bras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En position assise, dos au dossier du siège et bras allongés en avant chercher le plus loin devant vous. </a:t>
            </a:r>
          </a:p>
        </p:txBody>
      </p:sp>
      <p:sp>
        <p:nvSpPr>
          <p:cNvPr id="83" name="Espace réservé du contenu 1"/>
          <p:cNvSpPr txBox="1">
            <a:spLocks/>
          </p:cNvSpPr>
          <p:nvPr/>
        </p:nvSpPr>
        <p:spPr>
          <a:xfrm>
            <a:off x="3363541" y="4863855"/>
            <a:ext cx="2707525" cy="907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fr-FR" sz="1000" b="1" dirty="0">
                <a:solidFill>
                  <a:schemeClr val="tx1"/>
                </a:solidFill>
              </a:rPr>
              <a:t>Etape 6 : Hanches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Assis, une jambe croisée. placer le bas opposé sur le côté extérieur de la jambe croisée. Exercer une légère pression en regardant dans la direction opposée. De même avec l'autre jambe.</a:t>
            </a:r>
          </a:p>
        </p:txBody>
      </p:sp>
      <p:pic>
        <p:nvPicPr>
          <p:cNvPr id="84" name="Picture 2" descr="Résultats de recherche d'images pour « échauffement main et avant bras »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09" y="5312264"/>
            <a:ext cx="556751" cy="33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Résultats de recherche d'images pour « échauffement poignets »"/>
          <p:cNvPicPr>
            <a:picLocks noChangeAspect="1" noChangeArrowheads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25"/>
          <a:stretch/>
        </p:blipFill>
        <p:spPr bwMode="auto">
          <a:xfrm>
            <a:off x="188454" y="4275384"/>
            <a:ext cx="550863" cy="271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6" descr="Résultats de recherche d'images pour « exercice étirement bras »"/>
          <p:cNvPicPr>
            <a:picLocks noChangeAspect="1" noChangeArrowheads="1"/>
          </p:cNvPicPr>
          <p:nvPr/>
        </p:nvPicPr>
        <p:blipFill rotWithShape="1"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2296" b="33205"/>
          <a:stretch/>
        </p:blipFill>
        <p:spPr bwMode="auto">
          <a:xfrm>
            <a:off x="303114" y="6415375"/>
            <a:ext cx="257007" cy="50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14" descr="3 exercices d'étirement des triceps"/>
          <p:cNvPicPr>
            <a:picLocks noChangeAspect="1" noChangeArrowheads="1"/>
          </p:cNvPicPr>
          <p:nvPr/>
        </p:nvPicPr>
        <p:blipFill rotWithShape="1"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17"/>
          <a:stretch/>
        </p:blipFill>
        <p:spPr bwMode="auto">
          <a:xfrm>
            <a:off x="250031" y="5759816"/>
            <a:ext cx="353442" cy="570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4" descr="Résultats de recherche d'images pour « échauffement poignets »"/>
          <p:cNvPicPr>
            <a:picLocks noChangeAspect="1" noChangeArrowheads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92"/>
          <a:stretch/>
        </p:blipFill>
        <p:spPr bwMode="auto">
          <a:xfrm>
            <a:off x="193276" y="4601350"/>
            <a:ext cx="567757" cy="25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Image 88"/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266" t="5048" r="-2540" b="7352"/>
          <a:stretch/>
        </p:blipFill>
        <p:spPr>
          <a:xfrm>
            <a:off x="6041455" y="4271703"/>
            <a:ext cx="381674" cy="557663"/>
          </a:xfrm>
          <a:prstGeom prst="rect">
            <a:avLst/>
          </a:prstGeom>
        </p:spPr>
      </p:pic>
      <p:pic>
        <p:nvPicPr>
          <p:cNvPr id="90" name="Image 89"/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8329" t="172" r="17301" b="7785"/>
          <a:stretch/>
        </p:blipFill>
        <p:spPr>
          <a:xfrm>
            <a:off x="6380211" y="4271320"/>
            <a:ext cx="309659" cy="562861"/>
          </a:xfrm>
          <a:prstGeom prst="rect">
            <a:avLst/>
          </a:prstGeom>
        </p:spPr>
      </p:pic>
      <p:pic>
        <p:nvPicPr>
          <p:cNvPr id="91" name="Image 90"/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7378"/>
          <a:stretch/>
        </p:blipFill>
        <p:spPr>
          <a:xfrm>
            <a:off x="6084780" y="5737979"/>
            <a:ext cx="516855" cy="518210"/>
          </a:xfrm>
          <a:prstGeom prst="rect">
            <a:avLst/>
          </a:prstGeom>
        </p:spPr>
      </p:pic>
      <p:pic>
        <p:nvPicPr>
          <p:cNvPr id="92" name="Image 91"/>
          <p:cNvPicPr>
            <a:picLocks noChangeAspect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8317"/>
          <a:stretch/>
        </p:blipFill>
        <p:spPr>
          <a:xfrm>
            <a:off x="6061185" y="4941718"/>
            <a:ext cx="516855" cy="646484"/>
          </a:xfrm>
          <a:prstGeom prst="rect">
            <a:avLst/>
          </a:prstGeom>
        </p:spPr>
      </p:pic>
      <p:pic>
        <p:nvPicPr>
          <p:cNvPr id="93" name="Image 92"/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8455"/>
          <a:stretch/>
        </p:blipFill>
        <p:spPr>
          <a:xfrm>
            <a:off x="6089171" y="6349903"/>
            <a:ext cx="488870" cy="597529"/>
          </a:xfrm>
          <a:prstGeom prst="rect">
            <a:avLst/>
          </a:prstGeom>
        </p:spPr>
      </p:pic>
      <p:sp>
        <p:nvSpPr>
          <p:cNvPr id="94" name="Espace réservé du contenu 1"/>
          <p:cNvSpPr txBox="1">
            <a:spLocks/>
          </p:cNvSpPr>
          <p:nvPr/>
        </p:nvSpPr>
        <p:spPr>
          <a:xfrm>
            <a:off x="3371487" y="6322251"/>
            <a:ext cx="2599425" cy="657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fr-FR" sz="1000" b="1" dirty="0">
                <a:solidFill>
                  <a:schemeClr val="tx1"/>
                </a:solidFill>
              </a:rPr>
              <a:t>Etape 8 : Bas du dos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En position assise au bord de la chaise, pousser en avant sur le bas du dos et en arrière vers le haut du corps. </a:t>
            </a:r>
          </a:p>
        </p:txBody>
      </p:sp>
      <p:pic>
        <p:nvPicPr>
          <p:cNvPr id="95" name="Picture 2" descr="etirement du poignet canal carpien"/>
          <p:cNvPicPr>
            <a:picLocks noChangeAspect="1" noChangeArrowheads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09" y="4972495"/>
            <a:ext cx="614403" cy="308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" name="Espace réservé du contenu 1"/>
          <p:cNvSpPr txBox="1">
            <a:spLocks/>
          </p:cNvSpPr>
          <p:nvPr/>
        </p:nvSpPr>
        <p:spPr>
          <a:xfrm>
            <a:off x="140224" y="2799275"/>
            <a:ext cx="5221935" cy="10526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sz="1000" dirty="0">
                <a:solidFill>
                  <a:schemeClr val="tx1"/>
                </a:solidFill>
              </a:rPr>
              <a:t>Certaines lésions musculo-squelettiques sont liées à la posture statique. </a:t>
            </a:r>
          </a:p>
          <a:p>
            <a:pPr marL="0" indent="0" algn="just">
              <a:buNone/>
            </a:pPr>
            <a:r>
              <a:rPr lang="fr-FR" sz="1000" dirty="0">
                <a:solidFill>
                  <a:schemeClr val="tx1"/>
                </a:solidFill>
              </a:rPr>
              <a:t>Voici quelques exercices étirements afin de diminuer le risque de blessures en préparant le corps à l’effort et ainsi soulager les articulations et les muscles. </a:t>
            </a:r>
          </a:p>
          <a:p>
            <a:pPr marL="0" indent="0" algn="just" fontAlgn="base">
              <a:spcBef>
                <a:spcPts val="600"/>
              </a:spcBef>
              <a:buNone/>
            </a:pPr>
            <a:r>
              <a:rPr lang="fr-FR" sz="1000" b="1" dirty="0">
                <a:solidFill>
                  <a:schemeClr val="tx2">
                    <a:lumMod val="75000"/>
                  </a:schemeClr>
                </a:solidFill>
              </a:rPr>
              <a:t>Durée total </a:t>
            </a:r>
            <a:r>
              <a:rPr lang="fr-FR" sz="1000" dirty="0">
                <a:solidFill>
                  <a:schemeClr val="tx2">
                    <a:lumMod val="75000"/>
                  </a:schemeClr>
                </a:solidFill>
              </a:rPr>
              <a:t>: de 5 à 10 minutes </a:t>
            </a:r>
            <a:r>
              <a:rPr lang="fr-FR" sz="1000" dirty="0">
                <a:solidFill>
                  <a:schemeClr val="tx1"/>
                </a:solidFill>
              </a:rPr>
              <a:t>	</a:t>
            </a:r>
            <a:r>
              <a:rPr lang="fr-FR" sz="1000" b="1" dirty="0"/>
              <a:t>Durée par exercice </a:t>
            </a:r>
            <a:r>
              <a:rPr lang="fr-FR" sz="1000" dirty="0"/>
              <a:t>:  de 10 à 20 secondes </a:t>
            </a:r>
          </a:p>
          <a:p>
            <a:pPr marL="982663" indent="0" algn="just" fontAlgn="base">
              <a:spcBef>
                <a:spcPts val="600"/>
              </a:spcBef>
              <a:buNone/>
            </a:pPr>
            <a:r>
              <a:rPr lang="fr-FR" sz="1000" b="1" dirty="0">
                <a:solidFill>
                  <a:schemeClr val="accent3">
                    <a:lumMod val="50000"/>
                  </a:schemeClr>
                </a:solidFill>
              </a:rPr>
              <a:t>Quand </a:t>
            </a:r>
            <a:r>
              <a:rPr lang="fr-FR" sz="1000" dirty="0">
                <a:solidFill>
                  <a:schemeClr val="accent3">
                    <a:lumMod val="50000"/>
                  </a:schemeClr>
                </a:solidFill>
              </a:rPr>
              <a:t>: au minimum 2 fois par jour </a:t>
            </a:r>
          </a:p>
        </p:txBody>
      </p:sp>
      <p:pic>
        <p:nvPicPr>
          <p:cNvPr id="38" name="Picture 14" descr="Image associÃ©e"/>
          <p:cNvPicPr>
            <a:picLocks noChangeAspect="1" noChangeArrowheads="1"/>
          </p:cNvPicPr>
          <p:nvPr/>
        </p:nvPicPr>
        <p:blipFill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64" y="3721309"/>
            <a:ext cx="371976" cy="41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Espace réservé du contenu 1"/>
          <p:cNvSpPr txBox="1">
            <a:spLocks/>
          </p:cNvSpPr>
          <p:nvPr/>
        </p:nvSpPr>
        <p:spPr>
          <a:xfrm>
            <a:off x="561305" y="3861921"/>
            <a:ext cx="5348475" cy="27803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>
                  <a:lumMod val="75000"/>
                </a:schemeClr>
              </a:buClr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fr-FR" sz="1000" b="1" dirty="0">
                <a:solidFill>
                  <a:schemeClr val="tx1"/>
                </a:solidFill>
              </a:rPr>
              <a:t>A réaliser lentement, sans forcer, de façon progressive, sans chercher les amplitudes maximales.</a:t>
            </a:r>
          </a:p>
          <a:p>
            <a:pPr lvl="2" fontAlgn="base"/>
            <a:endParaRPr lang="fr-FR" sz="1000" dirty="0">
              <a:solidFill>
                <a:schemeClr val="tx1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8547" y="7394927"/>
            <a:ext cx="2790453" cy="1816557"/>
          </a:xfrm>
          <a:prstGeom prst="rect">
            <a:avLst/>
          </a:prstGeom>
        </p:spPr>
      </p:pic>
      <p:sp>
        <p:nvSpPr>
          <p:cNvPr id="10" name="Carré corné 9"/>
          <p:cNvSpPr/>
          <p:nvPr/>
        </p:nvSpPr>
        <p:spPr>
          <a:xfrm>
            <a:off x="4301365" y="7824754"/>
            <a:ext cx="2079963" cy="956736"/>
          </a:xfrm>
          <a:prstGeom prst="foldedCorner">
            <a:avLst>
              <a:gd name="adj" fmla="val 42397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50" dirty="0">
              <a:solidFill>
                <a:schemeClr val="bg1"/>
              </a:solidFill>
            </a:endParaRPr>
          </a:p>
          <a:p>
            <a:pPr algn="ctr"/>
            <a:endParaRPr lang="fr-FR" sz="1050" dirty="0">
              <a:solidFill>
                <a:schemeClr val="bg1"/>
              </a:solidFill>
            </a:endParaRPr>
          </a:p>
          <a:p>
            <a:pPr algn="ctr"/>
            <a:endParaRPr lang="fr-FR" sz="800" dirty="0">
              <a:solidFill>
                <a:schemeClr val="bg1"/>
              </a:solidFill>
            </a:endParaRPr>
          </a:p>
          <a:p>
            <a:pPr algn="ctr"/>
            <a:r>
              <a:rPr lang="fr-FR" sz="1400" b="1" dirty="0">
                <a:solidFill>
                  <a:schemeClr val="bg1"/>
                </a:solidFill>
              </a:rPr>
              <a:t>Bougeons! </a:t>
            </a:r>
          </a:p>
          <a:p>
            <a:pPr algn="ctr"/>
            <a:r>
              <a:rPr lang="fr-FR" sz="1050" dirty="0">
                <a:solidFill>
                  <a:schemeClr val="bg1"/>
                </a:solidFill>
              </a:rPr>
              <a:t>Aucune posture n’est idéale </a:t>
            </a:r>
          </a:p>
          <a:p>
            <a:pPr algn="ctr"/>
            <a:r>
              <a:rPr lang="fr-FR" sz="1050" dirty="0">
                <a:solidFill>
                  <a:schemeClr val="bg1"/>
                </a:solidFill>
              </a:rPr>
              <a:t>si elle est maintenue </a:t>
            </a:r>
          </a:p>
          <a:p>
            <a:pPr algn="ctr"/>
            <a:r>
              <a:rPr lang="fr-FR" sz="1050" dirty="0">
                <a:solidFill>
                  <a:schemeClr val="bg1"/>
                </a:solidFill>
              </a:rPr>
              <a:t>trop longtemps !</a:t>
            </a:r>
          </a:p>
          <a:p>
            <a:pPr algn="ctr"/>
            <a:endParaRPr lang="fr-FR" sz="1050" dirty="0">
              <a:solidFill>
                <a:schemeClr val="bg1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404664" y="723342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①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3561306" y="7233426"/>
            <a:ext cx="443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8663" y="7020272"/>
            <a:ext cx="6565751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400" b="1" dirty="0">
                <a:solidFill>
                  <a:schemeClr val="bg1"/>
                </a:solidFill>
              </a:rPr>
              <a:t>En résumé</a:t>
            </a:r>
          </a:p>
        </p:txBody>
      </p:sp>
    </p:spTree>
    <p:extLst>
      <p:ext uri="{BB962C8B-B14F-4D97-AF65-F5344CB8AC3E}">
        <p14:creationId xmlns:p14="http://schemas.microsoft.com/office/powerpoint/2010/main" val="3375735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805</Words>
  <Application>Microsoft Office PowerPoint</Application>
  <PresentationFormat>Affichage à l'écran (4:3)</PresentationFormat>
  <Paragraphs>95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Wingdings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Giblaine, Anais           UTC CCS</dc:creator>
  <cp:lastModifiedBy>FOURRIER, SABINE</cp:lastModifiedBy>
  <cp:revision>71</cp:revision>
  <cp:lastPrinted>2018-04-27T13:39:36Z</cp:lastPrinted>
  <dcterms:created xsi:type="dcterms:W3CDTF">2017-01-04T15:17:33Z</dcterms:created>
  <dcterms:modified xsi:type="dcterms:W3CDTF">2021-09-08T07:12:49Z</dcterms:modified>
</cp:coreProperties>
</file>