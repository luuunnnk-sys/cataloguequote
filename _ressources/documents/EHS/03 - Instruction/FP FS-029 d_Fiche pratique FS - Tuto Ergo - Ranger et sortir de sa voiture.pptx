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6858000" cy="9144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1380" y="-1854"/>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Title 1"/>
          <p:cNvSpPr>
            <a:spLocks noGrp="1"/>
          </p:cNvSpPr>
          <p:nvPr>
            <p:ph type="ctrTitle"/>
          </p:nvPr>
        </p:nvSpPr>
        <p:spPr>
          <a:xfrm>
            <a:off x="514350" y="3572074"/>
            <a:ext cx="5829300" cy="1960033"/>
          </a:xfrm>
        </p:spPr>
        <p:txBody>
          <a:bodyPr>
            <a:normAutofit/>
          </a:bodyPr>
          <a:lstStyle>
            <a:lvl1pPr>
              <a:defRPr sz="40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8" name="Subtitle 2"/>
          <p:cNvSpPr>
            <a:spLocks noGrp="1"/>
          </p:cNvSpPr>
          <p:nvPr>
            <p:ph type="subTitle" idx="1"/>
          </p:nvPr>
        </p:nvSpPr>
        <p:spPr>
          <a:xfrm>
            <a:off x="1028700" y="5181600"/>
            <a:ext cx="4800600" cy="23368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sp>
        <p:nvSpPr>
          <p:cNvPr id="32" name="Forme libre 31"/>
          <p:cNvSpPr/>
          <p:nvPr userDrawn="1"/>
        </p:nvSpPr>
        <p:spPr>
          <a:xfrm>
            <a:off x="-15192" y="935389"/>
            <a:ext cx="376518" cy="147918"/>
          </a:xfrm>
          <a:custGeom>
            <a:avLst/>
            <a:gdLst>
              <a:gd name="connsiteX0" fmla="*/ 0 w 376518"/>
              <a:gd name="connsiteY0" fmla="*/ 0 h 147918"/>
              <a:gd name="connsiteX1" fmla="*/ 376518 w 376518"/>
              <a:gd name="connsiteY1" fmla="*/ 0 h 147918"/>
              <a:gd name="connsiteX2" fmla="*/ 376518 w 376518"/>
              <a:gd name="connsiteY2" fmla="*/ 147918 h 147918"/>
              <a:gd name="connsiteX3" fmla="*/ 0 w 376518"/>
              <a:gd name="connsiteY3" fmla="*/ 0 h 147918"/>
            </a:gdLst>
            <a:ahLst/>
            <a:cxnLst>
              <a:cxn ang="0">
                <a:pos x="connsiteX0" y="connsiteY0"/>
              </a:cxn>
              <a:cxn ang="0">
                <a:pos x="connsiteX1" y="connsiteY1"/>
              </a:cxn>
              <a:cxn ang="0">
                <a:pos x="connsiteX2" y="connsiteY2"/>
              </a:cxn>
              <a:cxn ang="0">
                <a:pos x="connsiteX3" y="connsiteY3"/>
              </a:cxn>
            </a:cxnLst>
            <a:rect l="l" t="t" r="r" b="b"/>
            <a:pathLst>
              <a:path w="376518" h="147918">
                <a:moveTo>
                  <a:pt x="0" y="0"/>
                </a:moveTo>
                <a:lnTo>
                  <a:pt x="376518" y="0"/>
                </a:lnTo>
                <a:lnTo>
                  <a:pt x="376518" y="147918"/>
                </a:lnTo>
                <a:lnTo>
                  <a:pt x="0"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Organigramme : Processus 32"/>
          <p:cNvSpPr/>
          <p:nvPr userDrawn="1"/>
        </p:nvSpPr>
        <p:spPr>
          <a:xfrm>
            <a:off x="-1745" y="731560"/>
            <a:ext cx="6858000" cy="216024"/>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4" name="Organigramme : Processus 33"/>
          <p:cNvSpPr/>
          <p:nvPr userDrawn="1"/>
        </p:nvSpPr>
        <p:spPr>
          <a:xfrm>
            <a:off x="330911" y="443528"/>
            <a:ext cx="2034730" cy="792088"/>
          </a:xfrm>
          <a:prstGeom prst="flowChartProcess">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5" name="Connecteur droit 34"/>
          <p:cNvCxnSpPr/>
          <p:nvPr userDrawn="1"/>
        </p:nvCxnSpPr>
        <p:spPr>
          <a:xfrm>
            <a:off x="978983" y="587544"/>
            <a:ext cx="0" cy="5040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6" name="ZoneTexte 35"/>
          <p:cNvSpPr txBox="1"/>
          <p:nvPr userDrawn="1"/>
        </p:nvSpPr>
        <p:spPr>
          <a:xfrm>
            <a:off x="1101614" y="467544"/>
            <a:ext cx="383170" cy="707886"/>
          </a:xfrm>
          <a:prstGeom prst="rect">
            <a:avLst/>
          </a:prstGeom>
          <a:noFill/>
        </p:spPr>
        <p:txBody>
          <a:bodyPr wrap="square" rtlCol="0">
            <a:spAutoFit/>
          </a:bodyPr>
          <a:lstStyle/>
          <a:p>
            <a:r>
              <a:rPr lang="fr-FR" sz="4000" dirty="0"/>
              <a:t>H</a:t>
            </a:r>
          </a:p>
        </p:txBody>
      </p:sp>
      <p:sp>
        <p:nvSpPr>
          <p:cNvPr id="37" name="ZoneTexte 36"/>
          <p:cNvSpPr txBox="1"/>
          <p:nvPr userDrawn="1"/>
        </p:nvSpPr>
        <p:spPr>
          <a:xfrm>
            <a:off x="1821694" y="479738"/>
            <a:ext cx="383170" cy="707886"/>
          </a:xfrm>
          <a:prstGeom prst="rect">
            <a:avLst/>
          </a:prstGeom>
          <a:noFill/>
        </p:spPr>
        <p:txBody>
          <a:bodyPr wrap="square" rtlCol="0">
            <a:spAutoFit/>
          </a:bodyPr>
          <a:lstStyle/>
          <a:p>
            <a:r>
              <a:rPr lang="fr-FR" sz="4000" b="1" dirty="0">
                <a:solidFill>
                  <a:schemeClr val="accent2">
                    <a:lumMod val="75000"/>
                  </a:schemeClr>
                </a:solidFill>
              </a:rPr>
              <a:t>S</a:t>
            </a:r>
          </a:p>
        </p:txBody>
      </p:sp>
      <p:sp>
        <p:nvSpPr>
          <p:cNvPr id="38" name="ZoneTexte 37"/>
          <p:cNvSpPr txBox="1"/>
          <p:nvPr userDrawn="1"/>
        </p:nvSpPr>
        <p:spPr>
          <a:xfrm>
            <a:off x="453542" y="487348"/>
            <a:ext cx="383170" cy="707886"/>
          </a:xfrm>
          <a:prstGeom prst="rect">
            <a:avLst/>
          </a:prstGeom>
          <a:noFill/>
        </p:spPr>
        <p:txBody>
          <a:bodyPr wrap="square" rtlCol="0">
            <a:spAutoFit/>
          </a:bodyPr>
          <a:lstStyle/>
          <a:p>
            <a:r>
              <a:rPr lang="fr-FR" sz="4000" dirty="0"/>
              <a:t>E</a:t>
            </a:r>
          </a:p>
        </p:txBody>
      </p:sp>
      <p:cxnSp>
        <p:nvCxnSpPr>
          <p:cNvPr id="39" name="Connecteur droit 38"/>
          <p:cNvCxnSpPr/>
          <p:nvPr userDrawn="1"/>
        </p:nvCxnSpPr>
        <p:spPr>
          <a:xfrm>
            <a:off x="1699063" y="587544"/>
            <a:ext cx="0" cy="5040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ZoneTexte 39"/>
          <p:cNvSpPr txBox="1"/>
          <p:nvPr userDrawn="1"/>
        </p:nvSpPr>
        <p:spPr>
          <a:xfrm>
            <a:off x="2477459" y="731560"/>
            <a:ext cx="3974132" cy="261610"/>
          </a:xfrm>
          <a:prstGeom prst="rect">
            <a:avLst/>
          </a:prstGeom>
          <a:noFill/>
        </p:spPr>
        <p:txBody>
          <a:bodyPr wrap="square" rtlCol="0">
            <a:spAutoFit/>
          </a:bodyPr>
          <a:lstStyle/>
          <a:p>
            <a:r>
              <a:rPr lang="fr-FR" sz="1100" i="1" dirty="0">
                <a:solidFill>
                  <a:schemeClr val="bg1"/>
                </a:solidFill>
              </a:rPr>
              <a:t>Hygiène    Environnement    Management </a:t>
            </a:r>
          </a:p>
        </p:txBody>
      </p:sp>
      <p:sp>
        <p:nvSpPr>
          <p:cNvPr id="41" name="Pentagone 40"/>
          <p:cNvSpPr/>
          <p:nvPr userDrawn="1"/>
        </p:nvSpPr>
        <p:spPr>
          <a:xfrm>
            <a:off x="318238" y="732766"/>
            <a:ext cx="115686" cy="214818"/>
          </a:xfrm>
          <a:prstGeom prst="homePlat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2" name="Image 41"/>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artisticGlowEdges/>
                    </a14:imgEffect>
                  </a14:imgLayer>
                </a14:imgProps>
              </a:ext>
              <a:ext uri="{28A0092B-C50C-407E-A947-70E740481C1C}">
                <a14:useLocalDpi xmlns:a14="http://schemas.microsoft.com/office/drawing/2010/main" val="0"/>
              </a:ext>
            </a:extLst>
          </a:blip>
          <a:stretch>
            <a:fillRect/>
          </a:stretch>
        </p:blipFill>
        <p:spPr>
          <a:xfrm>
            <a:off x="1655660" y="83488"/>
            <a:ext cx="837236" cy="563523"/>
          </a:xfrm>
          <a:prstGeom prst="rect">
            <a:avLst/>
          </a:prstGeom>
        </p:spPr>
      </p:pic>
      <p:grpSp>
        <p:nvGrpSpPr>
          <p:cNvPr id="2" name="Groupe 1"/>
          <p:cNvGrpSpPr/>
          <p:nvPr userDrawn="1"/>
        </p:nvGrpSpPr>
        <p:grpSpPr>
          <a:xfrm>
            <a:off x="9468" y="8532440"/>
            <a:ext cx="6854400" cy="529570"/>
            <a:chOff x="9468" y="8532440"/>
            <a:chExt cx="6854400" cy="529570"/>
          </a:xfrm>
        </p:grpSpPr>
        <p:sp>
          <p:nvSpPr>
            <p:cNvPr id="44" name="Rectangle 43"/>
            <p:cNvSpPr/>
            <p:nvPr/>
          </p:nvSpPr>
          <p:spPr>
            <a:xfrm>
              <a:off x="9468" y="8532440"/>
              <a:ext cx="6854400" cy="529570"/>
            </a:xfrm>
            <a:prstGeom prst="rect">
              <a:avLst/>
            </a:prstGeom>
            <a:solidFill>
              <a:schemeClr val="bg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ZoneTexte 50"/>
            <p:cNvSpPr txBox="1"/>
            <p:nvPr/>
          </p:nvSpPr>
          <p:spPr>
            <a:xfrm>
              <a:off x="4797152" y="8609549"/>
              <a:ext cx="1841416" cy="447197"/>
            </a:xfrm>
            <a:prstGeom prst="rect">
              <a:avLst/>
            </a:prstGeom>
            <a:noFill/>
          </p:spPr>
          <p:txBody>
            <a:bodyPr wrap="square" lIns="77111" tIns="38556" rIns="77111" bIns="38556" rtlCol="0">
              <a:spAutoFit/>
            </a:bodyPr>
            <a:lstStyle/>
            <a:p>
              <a:r>
                <a:rPr lang="fr-FR" sz="800" i="1" dirty="0">
                  <a:latin typeface="Calibri" panose="020F0502020204030204" pitchFamily="34" charset="0"/>
                </a:rPr>
                <a:t>Ce document est confidentiel. Toute reproduction, même partielle est interdite.</a:t>
              </a:r>
            </a:p>
          </p:txBody>
        </p:sp>
      </p:grpSp>
      <p:sp>
        <p:nvSpPr>
          <p:cNvPr id="30" name="Rectangle 29"/>
          <p:cNvSpPr/>
          <p:nvPr userDrawn="1"/>
        </p:nvSpPr>
        <p:spPr>
          <a:xfrm rot="21419042">
            <a:off x="4984400" y="771237"/>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p:cNvSpPr/>
          <p:nvPr userDrawn="1"/>
        </p:nvSpPr>
        <p:spPr>
          <a:xfrm rot="21336737">
            <a:off x="6034285" y="721175"/>
            <a:ext cx="911492" cy="338554"/>
          </a:xfrm>
          <a:prstGeom prst="rect">
            <a:avLst/>
          </a:prstGeom>
        </p:spPr>
        <p:txBody>
          <a:bodyPr wrap="square">
            <a:spAutoFit/>
          </a:bodyPr>
          <a:lstStyle/>
          <a:p>
            <a:r>
              <a:rPr lang="fr-FR" sz="1600" b="1" i="1" dirty="0">
                <a:solidFill>
                  <a:schemeClr val="bg1"/>
                </a:solidFill>
              </a:rPr>
              <a:t>Sécurité</a:t>
            </a:r>
            <a:r>
              <a:rPr lang="fr-FR" sz="1600" i="1" dirty="0">
                <a:solidFill>
                  <a:schemeClr val="bg1"/>
                </a:solidFill>
              </a:rPr>
              <a:t> </a:t>
            </a:r>
            <a:endParaRPr lang="fr-FR" sz="1600" dirty="0"/>
          </a:p>
        </p:txBody>
      </p:sp>
      <p:pic>
        <p:nvPicPr>
          <p:cNvPr id="21" name="Image 20">
            <a:extLst>
              <a:ext uri="{FF2B5EF4-FFF2-40B4-BE49-F238E27FC236}">
                <a16:creationId xmlns:a16="http://schemas.microsoft.com/office/drawing/2014/main" id="{7075CD0A-6A88-49B3-8B26-4CA890F385D9}"/>
              </a:ext>
            </a:extLst>
          </p:cNvPr>
          <p:cNvPicPr>
            <a:picLocks noChangeAspect="1"/>
          </p:cNvPicPr>
          <p:nvPr userDrawn="1"/>
        </p:nvPicPr>
        <p:blipFill>
          <a:blip r:embed="rId4"/>
          <a:stretch>
            <a:fillRect/>
          </a:stretch>
        </p:blipFill>
        <p:spPr>
          <a:xfrm>
            <a:off x="80733" y="8718279"/>
            <a:ext cx="4491120" cy="25779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7" name="Content Placeholder 2"/>
          <p:cNvSpPr>
            <a:spLocks noGrp="1"/>
          </p:cNvSpPr>
          <p:nvPr>
            <p:ph idx="1"/>
          </p:nvPr>
        </p:nvSpPr>
        <p:spPr>
          <a:xfrm>
            <a:off x="342900" y="2133601"/>
            <a:ext cx="6172200" cy="6034617"/>
          </a:xfrm>
        </p:spPr>
        <p:txBody>
          <a:bodyPr/>
          <a:lstStyle>
            <a:lvl1pPr>
              <a:defRPr sz="2200">
                <a:solidFill>
                  <a:schemeClr val="accent2">
                    <a:lumMod val="75000"/>
                  </a:schemeClr>
                </a:solidFill>
                <a:latin typeface="Calibri" panose="020F0502020204030204" pitchFamily="34" charset="0"/>
              </a:defRPr>
            </a:lvl1pPr>
            <a:lvl2pPr marL="742950" indent="-285750">
              <a:buClr>
                <a:schemeClr val="accent2">
                  <a:lumMod val="75000"/>
                </a:schemeClr>
              </a:buClr>
              <a:buFont typeface="Wingdings" panose="05000000000000000000" pitchFamily="2" charset="2"/>
              <a:buChar char="§"/>
              <a:defRPr sz="1300">
                <a:solidFill>
                  <a:schemeClr val="tx1"/>
                </a:solidFill>
                <a:latin typeface="Calibri" panose="020F0502020204030204" pitchFamily="34" charset="0"/>
              </a:defRPr>
            </a:lvl2pPr>
            <a:lvl3pPr>
              <a:buClr>
                <a:schemeClr val="accent2">
                  <a:lumMod val="75000"/>
                </a:schemeClr>
              </a:buClr>
              <a:defRPr sz="1300">
                <a:solidFill>
                  <a:schemeClr val="tx1"/>
                </a:solidFill>
                <a:latin typeface="Calibri" panose="020F0502020204030204" pitchFamily="34" charset="0"/>
              </a:defRPr>
            </a:lvl3pPr>
            <a:lvl4pPr>
              <a:buClr>
                <a:schemeClr val="accent2">
                  <a:lumMod val="75000"/>
                </a:schemeClr>
              </a:buClr>
              <a:defRPr sz="1300">
                <a:solidFill>
                  <a:schemeClr val="tx1"/>
                </a:solidFill>
                <a:latin typeface="Calibri" panose="020F0502020204030204" pitchFamily="34" charset="0"/>
              </a:defRPr>
            </a:lvl4pPr>
            <a:lvl5pPr>
              <a:buClr>
                <a:schemeClr val="accent2">
                  <a:lumMod val="75000"/>
                </a:schemeClr>
              </a:buClr>
              <a:defRPr sz="1300">
                <a:solidFill>
                  <a:schemeClr val="tx1"/>
                </a:solidFill>
                <a:latin typeface="Calibri" panose="020F0502020204030204" pitchFamily="34" charset="0"/>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p:cNvSpPr>
            <a:spLocks noGrp="1"/>
          </p:cNvSpPr>
          <p:nvPr>
            <p:ph type="sldNum" sz="quarter" idx="12"/>
          </p:nvPr>
        </p:nvSpPr>
        <p:spPr>
          <a:xfrm>
            <a:off x="5231178" y="8622284"/>
            <a:ext cx="1600200" cy="486833"/>
          </a:xfrm>
        </p:spPr>
        <p:txBody>
          <a:bodyPr/>
          <a:lstStyle/>
          <a:p>
            <a:fld id="{CF4668DC-857F-487D-BFFA-8C0CA5037977}" type="slidenum">
              <a:rPr lang="fr-BE" smtClean="0"/>
              <a:t>‹N°›</a:t>
            </a:fld>
            <a:endParaRPr lang="fr-BE"/>
          </a:p>
        </p:txBody>
      </p:sp>
      <p:sp>
        <p:nvSpPr>
          <p:cNvPr id="8" name="Title 1"/>
          <p:cNvSpPr>
            <a:spLocks noGrp="1"/>
          </p:cNvSpPr>
          <p:nvPr>
            <p:ph type="title" hasCustomPrompt="1"/>
          </p:nvPr>
        </p:nvSpPr>
        <p:spPr>
          <a:xfrm>
            <a:off x="342900" y="71670"/>
            <a:ext cx="6172200" cy="851925"/>
          </a:xfrm>
        </p:spPr>
        <p:txBody>
          <a:bodyPr>
            <a:normAutofit/>
          </a:bodyPr>
          <a:lstStyle>
            <a:lvl1pPr>
              <a:defRPr sz="22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12" name="Organigramme : Processus 11"/>
          <p:cNvSpPr/>
          <p:nvPr userDrawn="1"/>
        </p:nvSpPr>
        <p:spPr>
          <a:xfrm>
            <a:off x="-1745" y="1187624"/>
            <a:ext cx="6858000" cy="216024"/>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12"/>
          <p:cNvSpPr/>
          <p:nvPr userDrawn="1"/>
        </p:nvSpPr>
        <p:spPr>
          <a:xfrm rot="21419042">
            <a:off x="4984400" y="122480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userDrawn="1"/>
        </p:nvSpPr>
        <p:spPr>
          <a:xfrm rot="21336737">
            <a:off x="6034285" y="1174739"/>
            <a:ext cx="911492" cy="338554"/>
          </a:xfrm>
          <a:prstGeom prst="rect">
            <a:avLst/>
          </a:prstGeom>
        </p:spPr>
        <p:txBody>
          <a:bodyPr wrap="square">
            <a:spAutoFit/>
          </a:bodyPr>
          <a:lstStyle/>
          <a:p>
            <a:r>
              <a:rPr lang="fr-FR" sz="1600" b="1" i="1" dirty="0">
                <a:solidFill>
                  <a:schemeClr val="bg1"/>
                </a:solidFill>
              </a:rPr>
              <a:t>Sécurité</a:t>
            </a:r>
            <a:r>
              <a:rPr lang="fr-FR" sz="1600" i="1" dirty="0">
                <a:solidFill>
                  <a:schemeClr val="bg1"/>
                </a:solidFill>
              </a:rPr>
              <a:t> </a:t>
            </a:r>
            <a:endParaRPr lang="fr-FR"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7" name="Title 1"/>
          <p:cNvSpPr>
            <a:spLocks noGrp="1"/>
          </p:cNvSpPr>
          <p:nvPr>
            <p:ph type="ctrTitle"/>
          </p:nvPr>
        </p:nvSpPr>
        <p:spPr>
          <a:xfrm>
            <a:off x="514350" y="3572074"/>
            <a:ext cx="5829300" cy="1960033"/>
          </a:xfrm>
        </p:spPr>
        <p:txBody>
          <a:bodyPr>
            <a:normAutofit/>
          </a:bodyPr>
          <a:lstStyle>
            <a:lvl1pPr>
              <a:defRPr sz="40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8" name="Subtitle 2"/>
          <p:cNvSpPr>
            <a:spLocks noGrp="1"/>
          </p:cNvSpPr>
          <p:nvPr>
            <p:ph type="subTitle" idx="1"/>
          </p:nvPr>
        </p:nvSpPr>
        <p:spPr>
          <a:xfrm>
            <a:off x="1028700" y="5181600"/>
            <a:ext cx="4800600" cy="23368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sp>
        <p:nvSpPr>
          <p:cNvPr id="9" name="Organigramme : Processus 8"/>
          <p:cNvSpPr/>
          <p:nvPr userDrawn="1"/>
        </p:nvSpPr>
        <p:spPr>
          <a:xfrm>
            <a:off x="-1745" y="1187624"/>
            <a:ext cx="6858000" cy="216024"/>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Rectangle 9"/>
          <p:cNvSpPr/>
          <p:nvPr userDrawn="1"/>
        </p:nvSpPr>
        <p:spPr>
          <a:xfrm rot="21419042">
            <a:off x="4984400" y="122480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userDrawn="1"/>
        </p:nvSpPr>
        <p:spPr>
          <a:xfrm rot="21336737">
            <a:off x="6034285" y="1174739"/>
            <a:ext cx="911492" cy="338554"/>
          </a:xfrm>
          <a:prstGeom prst="rect">
            <a:avLst/>
          </a:prstGeom>
        </p:spPr>
        <p:txBody>
          <a:bodyPr wrap="square">
            <a:spAutoFit/>
          </a:bodyPr>
          <a:lstStyle/>
          <a:p>
            <a:r>
              <a:rPr lang="fr-FR" sz="1600" b="1" i="1" dirty="0">
                <a:solidFill>
                  <a:schemeClr val="bg1"/>
                </a:solidFill>
              </a:rPr>
              <a:t>Sécurité</a:t>
            </a:r>
            <a:r>
              <a:rPr lang="fr-FR" sz="1600" i="1" dirty="0">
                <a:solidFill>
                  <a:schemeClr val="bg1"/>
                </a:solidFill>
              </a:rPr>
              <a:t> </a:t>
            </a:r>
            <a:endParaRPr lang="fr-FR" sz="1600" dirty="0"/>
          </a:p>
        </p:txBody>
      </p:sp>
      <p:sp>
        <p:nvSpPr>
          <p:cNvPr id="6" name="Espace réservé du numéro de diapositive 5"/>
          <p:cNvSpPr>
            <a:spLocks noGrp="1"/>
          </p:cNvSpPr>
          <p:nvPr>
            <p:ph type="sldNum" sz="quarter" idx="12"/>
          </p:nvPr>
        </p:nvSpPr>
        <p:spPr>
          <a:xfrm>
            <a:off x="5245976" y="8640298"/>
            <a:ext cx="1600200" cy="486833"/>
          </a:xfrm>
        </p:spPr>
        <p:txBody>
          <a:bodyPr/>
          <a:lstStyle/>
          <a:p>
            <a:fld id="{CF4668DC-857F-487D-BFFA-8C0CA5037977}" type="slidenum">
              <a:rPr lang="fr-BE" smtClean="0"/>
              <a:t>‹N°›</a:t>
            </a:fld>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42900" y="24995"/>
            <a:ext cx="6172200" cy="851925"/>
          </a:xfrm>
        </p:spPr>
        <p:txBody>
          <a:bodyPr>
            <a:normAutofit/>
          </a:bodyPr>
          <a:lstStyle>
            <a:lvl1pPr>
              <a:defRPr sz="22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9" name="Organigramme : Processus 8"/>
          <p:cNvSpPr/>
          <p:nvPr userDrawn="1"/>
        </p:nvSpPr>
        <p:spPr>
          <a:xfrm>
            <a:off x="-1745" y="1187624"/>
            <a:ext cx="6858000" cy="216024"/>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Rectangle 9"/>
          <p:cNvSpPr/>
          <p:nvPr userDrawn="1"/>
        </p:nvSpPr>
        <p:spPr>
          <a:xfrm rot="21419042">
            <a:off x="4984400" y="122480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userDrawn="1"/>
        </p:nvSpPr>
        <p:spPr>
          <a:xfrm rot="21336737">
            <a:off x="6034285" y="1174739"/>
            <a:ext cx="911492" cy="338554"/>
          </a:xfrm>
          <a:prstGeom prst="rect">
            <a:avLst/>
          </a:prstGeom>
        </p:spPr>
        <p:txBody>
          <a:bodyPr wrap="square">
            <a:spAutoFit/>
          </a:bodyPr>
          <a:lstStyle/>
          <a:p>
            <a:r>
              <a:rPr lang="fr-FR" sz="1600" b="1" i="1" dirty="0">
                <a:solidFill>
                  <a:schemeClr val="bg1"/>
                </a:solidFill>
              </a:rPr>
              <a:t>Sécurité</a:t>
            </a:r>
            <a:r>
              <a:rPr lang="fr-FR" sz="1600" i="1" dirty="0">
                <a:solidFill>
                  <a:schemeClr val="bg1"/>
                </a:solidFill>
              </a:rPr>
              <a:t> </a:t>
            </a:r>
            <a:endParaRPr lang="fr-FR" sz="1600" dirty="0"/>
          </a:p>
        </p:txBody>
      </p:sp>
      <p:sp>
        <p:nvSpPr>
          <p:cNvPr id="4" name="Espace réservé du numéro de diapositive 3"/>
          <p:cNvSpPr>
            <a:spLocks noGrp="1"/>
          </p:cNvSpPr>
          <p:nvPr>
            <p:ph type="sldNum" sz="quarter" idx="12"/>
          </p:nvPr>
        </p:nvSpPr>
        <p:spPr>
          <a:xfrm>
            <a:off x="5245976" y="8628370"/>
            <a:ext cx="1600200" cy="486833"/>
          </a:xfrm>
        </p:spPr>
        <p:txBody>
          <a:bodyPr/>
          <a:lstStyle/>
          <a:p>
            <a:fld id="{CF4668DC-857F-487D-BFFA-8C0CA5037977}" type="slidenum">
              <a:rPr lang="fr-BE" smtClean="0"/>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0929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Cliquez pour modifier le style du titre</a:t>
            </a:r>
            <a:endParaRPr lang="fr-BE"/>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t>10/08/2021</a:t>
            </a:fld>
            <a:endParaRPr lang="fr-BE"/>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6"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jpeg"/><Relationship Id="rId12"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cid:image004.jpg@01D78896.97B32150" TargetMode="External"/><Relationship Id="rId11" Type="http://schemas.openxmlformats.org/officeDocument/2006/relationships/image" Target="../media/image11.png"/><Relationship Id="rId5" Type="http://schemas.openxmlformats.org/officeDocument/2006/relationships/image" Target="../media/image6.jpeg"/><Relationship Id="rId10" Type="http://schemas.openxmlformats.org/officeDocument/2006/relationships/image" Target="../media/image10.png"/><Relationship Id="rId4" Type="http://schemas.openxmlformats.org/officeDocument/2006/relationships/image" Target="../media/image5.jpe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6124" y="35496"/>
            <a:ext cx="5829300" cy="690105"/>
          </a:xfrm>
        </p:spPr>
        <p:txBody>
          <a:bodyPr>
            <a:normAutofit/>
          </a:bodyPr>
          <a:lstStyle/>
          <a:p>
            <a:r>
              <a:rPr lang="fr-FR" sz="1800" dirty="0"/>
              <a:t>Tuto ERGO – Ranger son véhicule et </a:t>
            </a:r>
            <a:br>
              <a:rPr lang="fr-FR" sz="1800" dirty="0"/>
            </a:br>
            <a:r>
              <a:rPr lang="fr-FR" sz="1800" dirty="0"/>
              <a:t>sortir les équipements techniques</a:t>
            </a:r>
          </a:p>
        </p:txBody>
      </p:sp>
      <p:sp>
        <p:nvSpPr>
          <p:cNvPr id="93" name="ZoneTexte 92"/>
          <p:cNvSpPr txBox="1"/>
          <p:nvPr/>
        </p:nvSpPr>
        <p:spPr>
          <a:xfrm>
            <a:off x="5138979" y="571753"/>
            <a:ext cx="1749232" cy="200055"/>
          </a:xfrm>
          <a:prstGeom prst="rect">
            <a:avLst/>
          </a:prstGeom>
          <a:noFill/>
        </p:spPr>
        <p:txBody>
          <a:bodyPr wrap="square" rtlCol="0">
            <a:spAutoFit/>
          </a:bodyPr>
          <a:lstStyle/>
          <a:p>
            <a:pPr algn="r"/>
            <a:r>
              <a:rPr lang="fr-FR" sz="700" i="1" dirty="0">
                <a:solidFill>
                  <a:schemeClr val="bg1">
                    <a:lumMod val="65000"/>
                  </a:schemeClr>
                </a:solidFill>
              </a:rPr>
              <a:t>FP FS 029d – Version 1 du 10 Août 2021</a:t>
            </a:r>
          </a:p>
        </p:txBody>
      </p:sp>
      <p:sp>
        <p:nvSpPr>
          <p:cNvPr id="61" name="Rounded Rectangle 34">
            <a:extLst>
              <a:ext uri="{FF2B5EF4-FFF2-40B4-BE49-F238E27FC236}">
                <a16:creationId xmlns:a16="http://schemas.microsoft.com/office/drawing/2014/main" id="{D8E71C54-019D-4332-BA1A-314F5F8A6903}"/>
              </a:ext>
            </a:extLst>
          </p:cNvPr>
          <p:cNvSpPr/>
          <p:nvPr/>
        </p:nvSpPr>
        <p:spPr>
          <a:xfrm>
            <a:off x="90642" y="1308065"/>
            <a:ext cx="6676716" cy="2636884"/>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GE Inspira" pitchFamily="34" charset="0"/>
            </a:endParaRPr>
          </a:p>
        </p:txBody>
      </p:sp>
      <p:pic>
        <p:nvPicPr>
          <p:cNvPr id="65" name="Picture 2">
            <a:extLst>
              <a:ext uri="{FF2B5EF4-FFF2-40B4-BE49-F238E27FC236}">
                <a16:creationId xmlns:a16="http://schemas.microsoft.com/office/drawing/2014/main" id="{43A516F3-683B-414B-AE53-CD0C27BE5C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96182" y="4178658"/>
            <a:ext cx="1788125" cy="794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icture 13">
            <a:extLst>
              <a:ext uri="{FF2B5EF4-FFF2-40B4-BE49-F238E27FC236}">
                <a16:creationId xmlns:a16="http://schemas.microsoft.com/office/drawing/2014/main" id="{929ED55D-2DDE-46E6-A556-D62B730D2F3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760" t="8790" r="11439" b="12948"/>
          <a:stretch/>
        </p:blipFill>
        <p:spPr bwMode="auto">
          <a:xfrm>
            <a:off x="5511155" y="4132489"/>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2B5DC747-D3F2-4A5F-8BC4-5B048A0D9CBC}"/>
              </a:ext>
            </a:extLst>
          </p:cNvPr>
          <p:cNvSpPr/>
          <p:nvPr/>
        </p:nvSpPr>
        <p:spPr>
          <a:xfrm>
            <a:off x="472470" y="4218893"/>
            <a:ext cx="4339885" cy="861774"/>
          </a:xfrm>
          <a:prstGeom prst="rect">
            <a:avLst/>
          </a:prstGeom>
        </p:spPr>
        <p:txBody>
          <a:bodyPr wrap="square">
            <a:spAutoFit/>
          </a:bodyPr>
          <a:lstStyle/>
          <a:p>
            <a:r>
              <a:rPr lang="fr-FR" sz="1000" b="1" i="1" dirty="0">
                <a:solidFill>
                  <a:srgbClr val="0070C0"/>
                </a:solidFill>
              </a:rPr>
              <a:t>Sortir de la voiture/dos </a:t>
            </a:r>
            <a:r>
              <a:rPr lang="fr-FR" sz="1000" i="1" dirty="0"/>
              <a:t>= Amenez les pieds près du siège. </a:t>
            </a:r>
            <a:br>
              <a:rPr lang="fr-FR" sz="1000" i="1" dirty="0"/>
            </a:br>
            <a:r>
              <a:rPr lang="fr-FR" sz="1000" i="1" dirty="0"/>
              <a:t>Saisissez le montant avec la main, pivotez le bassin vers l'extérieur et posez le pied au sol le plus près possible. Gardez le dos bien droit et chargez le poids du corps sur la jambe appuyée au sol. Relevez vous par l'action principale des jambes. Faites l’action inverse pour rentrer dans le véhicule</a:t>
            </a:r>
            <a:endParaRPr lang="fr-FR" sz="1000" dirty="0"/>
          </a:p>
        </p:txBody>
      </p:sp>
      <p:sp>
        <p:nvSpPr>
          <p:cNvPr id="71" name="Title 4">
            <a:extLst>
              <a:ext uri="{FF2B5EF4-FFF2-40B4-BE49-F238E27FC236}">
                <a16:creationId xmlns:a16="http://schemas.microsoft.com/office/drawing/2014/main" id="{08329A40-BA72-4ED1-AC78-DF8F2070F1FD}"/>
              </a:ext>
            </a:extLst>
          </p:cNvPr>
          <p:cNvSpPr txBox="1">
            <a:spLocks/>
          </p:cNvSpPr>
          <p:nvPr/>
        </p:nvSpPr>
        <p:spPr>
          <a:xfrm>
            <a:off x="472470" y="1319449"/>
            <a:ext cx="3634493" cy="3540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pPr marL="457200" indent="-457200"/>
            <a:r>
              <a:rPr lang="fr-FR" sz="1400" b="1" dirty="0">
                <a:solidFill>
                  <a:schemeClr val="tx2"/>
                </a:solidFill>
                <a:latin typeface="GE Inspira" pitchFamily="34" charset="0"/>
              </a:rPr>
              <a:t>Ranger son véhicule– 5S</a:t>
            </a:r>
          </a:p>
        </p:txBody>
      </p:sp>
      <p:sp>
        <p:nvSpPr>
          <p:cNvPr id="72" name="Rounded Rectangle 34">
            <a:extLst>
              <a:ext uri="{FF2B5EF4-FFF2-40B4-BE49-F238E27FC236}">
                <a16:creationId xmlns:a16="http://schemas.microsoft.com/office/drawing/2014/main" id="{4DD384D7-5FF2-4227-8A9A-A6CA46F0739A}"/>
              </a:ext>
            </a:extLst>
          </p:cNvPr>
          <p:cNvSpPr/>
          <p:nvPr/>
        </p:nvSpPr>
        <p:spPr>
          <a:xfrm>
            <a:off x="122537" y="3978553"/>
            <a:ext cx="6676716" cy="1761627"/>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GE Inspira" pitchFamily="34" charset="0"/>
            </a:endParaRPr>
          </a:p>
        </p:txBody>
      </p:sp>
      <p:sp>
        <p:nvSpPr>
          <p:cNvPr id="73" name="Title 4">
            <a:extLst>
              <a:ext uri="{FF2B5EF4-FFF2-40B4-BE49-F238E27FC236}">
                <a16:creationId xmlns:a16="http://schemas.microsoft.com/office/drawing/2014/main" id="{DB394FC4-17CF-4F76-B78C-B62295526808}"/>
              </a:ext>
            </a:extLst>
          </p:cNvPr>
          <p:cNvSpPr txBox="1">
            <a:spLocks/>
          </p:cNvSpPr>
          <p:nvPr/>
        </p:nvSpPr>
        <p:spPr>
          <a:xfrm>
            <a:off x="554796" y="4019026"/>
            <a:ext cx="3634493" cy="3540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pPr marL="457200" indent="-457200"/>
            <a:r>
              <a:rPr lang="fr-FR" sz="1400" b="1" dirty="0">
                <a:solidFill>
                  <a:schemeClr val="tx2"/>
                </a:solidFill>
                <a:latin typeface="GE Inspira" pitchFamily="34" charset="0"/>
              </a:rPr>
              <a:t>Sortir de son véhicule</a:t>
            </a:r>
          </a:p>
        </p:txBody>
      </p:sp>
      <p:sp>
        <p:nvSpPr>
          <p:cNvPr id="74" name="Rectangle 73">
            <a:extLst>
              <a:ext uri="{FF2B5EF4-FFF2-40B4-BE49-F238E27FC236}">
                <a16:creationId xmlns:a16="http://schemas.microsoft.com/office/drawing/2014/main" id="{594E6A2C-9322-4989-B709-4D350C5273E5}"/>
              </a:ext>
            </a:extLst>
          </p:cNvPr>
          <p:cNvSpPr/>
          <p:nvPr/>
        </p:nvSpPr>
        <p:spPr>
          <a:xfrm>
            <a:off x="472469" y="5114271"/>
            <a:ext cx="4339885" cy="400110"/>
          </a:xfrm>
          <a:prstGeom prst="rect">
            <a:avLst/>
          </a:prstGeom>
        </p:spPr>
        <p:txBody>
          <a:bodyPr wrap="square">
            <a:spAutoFit/>
          </a:bodyPr>
          <a:lstStyle/>
          <a:p>
            <a:r>
              <a:rPr lang="fr-FR" sz="1000" b="1" i="1" dirty="0">
                <a:solidFill>
                  <a:srgbClr val="0070C0"/>
                </a:solidFill>
              </a:rPr>
              <a:t>Vigilance à la dépose du pied </a:t>
            </a:r>
            <a:r>
              <a:rPr lang="fr-FR" sz="1000" i="1" dirty="0"/>
              <a:t>= Être vigilant / trous et sols à la sortie du véhicules, sur le parking, sur les trottoirs…</a:t>
            </a:r>
            <a:endParaRPr lang="fr-FR" sz="1000" dirty="0"/>
          </a:p>
        </p:txBody>
      </p:sp>
      <p:sp>
        <p:nvSpPr>
          <p:cNvPr id="75" name="Rounded Rectangle 34">
            <a:extLst>
              <a:ext uri="{FF2B5EF4-FFF2-40B4-BE49-F238E27FC236}">
                <a16:creationId xmlns:a16="http://schemas.microsoft.com/office/drawing/2014/main" id="{618BB992-C449-49B8-B609-B806C193ECA7}"/>
              </a:ext>
            </a:extLst>
          </p:cNvPr>
          <p:cNvSpPr/>
          <p:nvPr/>
        </p:nvSpPr>
        <p:spPr>
          <a:xfrm>
            <a:off x="114700" y="5833252"/>
            <a:ext cx="6676716" cy="2555172"/>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GE Inspira" pitchFamily="34" charset="0"/>
            </a:endParaRPr>
          </a:p>
        </p:txBody>
      </p:sp>
      <p:sp>
        <p:nvSpPr>
          <p:cNvPr id="77" name="Title 4">
            <a:extLst>
              <a:ext uri="{FF2B5EF4-FFF2-40B4-BE49-F238E27FC236}">
                <a16:creationId xmlns:a16="http://schemas.microsoft.com/office/drawing/2014/main" id="{57A80900-0D21-4E52-BD16-4C33A86B6C29}"/>
              </a:ext>
            </a:extLst>
          </p:cNvPr>
          <p:cNvSpPr txBox="1">
            <a:spLocks/>
          </p:cNvSpPr>
          <p:nvPr/>
        </p:nvSpPr>
        <p:spPr>
          <a:xfrm>
            <a:off x="554796" y="5938165"/>
            <a:ext cx="3634493" cy="3540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pPr marL="457200" indent="-457200"/>
            <a:r>
              <a:rPr lang="fr-FR" sz="1400" b="1" dirty="0">
                <a:solidFill>
                  <a:schemeClr val="tx2"/>
                </a:solidFill>
                <a:latin typeface="GE Inspira" pitchFamily="34" charset="0"/>
              </a:rPr>
              <a:t>Sortir ses équipements de son véhicule</a:t>
            </a:r>
          </a:p>
        </p:txBody>
      </p:sp>
      <p:pic>
        <p:nvPicPr>
          <p:cNvPr id="79" name="Image 78" descr="Une image contenant terrain, extérieur, nature&#10;&#10;Description générée automatiquement">
            <a:extLst>
              <a:ext uri="{FF2B5EF4-FFF2-40B4-BE49-F238E27FC236}">
                <a16:creationId xmlns:a16="http://schemas.microsoft.com/office/drawing/2014/main" id="{B68773B6-3DD0-4B10-AFB3-AA60807B12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56267" y="5211799"/>
            <a:ext cx="477955" cy="467328"/>
          </a:xfrm>
          <a:prstGeom prst="rect">
            <a:avLst/>
          </a:prstGeom>
        </p:spPr>
      </p:pic>
      <p:pic>
        <p:nvPicPr>
          <p:cNvPr id="78" name="Image 77">
            <a:extLst>
              <a:ext uri="{FF2B5EF4-FFF2-40B4-BE49-F238E27FC236}">
                <a16:creationId xmlns:a16="http://schemas.microsoft.com/office/drawing/2014/main" id="{86E961DD-EFAB-441B-8DCE-47305B813004}"/>
              </a:ext>
            </a:extLst>
          </p:cNvPr>
          <p:cNvPicPr/>
          <p:nvPr/>
        </p:nvPicPr>
        <p:blipFill>
          <a:blip r:embed="rId5" r:link="rId6" cstate="print">
            <a:extLst>
              <a:ext uri="{28A0092B-C50C-407E-A947-70E740481C1C}">
                <a14:useLocalDpi xmlns:a14="http://schemas.microsoft.com/office/drawing/2010/main" val="0"/>
              </a:ext>
            </a:extLst>
          </a:blip>
          <a:srcRect/>
          <a:stretch>
            <a:fillRect/>
          </a:stretch>
        </p:blipFill>
        <p:spPr bwMode="auto">
          <a:xfrm rot="5400000">
            <a:off x="4564014" y="5027984"/>
            <a:ext cx="496678" cy="462783"/>
          </a:xfrm>
          <a:prstGeom prst="rect">
            <a:avLst/>
          </a:prstGeom>
          <a:noFill/>
          <a:ln>
            <a:noFill/>
          </a:ln>
        </p:spPr>
      </p:pic>
      <p:pic>
        <p:nvPicPr>
          <p:cNvPr id="80" name="Picture 2">
            <a:extLst>
              <a:ext uri="{FF2B5EF4-FFF2-40B4-BE49-F238E27FC236}">
                <a16:creationId xmlns:a16="http://schemas.microsoft.com/office/drawing/2014/main" id="{AD64D713-C1D6-429E-803F-BB5B4631FBA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20810" y="5099522"/>
            <a:ext cx="601377" cy="464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6">
            <a:extLst>
              <a:ext uri="{FF2B5EF4-FFF2-40B4-BE49-F238E27FC236}">
                <a16:creationId xmlns:a16="http://schemas.microsoft.com/office/drawing/2014/main" id="{29E320FD-7CE1-4D49-B6BE-E210613B4AE4}"/>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6151" t="7143" r="6349" b="15934"/>
          <a:stretch/>
        </p:blipFill>
        <p:spPr bwMode="auto">
          <a:xfrm>
            <a:off x="4235615" y="5361081"/>
            <a:ext cx="279509" cy="26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AFEEA142-F7D8-4FCE-BC9A-C63F446CAF4B}"/>
              </a:ext>
            </a:extLst>
          </p:cNvPr>
          <p:cNvPicPr>
            <a:picLocks noChangeAspect="1"/>
          </p:cNvPicPr>
          <p:nvPr/>
        </p:nvPicPr>
        <p:blipFill>
          <a:blip r:embed="rId9"/>
          <a:stretch>
            <a:fillRect/>
          </a:stretch>
        </p:blipFill>
        <p:spPr>
          <a:xfrm>
            <a:off x="6245329" y="5031898"/>
            <a:ext cx="477955" cy="564856"/>
          </a:xfrm>
          <a:prstGeom prst="rect">
            <a:avLst/>
          </a:prstGeom>
        </p:spPr>
      </p:pic>
      <p:sp>
        <p:nvSpPr>
          <p:cNvPr id="83" name="Rectangle 82">
            <a:extLst>
              <a:ext uri="{FF2B5EF4-FFF2-40B4-BE49-F238E27FC236}">
                <a16:creationId xmlns:a16="http://schemas.microsoft.com/office/drawing/2014/main" id="{6933167B-3C07-4FFA-8576-363D9AD7F025}"/>
              </a:ext>
            </a:extLst>
          </p:cNvPr>
          <p:cNvSpPr/>
          <p:nvPr/>
        </p:nvSpPr>
        <p:spPr>
          <a:xfrm>
            <a:off x="4075844" y="6089435"/>
            <a:ext cx="2169485" cy="553998"/>
          </a:xfrm>
          <a:prstGeom prst="rect">
            <a:avLst/>
          </a:prstGeom>
        </p:spPr>
        <p:txBody>
          <a:bodyPr wrap="square">
            <a:spAutoFit/>
          </a:bodyPr>
          <a:lstStyle/>
          <a:p>
            <a:r>
              <a:rPr lang="fr-FR" sz="1000" b="1" i="1" dirty="0">
                <a:solidFill>
                  <a:srgbClr val="0070C0"/>
                </a:solidFill>
              </a:rPr>
              <a:t>Plier sa servante </a:t>
            </a:r>
            <a:r>
              <a:rPr lang="fr-FR" sz="1000" i="1" dirty="0"/>
              <a:t>= et charger séparément les caisses de la structure de la servante</a:t>
            </a:r>
            <a:endParaRPr lang="fr-FR" sz="1000" dirty="0"/>
          </a:p>
        </p:txBody>
      </p:sp>
      <p:pic>
        <p:nvPicPr>
          <p:cNvPr id="84" name="Picture 6">
            <a:extLst>
              <a:ext uri="{FF2B5EF4-FFF2-40B4-BE49-F238E27FC236}">
                <a16:creationId xmlns:a16="http://schemas.microsoft.com/office/drawing/2014/main" id="{B54451ED-193E-49D7-B41B-A81D554A759E}"/>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6151" t="7143" r="6349" b="15934"/>
          <a:stretch/>
        </p:blipFill>
        <p:spPr bwMode="auto">
          <a:xfrm>
            <a:off x="4893787" y="6693148"/>
            <a:ext cx="279509" cy="26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 name="Picture 13">
            <a:extLst>
              <a:ext uri="{FF2B5EF4-FFF2-40B4-BE49-F238E27FC236}">
                <a16:creationId xmlns:a16="http://schemas.microsoft.com/office/drawing/2014/main" id="{1B4A92AE-EC8F-40C9-B17C-9D382BA67B2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760" t="8790" r="11439" b="12948"/>
          <a:stretch/>
        </p:blipFill>
        <p:spPr bwMode="auto">
          <a:xfrm>
            <a:off x="5891923" y="6841648"/>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Image 9">
            <a:extLst>
              <a:ext uri="{FF2B5EF4-FFF2-40B4-BE49-F238E27FC236}">
                <a16:creationId xmlns:a16="http://schemas.microsoft.com/office/drawing/2014/main" id="{1B324879-C870-485A-B1C9-B39CEA295627}"/>
              </a:ext>
            </a:extLst>
          </p:cNvPr>
          <p:cNvPicPr>
            <a:picLocks noChangeAspect="1"/>
          </p:cNvPicPr>
          <p:nvPr/>
        </p:nvPicPr>
        <p:blipFill>
          <a:blip r:embed="rId10"/>
          <a:stretch>
            <a:fillRect/>
          </a:stretch>
        </p:blipFill>
        <p:spPr>
          <a:xfrm>
            <a:off x="4169072" y="7067080"/>
            <a:ext cx="746203" cy="998265"/>
          </a:xfrm>
          <a:prstGeom prst="rect">
            <a:avLst/>
          </a:prstGeom>
        </p:spPr>
      </p:pic>
      <p:pic>
        <p:nvPicPr>
          <p:cNvPr id="86" name="Image 85">
            <a:extLst>
              <a:ext uri="{FF2B5EF4-FFF2-40B4-BE49-F238E27FC236}">
                <a16:creationId xmlns:a16="http://schemas.microsoft.com/office/drawing/2014/main" id="{3E0899E8-A004-43F4-9C81-E024A5FD5270}"/>
              </a:ext>
            </a:extLst>
          </p:cNvPr>
          <p:cNvPicPr>
            <a:picLocks noChangeAspect="1"/>
          </p:cNvPicPr>
          <p:nvPr/>
        </p:nvPicPr>
        <p:blipFill>
          <a:blip r:embed="rId11"/>
          <a:stretch>
            <a:fillRect/>
          </a:stretch>
        </p:blipFill>
        <p:spPr>
          <a:xfrm>
            <a:off x="5691067" y="7211292"/>
            <a:ext cx="841758" cy="1086803"/>
          </a:xfrm>
          <a:prstGeom prst="rect">
            <a:avLst/>
          </a:prstGeom>
        </p:spPr>
      </p:pic>
      <p:pic>
        <p:nvPicPr>
          <p:cNvPr id="9" name="Image 8">
            <a:extLst>
              <a:ext uri="{FF2B5EF4-FFF2-40B4-BE49-F238E27FC236}">
                <a16:creationId xmlns:a16="http://schemas.microsoft.com/office/drawing/2014/main" id="{CB41BEE8-A4F4-4A96-BF61-540BE260D9B6}"/>
              </a:ext>
            </a:extLst>
          </p:cNvPr>
          <p:cNvPicPr>
            <a:picLocks noChangeAspect="1"/>
          </p:cNvPicPr>
          <p:nvPr/>
        </p:nvPicPr>
        <p:blipFill>
          <a:blip r:embed="rId12"/>
          <a:stretch>
            <a:fillRect/>
          </a:stretch>
        </p:blipFill>
        <p:spPr>
          <a:xfrm>
            <a:off x="4806182" y="7367749"/>
            <a:ext cx="669649" cy="936015"/>
          </a:xfrm>
          <a:prstGeom prst="rect">
            <a:avLst/>
          </a:prstGeom>
        </p:spPr>
      </p:pic>
    </p:spTree>
    <p:extLst>
      <p:ext uri="{BB962C8B-B14F-4D97-AF65-F5344CB8AC3E}">
        <p14:creationId xmlns:p14="http://schemas.microsoft.com/office/powerpoint/2010/main" val="3735264620"/>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151</Words>
  <Application>Microsoft Office PowerPoint</Application>
  <PresentationFormat>Affichage à l'écran (4:3)</PresentationFormat>
  <Paragraphs>8</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GE Inspira</vt:lpstr>
      <vt:lpstr>Wingdings</vt:lpstr>
      <vt:lpstr>Thème Office</vt:lpstr>
      <vt:lpstr>Tuto ERGO – Ranger son véhicule et  sortir les équipements techniques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Giblaine, Anais           UTC CCS</dc:creator>
  <cp:lastModifiedBy>FOURRIER, SABINE</cp:lastModifiedBy>
  <cp:revision>39</cp:revision>
  <dcterms:created xsi:type="dcterms:W3CDTF">2017-01-04T15:17:33Z</dcterms:created>
  <dcterms:modified xsi:type="dcterms:W3CDTF">2021-08-10T13:17:25Z</dcterms:modified>
</cp:coreProperties>
</file>