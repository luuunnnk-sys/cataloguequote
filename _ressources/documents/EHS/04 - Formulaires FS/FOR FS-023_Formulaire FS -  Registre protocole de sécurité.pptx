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7"/>
  </p:notesMasterIdLst>
  <p:sldIdLst>
    <p:sldId id="259" r:id="rId5"/>
    <p:sldId id="260" r:id="rId6"/>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DDE677-C71A-4D5D-B447-49934D74F69E}" v="12" dt="2024-08-23T13:28:37.483"/>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Style clair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2833802-FEF1-4C79-8D5D-14CF1EAF98D9}" styleName="Style léger 2 - Accentuation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44" autoAdjust="0"/>
    <p:restoredTop sz="94660"/>
  </p:normalViewPr>
  <p:slideViewPr>
    <p:cSldViewPr>
      <p:cViewPr varScale="1">
        <p:scale>
          <a:sx n="60" d="100"/>
          <a:sy n="60" d="100"/>
        </p:scale>
        <p:origin x="1480" y="2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8E3D03-9839-4E50-B909-CED574CC82A8}" type="datetimeFigureOut">
              <a:rPr lang="fr-FR" smtClean="0"/>
              <a:t>27/08/2024</a:t>
            </a:fld>
            <a:endParaRPr lang="fr-FR"/>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561C0A-FC95-4FAC-9F1B-9CAB88B014F9}" type="slidenum">
              <a:rPr lang="fr-FR" smtClean="0"/>
              <a:t>‹N°›</a:t>
            </a:fld>
            <a:endParaRPr lang="fr-FR"/>
          </a:p>
        </p:txBody>
      </p:sp>
    </p:spTree>
    <p:extLst>
      <p:ext uri="{BB962C8B-B14F-4D97-AF65-F5344CB8AC3E}">
        <p14:creationId xmlns:p14="http://schemas.microsoft.com/office/powerpoint/2010/main" val="1520236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7" name="Title 1"/>
          <p:cNvSpPr>
            <a:spLocks noGrp="1"/>
          </p:cNvSpPr>
          <p:nvPr>
            <p:ph type="ctrTitle"/>
          </p:nvPr>
        </p:nvSpPr>
        <p:spPr>
          <a:xfrm>
            <a:off x="685800" y="2679055"/>
            <a:ext cx="7772400" cy="1470025"/>
          </a:xfrm>
        </p:spPr>
        <p:txBody>
          <a:bodyPr>
            <a:normAutofit/>
          </a:bodyPr>
          <a:lstStyle>
            <a:lvl1pPr>
              <a:defRPr sz="4000" b="1">
                <a:solidFill>
                  <a:schemeClr val="accent2">
                    <a:lumMod val="75000"/>
                  </a:schemeClr>
                </a:solidFill>
                <a:latin typeface="Calibri" panose="020F0502020204030204" pitchFamily="34" charset="0"/>
              </a:defRPr>
            </a:lvl1pPr>
          </a:lstStyle>
          <a:p>
            <a:r>
              <a:rPr lang="fr-FR" dirty="0"/>
              <a:t>Modifiez le style du titre</a:t>
            </a:r>
            <a:endParaRPr lang="en-US" dirty="0"/>
          </a:p>
        </p:txBody>
      </p:sp>
      <p:sp>
        <p:nvSpPr>
          <p:cNvPr id="8" name="Subtitle 2"/>
          <p:cNvSpPr>
            <a:spLocks noGrp="1"/>
          </p:cNvSpPr>
          <p:nvPr>
            <p:ph type="subTitle" idx="1"/>
          </p:nvPr>
        </p:nvSpPr>
        <p:spPr>
          <a:xfrm>
            <a:off x="1371600" y="3886200"/>
            <a:ext cx="6400800" cy="1752600"/>
          </a:xfrm>
        </p:spPr>
        <p:txBody>
          <a:bodyPr>
            <a:normAutofit/>
          </a:bodyPr>
          <a:lstStyle>
            <a:lvl1pPr marL="0" indent="0" algn="ctr">
              <a:buNone/>
              <a:defRPr sz="2400">
                <a:solidFill>
                  <a:schemeClr val="tx1"/>
                </a:solidFill>
                <a:latin typeface="Calibri" panose="020F050202020403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a:t>Modifiez le style des sous-titres du masque</a:t>
            </a:r>
            <a:endParaRPr lang="en-US" dirty="0"/>
          </a:p>
        </p:txBody>
      </p:sp>
      <p:grpSp>
        <p:nvGrpSpPr>
          <p:cNvPr id="9" name="Groupe 8"/>
          <p:cNvGrpSpPr/>
          <p:nvPr userDrawn="1"/>
        </p:nvGrpSpPr>
        <p:grpSpPr>
          <a:xfrm>
            <a:off x="7233" y="6184547"/>
            <a:ext cx="9131819" cy="673453"/>
            <a:chOff x="7233" y="6184547"/>
            <a:chExt cx="9131819" cy="673453"/>
          </a:xfrm>
        </p:grpSpPr>
        <p:sp>
          <p:nvSpPr>
            <p:cNvPr id="10" name="Rectangle 9"/>
            <p:cNvSpPr/>
            <p:nvPr/>
          </p:nvSpPr>
          <p:spPr>
            <a:xfrm>
              <a:off x="7233" y="6184547"/>
              <a:ext cx="9131819" cy="673453"/>
            </a:xfrm>
            <a:prstGeom prst="rect">
              <a:avLst/>
            </a:prstGeom>
            <a:solidFill>
              <a:schemeClr val="bg1"/>
            </a:solid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p:cNvSpPr txBox="1"/>
            <p:nvPr/>
          </p:nvSpPr>
          <p:spPr>
            <a:xfrm>
              <a:off x="6364250" y="6343547"/>
              <a:ext cx="2453239" cy="335398"/>
            </a:xfrm>
            <a:prstGeom prst="rect">
              <a:avLst/>
            </a:prstGeom>
            <a:noFill/>
          </p:spPr>
          <p:txBody>
            <a:bodyPr wrap="square" lIns="77111" tIns="38556" rIns="77111" bIns="38556" rtlCol="0">
              <a:spAutoFit/>
            </a:bodyPr>
            <a:lstStyle/>
            <a:p>
              <a:r>
                <a:rPr lang="fr-FR" sz="800" i="1" dirty="0">
                  <a:latin typeface="Calibri" panose="020F0502020204030204" pitchFamily="34" charset="0"/>
                </a:rPr>
                <a:t>Ce document est confidentiel. Toute reproduction, même partielle est interdite.</a:t>
              </a:r>
            </a:p>
          </p:txBody>
        </p:sp>
      </p:grpSp>
      <p:sp>
        <p:nvSpPr>
          <p:cNvPr id="17" name="Organigramme : Processus 16"/>
          <p:cNvSpPr/>
          <p:nvPr userDrawn="1"/>
        </p:nvSpPr>
        <p:spPr>
          <a:xfrm>
            <a:off x="-1746" y="732766"/>
            <a:ext cx="9145745" cy="214818"/>
          </a:xfrm>
          <a:prstGeom prst="flowChartProcess">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8" name="Rectangle 17"/>
          <p:cNvSpPr/>
          <p:nvPr userDrawn="1"/>
        </p:nvSpPr>
        <p:spPr>
          <a:xfrm rot="21419042">
            <a:off x="7270650" y="753732"/>
            <a:ext cx="1880561" cy="24954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p:cNvSpPr/>
          <p:nvPr userDrawn="1"/>
        </p:nvSpPr>
        <p:spPr>
          <a:xfrm rot="21336737">
            <a:off x="8320535" y="682419"/>
            <a:ext cx="911492" cy="338554"/>
          </a:xfrm>
          <a:prstGeom prst="rect">
            <a:avLst/>
          </a:prstGeom>
        </p:spPr>
        <p:txBody>
          <a:bodyPr wrap="square">
            <a:spAutoFit/>
          </a:bodyPr>
          <a:lstStyle/>
          <a:p>
            <a:r>
              <a:rPr lang="fr-FR" sz="1600" b="1" i="1" dirty="0">
                <a:solidFill>
                  <a:schemeClr val="bg1"/>
                </a:solidFill>
              </a:rPr>
              <a:t>Sécurité</a:t>
            </a:r>
            <a:r>
              <a:rPr lang="fr-FR" sz="1600" i="1" dirty="0">
                <a:solidFill>
                  <a:schemeClr val="bg1"/>
                </a:solidFill>
              </a:rPr>
              <a:t> </a:t>
            </a:r>
            <a:endParaRPr lang="fr-FR" sz="1600" dirty="0"/>
          </a:p>
        </p:txBody>
      </p:sp>
      <p:sp>
        <p:nvSpPr>
          <p:cNvPr id="20" name="ZoneTexte 19"/>
          <p:cNvSpPr txBox="1"/>
          <p:nvPr userDrawn="1"/>
        </p:nvSpPr>
        <p:spPr>
          <a:xfrm>
            <a:off x="2477459" y="731560"/>
            <a:ext cx="3974132" cy="261610"/>
          </a:xfrm>
          <a:prstGeom prst="rect">
            <a:avLst/>
          </a:prstGeom>
          <a:noFill/>
        </p:spPr>
        <p:txBody>
          <a:bodyPr wrap="square" rtlCol="0">
            <a:spAutoFit/>
          </a:bodyPr>
          <a:lstStyle/>
          <a:p>
            <a:r>
              <a:rPr lang="fr-FR" sz="1100" i="1" dirty="0">
                <a:solidFill>
                  <a:schemeClr val="bg1"/>
                </a:solidFill>
              </a:rPr>
              <a:t>Hygiène    Environnement    Management </a:t>
            </a:r>
          </a:p>
        </p:txBody>
      </p:sp>
      <p:sp>
        <p:nvSpPr>
          <p:cNvPr id="21" name="Forme libre 20"/>
          <p:cNvSpPr/>
          <p:nvPr userDrawn="1"/>
        </p:nvSpPr>
        <p:spPr>
          <a:xfrm>
            <a:off x="-15192" y="935389"/>
            <a:ext cx="376518" cy="147918"/>
          </a:xfrm>
          <a:custGeom>
            <a:avLst/>
            <a:gdLst>
              <a:gd name="connsiteX0" fmla="*/ 0 w 376518"/>
              <a:gd name="connsiteY0" fmla="*/ 0 h 147918"/>
              <a:gd name="connsiteX1" fmla="*/ 376518 w 376518"/>
              <a:gd name="connsiteY1" fmla="*/ 0 h 147918"/>
              <a:gd name="connsiteX2" fmla="*/ 376518 w 376518"/>
              <a:gd name="connsiteY2" fmla="*/ 147918 h 147918"/>
              <a:gd name="connsiteX3" fmla="*/ 0 w 376518"/>
              <a:gd name="connsiteY3" fmla="*/ 0 h 147918"/>
            </a:gdLst>
            <a:ahLst/>
            <a:cxnLst>
              <a:cxn ang="0">
                <a:pos x="connsiteX0" y="connsiteY0"/>
              </a:cxn>
              <a:cxn ang="0">
                <a:pos x="connsiteX1" y="connsiteY1"/>
              </a:cxn>
              <a:cxn ang="0">
                <a:pos x="connsiteX2" y="connsiteY2"/>
              </a:cxn>
              <a:cxn ang="0">
                <a:pos x="connsiteX3" y="connsiteY3"/>
              </a:cxn>
            </a:cxnLst>
            <a:rect l="l" t="t" r="r" b="b"/>
            <a:pathLst>
              <a:path w="376518" h="147918">
                <a:moveTo>
                  <a:pt x="0" y="0"/>
                </a:moveTo>
                <a:lnTo>
                  <a:pt x="376518" y="0"/>
                </a:lnTo>
                <a:lnTo>
                  <a:pt x="376518" y="147918"/>
                </a:lnTo>
                <a:lnTo>
                  <a:pt x="0" y="0"/>
                </a:lnTo>
                <a:close/>
              </a:path>
            </a:pathLst>
          </a:cu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Organigramme : Processus 21"/>
          <p:cNvSpPr/>
          <p:nvPr userDrawn="1"/>
        </p:nvSpPr>
        <p:spPr>
          <a:xfrm>
            <a:off x="330911" y="443528"/>
            <a:ext cx="2034730" cy="792088"/>
          </a:xfrm>
          <a:prstGeom prst="flowChartProcess">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3" name="Connecteur droit 22"/>
          <p:cNvCxnSpPr/>
          <p:nvPr userDrawn="1"/>
        </p:nvCxnSpPr>
        <p:spPr>
          <a:xfrm>
            <a:off x="978983" y="587544"/>
            <a:ext cx="0" cy="50405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4" name="ZoneTexte 23"/>
          <p:cNvSpPr txBox="1"/>
          <p:nvPr userDrawn="1"/>
        </p:nvSpPr>
        <p:spPr>
          <a:xfrm>
            <a:off x="1129859" y="459290"/>
            <a:ext cx="383170" cy="707886"/>
          </a:xfrm>
          <a:prstGeom prst="rect">
            <a:avLst/>
          </a:prstGeom>
          <a:noFill/>
        </p:spPr>
        <p:txBody>
          <a:bodyPr wrap="square" rtlCol="0">
            <a:spAutoFit/>
          </a:bodyPr>
          <a:lstStyle/>
          <a:p>
            <a:r>
              <a:rPr lang="fr-FR" sz="4000" dirty="0"/>
              <a:t>H</a:t>
            </a:r>
          </a:p>
        </p:txBody>
      </p:sp>
      <p:sp>
        <p:nvSpPr>
          <p:cNvPr id="25" name="ZoneTexte 24"/>
          <p:cNvSpPr txBox="1"/>
          <p:nvPr userDrawn="1"/>
        </p:nvSpPr>
        <p:spPr>
          <a:xfrm>
            <a:off x="1861118" y="469338"/>
            <a:ext cx="383170" cy="707886"/>
          </a:xfrm>
          <a:prstGeom prst="rect">
            <a:avLst/>
          </a:prstGeom>
          <a:noFill/>
        </p:spPr>
        <p:txBody>
          <a:bodyPr wrap="square" rtlCol="0">
            <a:spAutoFit/>
          </a:bodyPr>
          <a:lstStyle/>
          <a:p>
            <a:r>
              <a:rPr lang="fr-FR" sz="4000" b="1" dirty="0">
                <a:solidFill>
                  <a:schemeClr val="accent2">
                    <a:lumMod val="75000"/>
                  </a:schemeClr>
                </a:solidFill>
              </a:rPr>
              <a:t>S</a:t>
            </a:r>
          </a:p>
        </p:txBody>
      </p:sp>
      <p:sp>
        <p:nvSpPr>
          <p:cNvPr id="26" name="ZoneTexte 25"/>
          <p:cNvSpPr txBox="1"/>
          <p:nvPr userDrawn="1"/>
        </p:nvSpPr>
        <p:spPr>
          <a:xfrm>
            <a:off x="467544" y="467252"/>
            <a:ext cx="383170" cy="707886"/>
          </a:xfrm>
          <a:prstGeom prst="rect">
            <a:avLst/>
          </a:prstGeom>
          <a:noFill/>
        </p:spPr>
        <p:txBody>
          <a:bodyPr wrap="square" rtlCol="0">
            <a:spAutoFit/>
          </a:bodyPr>
          <a:lstStyle/>
          <a:p>
            <a:r>
              <a:rPr lang="fr-FR" sz="4000" dirty="0"/>
              <a:t>E</a:t>
            </a:r>
          </a:p>
        </p:txBody>
      </p:sp>
      <p:cxnSp>
        <p:nvCxnSpPr>
          <p:cNvPr id="27" name="Connecteur droit 26"/>
          <p:cNvCxnSpPr/>
          <p:nvPr userDrawn="1"/>
        </p:nvCxnSpPr>
        <p:spPr>
          <a:xfrm>
            <a:off x="1699063" y="587544"/>
            <a:ext cx="0" cy="50405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8" name="Pentagone 27"/>
          <p:cNvSpPr/>
          <p:nvPr userDrawn="1"/>
        </p:nvSpPr>
        <p:spPr>
          <a:xfrm>
            <a:off x="318238" y="732766"/>
            <a:ext cx="115686" cy="214818"/>
          </a:xfrm>
          <a:prstGeom prst="homePlat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9" name="Image 28"/>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artisticGlowEdges/>
                    </a14:imgEffect>
                  </a14:imgLayer>
                </a14:imgProps>
              </a:ext>
              <a:ext uri="{28A0092B-C50C-407E-A947-70E740481C1C}">
                <a14:useLocalDpi xmlns:a14="http://schemas.microsoft.com/office/drawing/2010/main" val="0"/>
              </a:ext>
            </a:extLst>
          </a:blip>
          <a:stretch>
            <a:fillRect/>
          </a:stretch>
        </p:blipFill>
        <p:spPr>
          <a:xfrm>
            <a:off x="1636484" y="33248"/>
            <a:ext cx="837236" cy="563523"/>
          </a:xfrm>
          <a:prstGeom prst="rect">
            <a:avLst/>
          </a:prstGeom>
        </p:spPr>
      </p:pic>
      <p:pic>
        <p:nvPicPr>
          <p:cNvPr id="2" name="Image 1">
            <a:extLst>
              <a:ext uri="{FF2B5EF4-FFF2-40B4-BE49-F238E27FC236}">
                <a16:creationId xmlns:a16="http://schemas.microsoft.com/office/drawing/2014/main" id="{5BF601EC-9A50-4F44-98B7-19B35540D149}"/>
              </a:ext>
            </a:extLst>
          </p:cNvPr>
          <p:cNvPicPr>
            <a:picLocks noChangeAspect="1"/>
          </p:cNvPicPr>
          <p:nvPr userDrawn="1"/>
        </p:nvPicPr>
        <p:blipFill>
          <a:blip r:embed="rId4"/>
          <a:stretch>
            <a:fillRect/>
          </a:stretch>
        </p:blipFill>
        <p:spPr>
          <a:xfrm>
            <a:off x="242798" y="6348047"/>
            <a:ext cx="4245686" cy="395618"/>
          </a:xfrm>
          <a:prstGeom prst="rect">
            <a:avLst/>
          </a:prstGeom>
        </p:spPr>
      </p:pic>
      <p:sp>
        <p:nvSpPr>
          <p:cNvPr id="3" name="Espace réservé de la date 2">
            <a:extLst>
              <a:ext uri="{FF2B5EF4-FFF2-40B4-BE49-F238E27FC236}">
                <a16:creationId xmlns:a16="http://schemas.microsoft.com/office/drawing/2014/main" id="{A0C1904E-3D3E-6751-3DD3-0AFAEE56BE14}"/>
              </a:ext>
            </a:extLst>
          </p:cNvPr>
          <p:cNvSpPr>
            <a:spLocks noGrp="1"/>
          </p:cNvSpPr>
          <p:nvPr>
            <p:ph type="dt" sz="half" idx="10"/>
          </p:nvPr>
        </p:nvSpPr>
        <p:spPr/>
        <p:txBody>
          <a:bodyPr/>
          <a:lstStyle/>
          <a:p>
            <a:fld id="{8FA77303-6B9C-4E0F-BF36-408CF740D299}" type="datetime1">
              <a:rPr lang="fr-FR" smtClean="0"/>
              <a:t>27/08/2024</a:t>
            </a:fld>
            <a:endParaRPr lang="fr-BE"/>
          </a:p>
        </p:txBody>
      </p:sp>
      <p:sp>
        <p:nvSpPr>
          <p:cNvPr id="4" name="Espace réservé du pied de page 3">
            <a:extLst>
              <a:ext uri="{FF2B5EF4-FFF2-40B4-BE49-F238E27FC236}">
                <a16:creationId xmlns:a16="http://schemas.microsoft.com/office/drawing/2014/main" id="{FA7F5CD2-DB0B-B5C6-AC35-B666D08D3CFA}"/>
              </a:ext>
            </a:extLst>
          </p:cNvPr>
          <p:cNvSpPr>
            <a:spLocks noGrp="1"/>
          </p:cNvSpPr>
          <p:nvPr>
            <p:ph type="ftr" sz="quarter" idx="11"/>
          </p:nvPr>
        </p:nvSpPr>
        <p:spPr/>
        <p:txBody>
          <a:bodyPr/>
          <a:lstStyle/>
          <a:p>
            <a:endParaRPr lang="fr-BE"/>
          </a:p>
        </p:txBody>
      </p:sp>
      <p:sp>
        <p:nvSpPr>
          <p:cNvPr id="5" name="Espace réservé du numéro de diapositive 4">
            <a:extLst>
              <a:ext uri="{FF2B5EF4-FFF2-40B4-BE49-F238E27FC236}">
                <a16:creationId xmlns:a16="http://schemas.microsoft.com/office/drawing/2014/main" id="{47897489-F186-D019-6C3B-EE320DDADE6D}"/>
              </a:ext>
            </a:extLst>
          </p:cNvPr>
          <p:cNvSpPr>
            <a:spLocks noGrp="1"/>
          </p:cNvSpPr>
          <p:nvPr>
            <p:ph type="sldNum" sz="quarter" idx="12"/>
          </p:nvPr>
        </p:nvSpPr>
        <p:spPr>
          <a:xfrm>
            <a:off x="7037789" y="6582402"/>
            <a:ext cx="2133600" cy="365125"/>
          </a:xfrm>
        </p:spPr>
        <p:txBody>
          <a:bodyPr/>
          <a:lstStyle/>
          <a:p>
            <a:fld id="{CF4668DC-857F-487D-BFFA-8C0CA5037977}" type="slidenum">
              <a:rPr lang="fr-BE" smtClean="0"/>
              <a:t>‹N°›</a:t>
            </a:fld>
            <a:endParaRPr lang="fr-BE"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a:xfrm>
            <a:off x="7050361" y="6581503"/>
            <a:ext cx="2133600" cy="365125"/>
          </a:xfrm>
        </p:spPr>
        <p:txBody>
          <a:bodyPr/>
          <a:lstStyle/>
          <a:p>
            <a:fld id="{CF4668DC-857F-487D-BFFA-8C0CA5037977}" type="slidenum">
              <a:rPr lang="fr-BE" smtClean="0"/>
              <a:t>‹N°›</a:t>
            </a:fld>
            <a:endParaRPr lang="fr-BE"/>
          </a:p>
        </p:txBody>
      </p:sp>
      <p:sp>
        <p:nvSpPr>
          <p:cNvPr id="7" name="Content Placeholder 2"/>
          <p:cNvSpPr>
            <a:spLocks noGrp="1"/>
          </p:cNvSpPr>
          <p:nvPr>
            <p:ph idx="1"/>
          </p:nvPr>
        </p:nvSpPr>
        <p:spPr>
          <a:xfrm>
            <a:off x="457200" y="1600200"/>
            <a:ext cx="8229600" cy="4525963"/>
          </a:xfrm>
        </p:spPr>
        <p:txBody>
          <a:bodyPr/>
          <a:lstStyle>
            <a:lvl1pPr>
              <a:defRPr sz="2200">
                <a:solidFill>
                  <a:schemeClr val="accent2">
                    <a:lumMod val="75000"/>
                  </a:schemeClr>
                </a:solidFill>
                <a:latin typeface="Calibri" panose="020F0502020204030204" pitchFamily="34" charset="0"/>
              </a:defRPr>
            </a:lvl1pPr>
            <a:lvl2pPr marL="742950" indent="-285750">
              <a:buClr>
                <a:schemeClr val="accent2">
                  <a:lumMod val="75000"/>
                </a:schemeClr>
              </a:buClr>
              <a:buFont typeface="Wingdings" panose="05000000000000000000" pitchFamily="2" charset="2"/>
              <a:buChar char="§"/>
              <a:defRPr sz="1300">
                <a:solidFill>
                  <a:schemeClr val="tx1"/>
                </a:solidFill>
                <a:latin typeface="Calibri" panose="020F0502020204030204" pitchFamily="34" charset="0"/>
              </a:defRPr>
            </a:lvl2pPr>
            <a:lvl3pPr>
              <a:buClr>
                <a:schemeClr val="accent2">
                  <a:lumMod val="75000"/>
                </a:schemeClr>
              </a:buClr>
              <a:defRPr sz="1300">
                <a:solidFill>
                  <a:schemeClr val="tx1"/>
                </a:solidFill>
                <a:latin typeface="Calibri" panose="020F0502020204030204" pitchFamily="34" charset="0"/>
              </a:defRPr>
            </a:lvl3pPr>
            <a:lvl4pPr>
              <a:buClr>
                <a:schemeClr val="accent2">
                  <a:lumMod val="75000"/>
                </a:schemeClr>
              </a:buClr>
              <a:defRPr sz="1300">
                <a:solidFill>
                  <a:schemeClr val="tx1"/>
                </a:solidFill>
                <a:latin typeface="Calibri" panose="020F0502020204030204" pitchFamily="34" charset="0"/>
              </a:defRPr>
            </a:lvl4pPr>
            <a:lvl5pPr>
              <a:buClr>
                <a:schemeClr val="accent2">
                  <a:lumMod val="75000"/>
                </a:schemeClr>
              </a:buClr>
              <a:defRPr sz="1300">
                <a:solidFill>
                  <a:schemeClr val="tx1"/>
                </a:solidFill>
                <a:latin typeface="Calibri" panose="020F0502020204030204" pitchFamily="34" charset="0"/>
              </a:defRPr>
            </a:lvl5p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Title 1"/>
          <p:cNvSpPr>
            <a:spLocks noGrp="1"/>
          </p:cNvSpPr>
          <p:nvPr>
            <p:ph type="title" hasCustomPrompt="1"/>
          </p:nvPr>
        </p:nvSpPr>
        <p:spPr>
          <a:xfrm>
            <a:off x="457200" y="53752"/>
            <a:ext cx="8229600" cy="638944"/>
          </a:xfrm>
        </p:spPr>
        <p:txBody>
          <a:bodyPr>
            <a:normAutofit/>
          </a:bodyPr>
          <a:lstStyle>
            <a:lvl1pPr>
              <a:defRPr sz="2200" b="1">
                <a:solidFill>
                  <a:schemeClr val="accent2">
                    <a:lumMod val="75000"/>
                  </a:schemeClr>
                </a:solidFill>
                <a:latin typeface="Calibri" panose="020F0502020204030204" pitchFamily="34" charset="0"/>
              </a:defRPr>
            </a:lvl1pPr>
          </a:lstStyle>
          <a:p>
            <a:r>
              <a:rPr lang="fr-FR" dirty="0"/>
              <a:t>MODIFIEZ LE STYLE DU TITRE</a:t>
            </a:r>
            <a:endParaRPr lang="en-US" dirty="0"/>
          </a:p>
        </p:txBody>
      </p:sp>
      <p:sp>
        <p:nvSpPr>
          <p:cNvPr id="9" name="Organigramme : Processus 8"/>
          <p:cNvSpPr/>
          <p:nvPr userDrawn="1"/>
        </p:nvSpPr>
        <p:spPr>
          <a:xfrm>
            <a:off x="-1903" y="785439"/>
            <a:ext cx="9145905" cy="215800"/>
          </a:xfrm>
          <a:prstGeom prst="flowChartProcess">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0" name="Rectangle 9"/>
          <p:cNvSpPr/>
          <p:nvPr userDrawn="1"/>
        </p:nvSpPr>
        <p:spPr>
          <a:xfrm rot="21419042">
            <a:off x="7266383" y="821609"/>
            <a:ext cx="1880561" cy="24954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p:cNvSpPr/>
          <p:nvPr userDrawn="1"/>
        </p:nvSpPr>
        <p:spPr>
          <a:xfrm rot="21339805">
            <a:off x="8343464" y="753882"/>
            <a:ext cx="867353" cy="338554"/>
          </a:xfrm>
          <a:prstGeom prst="rect">
            <a:avLst/>
          </a:prstGeom>
        </p:spPr>
        <p:txBody>
          <a:bodyPr wrap="none">
            <a:spAutoFit/>
          </a:bodyPr>
          <a:lstStyle/>
          <a:p>
            <a:r>
              <a:rPr lang="fr-FR" sz="1600" b="1" i="1" dirty="0">
                <a:solidFill>
                  <a:prstClr val="white"/>
                </a:solidFill>
              </a:rPr>
              <a:t>Sécurité</a:t>
            </a:r>
            <a:endParaRPr lang="fr-FR" sz="1600" b="1" dirty="0"/>
          </a:p>
        </p:txBody>
      </p:sp>
      <p:pic>
        <p:nvPicPr>
          <p:cNvPr id="2" name="Image 1">
            <a:extLst>
              <a:ext uri="{FF2B5EF4-FFF2-40B4-BE49-F238E27FC236}">
                <a16:creationId xmlns:a16="http://schemas.microsoft.com/office/drawing/2014/main" id="{38C6E717-0451-BCFB-60C6-583BFDD69C2A}"/>
              </a:ext>
            </a:extLst>
          </p:cNvPr>
          <p:cNvPicPr>
            <a:picLocks noChangeAspect="1"/>
          </p:cNvPicPr>
          <p:nvPr userDrawn="1"/>
        </p:nvPicPr>
        <p:blipFill>
          <a:blip r:embed="rId2"/>
          <a:stretch>
            <a:fillRect/>
          </a:stretch>
        </p:blipFill>
        <p:spPr>
          <a:xfrm>
            <a:off x="-1903" y="6666368"/>
            <a:ext cx="2096954" cy="195397"/>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de section">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a:xfrm>
            <a:off x="7010400" y="6581503"/>
            <a:ext cx="2133600" cy="365125"/>
          </a:xfrm>
        </p:spPr>
        <p:txBody>
          <a:bodyPr/>
          <a:lstStyle/>
          <a:p>
            <a:fld id="{CF4668DC-857F-487D-BFFA-8C0CA5037977}" type="slidenum">
              <a:rPr lang="fr-BE" smtClean="0"/>
              <a:t>‹N°›</a:t>
            </a:fld>
            <a:endParaRPr lang="fr-BE"/>
          </a:p>
        </p:txBody>
      </p:sp>
      <p:sp>
        <p:nvSpPr>
          <p:cNvPr id="7" name="Title 1"/>
          <p:cNvSpPr>
            <a:spLocks noGrp="1"/>
          </p:cNvSpPr>
          <p:nvPr>
            <p:ph type="ctrTitle"/>
          </p:nvPr>
        </p:nvSpPr>
        <p:spPr>
          <a:xfrm>
            <a:off x="685800" y="2679055"/>
            <a:ext cx="7772400" cy="1470025"/>
          </a:xfrm>
        </p:spPr>
        <p:txBody>
          <a:bodyPr>
            <a:normAutofit/>
          </a:bodyPr>
          <a:lstStyle>
            <a:lvl1pPr>
              <a:defRPr sz="4000" b="1">
                <a:solidFill>
                  <a:schemeClr val="accent2">
                    <a:lumMod val="75000"/>
                  </a:schemeClr>
                </a:solidFill>
                <a:latin typeface="Calibri" panose="020F0502020204030204" pitchFamily="34" charset="0"/>
              </a:defRPr>
            </a:lvl1pPr>
          </a:lstStyle>
          <a:p>
            <a:r>
              <a:rPr lang="fr-FR" dirty="0"/>
              <a:t>Modifiez le style du titre</a:t>
            </a:r>
            <a:endParaRPr lang="en-US" dirty="0"/>
          </a:p>
        </p:txBody>
      </p:sp>
      <p:sp>
        <p:nvSpPr>
          <p:cNvPr id="8" name="Subtitle 2"/>
          <p:cNvSpPr>
            <a:spLocks noGrp="1"/>
          </p:cNvSpPr>
          <p:nvPr>
            <p:ph type="subTitle" idx="1"/>
          </p:nvPr>
        </p:nvSpPr>
        <p:spPr>
          <a:xfrm>
            <a:off x="1371600" y="3886200"/>
            <a:ext cx="6400800" cy="1752600"/>
          </a:xfrm>
        </p:spPr>
        <p:txBody>
          <a:bodyPr>
            <a:normAutofit/>
          </a:bodyPr>
          <a:lstStyle>
            <a:lvl1pPr marL="0" indent="0" algn="ctr">
              <a:buNone/>
              <a:defRPr sz="2400">
                <a:solidFill>
                  <a:schemeClr val="tx1"/>
                </a:solidFill>
                <a:latin typeface="Calibri" panose="020F050202020403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a:t>Modifiez le style des sous-titres du masque</a:t>
            </a:r>
            <a:endParaRPr lang="en-US" dirty="0"/>
          </a:p>
        </p:txBody>
      </p:sp>
      <p:sp>
        <p:nvSpPr>
          <p:cNvPr id="12" name="Organigramme : Processus 11"/>
          <p:cNvSpPr/>
          <p:nvPr userDrawn="1"/>
        </p:nvSpPr>
        <p:spPr>
          <a:xfrm>
            <a:off x="-1903" y="785439"/>
            <a:ext cx="9145905" cy="215800"/>
          </a:xfrm>
          <a:prstGeom prst="flowChartProcess">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3" name="Rectangle 12"/>
          <p:cNvSpPr/>
          <p:nvPr userDrawn="1"/>
        </p:nvSpPr>
        <p:spPr>
          <a:xfrm rot="21419042">
            <a:off x="7266383" y="821609"/>
            <a:ext cx="1880561" cy="24954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p:cNvSpPr/>
          <p:nvPr userDrawn="1"/>
        </p:nvSpPr>
        <p:spPr>
          <a:xfrm rot="21339805">
            <a:off x="8343464" y="753882"/>
            <a:ext cx="867353" cy="338554"/>
          </a:xfrm>
          <a:prstGeom prst="rect">
            <a:avLst/>
          </a:prstGeom>
        </p:spPr>
        <p:txBody>
          <a:bodyPr wrap="none">
            <a:spAutoFit/>
          </a:bodyPr>
          <a:lstStyle/>
          <a:p>
            <a:r>
              <a:rPr lang="fr-FR" sz="1600" b="1" i="1" dirty="0">
                <a:solidFill>
                  <a:prstClr val="white"/>
                </a:solidFill>
              </a:rPr>
              <a:t>Sécurité</a:t>
            </a:r>
            <a:endParaRPr lang="fr-FR" sz="1600" b="1" dirty="0"/>
          </a:p>
        </p:txBody>
      </p:sp>
      <p:pic>
        <p:nvPicPr>
          <p:cNvPr id="2" name="Image 1">
            <a:extLst>
              <a:ext uri="{FF2B5EF4-FFF2-40B4-BE49-F238E27FC236}">
                <a16:creationId xmlns:a16="http://schemas.microsoft.com/office/drawing/2014/main" id="{26CC2F36-AF3A-985A-E9CC-68F69093BB33}"/>
              </a:ext>
            </a:extLst>
          </p:cNvPr>
          <p:cNvPicPr>
            <a:picLocks noChangeAspect="1"/>
          </p:cNvPicPr>
          <p:nvPr userDrawn="1"/>
        </p:nvPicPr>
        <p:blipFill>
          <a:blip r:embed="rId2"/>
          <a:stretch>
            <a:fillRect/>
          </a:stretch>
        </p:blipFill>
        <p:spPr>
          <a:xfrm>
            <a:off x="-1903" y="6666368"/>
            <a:ext cx="2096954" cy="195397"/>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a:xfrm>
            <a:off x="7088776" y="6581503"/>
            <a:ext cx="2133600" cy="365125"/>
          </a:xfrm>
        </p:spPr>
        <p:txBody>
          <a:bodyPr/>
          <a:lstStyle/>
          <a:p>
            <a:fld id="{CF4668DC-857F-487D-BFFA-8C0CA5037977}" type="slidenum">
              <a:rPr lang="fr-BE" smtClean="0"/>
              <a:t>‹N°›</a:t>
            </a:fld>
            <a:endParaRPr lang="fr-BE"/>
          </a:p>
        </p:txBody>
      </p:sp>
      <p:sp>
        <p:nvSpPr>
          <p:cNvPr id="5" name="Organigramme : Processus 4"/>
          <p:cNvSpPr/>
          <p:nvPr userDrawn="1"/>
        </p:nvSpPr>
        <p:spPr>
          <a:xfrm>
            <a:off x="-1903" y="785439"/>
            <a:ext cx="9145905" cy="215800"/>
          </a:xfrm>
          <a:prstGeom prst="flowChartProcess">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6" name="Rectangle 5"/>
          <p:cNvSpPr/>
          <p:nvPr userDrawn="1"/>
        </p:nvSpPr>
        <p:spPr>
          <a:xfrm rot="21419042">
            <a:off x="7266383" y="821609"/>
            <a:ext cx="1880561" cy="24954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userDrawn="1"/>
        </p:nvSpPr>
        <p:spPr>
          <a:xfrm rot="21339805">
            <a:off x="8343464" y="753882"/>
            <a:ext cx="867353" cy="338554"/>
          </a:xfrm>
          <a:prstGeom prst="rect">
            <a:avLst/>
          </a:prstGeom>
        </p:spPr>
        <p:txBody>
          <a:bodyPr wrap="none">
            <a:spAutoFit/>
          </a:bodyPr>
          <a:lstStyle/>
          <a:p>
            <a:r>
              <a:rPr lang="fr-FR" sz="1600" b="1" i="1" dirty="0">
                <a:solidFill>
                  <a:prstClr val="white"/>
                </a:solidFill>
              </a:rPr>
              <a:t>Sécurité</a:t>
            </a:r>
            <a:endParaRPr lang="fr-FR" sz="1600" b="1" dirty="0"/>
          </a:p>
        </p:txBody>
      </p:sp>
      <p:sp>
        <p:nvSpPr>
          <p:cNvPr id="8" name="Title 1"/>
          <p:cNvSpPr>
            <a:spLocks noGrp="1"/>
          </p:cNvSpPr>
          <p:nvPr>
            <p:ph type="title" hasCustomPrompt="1"/>
          </p:nvPr>
        </p:nvSpPr>
        <p:spPr>
          <a:xfrm>
            <a:off x="457200" y="18746"/>
            <a:ext cx="8229600" cy="638944"/>
          </a:xfrm>
        </p:spPr>
        <p:txBody>
          <a:bodyPr>
            <a:normAutofit/>
          </a:bodyPr>
          <a:lstStyle>
            <a:lvl1pPr>
              <a:defRPr sz="2200" b="1">
                <a:solidFill>
                  <a:schemeClr val="accent2">
                    <a:lumMod val="75000"/>
                  </a:schemeClr>
                </a:solidFill>
                <a:latin typeface="Calibri" panose="020F0502020204030204" pitchFamily="34" charset="0"/>
              </a:defRPr>
            </a:lvl1pPr>
          </a:lstStyle>
          <a:p>
            <a:r>
              <a:rPr lang="fr-FR" dirty="0"/>
              <a:t>MODIFIEZ LE STYLE DU TITRE</a:t>
            </a:r>
            <a:endParaRPr lang="en-US" dirty="0"/>
          </a:p>
        </p:txBody>
      </p:sp>
      <p:pic>
        <p:nvPicPr>
          <p:cNvPr id="2" name="Image 1">
            <a:extLst>
              <a:ext uri="{FF2B5EF4-FFF2-40B4-BE49-F238E27FC236}">
                <a16:creationId xmlns:a16="http://schemas.microsoft.com/office/drawing/2014/main" id="{7B403716-4771-04EC-F4E4-1FED317DD4AE}"/>
              </a:ext>
            </a:extLst>
          </p:cNvPr>
          <p:cNvPicPr>
            <a:picLocks noChangeAspect="1"/>
          </p:cNvPicPr>
          <p:nvPr userDrawn="1"/>
        </p:nvPicPr>
        <p:blipFill>
          <a:blip r:embed="rId2"/>
          <a:stretch>
            <a:fillRect/>
          </a:stretch>
        </p:blipFill>
        <p:spPr>
          <a:xfrm>
            <a:off x="-1903" y="6666368"/>
            <a:ext cx="2096954" cy="195397"/>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E5DC5B5E-CA0D-4420-D0EC-AC213590D012}"/>
              </a:ext>
            </a:extLst>
          </p:cNvPr>
          <p:cNvPicPr>
            <a:picLocks noChangeAspect="1"/>
          </p:cNvPicPr>
          <p:nvPr userDrawn="1"/>
        </p:nvPicPr>
        <p:blipFill>
          <a:blip r:embed="rId2"/>
          <a:stretch>
            <a:fillRect/>
          </a:stretch>
        </p:blipFill>
        <p:spPr>
          <a:xfrm>
            <a:off x="-1903" y="6666368"/>
            <a:ext cx="2096954" cy="195397"/>
          </a:xfrm>
          <a:prstGeom prst="rect">
            <a:avLst/>
          </a:prstGeom>
        </p:spPr>
      </p:pic>
    </p:spTree>
    <p:extLst>
      <p:ext uri="{BB962C8B-B14F-4D97-AF65-F5344CB8AC3E}">
        <p14:creationId xmlns:p14="http://schemas.microsoft.com/office/powerpoint/2010/main" val="11500929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endParaRPr lang="fr-BE"/>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41F800-7E38-486B-BF70-B571B35098C8}" type="datetime1">
              <a:rPr lang="fr-FR" smtClean="0"/>
              <a:t>27/08/2024</a:t>
            </a:fld>
            <a:endParaRPr lang="fr-BE"/>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p>
        </p:txBody>
      </p:sp>
      <p:sp>
        <p:nvSpPr>
          <p:cNvPr id="6" name="Espace réservé du numéro de diapositive 5"/>
          <p:cNvSpPr>
            <a:spLocks noGrp="1"/>
          </p:cNvSpPr>
          <p:nvPr>
            <p:ph type="sldNum" sz="quarter" idx="4"/>
          </p:nvPr>
        </p:nvSpPr>
        <p:spPr>
          <a:xfrm>
            <a:off x="7092280" y="6572163"/>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4668DC-857F-487D-BFFA-8C0CA5037977}" type="slidenum">
              <a:rPr lang="fr-BE" smtClean="0"/>
              <a:t>‹N°›</a:t>
            </a:fld>
            <a:endParaRPr lang="fr-B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5" r:id="rId4"/>
    <p:sldLayoutId id="2147483656" r:id="rId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685800" y="1556792"/>
            <a:ext cx="7772400" cy="1470025"/>
          </a:xfrm>
        </p:spPr>
        <p:txBody>
          <a:bodyPr>
            <a:noAutofit/>
          </a:bodyPr>
          <a:lstStyle/>
          <a:p>
            <a:r>
              <a:rPr lang="fr-FR" sz="2400" dirty="0"/>
              <a:t>Prise en compte des Consignes de Sécurité / Opération de chargement &amp; déchargement – </a:t>
            </a:r>
            <a:br>
              <a:rPr lang="fr-FR" sz="2400" dirty="0"/>
            </a:br>
            <a:r>
              <a:rPr lang="en-US" sz="2400" dirty="0"/>
              <a:t>Safety instructions / Loading &amp; unloading operations</a:t>
            </a:r>
            <a:endParaRPr lang="fr-FR" sz="2400" dirty="0"/>
          </a:p>
        </p:txBody>
      </p:sp>
      <p:sp>
        <p:nvSpPr>
          <p:cNvPr id="3" name="Sous-titre 2"/>
          <p:cNvSpPr>
            <a:spLocks noGrp="1"/>
          </p:cNvSpPr>
          <p:nvPr>
            <p:ph type="subTitle" idx="1"/>
          </p:nvPr>
        </p:nvSpPr>
        <p:spPr>
          <a:xfrm>
            <a:off x="323528" y="2924944"/>
            <a:ext cx="8568952" cy="960512"/>
          </a:xfrm>
        </p:spPr>
        <p:txBody>
          <a:bodyPr>
            <a:normAutofit/>
          </a:bodyPr>
          <a:lstStyle/>
          <a:p>
            <a:r>
              <a:rPr lang="fr-FR" sz="1800" i="1" dirty="0">
                <a:latin typeface="Arial"/>
                <a:ea typeface="Calibri"/>
                <a:cs typeface="Arial"/>
              </a:rPr>
              <a:t>(En application de l'arrêté du 26 avril 1996 / </a:t>
            </a:r>
            <a:r>
              <a:rPr lang="fr-FR" sz="1800" i="1" dirty="0" err="1">
                <a:latin typeface="Arial"/>
                <a:ea typeface="Calibri"/>
                <a:cs typeface="Arial"/>
              </a:rPr>
              <a:t>Pursuant</a:t>
            </a:r>
            <a:r>
              <a:rPr lang="fr-FR" sz="1800" i="1" dirty="0">
                <a:latin typeface="Arial"/>
                <a:ea typeface="Calibri"/>
                <a:cs typeface="Arial"/>
              </a:rPr>
              <a:t> to the </a:t>
            </a:r>
            <a:r>
              <a:rPr lang="fr-FR" sz="1800" i="1" dirty="0" err="1">
                <a:latin typeface="Arial"/>
                <a:ea typeface="Calibri"/>
                <a:cs typeface="Arial"/>
              </a:rPr>
              <a:t>law</a:t>
            </a:r>
            <a:r>
              <a:rPr lang="fr-FR" sz="1800" i="1" dirty="0">
                <a:latin typeface="Arial"/>
                <a:ea typeface="Calibri"/>
                <a:cs typeface="Arial"/>
              </a:rPr>
              <a:t> of  26 </a:t>
            </a:r>
            <a:r>
              <a:rPr lang="fr-FR" sz="1800" i="1" dirty="0" err="1">
                <a:latin typeface="Arial"/>
                <a:ea typeface="Calibri"/>
                <a:cs typeface="Arial"/>
              </a:rPr>
              <a:t>april</a:t>
            </a:r>
            <a:r>
              <a:rPr lang="fr-FR" sz="1800" i="1" dirty="0">
                <a:latin typeface="Arial"/>
                <a:ea typeface="Calibri"/>
                <a:cs typeface="Arial"/>
              </a:rPr>
              <a:t>  1996 )</a:t>
            </a:r>
          </a:p>
          <a:p>
            <a:endParaRPr lang="fr-FR" sz="1800" i="1" dirty="0">
              <a:latin typeface="Arial"/>
              <a:cs typeface="Arial"/>
            </a:endParaRPr>
          </a:p>
          <a:p>
            <a:endParaRPr lang="fr-FR" sz="1800" dirty="0"/>
          </a:p>
        </p:txBody>
      </p:sp>
      <p:sp>
        <p:nvSpPr>
          <p:cNvPr id="4" name="ZoneTexte 3"/>
          <p:cNvSpPr txBox="1"/>
          <p:nvPr/>
        </p:nvSpPr>
        <p:spPr>
          <a:xfrm>
            <a:off x="251520" y="4077072"/>
            <a:ext cx="8532440" cy="1569660"/>
          </a:xfrm>
          <a:prstGeom prst="rect">
            <a:avLst/>
          </a:prstGeom>
          <a:solidFill>
            <a:schemeClr val="bg1">
              <a:lumMod val="85000"/>
            </a:schemeClr>
          </a:solidFill>
        </p:spPr>
        <p:txBody>
          <a:bodyPr wrap="square" rtlCol="0">
            <a:spAutoFit/>
          </a:bodyPr>
          <a:lstStyle/>
          <a:p>
            <a:pPr algn="ctr"/>
            <a:r>
              <a:rPr lang="fr-FR" sz="1600" dirty="0"/>
              <a:t>Document relatif au registre des opérations de chargement et de déchargement effectuées par une entreprise extérieure. Ce document doit être établi dans le cadre d'un accueil physique entre le chauffeur du véhicule et le personnel.</a:t>
            </a:r>
          </a:p>
          <a:p>
            <a:pPr algn="ctr"/>
            <a:endParaRPr lang="fr-FR" sz="1600" dirty="0"/>
          </a:p>
          <a:p>
            <a:pPr algn="ctr"/>
            <a:r>
              <a:rPr lang="en-US" sz="1600" i="1" dirty="0"/>
              <a:t>The purpose of this document is to register the operations of loading and unloading made by an external company. It must be established following the reception of the vehicle driver and the staff</a:t>
            </a:r>
          </a:p>
        </p:txBody>
      </p:sp>
      <p:sp>
        <p:nvSpPr>
          <p:cNvPr id="5" name="Rectangle 4"/>
          <p:cNvSpPr/>
          <p:nvPr/>
        </p:nvSpPr>
        <p:spPr>
          <a:xfrm>
            <a:off x="2339752" y="5919083"/>
            <a:ext cx="6840760" cy="246221"/>
          </a:xfrm>
          <a:prstGeom prst="rect">
            <a:avLst/>
          </a:prstGeom>
        </p:spPr>
        <p:txBody>
          <a:bodyPr wrap="square">
            <a:spAutoFit/>
          </a:bodyPr>
          <a:lstStyle/>
          <a:p>
            <a:pPr algn="r"/>
            <a:r>
              <a:rPr lang="fr-FR" sz="1000" b="1" dirty="0"/>
              <a:t>FOR FS 023 v2 – </a:t>
            </a:r>
            <a:r>
              <a:rPr lang="fr-FR" sz="1000" dirty="0"/>
              <a:t>Prise en compte des Consignes de Sécurité / Opération de chargement &amp; déchargement </a:t>
            </a:r>
            <a:r>
              <a:rPr lang="fr-FR" sz="1000" b="1" dirty="0"/>
              <a:t> – 23/08/2024 </a:t>
            </a:r>
            <a:endParaRPr lang="en-US" sz="1000" dirty="0"/>
          </a:p>
        </p:txBody>
      </p:sp>
      <p:sp>
        <p:nvSpPr>
          <p:cNvPr id="6" name="Espace réservé du numéro de diapositive 5">
            <a:extLst>
              <a:ext uri="{FF2B5EF4-FFF2-40B4-BE49-F238E27FC236}">
                <a16:creationId xmlns:a16="http://schemas.microsoft.com/office/drawing/2014/main" id="{1ED182BD-41EA-597C-ED39-AA01A6E6FACF}"/>
              </a:ext>
            </a:extLst>
          </p:cNvPr>
          <p:cNvSpPr>
            <a:spLocks noGrp="1"/>
          </p:cNvSpPr>
          <p:nvPr>
            <p:ph type="sldNum" sz="quarter" idx="12"/>
          </p:nvPr>
        </p:nvSpPr>
        <p:spPr/>
        <p:txBody>
          <a:bodyPr/>
          <a:lstStyle/>
          <a:p>
            <a:fld id="{CF4668DC-857F-487D-BFFA-8C0CA5037977}" type="slidenum">
              <a:rPr lang="fr-BE" smtClean="0"/>
              <a:t>1</a:t>
            </a:fld>
            <a:endParaRPr lang="fr-BE" dirty="0"/>
          </a:p>
        </p:txBody>
      </p:sp>
    </p:spTree>
    <p:extLst>
      <p:ext uri="{BB962C8B-B14F-4D97-AF65-F5344CB8AC3E}">
        <p14:creationId xmlns:p14="http://schemas.microsoft.com/office/powerpoint/2010/main" val="35957654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noAutofit/>
          </a:bodyPr>
          <a:lstStyle/>
          <a:p>
            <a:r>
              <a:rPr lang="fr-FR" sz="1600" dirty="0"/>
              <a:t>Prise en compte des Consignes de Sécurité / Opération de chargement &amp; déchargement – </a:t>
            </a:r>
            <a:br>
              <a:rPr lang="fr-FR" sz="1600" dirty="0"/>
            </a:br>
            <a:r>
              <a:rPr lang="en-US" sz="1600" dirty="0"/>
              <a:t>Safety instructions / Loading &amp; unloading operations</a:t>
            </a:r>
            <a:endParaRPr lang="fr-FR" sz="1800" dirty="0"/>
          </a:p>
        </p:txBody>
      </p:sp>
      <p:sp>
        <p:nvSpPr>
          <p:cNvPr id="5" name="ZoneTexte 4"/>
          <p:cNvSpPr txBox="1"/>
          <p:nvPr/>
        </p:nvSpPr>
        <p:spPr>
          <a:xfrm>
            <a:off x="288032" y="1196752"/>
            <a:ext cx="8532440" cy="646331"/>
          </a:xfrm>
          <a:prstGeom prst="rect">
            <a:avLst/>
          </a:prstGeom>
          <a:solidFill>
            <a:schemeClr val="bg1">
              <a:lumMod val="85000"/>
            </a:schemeClr>
          </a:solidFill>
        </p:spPr>
        <p:txBody>
          <a:bodyPr wrap="square" rtlCol="0">
            <a:spAutoFit/>
          </a:bodyPr>
          <a:lstStyle/>
          <a:p>
            <a:pPr algn="ctr"/>
            <a:r>
              <a:rPr lang="fr-FR" sz="1200" b="1" dirty="0"/>
              <a:t>Par la signature de ce registre le chauffeur reconnait avoir pris connaissance des consignes sécurité et environnement et s'engage à les respecter</a:t>
            </a:r>
          </a:p>
          <a:p>
            <a:pPr algn="ctr"/>
            <a:r>
              <a:rPr lang="en-US" sz="1200" b="1" i="1" dirty="0"/>
              <a:t>The signature of this register means the driver have knowledge of the safety and environment instructions</a:t>
            </a:r>
          </a:p>
        </p:txBody>
      </p:sp>
      <p:graphicFrame>
        <p:nvGraphicFramePr>
          <p:cNvPr id="7" name="Tableau 6"/>
          <p:cNvGraphicFramePr>
            <a:graphicFrameLocks noGrp="1"/>
          </p:cNvGraphicFramePr>
          <p:nvPr>
            <p:extLst>
              <p:ext uri="{D42A27DB-BD31-4B8C-83A1-F6EECF244321}">
                <p14:modId xmlns:p14="http://schemas.microsoft.com/office/powerpoint/2010/main" val="2855645988"/>
              </p:ext>
            </p:extLst>
          </p:nvPr>
        </p:nvGraphicFramePr>
        <p:xfrm>
          <a:off x="107504" y="1988840"/>
          <a:ext cx="8855980" cy="4632960"/>
        </p:xfrm>
        <a:graphic>
          <a:graphicData uri="http://schemas.openxmlformats.org/drawingml/2006/table">
            <a:tbl>
              <a:tblPr firstRow="1" bandRow="1">
                <a:tableStyleId>{72833802-FEF1-4C79-8D5D-14CF1EAF98D9}</a:tableStyleId>
              </a:tblPr>
              <a:tblGrid>
                <a:gridCol w="1106997">
                  <a:extLst>
                    <a:ext uri="{9D8B030D-6E8A-4147-A177-3AD203B41FA5}">
                      <a16:colId xmlns:a16="http://schemas.microsoft.com/office/drawing/2014/main" val="20000"/>
                    </a:ext>
                  </a:extLst>
                </a:gridCol>
                <a:gridCol w="670638">
                  <a:extLst>
                    <a:ext uri="{9D8B030D-6E8A-4147-A177-3AD203B41FA5}">
                      <a16:colId xmlns:a16="http://schemas.microsoft.com/office/drawing/2014/main" val="20001"/>
                    </a:ext>
                  </a:extLst>
                </a:gridCol>
                <a:gridCol w="670638">
                  <a:extLst>
                    <a:ext uri="{9D8B030D-6E8A-4147-A177-3AD203B41FA5}">
                      <a16:colId xmlns:a16="http://schemas.microsoft.com/office/drawing/2014/main" val="20002"/>
                    </a:ext>
                  </a:extLst>
                </a:gridCol>
                <a:gridCol w="792088">
                  <a:extLst>
                    <a:ext uri="{9D8B030D-6E8A-4147-A177-3AD203B41FA5}">
                      <a16:colId xmlns:a16="http://schemas.microsoft.com/office/drawing/2014/main" val="20003"/>
                    </a:ext>
                  </a:extLst>
                </a:gridCol>
                <a:gridCol w="792088">
                  <a:extLst>
                    <a:ext uri="{9D8B030D-6E8A-4147-A177-3AD203B41FA5}">
                      <a16:colId xmlns:a16="http://schemas.microsoft.com/office/drawing/2014/main" val="20004"/>
                    </a:ext>
                  </a:extLst>
                </a:gridCol>
                <a:gridCol w="1858267">
                  <a:extLst>
                    <a:ext uri="{9D8B030D-6E8A-4147-A177-3AD203B41FA5}">
                      <a16:colId xmlns:a16="http://schemas.microsoft.com/office/drawing/2014/main" val="20005"/>
                    </a:ext>
                  </a:extLst>
                </a:gridCol>
                <a:gridCol w="1858267">
                  <a:extLst>
                    <a:ext uri="{9D8B030D-6E8A-4147-A177-3AD203B41FA5}">
                      <a16:colId xmlns:a16="http://schemas.microsoft.com/office/drawing/2014/main" val="20006"/>
                    </a:ext>
                  </a:extLst>
                </a:gridCol>
                <a:gridCol w="1106997">
                  <a:extLst>
                    <a:ext uri="{9D8B030D-6E8A-4147-A177-3AD203B41FA5}">
                      <a16:colId xmlns:a16="http://schemas.microsoft.com/office/drawing/2014/main" val="20007"/>
                    </a:ext>
                  </a:extLst>
                </a:gridCol>
              </a:tblGrid>
              <a:tr h="516280">
                <a:tc>
                  <a:txBody>
                    <a:bodyPr/>
                    <a:lstStyle/>
                    <a:p>
                      <a:pPr algn="ctr"/>
                      <a:r>
                        <a:rPr lang="fr-FR" sz="1000" dirty="0"/>
                        <a:t>Date</a:t>
                      </a:r>
                      <a:endParaRPr lang="en-US" sz="10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tc>
                  <a:txBody>
                    <a:bodyPr/>
                    <a:lstStyle/>
                    <a:p>
                      <a:pPr algn="ctr"/>
                      <a:r>
                        <a:rPr lang="fr-FR" sz="1000" dirty="0" err="1"/>
                        <a:t>Charg</a:t>
                      </a:r>
                      <a:r>
                        <a:rPr lang="fr-FR" sz="1000" dirty="0"/>
                        <a:t>.</a:t>
                      </a:r>
                    </a:p>
                    <a:p>
                      <a:pPr algn="ctr"/>
                      <a:r>
                        <a:rPr lang="fr-FR" sz="800" i="1" dirty="0" err="1"/>
                        <a:t>Loading</a:t>
                      </a:r>
                      <a:endParaRPr lang="en-US" sz="800" i="1"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tc>
                  <a:txBody>
                    <a:bodyPr/>
                    <a:lstStyle/>
                    <a:p>
                      <a:pPr algn="ctr"/>
                      <a:r>
                        <a:rPr lang="fr-FR" sz="1000" dirty="0" err="1"/>
                        <a:t>Décharg</a:t>
                      </a:r>
                      <a:r>
                        <a:rPr lang="fr-FR" sz="1000" dirty="0"/>
                        <a:t>.</a:t>
                      </a:r>
                    </a:p>
                    <a:p>
                      <a:pPr algn="ctr"/>
                      <a:r>
                        <a:rPr lang="fr-FR" sz="800" i="1" dirty="0" err="1"/>
                        <a:t>Unloading</a:t>
                      </a:r>
                      <a:endParaRPr lang="en-US" sz="800" i="1"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tc gridSpan="2">
                  <a:txBody>
                    <a:bodyPr/>
                    <a:lstStyle/>
                    <a:p>
                      <a:pPr algn="ctr"/>
                      <a:r>
                        <a:rPr lang="fr-FR" sz="1000" dirty="0"/>
                        <a:t>Heure</a:t>
                      </a:r>
                      <a:r>
                        <a:rPr lang="fr-FR" sz="1000" baseline="0" dirty="0"/>
                        <a:t> d’arrivée et de départ</a:t>
                      </a:r>
                    </a:p>
                    <a:p>
                      <a:pPr algn="ctr"/>
                      <a:r>
                        <a:rPr lang="fr-FR" sz="800" i="1" baseline="0" dirty="0"/>
                        <a:t>Time of </a:t>
                      </a:r>
                      <a:r>
                        <a:rPr lang="fr-FR" sz="800" i="1" baseline="0" dirty="0" err="1"/>
                        <a:t>arrival</a:t>
                      </a:r>
                      <a:r>
                        <a:rPr lang="fr-FR" sz="800" i="1" baseline="0" dirty="0"/>
                        <a:t> and </a:t>
                      </a:r>
                      <a:r>
                        <a:rPr lang="fr-FR" sz="800" i="1" baseline="0" dirty="0" err="1"/>
                        <a:t>departure</a:t>
                      </a:r>
                      <a:endParaRPr lang="en-US" sz="800" i="1"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tc hMerge="1">
                  <a:txBody>
                    <a:bodyPr/>
                    <a:lstStyle/>
                    <a:p>
                      <a:endParaRPr lang="en-US" dirty="0"/>
                    </a:p>
                  </a:txBody>
                  <a:tcPr>
                    <a:solidFill>
                      <a:schemeClr val="accent2">
                        <a:lumMod val="75000"/>
                      </a:schemeClr>
                    </a:solidFill>
                  </a:tcPr>
                </a:tc>
                <a:tc>
                  <a:txBody>
                    <a:bodyPr/>
                    <a:lstStyle/>
                    <a:p>
                      <a:pPr algn="ctr"/>
                      <a:r>
                        <a:rPr lang="fr-FR" sz="1000" dirty="0"/>
                        <a:t>Société de transport</a:t>
                      </a:r>
                    </a:p>
                    <a:p>
                      <a:pPr algn="ctr"/>
                      <a:r>
                        <a:rPr lang="fr-FR" sz="800" i="1" dirty="0"/>
                        <a:t>Transport </a:t>
                      </a:r>
                      <a:r>
                        <a:rPr lang="fr-FR" sz="800" i="1" dirty="0" err="1"/>
                        <a:t>company</a:t>
                      </a:r>
                      <a:endParaRPr lang="en-US" sz="800" i="1"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tc>
                  <a:txBody>
                    <a:bodyPr/>
                    <a:lstStyle/>
                    <a:p>
                      <a:pPr algn="ctr"/>
                      <a:r>
                        <a:rPr lang="fr-FR" sz="1000" dirty="0"/>
                        <a:t>Nom</a:t>
                      </a:r>
                      <a:r>
                        <a:rPr lang="fr-FR" sz="1000" baseline="0" dirty="0"/>
                        <a:t> du chauffeur</a:t>
                      </a:r>
                    </a:p>
                    <a:p>
                      <a:pPr algn="ctr"/>
                      <a:r>
                        <a:rPr lang="fr-FR" sz="800" i="1" baseline="0" dirty="0"/>
                        <a:t>Driver </a:t>
                      </a:r>
                      <a:r>
                        <a:rPr lang="fr-FR" sz="800" i="1" baseline="0" dirty="0" err="1"/>
                        <a:t>name</a:t>
                      </a:r>
                      <a:endParaRPr lang="en-US" sz="800" i="1"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tc>
                  <a:txBody>
                    <a:bodyPr/>
                    <a:lstStyle/>
                    <a:p>
                      <a:pPr algn="ctr"/>
                      <a:r>
                        <a:rPr lang="fr-FR" sz="1000" dirty="0"/>
                        <a:t>Signature</a:t>
                      </a:r>
                      <a:endParaRPr lang="en-US" sz="10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75000"/>
                      </a:schemeClr>
                    </a:solidFill>
                  </a:tcPr>
                </a:tc>
                <a:extLst>
                  <a:ext uri="{0D108BD9-81ED-4DB2-BD59-A6C34878D82A}">
                    <a16:rowId xmlns:a16="http://schemas.microsoft.com/office/drawing/2014/main" val="10000"/>
                  </a:ext>
                </a:extLst>
              </a:tr>
              <a:tr h="147608">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30448">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44160">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144160">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144160">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144160">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144160">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144160">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144160">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144160">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144160">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0">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bl>
          </a:graphicData>
        </a:graphic>
      </p:graphicFrame>
      <p:sp>
        <p:nvSpPr>
          <p:cNvPr id="8" name="ZoneTexte 7"/>
          <p:cNvSpPr txBox="1"/>
          <p:nvPr/>
        </p:nvSpPr>
        <p:spPr>
          <a:xfrm>
            <a:off x="5940152" y="6625927"/>
            <a:ext cx="3096344" cy="215444"/>
          </a:xfrm>
          <a:prstGeom prst="rect">
            <a:avLst/>
          </a:prstGeom>
          <a:noFill/>
        </p:spPr>
        <p:txBody>
          <a:bodyPr wrap="square" rtlCol="0">
            <a:spAutoFit/>
          </a:bodyPr>
          <a:lstStyle/>
          <a:p>
            <a:pPr algn="r"/>
            <a:r>
              <a:rPr lang="fr-FR" sz="800" dirty="0"/>
              <a:t>Ce document est à conserver 2 ans après sa fin de validité</a:t>
            </a:r>
            <a:endParaRPr lang="en-US" sz="800" dirty="0"/>
          </a:p>
        </p:txBody>
      </p:sp>
      <p:sp>
        <p:nvSpPr>
          <p:cNvPr id="4" name="Rectangle 3">
            <a:extLst>
              <a:ext uri="{FF2B5EF4-FFF2-40B4-BE49-F238E27FC236}">
                <a16:creationId xmlns:a16="http://schemas.microsoft.com/office/drawing/2014/main" id="{AA5BDAB8-02A8-EB96-A398-6571DE9AAF9F}"/>
              </a:ext>
            </a:extLst>
          </p:cNvPr>
          <p:cNvSpPr/>
          <p:nvPr/>
        </p:nvSpPr>
        <p:spPr>
          <a:xfrm>
            <a:off x="2303240" y="558095"/>
            <a:ext cx="6840760" cy="246221"/>
          </a:xfrm>
          <a:prstGeom prst="rect">
            <a:avLst/>
          </a:prstGeom>
        </p:spPr>
        <p:txBody>
          <a:bodyPr wrap="square">
            <a:spAutoFit/>
          </a:bodyPr>
          <a:lstStyle/>
          <a:p>
            <a:pPr algn="r"/>
            <a:r>
              <a:rPr lang="fr-FR" sz="1000" b="1" dirty="0"/>
              <a:t>FOR FS 023 v2 – </a:t>
            </a:r>
            <a:r>
              <a:rPr lang="fr-FR" sz="1000" dirty="0"/>
              <a:t>Prise en compte des Consignes de Sécurité / Opération de chargement &amp; déchargement </a:t>
            </a:r>
            <a:r>
              <a:rPr lang="fr-FR" sz="1000" b="1" dirty="0"/>
              <a:t> – 23/08/2024 </a:t>
            </a:r>
            <a:endParaRPr lang="en-US" sz="1000" dirty="0"/>
          </a:p>
        </p:txBody>
      </p:sp>
      <p:sp>
        <p:nvSpPr>
          <p:cNvPr id="6" name="Espace réservé du numéro de diapositive 5">
            <a:extLst>
              <a:ext uri="{FF2B5EF4-FFF2-40B4-BE49-F238E27FC236}">
                <a16:creationId xmlns:a16="http://schemas.microsoft.com/office/drawing/2014/main" id="{75484324-9FDC-4CC4-CDD7-2B1017FB285A}"/>
              </a:ext>
            </a:extLst>
          </p:cNvPr>
          <p:cNvSpPr>
            <a:spLocks noGrp="1"/>
          </p:cNvSpPr>
          <p:nvPr>
            <p:ph type="sldNum" sz="quarter" idx="12"/>
          </p:nvPr>
        </p:nvSpPr>
        <p:spPr/>
        <p:txBody>
          <a:bodyPr/>
          <a:lstStyle/>
          <a:p>
            <a:fld id="{CF4668DC-857F-487D-BFFA-8C0CA5037977}" type="slidenum">
              <a:rPr lang="fr-BE" smtClean="0"/>
              <a:t>2</a:t>
            </a:fld>
            <a:endParaRPr lang="fr-BE"/>
          </a:p>
        </p:txBody>
      </p:sp>
    </p:spTree>
    <p:extLst>
      <p:ext uri="{BB962C8B-B14F-4D97-AF65-F5344CB8AC3E}">
        <p14:creationId xmlns:p14="http://schemas.microsoft.com/office/powerpoint/2010/main" val="1203781607"/>
      </p:ext>
    </p:extLst>
  </p:cSld>
  <p:clrMapOvr>
    <a:masterClrMapping/>
  </p:clrMapOvr>
</p:sld>
</file>

<file path=ppt/theme/theme1.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7F5F79FD40890418D173EADE56663CE" ma:contentTypeVersion="11" ma:contentTypeDescription="Crée un document." ma:contentTypeScope="" ma:versionID="5227cd321049cc9f60a65ca2cc106525">
  <xsd:schema xmlns:xsd="http://www.w3.org/2001/XMLSchema" xmlns:xs="http://www.w3.org/2001/XMLSchema" xmlns:p="http://schemas.microsoft.com/office/2006/metadata/properties" xmlns:ns2="81d48b0f-3fcf-46b2-af19-5818eea7af79" xmlns:ns3="cf01652b-2804-432b-a929-7142549b4ccb" xmlns:ns4="5ca74ee1-336a-4c0a-9b47-8403515742a9" targetNamespace="http://schemas.microsoft.com/office/2006/metadata/properties" ma:root="true" ma:fieldsID="29a695b6be039fb72aef425843436326" ns2:_="" ns3:_="" ns4:_="">
    <xsd:import namespace="81d48b0f-3fcf-46b2-af19-5818eea7af79"/>
    <xsd:import namespace="cf01652b-2804-432b-a929-7142549b4ccb"/>
    <xsd:import namespace="5ca74ee1-336a-4c0a-9b47-8403515742a9"/>
    <xsd:element name="properties">
      <xsd:complexType>
        <xsd:sequence>
          <xsd:element name="documentManagement">
            <xsd:complexType>
              <xsd:all>
                <xsd:element ref="ns2:MediaServiceMetadata" minOccurs="0"/>
                <xsd:element ref="ns2:MediaServiceFastMetadata" minOccurs="0"/>
                <xsd:element ref="ns3:lcf76f155ced4ddcb4097134ff3c332f" minOccurs="0"/>
                <xsd:element ref="ns4:TaxCatchAll" minOccurs="0"/>
                <xsd:element ref="ns3:MediaServiceObjectDetectorVersions" minOccurs="0"/>
                <xsd:element ref="ns3:MediaServiceOCR" minOccurs="0"/>
                <xsd:element ref="ns3:MediaServiceGenerationTime" minOccurs="0"/>
                <xsd:element ref="ns3:MediaServiceEventHashCode" minOccurs="0"/>
                <xsd:element ref="ns3:MediaServiceSearchProperties"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d48b0f-3fcf-46b2-af19-5818eea7af7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f01652b-2804-432b-a929-7142549b4ccb" elementFormDefault="qualified">
    <xsd:import namespace="http://schemas.microsoft.com/office/2006/documentManagement/types"/>
    <xsd:import namespace="http://schemas.microsoft.com/office/infopath/2007/PartnerControls"/>
    <xsd:element name="lcf76f155ced4ddcb4097134ff3c332f" ma:index="11" nillable="true" ma:taxonomy="true" ma:internalName="lcf76f155ced4ddcb4097134ff3c332f" ma:taxonomyFieldName="MediaServiceImageTags" ma:displayName="Balises d’images" ma:readOnly="false" ma:fieldId="{5cf76f15-5ced-4ddc-b409-7134ff3c332f}" ma:taxonomyMulti="true" ma:sspId="c492c26d-c709-4b13-843e-cf74e547853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ca74ee1-336a-4c0a-9b47-8403515742a9"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0ff34835-9d0d-4e3b-80b2-37de30d0244c}" ma:internalName="TaxCatchAll" ma:showField="CatchAllData" ma:web="5ca74ee1-336a-4c0a-9b47-8403515742a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f01652b-2804-432b-a929-7142549b4ccb">
      <Terms xmlns="http://schemas.microsoft.com/office/infopath/2007/PartnerControls"/>
    </lcf76f155ced4ddcb4097134ff3c332f>
    <TaxCatchAll xmlns="5ca74ee1-336a-4c0a-9b47-8403515742a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0379B9E-4086-4424-BFCC-FD24A51D05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1d48b0f-3fcf-46b2-af19-5818eea7af79"/>
    <ds:schemaRef ds:uri="cf01652b-2804-432b-a929-7142549b4ccb"/>
    <ds:schemaRef ds:uri="5ca74ee1-336a-4c0a-9b47-8403515742a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FB05208-1C5B-4205-9501-B0270E76AA78}">
  <ds:schemaRefs>
    <ds:schemaRef ds:uri="http://schemas.microsoft.com/office/2006/metadata/properties"/>
    <ds:schemaRef ds:uri="http://schemas.microsoft.com/office/infopath/2007/PartnerControls"/>
    <ds:schemaRef ds:uri="cf01652b-2804-432b-a929-7142549b4ccb"/>
    <ds:schemaRef ds:uri="5ca74ee1-336a-4c0a-9b47-8403515742a9"/>
  </ds:schemaRefs>
</ds:datastoreItem>
</file>

<file path=customXml/itemProps3.xml><?xml version="1.0" encoding="utf-8"?>
<ds:datastoreItem xmlns:ds="http://schemas.openxmlformats.org/officeDocument/2006/customXml" ds:itemID="{73246C80-3482-48DE-9C02-0F936C0D56E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167</TotalTime>
  <Words>254</Words>
  <Application>Microsoft Office PowerPoint</Application>
  <PresentationFormat>Affichage à l'écran (4:3)</PresentationFormat>
  <Paragraphs>25</Paragraphs>
  <Slides>2</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vt:i4>
      </vt:variant>
    </vt:vector>
  </HeadingPairs>
  <TitlesOfParts>
    <vt:vector size="7" baseType="lpstr">
      <vt:lpstr>Aptos</vt:lpstr>
      <vt:lpstr>Arial</vt:lpstr>
      <vt:lpstr>Calibri</vt:lpstr>
      <vt:lpstr>Wingdings</vt:lpstr>
      <vt:lpstr>Thème Office</vt:lpstr>
      <vt:lpstr>Prise en compte des Consignes de Sécurité / Opération de chargement &amp; déchargement –  Safety instructions / Loading &amp; unloading operations</vt:lpstr>
      <vt:lpstr>Prise en compte des Consignes de Sécurité / Opération de chargement &amp; déchargement –  Safety instructions / Loading &amp; unloading operations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Giblaine, Anais           UTC CCS</dc:creator>
  <cp:lastModifiedBy>LACHAUME, Veronique</cp:lastModifiedBy>
  <cp:revision>14</cp:revision>
  <dcterms:created xsi:type="dcterms:W3CDTF">2017-01-04T15:17:33Z</dcterms:created>
  <dcterms:modified xsi:type="dcterms:W3CDTF">2024-08-27T12:51:17Z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2024-08-23T09:00:12Z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47995fc2-1f56-47ce-9137-a87caef4be74</vt:lpwstr>
  </property>
  <property fmtid="{D5CDD505-2E9C-101B-9397-08002B2CF9AE}" pid="7" name="MSIP_Label_defa4170-0d19-0005-0004-bc88714345d2_ActionId">
    <vt:lpwstr>081e7f50-69e1-4d7c-937a-88155c5a7fee</vt:lpwstr>
  </property>
  <property fmtid="{D5CDD505-2E9C-101B-9397-08002B2CF9AE}" pid="8" name="MSIP_Label_defa4170-0d19-0005-0004-bc88714345d2_ContentBits">
    <vt:lpwstr>0</vt:lpwstr>
  </property>
  <property fmtid="{D5CDD505-2E9C-101B-9397-08002B2CF9AE}" pid="9" name="ContentTypeId">
    <vt:lpwstr>0x01010027F5F79FD40890418D173EADE56663CE</vt:lpwstr>
  </property>
  <property fmtid="{D5CDD505-2E9C-101B-9397-08002B2CF9AE}" pid="10" name="MediaServiceImageTags">
    <vt:lpwstr/>
  </property>
</Properties>
</file>