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2131" y="-4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32" name="Forme libre 31"/>
          <p:cNvSpPr/>
          <p:nvPr userDrawn="1"/>
        </p:nvSpPr>
        <p:spPr>
          <a:xfrm>
            <a:off x="-15192" y="935389"/>
            <a:ext cx="376518" cy="147918"/>
          </a:xfrm>
          <a:custGeom>
            <a:avLst/>
            <a:gdLst>
              <a:gd name="connsiteX0" fmla="*/ 0 w 376518"/>
              <a:gd name="connsiteY0" fmla="*/ 0 h 147918"/>
              <a:gd name="connsiteX1" fmla="*/ 376518 w 376518"/>
              <a:gd name="connsiteY1" fmla="*/ 0 h 147918"/>
              <a:gd name="connsiteX2" fmla="*/ 376518 w 376518"/>
              <a:gd name="connsiteY2" fmla="*/ 147918 h 147918"/>
              <a:gd name="connsiteX3" fmla="*/ 0 w 376518"/>
              <a:gd name="connsiteY3" fmla="*/ 0 h 14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518" h="147918">
                <a:moveTo>
                  <a:pt x="0" y="0"/>
                </a:moveTo>
                <a:lnTo>
                  <a:pt x="376518" y="0"/>
                </a:lnTo>
                <a:lnTo>
                  <a:pt x="376518" y="1479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Organigramme : Processus 32"/>
          <p:cNvSpPr/>
          <p:nvPr userDrawn="1"/>
        </p:nvSpPr>
        <p:spPr>
          <a:xfrm>
            <a:off x="-1745" y="731560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4" name="Organigramme : Processus 33"/>
          <p:cNvSpPr/>
          <p:nvPr userDrawn="1"/>
        </p:nvSpPr>
        <p:spPr>
          <a:xfrm>
            <a:off x="330911" y="443528"/>
            <a:ext cx="2034730" cy="792088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5" name="Connecteur droit 34"/>
          <p:cNvCxnSpPr/>
          <p:nvPr userDrawn="1"/>
        </p:nvCxnSpPr>
        <p:spPr>
          <a:xfrm>
            <a:off x="97898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 userDrawn="1"/>
        </p:nvSpPr>
        <p:spPr>
          <a:xfrm>
            <a:off x="1101614" y="467544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H</a:t>
            </a:r>
          </a:p>
        </p:txBody>
      </p:sp>
      <p:sp>
        <p:nvSpPr>
          <p:cNvPr id="37" name="ZoneTexte 36"/>
          <p:cNvSpPr txBox="1"/>
          <p:nvPr userDrawn="1"/>
        </p:nvSpPr>
        <p:spPr>
          <a:xfrm>
            <a:off x="1821694" y="47973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b="1" dirty="0">
                <a:solidFill>
                  <a:schemeClr val="accent2">
                    <a:lumMod val="75000"/>
                  </a:schemeClr>
                </a:solidFill>
              </a:rPr>
              <a:t>S</a:t>
            </a:r>
          </a:p>
        </p:txBody>
      </p:sp>
      <p:sp>
        <p:nvSpPr>
          <p:cNvPr id="38" name="ZoneTexte 37"/>
          <p:cNvSpPr txBox="1"/>
          <p:nvPr userDrawn="1"/>
        </p:nvSpPr>
        <p:spPr>
          <a:xfrm>
            <a:off x="453542" y="487348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E</a:t>
            </a:r>
          </a:p>
        </p:txBody>
      </p:sp>
      <p:cxnSp>
        <p:nvCxnSpPr>
          <p:cNvPr id="39" name="Connecteur droit 38"/>
          <p:cNvCxnSpPr/>
          <p:nvPr userDrawn="1"/>
        </p:nvCxnSpPr>
        <p:spPr>
          <a:xfrm>
            <a:off x="1699063" y="587544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 userDrawn="1"/>
        </p:nvSpPr>
        <p:spPr>
          <a:xfrm>
            <a:off x="2477459" y="731560"/>
            <a:ext cx="3974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i="1" dirty="0">
                <a:solidFill>
                  <a:schemeClr val="bg1"/>
                </a:solidFill>
              </a:rPr>
              <a:t>Hygiène    Environnement    Management </a:t>
            </a:r>
          </a:p>
        </p:txBody>
      </p:sp>
      <p:sp>
        <p:nvSpPr>
          <p:cNvPr id="41" name="Pentagone 40"/>
          <p:cNvSpPr/>
          <p:nvPr userDrawn="1"/>
        </p:nvSpPr>
        <p:spPr>
          <a:xfrm>
            <a:off x="318238" y="732766"/>
            <a:ext cx="115686" cy="214818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2" name="Image 41"/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660" y="83488"/>
            <a:ext cx="837236" cy="563523"/>
          </a:xfrm>
          <a:prstGeom prst="rect">
            <a:avLst/>
          </a:prstGeom>
        </p:spPr>
      </p:pic>
      <p:grpSp>
        <p:nvGrpSpPr>
          <p:cNvPr id="2" name="Groupe 1"/>
          <p:cNvGrpSpPr/>
          <p:nvPr userDrawn="1"/>
        </p:nvGrpSpPr>
        <p:grpSpPr>
          <a:xfrm>
            <a:off x="9468" y="8532440"/>
            <a:ext cx="6854400" cy="529570"/>
            <a:chOff x="9468" y="8532440"/>
            <a:chExt cx="6854400" cy="529570"/>
          </a:xfrm>
        </p:grpSpPr>
        <p:sp>
          <p:nvSpPr>
            <p:cNvPr id="44" name="Rectangle 43"/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pPr algn="ctr"/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sp>
        <p:nvSpPr>
          <p:cNvPr id="30" name="Rectangle 29"/>
          <p:cNvSpPr/>
          <p:nvPr userDrawn="1"/>
        </p:nvSpPr>
        <p:spPr>
          <a:xfrm rot="21419042">
            <a:off x="4984400" y="771237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 userDrawn="1"/>
        </p:nvSpPr>
        <p:spPr>
          <a:xfrm rot="21336737">
            <a:off x="6034285" y="721175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pic>
        <p:nvPicPr>
          <p:cNvPr id="4" name="Image 3" descr="Une image contenant texte, Police, capture d’écran, Graphique&#10;&#10;Description générée automatiquement">
            <a:extLst>
              <a:ext uri="{FF2B5EF4-FFF2-40B4-BE49-F238E27FC236}">
                <a16:creationId xmlns:a16="http://schemas.microsoft.com/office/drawing/2014/main" id="{5AA4A284-A246-CF9C-7E2F-C7E3043ABF0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67" y="8588960"/>
            <a:ext cx="3673158" cy="4648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2133601"/>
            <a:ext cx="6172200" cy="6034617"/>
          </a:xfrm>
        </p:spPr>
        <p:txBody>
          <a:bodyPr/>
          <a:lstStyle>
            <a:lvl1pPr>
              <a:defRPr sz="220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  <a:lvl2pPr marL="742950" indent="-2857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§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buClr>
                <a:schemeClr val="accent2">
                  <a:lumMod val="75000"/>
                </a:schemeClr>
              </a:buClr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31178" y="8622284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71670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12" name="Organigramme : Processus 11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14350" y="3572074"/>
            <a:ext cx="5829300" cy="1960033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245976" y="8640298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24995"/>
            <a:ext cx="6172200" cy="851925"/>
          </a:xfrm>
        </p:spPr>
        <p:txBody>
          <a:bodyPr>
            <a:normAutofit/>
          </a:bodyPr>
          <a:lstStyle>
            <a:lvl1pPr>
              <a:defRPr sz="2200" b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9" name="Organigramme : Processus 8"/>
          <p:cNvSpPr/>
          <p:nvPr userDrawn="1"/>
        </p:nvSpPr>
        <p:spPr>
          <a:xfrm>
            <a:off x="-1745" y="1187624"/>
            <a:ext cx="6858000" cy="216024"/>
          </a:xfrm>
          <a:prstGeom prst="flowChartProcess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 rot="21419042">
            <a:off x="4984400" y="1224801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 userDrawn="1"/>
        </p:nvSpPr>
        <p:spPr>
          <a:xfrm rot="21336737">
            <a:off x="6034285" y="1174739"/>
            <a:ext cx="9114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Sécurité</a:t>
            </a:r>
            <a:r>
              <a:rPr lang="fr-FR" sz="1600" i="1" dirty="0">
                <a:solidFill>
                  <a:schemeClr val="bg1"/>
                </a:solidFill>
              </a:rPr>
              <a:t> </a:t>
            </a:r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245976" y="8628370"/>
            <a:ext cx="1600200" cy="486833"/>
          </a:xfrm>
        </p:spPr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09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01/03/2024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6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378842" y="1259632"/>
            <a:ext cx="6074494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4306" tIns="52153" rIns="104306" bIns="52153"/>
          <a:lstStyle>
            <a:lvl1pPr marL="390525" indent="-390525" defTabSz="1042988" eaLnBrk="0" hangingPunct="0">
              <a:defRPr sz="2900">
                <a:solidFill>
                  <a:schemeClr val="tx1"/>
                </a:solidFill>
                <a:latin typeface="Arial" charset="0"/>
              </a:defRPr>
            </a:lvl1pPr>
            <a:lvl2pPr marL="847725" indent="-325438" defTabSz="1042988" eaLnBrk="0" hangingPunct="0">
              <a:defRPr sz="2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1042988" eaLnBrk="0" hangingPunct="0">
              <a:defRPr sz="2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1042988" eaLnBrk="0" hangingPunct="0">
              <a:defRPr sz="2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1042988" eaLnBrk="0" hangingPunct="0">
              <a:defRPr sz="29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CC0000"/>
              </a:buClr>
              <a:buFont typeface="Wingdings 3" pitchFamily="18" charset="2"/>
              <a:buNone/>
            </a:pPr>
            <a:r>
              <a:rPr lang="fr-FR" altLang="en-US" sz="18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Rapport d’exercice d’évacuation 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48" y="1763688"/>
            <a:ext cx="1343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200" dirty="0"/>
              <a:t>Nom de l’Agence : </a:t>
            </a:r>
            <a:endParaRPr lang="en-US" sz="1200" dirty="0"/>
          </a:p>
        </p:txBody>
      </p:sp>
      <p:sp>
        <p:nvSpPr>
          <p:cNvPr id="8" name="Rectangle 7"/>
          <p:cNvSpPr/>
          <p:nvPr/>
        </p:nvSpPr>
        <p:spPr>
          <a:xfrm>
            <a:off x="273177" y="2142672"/>
            <a:ext cx="24216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200" dirty="0"/>
              <a:t>Nom et signature de l’observateur : </a:t>
            </a:r>
            <a:endParaRPr lang="en-US" sz="1200" dirty="0"/>
          </a:p>
        </p:txBody>
      </p:sp>
      <p:sp>
        <p:nvSpPr>
          <p:cNvPr id="9" name="Rectangle 8"/>
          <p:cNvSpPr/>
          <p:nvPr/>
        </p:nvSpPr>
        <p:spPr>
          <a:xfrm>
            <a:off x="3420245" y="1763688"/>
            <a:ext cx="13899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en-US" sz="1200" dirty="0"/>
              <a:t>Date de l’exercice : </a:t>
            </a:r>
            <a:endParaRPr lang="en-US" sz="1200" dirty="0"/>
          </a:p>
        </p:txBody>
      </p:sp>
      <p:sp>
        <p:nvSpPr>
          <p:cNvPr id="10" name="Rectangle 9"/>
          <p:cNvSpPr/>
          <p:nvPr/>
        </p:nvSpPr>
        <p:spPr>
          <a:xfrm>
            <a:off x="223866" y="2521656"/>
            <a:ext cx="3168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altLang="en-US" sz="1200" dirty="0"/>
              <a:t>Temps passé entre déclenchement de l'alarme et la sortie des premiers occupants </a:t>
            </a:r>
            <a:endParaRPr 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3435824" y="2521656"/>
            <a:ext cx="31683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altLang="en-US" sz="1200" dirty="0"/>
              <a:t>Temps passé entre déclenchement de l'alarme et la sortie des derniers occupants </a:t>
            </a:r>
            <a:endParaRPr lang="en-US" sz="1200" dirty="0"/>
          </a:p>
        </p:txBody>
      </p:sp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218727"/>
              </p:ext>
            </p:extLst>
          </p:nvPr>
        </p:nvGraphicFramePr>
        <p:xfrm>
          <a:off x="342900" y="3275856"/>
          <a:ext cx="6470475" cy="4400326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009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28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1535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Oui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Non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NA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Remarques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612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Application des </a:t>
                      </a:r>
                      <a:r>
                        <a:rPr lang="en-US" sz="11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consignes</a:t>
                      </a:r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sz="11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générales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>
                          <a:effectLst/>
                        </a:rPr>
                        <a:t>Tout le monde a entendu le signal d'alarme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>
                          <a:effectLst/>
                        </a:rPr>
                        <a:t>Tout le monde a évacué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>
                          <a:effectLst/>
                        </a:rPr>
                        <a:t>Les ascenseurs sont restés inutilisés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07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>
                          <a:effectLst/>
                        </a:rPr>
                        <a:t>Tout le monde a respecté la consigne : "ne pas retourner en arrière"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203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>
                          <a:effectLst/>
                        </a:rPr>
                        <a:t>Tout le monde a rejoint le point de rassemblement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07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>
                          <a:effectLst/>
                        </a:rPr>
                        <a:t>Le comptage/recensement des personnes a été effectué sans problème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612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Evacuation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Evacuation </a:t>
                      </a:r>
                      <a:r>
                        <a:rPr lang="en-US" sz="1000" u="none" strike="noStrike" dirty="0" err="1">
                          <a:effectLst/>
                        </a:rPr>
                        <a:t>immédiate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en-US" sz="1000" u="none" strike="noStrike" dirty="0" err="1">
                          <a:effectLst/>
                        </a:rPr>
                        <a:t>dès</a:t>
                      </a:r>
                      <a:r>
                        <a:rPr lang="en-US" sz="1000" u="none" strike="noStrike" dirty="0">
                          <a:effectLst/>
                        </a:rPr>
                        <a:t> que </a:t>
                      </a:r>
                      <a:r>
                        <a:rPr lang="en-US" sz="1000" u="none" strike="noStrike" dirty="0" err="1">
                          <a:effectLst/>
                        </a:rPr>
                        <a:t>l’alarme</a:t>
                      </a:r>
                      <a:r>
                        <a:rPr lang="en-US" sz="1000" u="none" strike="noStrike" dirty="0">
                          <a:effectLst/>
                        </a:rPr>
                        <a:t> a </a:t>
                      </a:r>
                      <a:r>
                        <a:rPr lang="en-US" sz="1000" u="none" strike="noStrike" dirty="0" err="1">
                          <a:effectLst/>
                        </a:rPr>
                        <a:t>retenti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Evacuation dans l'ordre et le calme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>
                          <a:effectLst/>
                        </a:rPr>
                        <a:t>Les guides et les serre-files ont tenu leur rôle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3071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Prise en compte des personnes handicapées ou éprouvant des difficultés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 dirty="0">
                          <a:effectLst/>
                        </a:rPr>
                        <a:t>Prise en compte des visiteurs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612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Locaux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870"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fr-F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 dégagements et issues sont dégagés</a:t>
                      </a: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5870">
                <a:tc>
                  <a:txBody>
                    <a:bodyPr/>
                    <a:lstStyle/>
                    <a:p>
                      <a:pPr marL="0" indent="0" algn="l" defTabSz="914400" rtl="0" eaLnBrk="1" fontAlgn="ctr" latinLnBrk="0" hangingPunct="1"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fr-FR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 portes et les fenêtres ont</a:t>
                      </a:r>
                      <a:r>
                        <a:rPr lang="fr-FR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été fermées</a:t>
                      </a:r>
                      <a:endParaRPr lang="fr-FR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077" marR="9077" marT="9077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077" marR="9077" marT="9077" marB="0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3" name="Rectangle à coins arrondis 12"/>
          <p:cNvSpPr/>
          <p:nvPr/>
        </p:nvSpPr>
        <p:spPr>
          <a:xfrm>
            <a:off x="1556792" y="1763688"/>
            <a:ext cx="1812060" cy="268094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à coins arrondis 14"/>
          <p:cNvSpPr/>
          <p:nvPr/>
        </p:nvSpPr>
        <p:spPr>
          <a:xfrm>
            <a:off x="3429000" y="2123728"/>
            <a:ext cx="3384376" cy="397928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à coins arrondis 15"/>
          <p:cNvSpPr/>
          <p:nvPr/>
        </p:nvSpPr>
        <p:spPr>
          <a:xfrm>
            <a:off x="902012" y="2963492"/>
            <a:ext cx="1812060" cy="268094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à coins arrondis 16"/>
          <p:cNvSpPr/>
          <p:nvPr/>
        </p:nvSpPr>
        <p:spPr>
          <a:xfrm>
            <a:off x="4113970" y="2963492"/>
            <a:ext cx="1812060" cy="268094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à coins arrondis 17"/>
          <p:cNvSpPr/>
          <p:nvPr/>
        </p:nvSpPr>
        <p:spPr>
          <a:xfrm>
            <a:off x="331102" y="7740352"/>
            <a:ext cx="6122233" cy="720080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ZoneTexte 18"/>
          <p:cNvSpPr txBox="1"/>
          <p:nvPr/>
        </p:nvSpPr>
        <p:spPr>
          <a:xfrm>
            <a:off x="316305" y="7739903"/>
            <a:ext cx="1000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Remarques : </a:t>
            </a:r>
            <a:endParaRPr lang="en-US" sz="1200" dirty="0"/>
          </a:p>
        </p:txBody>
      </p:sp>
      <p:sp>
        <p:nvSpPr>
          <p:cNvPr id="20" name="Rectangle à coins arrondis 19"/>
          <p:cNvSpPr/>
          <p:nvPr/>
        </p:nvSpPr>
        <p:spPr>
          <a:xfrm>
            <a:off x="4994492" y="1763688"/>
            <a:ext cx="1812060" cy="268094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ZoneTexte 20"/>
          <p:cNvSpPr txBox="1"/>
          <p:nvPr/>
        </p:nvSpPr>
        <p:spPr>
          <a:xfrm>
            <a:off x="5517232" y="35496"/>
            <a:ext cx="1289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600" dirty="0">
                <a:solidFill>
                  <a:schemeClr val="bg1">
                    <a:lumMod val="65000"/>
                  </a:schemeClr>
                </a:solidFill>
              </a:rPr>
              <a:t>FOR FS 018 – version 2</a:t>
            </a:r>
          </a:p>
          <a:p>
            <a:pPr algn="r"/>
            <a:r>
              <a:rPr lang="fr-FR" sz="600" dirty="0">
                <a:solidFill>
                  <a:schemeClr val="bg1">
                    <a:lumMod val="65000"/>
                  </a:schemeClr>
                </a:solidFill>
              </a:rPr>
              <a:t>01/03/2024</a:t>
            </a:r>
            <a:endParaRPr lang="en-US" sz="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2646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212</Words>
  <Application>Microsoft Office PowerPoint</Application>
  <PresentationFormat>Affichage à l'écran (4:3)</PresentationFormat>
  <Paragraphs>77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Wingdings</vt:lpstr>
      <vt:lpstr>Wingdings 3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Giblaine, Anais           UTC CCS</dc:creator>
  <cp:lastModifiedBy>DHAINAUT, Aymeric</cp:lastModifiedBy>
  <cp:revision>21</cp:revision>
  <cp:lastPrinted>2017-10-05T11:25:27Z</cp:lastPrinted>
  <dcterms:created xsi:type="dcterms:W3CDTF">2017-01-04T15:17:33Z</dcterms:created>
  <dcterms:modified xsi:type="dcterms:W3CDTF">2024-03-01T10:32:05Z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2024-03-01T10:29:44Z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47995fc2-1f56-47ce-9137-a87caef4be74</vt:lpwstr>
  </property>
  <property fmtid="{D5CDD505-2E9C-101B-9397-08002B2CF9AE}" pid="7" name="MSIP_Label_defa4170-0d19-0005-0004-bc88714345d2_ActionId">
    <vt:lpwstr>b3cbd87d-e6e5-4998-830f-ed51aa5fbd56</vt:lpwstr>
  </property>
  <property fmtid="{D5CDD505-2E9C-101B-9397-08002B2CF9AE}" pid="8" name="MSIP_Label_defa4170-0d19-0005-0004-bc88714345d2_ContentBits">
    <vt:lpwstr>0</vt:lpwstr>
  </property>
</Properties>
</file>