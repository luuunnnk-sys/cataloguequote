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</p:sldIdLst>
  <p:sldSz cx="6858000" cy="9144000" type="screen4x3"/>
  <p:notesSz cx="6645275" cy="977582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THURON, EMMA" initials="DE" lastIdx="2" clrIdx="0">
    <p:extLst>
      <p:ext uri="{19B8F6BF-5375-455C-9EA6-DF929625EA0E}">
        <p15:presenceInfo xmlns:p15="http://schemas.microsoft.com/office/powerpoint/2012/main" userId="S::EMMA.DUTHURON@chubb.fr::5fbd03f8-f856-4952-a281-fb32adabd38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88B"/>
    <a:srgbClr val="DBCD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6933" autoAdjust="0"/>
    <p:restoredTop sz="94660"/>
  </p:normalViewPr>
  <p:slideViewPr>
    <p:cSldViewPr>
      <p:cViewPr>
        <p:scale>
          <a:sx n="100" d="100"/>
          <a:sy n="100" d="100"/>
        </p:scale>
        <p:origin x="1925" y="-1910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LAND, Stephanie" userId="b4337063-7f21-4302-ad27-21a38e26266f" providerId="ADAL" clId="{05D4B24B-2182-4D2F-BDD7-EB6EB7ED7936}"/>
    <pc:docChg chg="modSld">
      <pc:chgData name="GALAND, Stephanie" userId="b4337063-7f21-4302-ad27-21a38e26266f" providerId="ADAL" clId="{05D4B24B-2182-4D2F-BDD7-EB6EB7ED7936}" dt="2025-02-11T09:01:34.881" v="1" actId="20577"/>
      <pc:docMkLst>
        <pc:docMk/>
      </pc:docMkLst>
      <pc:sldChg chg="modSp mod">
        <pc:chgData name="GALAND, Stephanie" userId="b4337063-7f21-4302-ad27-21a38e26266f" providerId="ADAL" clId="{05D4B24B-2182-4D2F-BDD7-EB6EB7ED7936}" dt="2025-02-11T09:01:34.881" v="1" actId="20577"/>
        <pc:sldMkLst>
          <pc:docMk/>
          <pc:sldMk cId="3536562945" sldId="256"/>
        </pc:sldMkLst>
        <pc:spChg chg="mod">
          <ac:chgData name="GALAND, Stephanie" userId="b4337063-7f21-4302-ad27-21a38e26266f" providerId="ADAL" clId="{05D4B24B-2182-4D2F-BDD7-EB6EB7ED7936}" dt="2025-02-11T09:01:34.881" v="1" actId="20577"/>
          <ac:spMkLst>
            <pc:docMk/>
            <pc:sldMk cId="3536562945" sldId="256"/>
            <ac:spMk id="8" creationId="{1F6EA443-8B72-4CE3-805D-E9A7E00FF00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763963" y="0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857CE-295C-47D0-AE99-431F94D98A3D}" type="datetimeFigureOut">
              <a:rPr lang="fr-FR" smtClean="0"/>
              <a:t>04/03/2025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085975" y="1222375"/>
            <a:ext cx="2473325" cy="3298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65163" y="4705350"/>
            <a:ext cx="5314950" cy="3848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285288"/>
            <a:ext cx="2879725" cy="4905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763963" y="9285288"/>
            <a:ext cx="2879725" cy="4905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3D8AB-1936-4BE8-A0BE-63C985DB40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0221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3D8AB-1936-4BE8-A0BE-63C985DB40BD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5911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514350" y="3572074"/>
            <a:ext cx="5829300" cy="196003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  <a:endParaRPr lang="en-US" dirty="0"/>
          </a:p>
        </p:txBody>
      </p:sp>
      <p:grpSp>
        <p:nvGrpSpPr>
          <p:cNvPr id="2" name="Groupe 1"/>
          <p:cNvGrpSpPr/>
          <p:nvPr userDrawn="1"/>
        </p:nvGrpSpPr>
        <p:grpSpPr>
          <a:xfrm>
            <a:off x="30984" y="8712972"/>
            <a:ext cx="6854400" cy="467540"/>
            <a:chOff x="9468" y="8532440"/>
            <a:chExt cx="6854400" cy="529570"/>
          </a:xfrm>
        </p:grpSpPr>
        <p:sp>
          <p:nvSpPr>
            <p:cNvPr id="44" name="Rectangle 43"/>
            <p:cNvSpPr/>
            <p:nvPr/>
          </p:nvSpPr>
          <p:spPr>
            <a:xfrm>
              <a:off x="9468" y="8532440"/>
              <a:ext cx="6854400" cy="529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1" name="ZoneTexte 50"/>
            <p:cNvSpPr txBox="1"/>
            <p:nvPr/>
          </p:nvSpPr>
          <p:spPr>
            <a:xfrm>
              <a:off x="4423250" y="8609549"/>
              <a:ext cx="2215318" cy="353350"/>
            </a:xfrm>
            <a:prstGeom prst="rect">
              <a:avLst/>
            </a:prstGeom>
            <a:noFill/>
          </p:spPr>
          <p:txBody>
            <a:bodyPr wrap="square" lIns="77111" tIns="38556" rIns="77111" bIns="38556" rtlCol="0">
              <a:spAutoFit/>
            </a:bodyPr>
            <a:lstStyle/>
            <a:p>
              <a:r>
                <a:rPr lang="fr-FR" sz="800" i="1" dirty="0">
                  <a:latin typeface="Calibri" panose="020F0502020204030204" pitchFamily="34" charset="0"/>
                </a:rPr>
                <a:t>Ce document est confidentiel. Toute reproduction, même partielle est interdite.</a:t>
              </a:r>
            </a:p>
          </p:txBody>
        </p:sp>
      </p:grpSp>
      <p:sp>
        <p:nvSpPr>
          <p:cNvPr id="53" name="ZoneTexte 52"/>
          <p:cNvSpPr txBox="1"/>
          <p:nvPr userDrawn="1"/>
        </p:nvSpPr>
        <p:spPr>
          <a:xfrm>
            <a:off x="2465267" y="577898"/>
            <a:ext cx="39741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i="1" dirty="0">
                <a:solidFill>
                  <a:schemeClr val="bg1"/>
                </a:solidFill>
              </a:rPr>
              <a:t>Hygiène    Sécurité</a:t>
            </a:r>
            <a:r>
              <a:rPr lang="fr-FR" sz="1000" b="1" i="1" dirty="0">
                <a:solidFill>
                  <a:schemeClr val="bg1"/>
                </a:solidFill>
              </a:rPr>
              <a:t>    </a:t>
            </a:r>
            <a:r>
              <a:rPr lang="fr-FR" sz="1000" i="1" dirty="0">
                <a:solidFill>
                  <a:schemeClr val="bg1"/>
                </a:solidFill>
              </a:rPr>
              <a:t>Environnement</a:t>
            </a:r>
            <a:endParaRPr lang="fr-FR" sz="1000" b="1" i="1" dirty="0">
              <a:solidFill>
                <a:schemeClr val="bg1"/>
              </a:solidFill>
            </a:endParaRPr>
          </a:p>
        </p:txBody>
      </p:sp>
      <p:pic>
        <p:nvPicPr>
          <p:cNvPr id="57" name="Image 56"/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42" t="71915" r="73114" b="8707"/>
          <a:stretch/>
        </p:blipFill>
        <p:spPr>
          <a:xfrm>
            <a:off x="1658793" y="44501"/>
            <a:ext cx="455119" cy="468000"/>
          </a:xfrm>
          <a:prstGeom prst="rect">
            <a:avLst/>
          </a:prstGeom>
        </p:spPr>
      </p:pic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93168C4C-A8DA-4877-8BF5-8099EBC34E1F}"/>
              </a:ext>
            </a:extLst>
          </p:cNvPr>
          <p:cNvCxnSpPr>
            <a:cxnSpLocks/>
          </p:cNvCxnSpPr>
          <p:nvPr userDrawn="1"/>
        </p:nvCxnSpPr>
        <p:spPr>
          <a:xfrm>
            <a:off x="0" y="567272"/>
            <a:ext cx="6858000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E96368FA-314D-416D-B165-B4B9C3374AED}"/>
              </a:ext>
            </a:extLst>
          </p:cNvPr>
          <p:cNvSpPr/>
          <p:nvPr userDrawn="1"/>
        </p:nvSpPr>
        <p:spPr>
          <a:xfrm rot="21419042">
            <a:off x="5583858" y="191542"/>
            <a:ext cx="1270054" cy="1711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E1F3194-417D-481B-A8AB-25602C5E7FF7}"/>
              </a:ext>
            </a:extLst>
          </p:cNvPr>
          <p:cNvSpPr/>
          <p:nvPr userDrawn="1"/>
        </p:nvSpPr>
        <p:spPr>
          <a:xfrm rot="21336737">
            <a:off x="5592623" y="112640"/>
            <a:ext cx="150205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b="1" i="1" dirty="0">
                <a:solidFill>
                  <a:schemeClr val="bg1"/>
                </a:solidFill>
              </a:rPr>
              <a:t>Management</a:t>
            </a:r>
            <a:endParaRPr lang="fr-FR" sz="1200" dirty="0"/>
          </a:p>
        </p:txBody>
      </p:sp>
      <p:sp>
        <p:nvSpPr>
          <p:cNvPr id="28" name="Organigramme : Processus 39">
            <a:extLst>
              <a:ext uri="{FF2B5EF4-FFF2-40B4-BE49-F238E27FC236}">
                <a16:creationId xmlns:a16="http://schemas.microsoft.com/office/drawing/2014/main" id="{9EFFA74B-8604-4184-AD36-F132CE2A584C}"/>
              </a:ext>
            </a:extLst>
          </p:cNvPr>
          <p:cNvSpPr/>
          <p:nvPr userDrawn="1"/>
        </p:nvSpPr>
        <p:spPr>
          <a:xfrm>
            <a:off x="44624" y="36002"/>
            <a:ext cx="1589723" cy="451067"/>
          </a:xfrm>
          <a:prstGeom prst="flowChartProcess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67411CEA-97B0-454C-855F-03E7C39C0815}"/>
              </a:ext>
            </a:extLst>
          </p:cNvPr>
          <p:cNvGrpSpPr/>
          <p:nvPr userDrawn="1"/>
        </p:nvGrpSpPr>
        <p:grpSpPr>
          <a:xfrm>
            <a:off x="205423" y="-7666"/>
            <a:ext cx="1268125" cy="523220"/>
            <a:chOff x="225461" y="-7666"/>
            <a:chExt cx="1268125" cy="523220"/>
          </a:xfrm>
        </p:grpSpPr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0D575BE6-7A62-4701-8DAA-B802134357D1}"/>
                </a:ext>
              </a:extLst>
            </p:cNvPr>
            <p:cNvSpPr txBox="1"/>
            <p:nvPr userDrawn="1"/>
          </p:nvSpPr>
          <p:spPr>
            <a:xfrm>
              <a:off x="225461" y="-7666"/>
              <a:ext cx="3831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6A3FFEFE-7BE1-4427-8932-10E7AB1936F5}"/>
                </a:ext>
              </a:extLst>
            </p:cNvPr>
            <p:cNvSpPr txBox="1"/>
            <p:nvPr userDrawn="1"/>
          </p:nvSpPr>
          <p:spPr>
            <a:xfrm>
              <a:off x="667937" y="-7666"/>
              <a:ext cx="3831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C650FF8B-6684-4E4C-B5F6-0E251A0BA482}"/>
                </a:ext>
              </a:extLst>
            </p:cNvPr>
            <p:cNvCxnSpPr/>
            <p:nvPr userDrawn="1"/>
          </p:nvCxnSpPr>
          <p:spPr>
            <a:xfrm>
              <a:off x="638284" y="102354"/>
              <a:ext cx="0" cy="28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1" name="Connecteur droit 40">
              <a:extLst>
                <a:ext uri="{FF2B5EF4-FFF2-40B4-BE49-F238E27FC236}">
                  <a16:creationId xmlns:a16="http://schemas.microsoft.com/office/drawing/2014/main" id="{AB5C7306-7F38-4841-9273-3E0C2CE1EEE6}"/>
                </a:ext>
              </a:extLst>
            </p:cNvPr>
            <p:cNvCxnSpPr/>
            <p:nvPr userDrawn="1"/>
          </p:nvCxnSpPr>
          <p:spPr>
            <a:xfrm>
              <a:off x="1080761" y="102354"/>
              <a:ext cx="0" cy="28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6E34BF8A-7E61-43AA-AC0D-D146B23B7AFC}"/>
                </a:ext>
              </a:extLst>
            </p:cNvPr>
            <p:cNvSpPr txBox="1"/>
            <p:nvPr userDrawn="1"/>
          </p:nvSpPr>
          <p:spPr>
            <a:xfrm>
              <a:off x="1110415" y="-7666"/>
              <a:ext cx="3831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S</a:t>
              </a:r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BBFAEB43-02D9-4017-A9AD-462F5F8F109A}"/>
              </a:ext>
            </a:extLst>
          </p:cNvPr>
          <p:cNvGrpSpPr/>
          <p:nvPr userDrawn="1"/>
        </p:nvGrpSpPr>
        <p:grpSpPr>
          <a:xfrm>
            <a:off x="121392" y="8804222"/>
            <a:ext cx="3739316" cy="216000"/>
            <a:chOff x="135963" y="247449"/>
            <a:chExt cx="5480533" cy="396000"/>
          </a:xfrm>
        </p:grpSpPr>
        <p:pic>
          <p:nvPicPr>
            <p:cNvPr id="22" name="Picture 2" descr="cid:image003.jpg@01D4B6FC.7ED29210">
              <a:extLst>
                <a:ext uri="{FF2B5EF4-FFF2-40B4-BE49-F238E27FC236}">
                  <a16:creationId xmlns:a16="http://schemas.microsoft.com/office/drawing/2014/main" id="{AD85D683-68EC-4C5C-8B66-CB697EF958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5048" y="247449"/>
              <a:ext cx="1448783" cy="39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0DCF5053-E5AC-41D4-9BD0-282CFDD09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95145" y="289929"/>
              <a:ext cx="2321351" cy="311042"/>
            </a:xfrm>
            <a:prstGeom prst="rect">
              <a:avLst/>
            </a:prstGeom>
          </p:spPr>
        </p:pic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5B85EF7F-CE4B-400A-8320-95917FC3C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963" y="292450"/>
              <a:ext cx="1247770" cy="306000"/>
            </a:xfrm>
            <a:prstGeom prst="rect">
              <a:avLst/>
            </a:prstGeom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231178" y="8622284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42900" y="2133601"/>
            <a:ext cx="6172200" cy="6034617"/>
          </a:xfrm>
        </p:spPr>
        <p:txBody>
          <a:bodyPr/>
          <a:lstStyle>
            <a:lvl1pPr>
              <a:defRPr sz="220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</a:defRPr>
            </a:lvl1pPr>
            <a:lvl2pPr marL="742950" indent="-285750"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§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buClr>
                <a:schemeClr val="accent4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buClr>
                <a:schemeClr val="accent4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buClr>
                <a:schemeClr val="accent4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6F22CB-0C66-4AB5-9D1D-1E9C9B1A9FB9}"/>
              </a:ext>
            </a:extLst>
          </p:cNvPr>
          <p:cNvSpPr/>
          <p:nvPr userDrawn="1"/>
        </p:nvSpPr>
        <p:spPr>
          <a:xfrm rot="21419042">
            <a:off x="5583858" y="191542"/>
            <a:ext cx="1270054" cy="1711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62118E-5B51-4171-AF96-73FAE20BA916}"/>
              </a:ext>
            </a:extLst>
          </p:cNvPr>
          <p:cNvSpPr/>
          <p:nvPr userDrawn="1"/>
        </p:nvSpPr>
        <p:spPr>
          <a:xfrm rot="21336737">
            <a:off x="5592623" y="112640"/>
            <a:ext cx="150205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b="1" i="1" dirty="0">
                <a:solidFill>
                  <a:schemeClr val="bg1"/>
                </a:solidFill>
              </a:rPr>
              <a:t>Management</a:t>
            </a:r>
            <a:endParaRPr lang="fr-FR" sz="120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7CDB4861-CDD0-4661-B33F-C4C0215C52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42" t="71915" r="73114" b="8707"/>
          <a:stretch/>
        </p:blipFill>
        <p:spPr>
          <a:xfrm>
            <a:off x="1658793" y="44501"/>
            <a:ext cx="455119" cy="468000"/>
          </a:xfrm>
          <a:prstGeom prst="rect">
            <a:avLst/>
          </a:prstGeom>
        </p:spPr>
      </p:pic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3FE463A7-CF2E-45EB-9819-1D4346D98A07}"/>
              </a:ext>
            </a:extLst>
          </p:cNvPr>
          <p:cNvCxnSpPr>
            <a:cxnSpLocks/>
          </p:cNvCxnSpPr>
          <p:nvPr userDrawn="1"/>
        </p:nvCxnSpPr>
        <p:spPr>
          <a:xfrm>
            <a:off x="0" y="567272"/>
            <a:ext cx="6858000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1">
            <a:extLst>
              <a:ext uri="{FF2B5EF4-FFF2-40B4-BE49-F238E27FC236}">
                <a16:creationId xmlns:a16="http://schemas.microsoft.com/office/drawing/2014/main" id="{E9A5E1B1-78AD-4186-8103-C13103399A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84944" y="73005"/>
            <a:ext cx="3324276" cy="396000"/>
          </a:xfrm>
        </p:spPr>
        <p:txBody>
          <a:bodyPr>
            <a:normAutofit/>
          </a:bodyPr>
          <a:lstStyle>
            <a:lvl1pPr algn="l">
              <a:defRPr sz="1600" b="1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21" name="Organigramme : Processus 39">
            <a:extLst>
              <a:ext uri="{FF2B5EF4-FFF2-40B4-BE49-F238E27FC236}">
                <a16:creationId xmlns:a16="http://schemas.microsoft.com/office/drawing/2014/main" id="{1FFC7C47-897C-475C-BBF5-A1AC20CCD13C}"/>
              </a:ext>
            </a:extLst>
          </p:cNvPr>
          <p:cNvSpPr/>
          <p:nvPr userDrawn="1"/>
        </p:nvSpPr>
        <p:spPr>
          <a:xfrm>
            <a:off x="44624" y="36002"/>
            <a:ext cx="1589723" cy="451067"/>
          </a:xfrm>
          <a:prstGeom prst="flowChartProcess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AC0EB2A3-1751-4F57-850E-DF3902B70609}"/>
              </a:ext>
            </a:extLst>
          </p:cNvPr>
          <p:cNvGrpSpPr/>
          <p:nvPr userDrawn="1"/>
        </p:nvGrpSpPr>
        <p:grpSpPr>
          <a:xfrm>
            <a:off x="205423" y="-7666"/>
            <a:ext cx="1268125" cy="523220"/>
            <a:chOff x="225461" y="-7666"/>
            <a:chExt cx="1268125" cy="523220"/>
          </a:xfrm>
        </p:grpSpPr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C83B06B4-EFB1-4FE9-8402-5576D9507F43}"/>
                </a:ext>
              </a:extLst>
            </p:cNvPr>
            <p:cNvSpPr txBox="1"/>
            <p:nvPr userDrawn="1"/>
          </p:nvSpPr>
          <p:spPr>
            <a:xfrm>
              <a:off x="225461" y="-7666"/>
              <a:ext cx="3831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70AE19CA-5F03-4ABF-B9B3-538B5D592F3F}"/>
                </a:ext>
              </a:extLst>
            </p:cNvPr>
            <p:cNvSpPr txBox="1"/>
            <p:nvPr userDrawn="1"/>
          </p:nvSpPr>
          <p:spPr>
            <a:xfrm>
              <a:off x="667937" y="-7666"/>
              <a:ext cx="3831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25" name="Connecteur droit 24">
              <a:extLst>
                <a:ext uri="{FF2B5EF4-FFF2-40B4-BE49-F238E27FC236}">
                  <a16:creationId xmlns:a16="http://schemas.microsoft.com/office/drawing/2014/main" id="{94E59C24-D32C-45F5-BE56-207F2130F785}"/>
                </a:ext>
              </a:extLst>
            </p:cNvPr>
            <p:cNvCxnSpPr/>
            <p:nvPr userDrawn="1"/>
          </p:nvCxnSpPr>
          <p:spPr>
            <a:xfrm>
              <a:off x="638284" y="102354"/>
              <a:ext cx="0" cy="28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6" name="Connecteur droit 25">
              <a:extLst>
                <a:ext uri="{FF2B5EF4-FFF2-40B4-BE49-F238E27FC236}">
                  <a16:creationId xmlns:a16="http://schemas.microsoft.com/office/drawing/2014/main" id="{9948D06E-F92E-47A0-98F6-E95CBE2D1B0D}"/>
                </a:ext>
              </a:extLst>
            </p:cNvPr>
            <p:cNvCxnSpPr/>
            <p:nvPr userDrawn="1"/>
          </p:nvCxnSpPr>
          <p:spPr>
            <a:xfrm>
              <a:off x="1080761" y="102354"/>
              <a:ext cx="0" cy="28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9CCA7962-29F0-4592-B1B9-499C06172D9A}"/>
                </a:ext>
              </a:extLst>
            </p:cNvPr>
            <p:cNvSpPr txBox="1"/>
            <p:nvPr userDrawn="1"/>
          </p:nvSpPr>
          <p:spPr>
            <a:xfrm>
              <a:off x="1110415" y="-7666"/>
              <a:ext cx="3831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S</a:t>
              </a: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CE54E5-BE4D-4632-8053-842ECAB0FEED}"/>
              </a:ext>
            </a:extLst>
          </p:cNvPr>
          <p:cNvSpPr/>
          <p:nvPr userDrawn="1"/>
        </p:nvSpPr>
        <p:spPr>
          <a:xfrm rot="21419042">
            <a:off x="5583858" y="191542"/>
            <a:ext cx="1270054" cy="1711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245976" y="8640298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 dirty="0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514350" y="3572074"/>
            <a:ext cx="5829300" cy="196003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D4782A-7134-4EEE-8674-E081D84B61EA}"/>
              </a:ext>
            </a:extLst>
          </p:cNvPr>
          <p:cNvSpPr/>
          <p:nvPr userDrawn="1"/>
        </p:nvSpPr>
        <p:spPr>
          <a:xfrm rot="21336737">
            <a:off x="5592623" y="112640"/>
            <a:ext cx="150205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b="1" i="1" dirty="0">
                <a:solidFill>
                  <a:schemeClr val="bg1"/>
                </a:solidFill>
              </a:rPr>
              <a:t>Management</a:t>
            </a:r>
            <a:endParaRPr lang="fr-FR" sz="120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553E34BB-B443-43FD-966F-7A48A48DF6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42" t="71915" r="73114" b="8707"/>
          <a:stretch/>
        </p:blipFill>
        <p:spPr>
          <a:xfrm>
            <a:off x="1658793" y="44501"/>
            <a:ext cx="455119" cy="468000"/>
          </a:xfrm>
          <a:prstGeom prst="rect">
            <a:avLst/>
          </a:prstGeom>
        </p:spPr>
      </p:pic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6DCC7D9E-7CE5-4C79-8A33-FB71AF42CCB3}"/>
              </a:ext>
            </a:extLst>
          </p:cNvPr>
          <p:cNvCxnSpPr>
            <a:cxnSpLocks/>
          </p:cNvCxnSpPr>
          <p:nvPr userDrawn="1"/>
        </p:nvCxnSpPr>
        <p:spPr>
          <a:xfrm>
            <a:off x="0" y="567272"/>
            <a:ext cx="6858000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rganigramme : Processus 39">
            <a:extLst>
              <a:ext uri="{FF2B5EF4-FFF2-40B4-BE49-F238E27FC236}">
                <a16:creationId xmlns:a16="http://schemas.microsoft.com/office/drawing/2014/main" id="{1D8C4649-C49B-4264-A374-53092CF2DE30}"/>
              </a:ext>
            </a:extLst>
          </p:cNvPr>
          <p:cNvSpPr/>
          <p:nvPr userDrawn="1"/>
        </p:nvSpPr>
        <p:spPr>
          <a:xfrm>
            <a:off x="44624" y="36002"/>
            <a:ext cx="1589723" cy="451067"/>
          </a:xfrm>
          <a:prstGeom prst="flowChartProcess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1B540622-3164-455D-B6D4-4BAFE52497A2}"/>
              </a:ext>
            </a:extLst>
          </p:cNvPr>
          <p:cNvGrpSpPr/>
          <p:nvPr userDrawn="1"/>
        </p:nvGrpSpPr>
        <p:grpSpPr>
          <a:xfrm>
            <a:off x="205423" y="-7666"/>
            <a:ext cx="1268125" cy="523220"/>
            <a:chOff x="225461" y="-7666"/>
            <a:chExt cx="1268125" cy="523220"/>
          </a:xfrm>
        </p:grpSpPr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45CE3E0C-7E6B-44FD-9079-2740994BE129}"/>
                </a:ext>
              </a:extLst>
            </p:cNvPr>
            <p:cNvSpPr txBox="1"/>
            <p:nvPr userDrawn="1"/>
          </p:nvSpPr>
          <p:spPr>
            <a:xfrm>
              <a:off x="225461" y="-7666"/>
              <a:ext cx="3831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DBE88A32-C90B-4926-BBF4-B5F9238DBB95}"/>
                </a:ext>
              </a:extLst>
            </p:cNvPr>
            <p:cNvSpPr txBox="1"/>
            <p:nvPr userDrawn="1"/>
          </p:nvSpPr>
          <p:spPr>
            <a:xfrm>
              <a:off x="667937" y="-7666"/>
              <a:ext cx="3831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1D0FB71C-85A1-4DC7-A27B-4A9BFC567CEA}"/>
                </a:ext>
              </a:extLst>
            </p:cNvPr>
            <p:cNvCxnSpPr/>
            <p:nvPr userDrawn="1"/>
          </p:nvCxnSpPr>
          <p:spPr>
            <a:xfrm>
              <a:off x="638284" y="102354"/>
              <a:ext cx="0" cy="28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5" name="Connecteur droit 24">
              <a:extLst>
                <a:ext uri="{FF2B5EF4-FFF2-40B4-BE49-F238E27FC236}">
                  <a16:creationId xmlns:a16="http://schemas.microsoft.com/office/drawing/2014/main" id="{9270D74F-F338-4F2D-AE8C-29C4E93FFB66}"/>
                </a:ext>
              </a:extLst>
            </p:cNvPr>
            <p:cNvCxnSpPr/>
            <p:nvPr userDrawn="1"/>
          </p:nvCxnSpPr>
          <p:spPr>
            <a:xfrm>
              <a:off x="1080761" y="102354"/>
              <a:ext cx="0" cy="28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A13143F5-0361-484D-A130-E80D9F3EE842}"/>
                </a:ext>
              </a:extLst>
            </p:cNvPr>
            <p:cNvSpPr txBox="1"/>
            <p:nvPr userDrawn="1"/>
          </p:nvSpPr>
          <p:spPr>
            <a:xfrm>
              <a:off x="1110415" y="-7666"/>
              <a:ext cx="3831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S</a:t>
              </a: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245976" y="8628370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0A0616-9E66-4E28-91A7-07E086208A9D}"/>
              </a:ext>
            </a:extLst>
          </p:cNvPr>
          <p:cNvSpPr/>
          <p:nvPr userDrawn="1"/>
        </p:nvSpPr>
        <p:spPr>
          <a:xfrm rot="21419042">
            <a:off x="5583858" y="191542"/>
            <a:ext cx="1270054" cy="1711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E50536-2484-4A6C-9B94-34E70AB8BC77}"/>
              </a:ext>
            </a:extLst>
          </p:cNvPr>
          <p:cNvSpPr/>
          <p:nvPr userDrawn="1"/>
        </p:nvSpPr>
        <p:spPr>
          <a:xfrm rot="21336737">
            <a:off x="5592623" y="112640"/>
            <a:ext cx="150205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b="1" i="1" dirty="0">
                <a:solidFill>
                  <a:schemeClr val="bg1"/>
                </a:solidFill>
              </a:rPr>
              <a:t>Management</a:t>
            </a:r>
            <a:endParaRPr lang="fr-FR" sz="120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75126A86-F5EF-4CE7-93E0-AFD318C561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42" t="71915" r="73114" b="8707"/>
          <a:stretch/>
        </p:blipFill>
        <p:spPr>
          <a:xfrm>
            <a:off x="1658793" y="44501"/>
            <a:ext cx="455119" cy="468000"/>
          </a:xfrm>
          <a:prstGeom prst="rect">
            <a:avLst/>
          </a:prstGeom>
        </p:spPr>
      </p:pic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25F40723-8547-4858-B78B-D0AFDA1A5C23}"/>
              </a:ext>
            </a:extLst>
          </p:cNvPr>
          <p:cNvCxnSpPr>
            <a:cxnSpLocks/>
          </p:cNvCxnSpPr>
          <p:nvPr userDrawn="1"/>
        </p:nvCxnSpPr>
        <p:spPr>
          <a:xfrm>
            <a:off x="0" y="567272"/>
            <a:ext cx="6858000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rganigramme : Processus 39">
            <a:extLst>
              <a:ext uri="{FF2B5EF4-FFF2-40B4-BE49-F238E27FC236}">
                <a16:creationId xmlns:a16="http://schemas.microsoft.com/office/drawing/2014/main" id="{9B420426-1F86-4BBF-A657-02F84F1A1267}"/>
              </a:ext>
            </a:extLst>
          </p:cNvPr>
          <p:cNvSpPr/>
          <p:nvPr userDrawn="1"/>
        </p:nvSpPr>
        <p:spPr>
          <a:xfrm>
            <a:off x="44624" y="36002"/>
            <a:ext cx="1589723" cy="451067"/>
          </a:xfrm>
          <a:prstGeom prst="flowChartProcess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9FB37390-8D63-4408-91B4-70057F39E1D0}"/>
              </a:ext>
            </a:extLst>
          </p:cNvPr>
          <p:cNvGrpSpPr/>
          <p:nvPr userDrawn="1"/>
        </p:nvGrpSpPr>
        <p:grpSpPr>
          <a:xfrm>
            <a:off x="205423" y="-7666"/>
            <a:ext cx="1268125" cy="523220"/>
            <a:chOff x="225461" y="-7666"/>
            <a:chExt cx="1268125" cy="523220"/>
          </a:xfrm>
        </p:grpSpPr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C9103A89-57BC-4953-A831-097B8D138AEA}"/>
                </a:ext>
              </a:extLst>
            </p:cNvPr>
            <p:cNvSpPr txBox="1"/>
            <p:nvPr userDrawn="1"/>
          </p:nvSpPr>
          <p:spPr>
            <a:xfrm>
              <a:off x="225461" y="-7666"/>
              <a:ext cx="3831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7A7793E2-0DCF-4E8A-B4AA-53B70CBE92BE}"/>
                </a:ext>
              </a:extLst>
            </p:cNvPr>
            <p:cNvSpPr txBox="1"/>
            <p:nvPr userDrawn="1"/>
          </p:nvSpPr>
          <p:spPr>
            <a:xfrm>
              <a:off x="667937" y="-7666"/>
              <a:ext cx="3831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C0141E03-C609-4874-B018-1A34A7A02009}"/>
                </a:ext>
              </a:extLst>
            </p:cNvPr>
            <p:cNvCxnSpPr/>
            <p:nvPr userDrawn="1"/>
          </p:nvCxnSpPr>
          <p:spPr>
            <a:xfrm>
              <a:off x="638284" y="102354"/>
              <a:ext cx="0" cy="28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5" name="Connecteur droit 24">
              <a:extLst>
                <a:ext uri="{FF2B5EF4-FFF2-40B4-BE49-F238E27FC236}">
                  <a16:creationId xmlns:a16="http://schemas.microsoft.com/office/drawing/2014/main" id="{80C0B57E-1896-476C-8307-B230E338CBFC}"/>
                </a:ext>
              </a:extLst>
            </p:cNvPr>
            <p:cNvCxnSpPr/>
            <p:nvPr userDrawn="1"/>
          </p:nvCxnSpPr>
          <p:spPr>
            <a:xfrm>
              <a:off x="1080761" y="102354"/>
              <a:ext cx="0" cy="28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68380345-5A41-4211-BC5D-647EE6BF28E9}"/>
                </a:ext>
              </a:extLst>
            </p:cNvPr>
            <p:cNvSpPr txBox="1"/>
            <p:nvPr userDrawn="1"/>
          </p:nvSpPr>
          <p:spPr>
            <a:xfrm>
              <a:off x="1110415" y="-7666"/>
              <a:ext cx="3831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S</a:t>
              </a: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B43F3FCD-5F87-46BD-926E-3191E76DE59E}"/>
              </a:ext>
            </a:extLst>
          </p:cNvPr>
          <p:cNvGrpSpPr/>
          <p:nvPr userDrawn="1"/>
        </p:nvGrpSpPr>
        <p:grpSpPr>
          <a:xfrm>
            <a:off x="23330" y="8658290"/>
            <a:ext cx="6854400" cy="396000"/>
            <a:chOff x="9468" y="8532440"/>
            <a:chExt cx="6854400" cy="52957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F67ADC1-B0A2-4C72-B102-77DF2BE2A854}"/>
                </a:ext>
              </a:extLst>
            </p:cNvPr>
            <p:cNvSpPr/>
            <p:nvPr/>
          </p:nvSpPr>
          <p:spPr>
            <a:xfrm>
              <a:off x="9468" y="8532440"/>
              <a:ext cx="6854400" cy="529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F119A648-C839-456F-812C-984D23F888D4}"/>
                </a:ext>
              </a:extLst>
            </p:cNvPr>
            <p:cNvSpPr txBox="1"/>
            <p:nvPr/>
          </p:nvSpPr>
          <p:spPr>
            <a:xfrm>
              <a:off x="4797152" y="8609549"/>
              <a:ext cx="1841416" cy="447197"/>
            </a:xfrm>
            <a:prstGeom prst="rect">
              <a:avLst/>
            </a:prstGeom>
            <a:noFill/>
          </p:spPr>
          <p:txBody>
            <a:bodyPr wrap="square" lIns="77111" tIns="38556" rIns="77111" bIns="38556" rtlCol="0">
              <a:spAutoFit/>
            </a:bodyPr>
            <a:lstStyle/>
            <a:p>
              <a:r>
                <a:rPr lang="fr-FR" sz="800" i="1" dirty="0">
                  <a:latin typeface="Calibri" panose="020F0502020204030204" pitchFamily="34" charset="0"/>
                </a:rPr>
                <a:t>Ce document est confidentiel. Toute reproduction, même partielle est interdite.</a:t>
              </a:r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0B8B8B89-3822-409F-8726-6EEFA4E68996}"/>
              </a:ext>
            </a:extLst>
          </p:cNvPr>
          <p:cNvGrpSpPr/>
          <p:nvPr userDrawn="1"/>
        </p:nvGrpSpPr>
        <p:grpSpPr>
          <a:xfrm>
            <a:off x="121392" y="8767710"/>
            <a:ext cx="4438338" cy="216000"/>
            <a:chOff x="135963" y="247449"/>
            <a:chExt cx="6505054" cy="396000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264B595D-817A-49F1-8E44-B0D3710310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3869" y="263695"/>
              <a:ext cx="1216743" cy="360000"/>
            </a:xfrm>
            <a:prstGeom prst="rect">
              <a:avLst/>
            </a:prstGeom>
          </p:spPr>
        </p:pic>
        <p:pic>
          <p:nvPicPr>
            <p:cNvPr id="8" name="Picture 2" descr="cid:image003.jpg@01D4B6FC.7ED29210">
              <a:extLst>
                <a:ext uri="{FF2B5EF4-FFF2-40B4-BE49-F238E27FC236}">
                  <a16:creationId xmlns:a16="http://schemas.microsoft.com/office/drawing/2014/main" id="{28E59B11-869B-454C-8EBC-4E25CCC609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0748" y="247449"/>
              <a:ext cx="1448782" cy="39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D42B713D-E291-4095-B749-BBE18A73E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9666" y="290695"/>
              <a:ext cx="2321351" cy="311041"/>
            </a:xfrm>
            <a:prstGeom prst="rect">
              <a:avLst/>
            </a:prstGeom>
          </p:spPr>
        </p:pic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F2CDB705-569E-455B-949A-F985108B7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963" y="290695"/>
              <a:ext cx="1247770" cy="30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50092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04/03/2025</a:t>
            </a:fld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6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814CD07F-CE93-48CD-B995-C2BCC877A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2800" dirty="0"/>
              <a:t>Quizz Nouvel Arrivant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B8853071-EB3A-4F97-B717-04C77ECE7FD5}"/>
              </a:ext>
            </a:extLst>
          </p:cNvPr>
          <p:cNvGrpSpPr/>
          <p:nvPr/>
        </p:nvGrpSpPr>
        <p:grpSpPr>
          <a:xfrm>
            <a:off x="4927749" y="655134"/>
            <a:ext cx="1713283" cy="320733"/>
            <a:chOff x="4971833" y="827407"/>
            <a:chExt cx="1882874" cy="338554"/>
          </a:xfrm>
          <a:solidFill>
            <a:schemeClr val="bg1"/>
          </a:solidFill>
        </p:grpSpPr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B1D6C4ED-D1E5-4ABD-8FDD-A12AC448DB76}"/>
                </a:ext>
              </a:extLst>
            </p:cNvPr>
            <p:cNvSpPr txBox="1"/>
            <p:nvPr/>
          </p:nvSpPr>
          <p:spPr>
            <a:xfrm>
              <a:off x="4971833" y="850489"/>
              <a:ext cx="660040" cy="27614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fr-FR" sz="1100" dirty="0"/>
                <a:t>Date</a:t>
              </a:r>
              <a:endParaRPr lang="fr-FR" sz="1200" dirty="0"/>
            </a:p>
          </p:txBody>
        </p:sp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86436A53-A3E9-4730-ABE7-6D456B1FB27E}"/>
                </a:ext>
              </a:extLst>
            </p:cNvPr>
            <p:cNvSpPr/>
            <p:nvPr/>
          </p:nvSpPr>
          <p:spPr>
            <a:xfrm>
              <a:off x="5452684" y="827407"/>
              <a:ext cx="1402023" cy="338554"/>
            </a:xfrm>
            <a:prstGeom prst="roundRect">
              <a:avLst/>
            </a:prstGeom>
            <a:grpFill/>
            <a:ln>
              <a:solidFill>
                <a:srgbClr val="09488B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18" name="ZoneTexte 17">
            <a:extLst>
              <a:ext uri="{FF2B5EF4-FFF2-40B4-BE49-F238E27FC236}">
                <a16:creationId xmlns:a16="http://schemas.microsoft.com/office/drawing/2014/main" id="{6600E70F-A922-464B-88E1-15838E67440D}"/>
              </a:ext>
            </a:extLst>
          </p:cNvPr>
          <p:cNvSpPr txBox="1"/>
          <p:nvPr/>
        </p:nvSpPr>
        <p:spPr>
          <a:xfrm>
            <a:off x="-27384" y="747070"/>
            <a:ext cx="48211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509838" algn="l"/>
              </a:tabLst>
            </a:pPr>
            <a:r>
              <a:rPr lang="fr-FR" sz="1100" b="1" u="sng" dirty="0"/>
              <a:t>Nom :</a:t>
            </a:r>
            <a:r>
              <a:rPr lang="fr-FR" sz="1100" dirty="0"/>
              <a:t>                                       	</a:t>
            </a:r>
            <a:r>
              <a:rPr lang="fr-FR" sz="1100" b="1" u="sng" dirty="0"/>
              <a:t>Agence : 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4B05B74-49EA-42A1-BDE4-3AC18881573A}"/>
              </a:ext>
            </a:extLst>
          </p:cNvPr>
          <p:cNvSpPr txBox="1"/>
          <p:nvPr/>
        </p:nvSpPr>
        <p:spPr>
          <a:xfrm>
            <a:off x="-27384" y="899592"/>
            <a:ext cx="33843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i="1" dirty="0"/>
              <a:t>Certaines questions ont plusieurs réponses possibles</a:t>
            </a:r>
          </a:p>
        </p:txBody>
      </p: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94066E21-FB24-4200-91CB-0ED848D5323C}"/>
              </a:ext>
            </a:extLst>
          </p:cNvPr>
          <p:cNvGrpSpPr/>
          <p:nvPr/>
        </p:nvGrpSpPr>
        <p:grpSpPr>
          <a:xfrm>
            <a:off x="4972857" y="1092857"/>
            <a:ext cx="1512168" cy="246221"/>
            <a:chOff x="4941168" y="1343939"/>
            <a:chExt cx="1512168" cy="246221"/>
          </a:xfrm>
        </p:grpSpPr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2A4AA3AF-9E0D-4064-8887-8A87601FA112}"/>
                </a:ext>
              </a:extLst>
            </p:cNvPr>
            <p:cNvSpPr txBox="1"/>
            <p:nvPr/>
          </p:nvSpPr>
          <p:spPr>
            <a:xfrm>
              <a:off x="4941168" y="1343939"/>
              <a:ext cx="151216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/>
                <a:t>     3                4                5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D33BF1C-1633-411D-8383-6551EE85ADFC}"/>
                </a:ext>
              </a:extLst>
            </p:cNvPr>
            <p:cNvSpPr/>
            <p:nvPr/>
          </p:nvSpPr>
          <p:spPr>
            <a:xfrm>
              <a:off x="5015398" y="1413500"/>
              <a:ext cx="108000" cy="108000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90D8AE0C-1C9C-49AF-8555-EECC05FE1D4E}"/>
                </a:ext>
              </a:extLst>
            </p:cNvPr>
            <p:cNvSpPr/>
            <p:nvPr/>
          </p:nvSpPr>
          <p:spPr>
            <a:xfrm>
              <a:off x="5536612" y="1424775"/>
              <a:ext cx="108000" cy="108000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82D61A0-FCDA-4D93-B0CC-58D0E210D681}"/>
                </a:ext>
              </a:extLst>
            </p:cNvPr>
            <p:cNvSpPr/>
            <p:nvPr/>
          </p:nvSpPr>
          <p:spPr>
            <a:xfrm>
              <a:off x="6064467" y="1424775"/>
              <a:ext cx="108000" cy="108000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</p:grpSp>
      <p:grpSp>
        <p:nvGrpSpPr>
          <p:cNvPr id="68" name="Groupe 67">
            <a:extLst>
              <a:ext uri="{FF2B5EF4-FFF2-40B4-BE49-F238E27FC236}">
                <a16:creationId xmlns:a16="http://schemas.microsoft.com/office/drawing/2014/main" id="{A03B90F4-9499-4B02-B8AF-4D07F3001D17}"/>
              </a:ext>
            </a:extLst>
          </p:cNvPr>
          <p:cNvGrpSpPr/>
          <p:nvPr/>
        </p:nvGrpSpPr>
        <p:grpSpPr>
          <a:xfrm>
            <a:off x="104307" y="1589999"/>
            <a:ext cx="6767385" cy="861774"/>
            <a:chOff x="90614" y="2026404"/>
            <a:chExt cx="6767385" cy="872860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A49B444-D205-47AC-A26C-6478DC7961D3}"/>
                </a:ext>
              </a:extLst>
            </p:cNvPr>
            <p:cNvSpPr/>
            <p:nvPr/>
          </p:nvSpPr>
          <p:spPr>
            <a:xfrm>
              <a:off x="188640" y="2026404"/>
              <a:ext cx="6669359" cy="8728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sz="1000" dirty="0"/>
                <a:t>Un Code déontologie pour définir les bonnes pratiques.</a:t>
              </a:r>
            </a:p>
            <a:p>
              <a:r>
                <a:rPr lang="fr-FR" sz="1000" dirty="0"/>
                <a:t>Un engagement de la Direction pour la sécurité de nos collaborateurs et clients, ainsi que dans la protection de l’environnement.</a:t>
              </a:r>
            </a:p>
            <a:p>
              <a:r>
                <a:rPr lang="fr-FR" sz="1000" dirty="0"/>
                <a:t>Un processus qui a pour objectif la réalisation et l’optimisation des opérations, la fiabilité des informations financières, le respect des lois et réglementations et la sauvegarde des actifs.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E351556-3A70-4838-A771-3464D16D7D53}"/>
                </a:ext>
              </a:extLst>
            </p:cNvPr>
            <p:cNvSpPr/>
            <p:nvPr/>
          </p:nvSpPr>
          <p:spPr>
            <a:xfrm>
              <a:off x="90614" y="2089915"/>
              <a:ext cx="108000" cy="108000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38E35F4-0137-4620-AEA0-3ACA1C827525}"/>
                </a:ext>
              </a:extLst>
            </p:cNvPr>
            <p:cNvSpPr/>
            <p:nvPr/>
          </p:nvSpPr>
          <p:spPr>
            <a:xfrm>
              <a:off x="90614" y="2253542"/>
              <a:ext cx="108000" cy="108000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AA2CC384-F27C-4A06-8AF6-54328C00A462}"/>
                </a:ext>
              </a:extLst>
            </p:cNvPr>
            <p:cNvSpPr/>
            <p:nvPr/>
          </p:nvSpPr>
          <p:spPr>
            <a:xfrm>
              <a:off x="90614" y="2566574"/>
              <a:ext cx="108000" cy="108000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</p:grp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066D1A3C-77D5-45EE-8429-5786495B0E99}"/>
              </a:ext>
            </a:extLst>
          </p:cNvPr>
          <p:cNvGrpSpPr/>
          <p:nvPr/>
        </p:nvGrpSpPr>
        <p:grpSpPr>
          <a:xfrm>
            <a:off x="5078841" y="2418351"/>
            <a:ext cx="1518511" cy="246221"/>
            <a:chOff x="4870521" y="3099721"/>
            <a:chExt cx="1518511" cy="246221"/>
          </a:xfrm>
        </p:grpSpPr>
        <p:sp>
          <p:nvSpPr>
            <p:cNvPr id="69" name="ZoneTexte 68">
              <a:extLst>
                <a:ext uri="{FF2B5EF4-FFF2-40B4-BE49-F238E27FC236}">
                  <a16:creationId xmlns:a16="http://schemas.microsoft.com/office/drawing/2014/main" id="{8D2BD4FA-594F-4B5C-B1D9-318188FC5792}"/>
                </a:ext>
              </a:extLst>
            </p:cNvPr>
            <p:cNvSpPr txBox="1"/>
            <p:nvPr/>
          </p:nvSpPr>
          <p:spPr>
            <a:xfrm>
              <a:off x="4957514" y="3099721"/>
              <a:ext cx="143151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/>
                <a:t> 3            9                    10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02888A8D-950B-443B-A06F-A899CDC60B82}"/>
                </a:ext>
              </a:extLst>
            </p:cNvPr>
            <p:cNvSpPr/>
            <p:nvPr/>
          </p:nvSpPr>
          <p:spPr>
            <a:xfrm>
              <a:off x="4870521" y="3164810"/>
              <a:ext cx="108000" cy="108000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53A9776-AF8D-483B-B80A-E69E05FEF5A6}"/>
                </a:ext>
              </a:extLst>
            </p:cNvPr>
            <p:cNvSpPr/>
            <p:nvPr/>
          </p:nvSpPr>
          <p:spPr>
            <a:xfrm>
              <a:off x="5335855" y="3164810"/>
              <a:ext cx="108000" cy="108000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FD90D8D5-539C-4F6F-8812-EE80126ECCB3}"/>
                </a:ext>
              </a:extLst>
            </p:cNvPr>
            <p:cNvSpPr/>
            <p:nvPr/>
          </p:nvSpPr>
          <p:spPr>
            <a:xfrm>
              <a:off x="5967336" y="3164810"/>
              <a:ext cx="108000" cy="108000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CE06BF43-4736-4CBA-B5DF-74E7F95B04E1}"/>
              </a:ext>
            </a:extLst>
          </p:cNvPr>
          <p:cNvGrpSpPr/>
          <p:nvPr/>
        </p:nvGrpSpPr>
        <p:grpSpPr>
          <a:xfrm>
            <a:off x="5542551" y="2688390"/>
            <a:ext cx="1126809" cy="246221"/>
            <a:chOff x="5013176" y="3422705"/>
            <a:chExt cx="1126809" cy="246221"/>
          </a:xfrm>
        </p:grpSpPr>
        <p:sp>
          <p:nvSpPr>
            <p:cNvPr id="79" name="ZoneTexte 78">
              <a:extLst>
                <a:ext uri="{FF2B5EF4-FFF2-40B4-BE49-F238E27FC236}">
                  <a16:creationId xmlns:a16="http://schemas.microsoft.com/office/drawing/2014/main" id="{212C972F-0640-49FA-8DD1-62869D031741}"/>
                </a:ext>
              </a:extLst>
            </p:cNvPr>
            <p:cNvSpPr txBox="1"/>
            <p:nvPr/>
          </p:nvSpPr>
          <p:spPr>
            <a:xfrm>
              <a:off x="5015390" y="3422705"/>
              <a:ext cx="11245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/>
                <a:t>  Oui                Non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09CCD7D2-8389-46D3-A83F-C49DB98C3E70}"/>
                </a:ext>
              </a:extLst>
            </p:cNvPr>
            <p:cNvSpPr/>
            <p:nvPr/>
          </p:nvSpPr>
          <p:spPr>
            <a:xfrm>
              <a:off x="5013176" y="3497320"/>
              <a:ext cx="109624" cy="104852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D5DBACA0-72E0-428A-BCAC-D7AFACA02E7F}"/>
                </a:ext>
              </a:extLst>
            </p:cNvPr>
            <p:cNvSpPr/>
            <p:nvPr/>
          </p:nvSpPr>
          <p:spPr>
            <a:xfrm>
              <a:off x="5654247" y="3497320"/>
              <a:ext cx="108000" cy="108000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</p:grpSp>
      <p:grpSp>
        <p:nvGrpSpPr>
          <p:cNvPr id="80" name="Groupe 79">
            <a:extLst>
              <a:ext uri="{FF2B5EF4-FFF2-40B4-BE49-F238E27FC236}">
                <a16:creationId xmlns:a16="http://schemas.microsoft.com/office/drawing/2014/main" id="{816B90BA-BEC0-4CDA-9D38-C06EE9EE807E}"/>
              </a:ext>
            </a:extLst>
          </p:cNvPr>
          <p:cNvGrpSpPr/>
          <p:nvPr/>
        </p:nvGrpSpPr>
        <p:grpSpPr>
          <a:xfrm>
            <a:off x="5548976" y="2949313"/>
            <a:ext cx="1120384" cy="246221"/>
            <a:chOff x="5013176" y="3429398"/>
            <a:chExt cx="1120384" cy="246221"/>
          </a:xfrm>
        </p:grpSpPr>
        <p:sp>
          <p:nvSpPr>
            <p:cNvPr id="81" name="ZoneTexte 80">
              <a:extLst>
                <a:ext uri="{FF2B5EF4-FFF2-40B4-BE49-F238E27FC236}">
                  <a16:creationId xmlns:a16="http://schemas.microsoft.com/office/drawing/2014/main" id="{9009F8F1-BE5C-4935-BCB7-2A779D002932}"/>
                </a:ext>
              </a:extLst>
            </p:cNvPr>
            <p:cNvSpPr txBox="1"/>
            <p:nvPr/>
          </p:nvSpPr>
          <p:spPr>
            <a:xfrm>
              <a:off x="5015390" y="3429398"/>
              <a:ext cx="111817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/>
                <a:t>  Oui                Non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2375AC0-E4DE-4969-B631-9BA120E2DDF8}"/>
                </a:ext>
              </a:extLst>
            </p:cNvPr>
            <p:cNvSpPr/>
            <p:nvPr/>
          </p:nvSpPr>
          <p:spPr>
            <a:xfrm>
              <a:off x="5013176" y="3497320"/>
              <a:ext cx="108000" cy="108000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00" dirty="0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DD6CB6DA-C892-4AC7-8BE1-9C2DCAD71D71}"/>
                </a:ext>
              </a:extLst>
            </p:cNvPr>
            <p:cNvSpPr/>
            <p:nvPr/>
          </p:nvSpPr>
          <p:spPr>
            <a:xfrm>
              <a:off x="5654247" y="3497320"/>
              <a:ext cx="108000" cy="108000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00" dirty="0"/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64015EC5-1A44-43E8-9A7E-8393F3399641}"/>
              </a:ext>
            </a:extLst>
          </p:cNvPr>
          <p:cNvGrpSpPr/>
          <p:nvPr/>
        </p:nvGrpSpPr>
        <p:grpSpPr>
          <a:xfrm>
            <a:off x="104307" y="3429616"/>
            <a:ext cx="5844973" cy="579005"/>
            <a:chOff x="108945" y="4261635"/>
            <a:chExt cx="5844973" cy="57900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125CC14-09C8-4384-95FA-9F5BAC8C7315}"/>
                </a:ext>
              </a:extLst>
            </p:cNvPr>
            <p:cNvSpPr/>
            <p:nvPr/>
          </p:nvSpPr>
          <p:spPr>
            <a:xfrm>
              <a:off x="197999" y="4261635"/>
              <a:ext cx="5755919" cy="5790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07000"/>
                </a:lnSpc>
              </a:pPr>
              <a:r>
                <a:rPr lang="fr-FR" sz="1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Sécuriser mon lieu de travail, Avertir le client, Finir l’intervention en sécurité, EPI toujours portés.</a:t>
              </a:r>
            </a:p>
            <a:p>
              <a:pPr lvl="0">
                <a:lnSpc>
                  <a:spcPct val="107000"/>
                </a:lnSpc>
              </a:pPr>
              <a:r>
                <a:rPr lang="fr-FR" sz="1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Sensibiliser le client, Alerter son manager, Faire de la sécurité la priorité, Exercer son droit de retrait.</a:t>
              </a:r>
            </a:p>
            <a:p>
              <a:pPr lvl="0">
                <a:lnSpc>
                  <a:spcPct val="107000"/>
                </a:lnSpc>
                <a:spcAft>
                  <a:spcPts val="800"/>
                </a:spcAft>
              </a:pPr>
              <a:r>
                <a:rPr lang="fr-FR" sz="1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Scruter le lieu de travail, Analyser ce qui pourrait arriver, Fiabiliser pour limiter le risque, Exécuter le travail.</a:t>
              </a:r>
              <a:endParaRPr lang="fr-F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EADC5D8-9C4D-4F6D-9A81-EFF6927DA7E3}"/>
                </a:ext>
              </a:extLst>
            </p:cNvPr>
            <p:cNvSpPr/>
            <p:nvPr/>
          </p:nvSpPr>
          <p:spPr>
            <a:xfrm>
              <a:off x="108945" y="4336688"/>
              <a:ext cx="108000" cy="106628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5527919C-3AB0-4EED-A76C-D37B0DD8A188}"/>
                </a:ext>
              </a:extLst>
            </p:cNvPr>
            <p:cNvSpPr/>
            <p:nvPr/>
          </p:nvSpPr>
          <p:spPr>
            <a:xfrm>
              <a:off x="108945" y="4502100"/>
              <a:ext cx="108000" cy="106628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52BB118-4580-4104-B31D-B68AC3393834}"/>
                </a:ext>
              </a:extLst>
            </p:cNvPr>
            <p:cNvSpPr/>
            <p:nvPr/>
          </p:nvSpPr>
          <p:spPr>
            <a:xfrm>
              <a:off x="108945" y="4672276"/>
              <a:ext cx="108000" cy="106628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</p:grpSp>
      <p:grpSp>
        <p:nvGrpSpPr>
          <p:cNvPr id="128" name="Groupe 127">
            <a:extLst>
              <a:ext uri="{FF2B5EF4-FFF2-40B4-BE49-F238E27FC236}">
                <a16:creationId xmlns:a16="http://schemas.microsoft.com/office/drawing/2014/main" id="{1101383B-02B9-408A-A858-C955A619EEB8}"/>
              </a:ext>
            </a:extLst>
          </p:cNvPr>
          <p:cNvGrpSpPr/>
          <p:nvPr/>
        </p:nvGrpSpPr>
        <p:grpSpPr>
          <a:xfrm>
            <a:off x="104307" y="4247079"/>
            <a:ext cx="6753692" cy="400110"/>
            <a:chOff x="36614" y="4859995"/>
            <a:chExt cx="6753692" cy="400110"/>
          </a:xfrm>
        </p:grpSpPr>
        <p:sp>
          <p:nvSpPr>
            <p:cNvPr id="87" name="ZoneTexte 86">
              <a:extLst>
                <a:ext uri="{FF2B5EF4-FFF2-40B4-BE49-F238E27FC236}">
                  <a16:creationId xmlns:a16="http://schemas.microsoft.com/office/drawing/2014/main" id="{4D2C8E60-17FC-4FA4-9199-5A173512CB21}"/>
                </a:ext>
              </a:extLst>
            </p:cNvPr>
            <p:cNvSpPr txBox="1"/>
            <p:nvPr/>
          </p:nvSpPr>
          <p:spPr>
            <a:xfrm>
              <a:off x="90613" y="4859995"/>
              <a:ext cx="66996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/>
                <a:t>Casquette coquée            Gilet Haute Visibilité             Lunettes de sécurité            Chaussures de sécurité             Gants adaptés							 à la tache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B84C2E67-5667-4B98-B037-AEC63AD4C20C}"/>
                </a:ext>
              </a:extLst>
            </p:cNvPr>
            <p:cNvSpPr/>
            <p:nvPr/>
          </p:nvSpPr>
          <p:spPr>
            <a:xfrm>
              <a:off x="36614" y="4937486"/>
              <a:ext cx="108000" cy="106628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A94E570-0DE0-4985-96DB-631C6504A695}"/>
                </a:ext>
              </a:extLst>
            </p:cNvPr>
            <p:cNvSpPr/>
            <p:nvPr/>
          </p:nvSpPr>
          <p:spPr>
            <a:xfrm>
              <a:off x="1299829" y="4937486"/>
              <a:ext cx="108000" cy="106628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2D64ADD-F14C-4985-923C-361F056223AE}"/>
                </a:ext>
              </a:extLst>
            </p:cNvPr>
            <p:cNvSpPr/>
            <p:nvPr/>
          </p:nvSpPr>
          <p:spPr>
            <a:xfrm>
              <a:off x="2728725" y="4937486"/>
              <a:ext cx="108000" cy="106628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1AE79410-59DC-4113-A6A1-9807FE54FF8B}"/>
                </a:ext>
              </a:extLst>
            </p:cNvPr>
            <p:cNvSpPr/>
            <p:nvPr/>
          </p:nvSpPr>
          <p:spPr>
            <a:xfrm>
              <a:off x="4113088" y="4937486"/>
              <a:ext cx="108000" cy="106628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1D3D4854-9AA9-42A1-A64F-96A1398CA5DA}"/>
                </a:ext>
              </a:extLst>
            </p:cNvPr>
            <p:cNvSpPr/>
            <p:nvPr/>
          </p:nvSpPr>
          <p:spPr>
            <a:xfrm>
              <a:off x="5661248" y="4937486"/>
              <a:ext cx="108000" cy="106628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800B901F-52EA-4D43-9591-73ADC2F6C88C}"/>
              </a:ext>
            </a:extLst>
          </p:cNvPr>
          <p:cNvGrpSpPr/>
          <p:nvPr/>
        </p:nvGrpSpPr>
        <p:grpSpPr>
          <a:xfrm>
            <a:off x="104307" y="4717939"/>
            <a:ext cx="4548829" cy="430887"/>
            <a:chOff x="208423" y="5784231"/>
            <a:chExt cx="4548829" cy="43088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F675EF4-02AC-443A-B81A-621E7135632F}"/>
                </a:ext>
              </a:extLst>
            </p:cNvPr>
            <p:cNvSpPr/>
            <p:nvPr/>
          </p:nvSpPr>
          <p:spPr>
            <a:xfrm>
              <a:off x="272287" y="5784231"/>
              <a:ext cx="4484965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sz="1100" dirty="0"/>
                <a:t>Lorsque le manager pousse à réaliser une intervention estimée dangereuse.</a:t>
              </a:r>
            </a:p>
            <a:p>
              <a:r>
                <a:rPr lang="fr-FR" sz="1100" dirty="0"/>
                <a:t>Quand tu détermines une situation comme étant à risques.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D1A100E0-F64D-4F10-8820-6512CE9615DD}"/>
                </a:ext>
              </a:extLst>
            </p:cNvPr>
            <p:cNvSpPr/>
            <p:nvPr/>
          </p:nvSpPr>
          <p:spPr>
            <a:xfrm>
              <a:off x="208423" y="5856221"/>
              <a:ext cx="108000" cy="106628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5AC4C8F9-E71B-46A1-8065-7A5063185174}"/>
                </a:ext>
              </a:extLst>
            </p:cNvPr>
            <p:cNvSpPr/>
            <p:nvPr/>
          </p:nvSpPr>
          <p:spPr>
            <a:xfrm>
              <a:off x="208423" y="6035922"/>
              <a:ext cx="108000" cy="106628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3345CE12-BF31-4CE0-9A1B-3B9DEADBD23F}"/>
              </a:ext>
            </a:extLst>
          </p:cNvPr>
          <p:cNvGrpSpPr/>
          <p:nvPr/>
        </p:nvGrpSpPr>
        <p:grpSpPr>
          <a:xfrm>
            <a:off x="104307" y="5388347"/>
            <a:ext cx="4716685" cy="261610"/>
            <a:chOff x="320013" y="6185261"/>
            <a:chExt cx="4716685" cy="261610"/>
          </a:xfrm>
        </p:grpSpPr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28D13EF3-617B-4383-8A93-3047C29C7444}"/>
                </a:ext>
              </a:extLst>
            </p:cNvPr>
            <p:cNvSpPr txBox="1"/>
            <p:nvPr/>
          </p:nvSpPr>
          <p:spPr>
            <a:xfrm>
              <a:off x="386066" y="6185261"/>
              <a:ext cx="46506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dirty="0"/>
                <a:t>Une fois par mois        Une fois toutes les deux semaines        Une par trimestre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5BDC70A9-9C2A-42C4-9AD5-45FBB2561804}"/>
                </a:ext>
              </a:extLst>
            </p:cNvPr>
            <p:cNvSpPr/>
            <p:nvPr/>
          </p:nvSpPr>
          <p:spPr>
            <a:xfrm>
              <a:off x="320013" y="6260940"/>
              <a:ext cx="108000" cy="106628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A7A48076-6DBF-488D-B69C-F238C7DB4EC2}"/>
                </a:ext>
              </a:extLst>
            </p:cNvPr>
            <p:cNvSpPr/>
            <p:nvPr/>
          </p:nvSpPr>
          <p:spPr>
            <a:xfrm>
              <a:off x="1576322" y="6260940"/>
              <a:ext cx="108000" cy="106628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B78FF86-CA3E-4C32-8B08-E8415B17B89D}"/>
                </a:ext>
              </a:extLst>
            </p:cNvPr>
            <p:cNvSpPr/>
            <p:nvPr/>
          </p:nvSpPr>
          <p:spPr>
            <a:xfrm>
              <a:off x="3753139" y="6260940"/>
              <a:ext cx="108000" cy="106628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</p:grpSp>
      <p:grpSp>
        <p:nvGrpSpPr>
          <p:cNvPr id="105" name="Groupe 104">
            <a:extLst>
              <a:ext uri="{FF2B5EF4-FFF2-40B4-BE49-F238E27FC236}">
                <a16:creationId xmlns:a16="http://schemas.microsoft.com/office/drawing/2014/main" id="{AE9A57B0-3CD0-4AF8-94FB-4A91E6A05FBB}"/>
              </a:ext>
            </a:extLst>
          </p:cNvPr>
          <p:cNvGrpSpPr/>
          <p:nvPr/>
        </p:nvGrpSpPr>
        <p:grpSpPr>
          <a:xfrm>
            <a:off x="4730877" y="5646359"/>
            <a:ext cx="2082259" cy="246221"/>
            <a:chOff x="4475288" y="6387438"/>
            <a:chExt cx="2082259" cy="246221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2F4CF377-C059-4CEE-AF49-1B8B08562A82}"/>
                </a:ext>
              </a:extLst>
            </p:cNvPr>
            <p:cNvSpPr/>
            <p:nvPr/>
          </p:nvSpPr>
          <p:spPr>
            <a:xfrm>
              <a:off x="4475288" y="6387438"/>
              <a:ext cx="208225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sz="1000" dirty="0"/>
                <a:t>        Evacuer           Agir            Alerter 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870EAD3-A698-4ED3-938D-70C4D24C7D3B}"/>
                </a:ext>
              </a:extLst>
            </p:cNvPr>
            <p:cNvSpPr/>
            <p:nvPr/>
          </p:nvSpPr>
          <p:spPr>
            <a:xfrm>
              <a:off x="4653136" y="6464243"/>
              <a:ext cx="108000" cy="108000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5F499BE6-4C8D-489C-A42B-2364BBD91CD0}"/>
                </a:ext>
              </a:extLst>
            </p:cNvPr>
            <p:cNvSpPr/>
            <p:nvPr/>
          </p:nvSpPr>
          <p:spPr>
            <a:xfrm>
              <a:off x="5368568" y="6464243"/>
              <a:ext cx="108000" cy="108000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9E74D8DC-8B44-446D-AC6D-6535964F15BA}"/>
                </a:ext>
              </a:extLst>
            </p:cNvPr>
            <p:cNvSpPr/>
            <p:nvPr/>
          </p:nvSpPr>
          <p:spPr>
            <a:xfrm>
              <a:off x="5913288" y="6464243"/>
              <a:ext cx="108000" cy="108000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</p:grp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87DB8EBC-9F5B-43E0-A11B-A2CC1A343E15}"/>
              </a:ext>
            </a:extLst>
          </p:cNvPr>
          <p:cNvGrpSpPr/>
          <p:nvPr/>
        </p:nvGrpSpPr>
        <p:grpSpPr>
          <a:xfrm>
            <a:off x="113984" y="6627823"/>
            <a:ext cx="5982172" cy="261610"/>
            <a:chOff x="623518" y="7309897"/>
            <a:chExt cx="5982172" cy="261610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ECEBF59C-28B5-416F-823E-F0144E5453A1}"/>
                </a:ext>
              </a:extLst>
            </p:cNvPr>
            <p:cNvSpPr/>
            <p:nvPr/>
          </p:nvSpPr>
          <p:spPr>
            <a:xfrm>
              <a:off x="680274" y="7309897"/>
              <a:ext cx="5925416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sz="1100" dirty="0"/>
                <a:t>  Aller chez le médecin		Prévenir son manager ou faire prévenir son manager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43AE6339-B76C-46D4-B659-1516F8FE6A33}"/>
                </a:ext>
              </a:extLst>
            </p:cNvPr>
            <p:cNvSpPr/>
            <p:nvPr/>
          </p:nvSpPr>
          <p:spPr>
            <a:xfrm>
              <a:off x="623518" y="7386702"/>
              <a:ext cx="108000" cy="108000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5FC6D282-A46D-4840-AFCE-8E8688C7A8C4}"/>
                </a:ext>
              </a:extLst>
            </p:cNvPr>
            <p:cNvSpPr/>
            <p:nvPr/>
          </p:nvSpPr>
          <p:spPr>
            <a:xfrm>
              <a:off x="3305952" y="7386702"/>
              <a:ext cx="108000" cy="108000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</p:grpSp>
      <p:grpSp>
        <p:nvGrpSpPr>
          <p:cNvPr id="115" name="Groupe 114">
            <a:extLst>
              <a:ext uri="{FF2B5EF4-FFF2-40B4-BE49-F238E27FC236}">
                <a16:creationId xmlns:a16="http://schemas.microsoft.com/office/drawing/2014/main" id="{9BBF4BFE-33CC-40B9-B0FF-C32BCF2AF11F}"/>
              </a:ext>
            </a:extLst>
          </p:cNvPr>
          <p:cNvGrpSpPr/>
          <p:nvPr/>
        </p:nvGrpSpPr>
        <p:grpSpPr>
          <a:xfrm>
            <a:off x="5225293" y="6867510"/>
            <a:ext cx="927619" cy="246221"/>
            <a:chOff x="5013176" y="3397432"/>
            <a:chExt cx="927619" cy="246221"/>
          </a:xfrm>
        </p:grpSpPr>
        <p:sp>
          <p:nvSpPr>
            <p:cNvPr id="116" name="ZoneTexte 115">
              <a:extLst>
                <a:ext uri="{FF2B5EF4-FFF2-40B4-BE49-F238E27FC236}">
                  <a16:creationId xmlns:a16="http://schemas.microsoft.com/office/drawing/2014/main" id="{1E73DD26-62A4-45A3-A1DC-9F285C35FDB6}"/>
                </a:ext>
              </a:extLst>
            </p:cNvPr>
            <p:cNvSpPr txBox="1"/>
            <p:nvPr/>
          </p:nvSpPr>
          <p:spPr>
            <a:xfrm>
              <a:off x="5015390" y="3397432"/>
              <a:ext cx="92540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/>
                <a:t>  Oui          Non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422CBE0F-FD8F-4A7A-94D1-301CE5BA3B2B}"/>
                </a:ext>
              </a:extLst>
            </p:cNvPr>
            <p:cNvSpPr/>
            <p:nvPr/>
          </p:nvSpPr>
          <p:spPr>
            <a:xfrm>
              <a:off x="5013176" y="3478268"/>
              <a:ext cx="108000" cy="108000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62334B8B-898D-4349-8D4D-E7C031070460}"/>
                </a:ext>
              </a:extLst>
            </p:cNvPr>
            <p:cNvSpPr/>
            <p:nvPr/>
          </p:nvSpPr>
          <p:spPr>
            <a:xfrm>
              <a:off x="5485147" y="3478268"/>
              <a:ext cx="108000" cy="108000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</p:grpSp>
      <p:sp>
        <p:nvSpPr>
          <p:cNvPr id="119" name="ZoneTexte 118">
            <a:extLst>
              <a:ext uri="{FF2B5EF4-FFF2-40B4-BE49-F238E27FC236}">
                <a16:creationId xmlns:a16="http://schemas.microsoft.com/office/drawing/2014/main" id="{4E6C2FEB-C195-404C-B409-6DACBAD355E2}"/>
              </a:ext>
            </a:extLst>
          </p:cNvPr>
          <p:cNvSpPr txBox="1"/>
          <p:nvPr/>
        </p:nvSpPr>
        <p:spPr>
          <a:xfrm>
            <a:off x="444114" y="8715646"/>
            <a:ext cx="699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Score :</a:t>
            </a:r>
          </a:p>
        </p:txBody>
      </p: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E1898645-5F97-44B3-8C38-B03FE5B297E9}"/>
              </a:ext>
            </a:extLst>
          </p:cNvPr>
          <p:cNvGrpSpPr/>
          <p:nvPr/>
        </p:nvGrpSpPr>
        <p:grpSpPr>
          <a:xfrm>
            <a:off x="1620326" y="8715646"/>
            <a:ext cx="1215218" cy="307777"/>
            <a:chOff x="1745326" y="8715646"/>
            <a:chExt cx="1215218" cy="307777"/>
          </a:xfrm>
        </p:grpSpPr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C6988827-6A47-4B12-85F8-437D50105B02}"/>
                </a:ext>
              </a:extLst>
            </p:cNvPr>
            <p:cNvSpPr/>
            <p:nvPr/>
          </p:nvSpPr>
          <p:spPr>
            <a:xfrm>
              <a:off x="1745326" y="8719849"/>
              <a:ext cx="1215218" cy="299370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125" name="ZoneTexte 124">
              <a:extLst>
                <a:ext uri="{FF2B5EF4-FFF2-40B4-BE49-F238E27FC236}">
                  <a16:creationId xmlns:a16="http://schemas.microsoft.com/office/drawing/2014/main" id="{57FBDD0A-8E4F-4835-94DF-D20A294D989E}"/>
                </a:ext>
              </a:extLst>
            </p:cNvPr>
            <p:cNvSpPr txBox="1"/>
            <p:nvPr/>
          </p:nvSpPr>
          <p:spPr>
            <a:xfrm>
              <a:off x="2369204" y="8715646"/>
              <a:ext cx="5364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/>
                <a:t>/10</a:t>
              </a:r>
            </a:p>
          </p:txBody>
        </p:sp>
      </p:grpSp>
      <p:sp>
        <p:nvSpPr>
          <p:cNvPr id="126" name="ZoneTexte 125">
            <a:extLst>
              <a:ext uri="{FF2B5EF4-FFF2-40B4-BE49-F238E27FC236}">
                <a16:creationId xmlns:a16="http://schemas.microsoft.com/office/drawing/2014/main" id="{0D531BCC-7A61-4114-B940-916A3C30BF80}"/>
              </a:ext>
            </a:extLst>
          </p:cNvPr>
          <p:cNvSpPr txBox="1"/>
          <p:nvPr/>
        </p:nvSpPr>
        <p:spPr>
          <a:xfrm>
            <a:off x="3312492" y="8715646"/>
            <a:ext cx="974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Signature :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AA70FA09-C2C9-4CF6-A2F4-EC7B8B56870F}"/>
              </a:ext>
            </a:extLst>
          </p:cNvPr>
          <p:cNvSpPr/>
          <p:nvPr/>
        </p:nvSpPr>
        <p:spPr>
          <a:xfrm>
            <a:off x="4764118" y="8679072"/>
            <a:ext cx="1729476" cy="380925"/>
          </a:xfrm>
          <a:prstGeom prst="rect">
            <a:avLst/>
          </a:prstGeom>
          <a:noFill/>
          <a:ln w="28575">
            <a:solidFill>
              <a:srgbClr val="0948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grpSp>
        <p:nvGrpSpPr>
          <p:cNvPr id="75" name="Groupe 74">
            <a:extLst>
              <a:ext uri="{FF2B5EF4-FFF2-40B4-BE49-F238E27FC236}">
                <a16:creationId xmlns:a16="http://schemas.microsoft.com/office/drawing/2014/main" id="{3C34B852-1E7E-462E-8EC5-EF74BB6E9C49}"/>
              </a:ext>
            </a:extLst>
          </p:cNvPr>
          <p:cNvGrpSpPr/>
          <p:nvPr/>
        </p:nvGrpSpPr>
        <p:grpSpPr>
          <a:xfrm>
            <a:off x="83982" y="6144006"/>
            <a:ext cx="3561452" cy="246221"/>
            <a:chOff x="83982" y="6862911"/>
            <a:chExt cx="3561452" cy="246221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3F6F68EA-6DF8-4213-B15C-932D61CD32B9}"/>
                </a:ext>
              </a:extLst>
            </p:cNvPr>
            <p:cNvSpPr/>
            <p:nvPr/>
          </p:nvSpPr>
          <p:spPr>
            <a:xfrm>
              <a:off x="83982" y="6862911"/>
              <a:ext cx="3561452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sz="1000" dirty="0"/>
                <a:t>    Protéger                              Alerter                           Porter Secours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14A0A5B1-ED41-4FFB-80D6-34D620576800}"/>
                </a:ext>
              </a:extLst>
            </p:cNvPr>
            <p:cNvSpPr/>
            <p:nvPr/>
          </p:nvSpPr>
          <p:spPr>
            <a:xfrm>
              <a:off x="112534" y="6942737"/>
              <a:ext cx="107557" cy="108000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00" dirty="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498B4D2-35B7-4A48-9F45-F8A68CF11237}"/>
                </a:ext>
              </a:extLst>
            </p:cNvPr>
            <p:cNvSpPr/>
            <p:nvPr/>
          </p:nvSpPr>
          <p:spPr>
            <a:xfrm>
              <a:off x="1449235" y="6942737"/>
              <a:ext cx="107557" cy="108000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00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83FC2809-775E-4F28-8263-7984E0961F0E}"/>
                </a:ext>
              </a:extLst>
            </p:cNvPr>
            <p:cNvSpPr/>
            <p:nvPr/>
          </p:nvSpPr>
          <p:spPr>
            <a:xfrm>
              <a:off x="2564904" y="6952074"/>
              <a:ext cx="107557" cy="108000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00" dirty="0"/>
            </a:p>
          </p:txBody>
        </p:sp>
      </p:grpSp>
      <p:sp>
        <p:nvSpPr>
          <p:cNvPr id="139" name="Rectangle 138">
            <a:extLst>
              <a:ext uri="{FF2B5EF4-FFF2-40B4-BE49-F238E27FC236}">
                <a16:creationId xmlns:a16="http://schemas.microsoft.com/office/drawing/2014/main" id="{531F3CAE-D791-4657-A577-A53855960EEE}"/>
              </a:ext>
            </a:extLst>
          </p:cNvPr>
          <p:cNvSpPr/>
          <p:nvPr/>
        </p:nvSpPr>
        <p:spPr>
          <a:xfrm>
            <a:off x="5291551" y="350099"/>
            <a:ext cx="16658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1000" dirty="0"/>
              <a:t>FOR FS </a:t>
            </a:r>
            <a:r>
              <a:rPr lang="fr-FR" sz="1000"/>
              <a:t>029A V3 </a:t>
            </a:r>
            <a:r>
              <a:rPr lang="fr-FR" sz="1000" dirty="0"/>
              <a:t>11/02/2025</a:t>
            </a:r>
          </a:p>
        </p:txBody>
      </p:sp>
      <p:grpSp>
        <p:nvGrpSpPr>
          <p:cNvPr id="186" name="Groupe 185">
            <a:extLst>
              <a:ext uri="{FF2B5EF4-FFF2-40B4-BE49-F238E27FC236}">
                <a16:creationId xmlns:a16="http://schemas.microsoft.com/office/drawing/2014/main" id="{7CEE709C-BC8A-4574-98F7-7FE8243B8869}"/>
              </a:ext>
            </a:extLst>
          </p:cNvPr>
          <p:cNvGrpSpPr/>
          <p:nvPr/>
        </p:nvGrpSpPr>
        <p:grpSpPr>
          <a:xfrm>
            <a:off x="122638" y="7422430"/>
            <a:ext cx="5032450" cy="414344"/>
            <a:chOff x="122638" y="7884368"/>
            <a:chExt cx="5032450" cy="414344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79DBDC6E-83E0-41FB-9F03-D9EA7C71D8E7}"/>
                </a:ext>
              </a:extLst>
            </p:cNvPr>
            <p:cNvSpPr/>
            <p:nvPr/>
          </p:nvSpPr>
          <p:spPr>
            <a:xfrm>
              <a:off x="211692" y="7884368"/>
              <a:ext cx="4943396" cy="4143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07000"/>
                </a:lnSpc>
              </a:pPr>
              <a:r>
                <a:rPr lang="fr-FR" sz="1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En triant mes déchets 		En adoptant l’éco-conduite</a:t>
              </a:r>
            </a:p>
            <a:p>
              <a:pPr lvl="0">
                <a:lnSpc>
                  <a:spcPct val="107000"/>
                </a:lnSpc>
              </a:pPr>
              <a:r>
                <a:rPr lang="fr-FR" sz="1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Eteindre la lumière en sortant d’une pièce 	</a:t>
              </a:r>
              <a:r>
                <a:rPr lang="fr-FR" sz="1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En réduisant mes impressions papiers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7BDBB1B4-D842-485D-93BA-25BCEB185A30}"/>
                </a:ext>
              </a:extLst>
            </p:cNvPr>
            <p:cNvSpPr/>
            <p:nvPr/>
          </p:nvSpPr>
          <p:spPr>
            <a:xfrm>
              <a:off x="122638" y="7965299"/>
              <a:ext cx="108000" cy="106628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1C27ED39-1A55-471E-8504-728C846B736C}"/>
                </a:ext>
              </a:extLst>
            </p:cNvPr>
            <p:cNvSpPr/>
            <p:nvPr/>
          </p:nvSpPr>
          <p:spPr>
            <a:xfrm>
              <a:off x="122638" y="8126263"/>
              <a:ext cx="108000" cy="106628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54FE736A-FB34-4F15-85A1-B76C6A3822B1}"/>
                </a:ext>
              </a:extLst>
            </p:cNvPr>
            <p:cNvSpPr/>
            <p:nvPr/>
          </p:nvSpPr>
          <p:spPr>
            <a:xfrm>
              <a:off x="2871723" y="8126263"/>
              <a:ext cx="108000" cy="106628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096A11C4-8624-4B84-86C5-0AF578F3D365}"/>
                </a:ext>
              </a:extLst>
            </p:cNvPr>
            <p:cNvSpPr/>
            <p:nvPr/>
          </p:nvSpPr>
          <p:spPr>
            <a:xfrm>
              <a:off x="2871723" y="7965299"/>
              <a:ext cx="108000" cy="106628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</p:grpSp>
      <p:grpSp>
        <p:nvGrpSpPr>
          <p:cNvPr id="170" name="Groupe 169">
            <a:extLst>
              <a:ext uri="{FF2B5EF4-FFF2-40B4-BE49-F238E27FC236}">
                <a16:creationId xmlns:a16="http://schemas.microsoft.com/office/drawing/2014/main" id="{6EC80E1D-D3C0-4A15-B2B8-1980F22C5237}"/>
              </a:ext>
            </a:extLst>
          </p:cNvPr>
          <p:cNvGrpSpPr/>
          <p:nvPr/>
        </p:nvGrpSpPr>
        <p:grpSpPr>
          <a:xfrm>
            <a:off x="-22639" y="570329"/>
            <a:ext cx="4010769" cy="261610"/>
            <a:chOff x="-5705" y="570329"/>
            <a:chExt cx="4010769" cy="261610"/>
          </a:xfrm>
        </p:grpSpPr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1F6EA443-8B72-4CE3-805D-E9A7E00FF002}"/>
                </a:ext>
              </a:extLst>
            </p:cNvPr>
            <p:cNvSpPr txBox="1"/>
            <p:nvPr/>
          </p:nvSpPr>
          <p:spPr>
            <a:xfrm>
              <a:off x="-5705" y="570329"/>
              <a:ext cx="401076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b="1" u="sng" dirty="0"/>
                <a:t>BU :</a:t>
              </a:r>
              <a:r>
                <a:rPr lang="fr-FR" sz="1100" dirty="0"/>
                <a:t>	Chubb PI	Chubb SSI          Delta            Cemis</a:t>
              </a:r>
              <a:endParaRPr lang="fr-FR" sz="1100" b="1" u="sng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D74B0C6-663F-4BD8-9653-F2670FB6E8FA}"/>
                </a:ext>
              </a:extLst>
            </p:cNvPr>
            <p:cNvSpPr/>
            <p:nvPr/>
          </p:nvSpPr>
          <p:spPr>
            <a:xfrm>
              <a:off x="836712" y="652209"/>
              <a:ext cx="109438" cy="97091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46C111B-7C49-47DF-ACD0-9D7FB4D52030}"/>
                </a:ext>
              </a:extLst>
            </p:cNvPr>
            <p:cNvSpPr/>
            <p:nvPr/>
          </p:nvSpPr>
          <p:spPr>
            <a:xfrm>
              <a:off x="1740345" y="652209"/>
              <a:ext cx="108000" cy="108000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6AA7EA8-C005-4D2A-910D-391B28103BA6}"/>
                </a:ext>
              </a:extLst>
            </p:cNvPr>
            <p:cNvSpPr/>
            <p:nvPr/>
          </p:nvSpPr>
          <p:spPr>
            <a:xfrm>
              <a:off x="2636912" y="652209"/>
              <a:ext cx="108000" cy="108000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0A30CA83-30A9-4A95-8C32-3D3166CFB1D4}"/>
                </a:ext>
              </a:extLst>
            </p:cNvPr>
            <p:cNvSpPr/>
            <p:nvPr/>
          </p:nvSpPr>
          <p:spPr>
            <a:xfrm>
              <a:off x="3284984" y="652209"/>
              <a:ext cx="108000" cy="108000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</p:grpSp>
      <p:grpSp>
        <p:nvGrpSpPr>
          <p:cNvPr id="150" name="Groupe 149">
            <a:extLst>
              <a:ext uri="{FF2B5EF4-FFF2-40B4-BE49-F238E27FC236}">
                <a16:creationId xmlns:a16="http://schemas.microsoft.com/office/drawing/2014/main" id="{6F4732FE-DC32-4EAF-9635-8FFE5410E0F1}"/>
              </a:ext>
            </a:extLst>
          </p:cNvPr>
          <p:cNvGrpSpPr/>
          <p:nvPr/>
        </p:nvGrpSpPr>
        <p:grpSpPr>
          <a:xfrm>
            <a:off x="44864" y="1093504"/>
            <a:ext cx="4714187" cy="246221"/>
            <a:chOff x="44864" y="1135315"/>
            <a:chExt cx="4714187" cy="246221"/>
          </a:xfrm>
        </p:grpSpPr>
        <p:sp>
          <p:nvSpPr>
            <p:cNvPr id="41" name="Rectangle : coins arrondis 40">
              <a:extLst>
                <a:ext uri="{FF2B5EF4-FFF2-40B4-BE49-F238E27FC236}">
                  <a16:creationId xmlns:a16="http://schemas.microsoft.com/office/drawing/2014/main" id="{5FB4A575-95FF-49E3-8FC4-217D003568B2}"/>
                </a:ext>
              </a:extLst>
            </p:cNvPr>
            <p:cNvSpPr/>
            <p:nvPr/>
          </p:nvSpPr>
          <p:spPr>
            <a:xfrm>
              <a:off x="44864" y="1150425"/>
              <a:ext cx="4680000" cy="216000"/>
            </a:xfrm>
            <a:prstGeom prst="roundRect">
              <a:avLst/>
            </a:prstGeom>
            <a:solidFill>
              <a:srgbClr val="09488B"/>
            </a:solidFill>
            <a:ln>
              <a:solidFill>
                <a:srgbClr val="00206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1000" dirty="0"/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BB4A67BC-68B0-4BF9-97FA-452E09DF3688}"/>
                </a:ext>
              </a:extLst>
            </p:cNvPr>
            <p:cNvSpPr txBox="1"/>
            <p:nvPr/>
          </p:nvSpPr>
          <p:spPr>
            <a:xfrm>
              <a:off x="44864" y="1135315"/>
              <a:ext cx="298274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>
                  <a:solidFill>
                    <a:schemeClr val="bg1"/>
                  </a:solidFill>
                </a:rPr>
                <a:t>1 - Combien d’entité possède Chubb Fire &amp; Security ?</a:t>
              </a:r>
            </a:p>
          </p:txBody>
        </p:sp>
        <p:sp>
          <p:nvSpPr>
            <p:cNvPr id="120" name="ZoneTexte 119">
              <a:extLst>
                <a:ext uri="{FF2B5EF4-FFF2-40B4-BE49-F238E27FC236}">
                  <a16:creationId xmlns:a16="http://schemas.microsoft.com/office/drawing/2014/main" id="{B604CA94-2739-4CF9-96B2-4C5DB4984B4F}"/>
                </a:ext>
              </a:extLst>
            </p:cNvPr>
            <p:cNvSpPr txBox="1"/>
            <p:nvPr/>
          </p:nvSpPr>
          <p:spPr>
            <a:xfrm>
              <a:off x="4263563" y="1135315"/>
              <a:ext cx="4954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</a:rPr>
                <a:t>0,5 pt</a:t>
              </a: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880549D9-896C-4D76-8DA7-D26894C29464}"/>
                </a:ext>
              </a:extLst>
            </p:cNvPr>
            <p:cNvSpPr/>
            <p:nvPr/>
          </p:nvSpPr>
          <p:spPr>
            <a:xfrm>
              <a:off x="3783259" y="1160215"/>
              <a:ext cx="505522" cy="19642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r"/>
              <a:r>
                <a:rPr lang="fr-FR" sz="1000" dirty="0">
                  <a:solidFill>
                    <a:srgbClr val="09488B"/>
                  </a:solidFill>
                </a:rPr>
                <a:t>/</a:t>
              </a:r>
              <a:r>
                <a:rPr lang="fr-FR" sz="1000" dirty="0">
                  <a:solidFill>
                    <a:schemeClr val="bg1"/>
                  </a:solidFill>
                </a:rPr>
                <a:t>. </a:t>
              </a:r>
              <a:r>
                <a:rPr lang="fr-FR" sz="1000" dirty="0">
                  <a:solidFill>
                    <a:srgbClr val="09488B"/>
                  </a:solidFill>
                </a:rPr>
                <a:t>  </a:t>
              </a:r>
            </a:p>
          </p:txBody>
        </p:sp>
      </p:grpSp>
      <p:grpSp>
        <p:nvGrpSpPr>
          <p:cNvPr id="171" name="Groupe 170">
            <a:extLst>
              <a:ext uri="{FF2B5EF4-FFF2-40B4-BE49-F238E27FC236}">
                <a16:creationId xmlns:a16="http://schemas.microsoft.com/office/drawing/2014/main" id="{8A5C6F3E-831A-44D0-969F-51D7052EDAC7}"/>
              </a:ext>
            </a:extLst>
          </p:cNvPr>
          <p:cNvGrpSpPr/>
          <p:nvPr/>
        </p:nvGrpSpPr>
        <p:grpSpPr>
          <a:xfrm>
            <a:off x="44864" y="1348574"/>
            <a:ext cx="4680000" cy="246221"/>
            <a:chOff x="44864" y="1431675"/>
            <a:chExt cx="4680000" cy="246221"/>
          </a:xfrm>
        </p:grpSpPr>
        <p:sp>
          <p:nvSpPr>
            <p:cNvPr id="33" name="Rectangle : coins arrondis 32">
              <a:extLst>
                <a:ext uri="{FF2B5EF4-FFF2-40B4-BE49-F238E27FC236}">
                  <a16:creationId xmlns:a16="http://schemas.microsoft.com/office/drawing/2014/main" id="{0ED9B818-F470-40BA-AACF-50474F69D429}"/>
                </a:ext>
              </a:extLst>
            </p:cNvPr>
            <p:cNvSpPr/>
            <p:nvPr/>
          </p:nvSpPr>
          <p:spPr>
            <a:xfrm>
              <a:off x="44864" y="1446785"/>
              <a:ext cx="4680000" cy="216000"/>
            </a:xfrm>
            <a:prstGeom prst="roundRect">
              <a:avLst/>
            </a:prstGeom>
            <a:solidFill>
              <a:srgbClr val="09488B"/>
            </a:solidFill>
            <a:ln>
              <a:solidFill>
                <a:srgbClr val="00206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1000" dirty="0"/>
            </a:p>
          </p:txBody>
        </p: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7BF927CB-CC94-483C-A705-89641A5B7721}"/>
                </a:ext>
              </a:extLst>
            </p:cNvPr>
            <p:cNvSpPr txBox="1"/>
            <p:nvPr/>
          </p:nvSpPr>
          <p:spPr>
            <a:xfrm>
              <a:off x="44864" y="1431675"/>
              <a:ext cx="23674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>
                  <a:solidFill>
                    <a:schemeClr val="bg1"/>
                  </a:solidFill>
                </a:rPr>
                <a:t>2 - Qu’est ce que la politique EHS ?</a:t>
              </a:r>
            </a:p>
          </p:txBody>
        </p:sp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A5EFDE64-E96E-4C9E-87A0-74EE468756A8}"/>
                </a:ext>
              </a:extLst>
            </p:cNvPr>
            <p:cNvSpPr txBox="1"/>
            <p:nvPr/>
          </p:nvSpPr>
          <p:spPr>
            <a:xfrm>
              <a:off x="4297791" y="1431675"/>
              <a:ext cx="4270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</a:rPr>
                <a:t>1 pt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C9ACDD21-88CC-462F-ADA5-1B4665F4AFCA}"/>
                </a:ext>
              </a:extLst>
            </p:cNvPr>
            <p:cNvSpPr/>
            <p:nvPr/>
          </p:nvSpPr>
          <p:spPr>
            <a:xfrm>
              <a:off x="3783259" y="1456575"/>
              <a:ext cx="505522" cy="19642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r"/>
              <a:r>
                <a:rPr lang="fr-FR" sz="1000" dirty="0">
                  <a:solidFill>
                    <a:srgbClr val="09488B"/>
                  </a:solidFill>
                </a:rPr>
                <a:t>/</a:t>
              </a:r>
              <a:r>
                <a:rPr lang="fr-FR" sz="1000" dirty="0">
                  <a:solidFill>
                    <a:schemeClr val="bg1"/>
                  </a:solidFill>
                </a:rPr>
                <a:t>. </a:t>
              </a:r>
              <a:r>
                <a:rPr lang="fr-FR" sz="1000" dirty="0">
                  <a:solidFill>
                    <a:srgbClr val="09488B"/>
                  </a:solidFill>
                </a:rPr>
                <a:t>  </a:t>
              </a:r>
            </a:p>
          </p:txBody>
        </p:sp>
      </p:grpSp>
      <p:grpSp>
        <p:nvGrpSpPr>
          <p:cNvPr id="182" name="Groupe 181">
            <a:extLst>
              <a:ext uri="{FF2B5EF4-FFF2-40B4-BE49-F238E27FC236}">
                <a16:creationId xmlns:a16="http://schemas.microsoft.com/office/drawing/2014/main" id="{3E395AD9-C6B5-4ACA-9CF2-BCC074B3E6C4}"/>
              </a:ext>
            </a:extLst>
          </p:cNvPr>
          <p:cNvGrpSpPr/>
          <p:nvPr/>
        </p:nvGrpSpPr>
        <p:grpSpPr>
          <a:xfrm>
            <a:off x="44623" y="5895094"/>
            <a:ext cx="4680000" cy="246221"/>
            <a:chOff x="44623" y="6297239"/>
            <a:chExt cx="4680000" cy="246221"/>
          </a:xfrm>
        </p:grpSpPr>
        <p:sp>
          <p:nvSpPr>
            <p:cNvPr id="43" name="Rectangle : coins arrondis 42">
              <a:extLst>
                <a:ext uri="{FF2B5EF4-FFF2-40B4-BE49-F238E27FC236}">
                  <a16:creationId xmlns:a16="http://schemas.microsoft.com/office/drawing/2014/main" id="{92478565-471A-4D63-B3BB-93B4453689FE}"/>
                </a:ext>
              </a:extLst>
            </p:cNvPr>
            <p:cNvSpPr/>
            <p:nvPr/>
          </p:nvSpPr>
          <p:spPr>
            <a:xfrm>
              <a:off x="44623" y="6312349"/>
              <a:ext cx="4680000" cy="216000"/>
            </a:xfrm>
            <a:prstGeom prst="roundRect">
              <a:avLst/>
            </a:prstGeom>
            <a:solidFill>
              <a:srgbClr val="09488B"/>
            </a:solidFill>
            <a:ln>
              <a:solidFill>
                <a:srgbClr val="00206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1000" dirty="0"/>
            </a:p>
          </p:txBody>
        </p: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699E926C-4B5B-444B-BC58-0973B096F7CA}"/>
                </a:ext>
              </a:extLst>
            </p:cNvPr>
            <p:cNvSpPr txBox="1"/>
            <p:nvPr/>
          </p:nvSpPr>
          <p:spPr>
            <a:xfrm>
              <a:off x="44624" y="6297239"/>
              <a:ext cx="37601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>
                  <a:solidFill>
                    <a:schemeClr val="bg1"/>
                  </a:solidFill>
                </a:rPr>
                <a:t>11 - Lors de la découverte d’une victime, que faut-il faire en priorité ?</a:t>
              </a:r>
            </a:p>
          </p:txBody>
        </p:sp>
        <p:sp>
          <p:nvSpPr>
            <p:cNvPr id="134" name="ZoneTexte 133">
              <a:extLst>
                <a:ext uri="{FF2B5EF4-FFF2-40B4-BE49-F238E27FC236}">
                  <a16:creationId xmlns:a16="http://schemas.microsoft.com/office/drawing/2014/main" id="{E0054A2E-D8E1-4F53-A1C1-29E3A405C1FE}"/>
                </a:ext>
              </a:extLst>
            </p:cNvPr>
            <p:cNvSpPr txBox="1"/>
            <p:nvPr/>
          </p:nvSpPr>
          <p:spPr>
            <a:xfrm>
              <a:off x="4317080" y="6297239"/>
              <a:ext cx="3884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</a:rPr>
                <a:t>1 pt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3BF82737-41F4-4D2B-AAEE-7F5C264254FC}"/>
                </a:ext>
              </a:extLst>
            </p:cNvPr>
            <p:cNvSpPr/>
            <p:nvPr/>
          </p:nvSpPr>
          <p:spPr>
            <a:xfrm>
              <a:off x="3787965" y="6322139"/>
              <a:ext cx="505522" cy="19642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r"/>
              <a:r>
                <a:rPr lang="fr-FR" sz="1000" dirty="0">
                  <a:solidFill>
                    <a:srgbClr val="09488B"/>
                  </a:solidFill>
                </a:rPr>
                <a:t>/</a:t>
              </a:r>
              <a:r>
                <a:rPr lang="fr-FR" sz="1000" dirty="0">
                  <a:solidFill>
                    <a:schemeClr val="bg1"/>
                  </a:solidFill>
                </a:rPr>
                <a:t>. </a:t>
              </a:r>
              <a:r>
                <a:rPr lang="fr-FR" sz="1000" dirty="0">
                  <a:solidFill>
                    <a:srgbClr val="09488B"/>
                  </a:solidFill>
                </a:rPr>
                <a:t>  </a:t>
              </a:r>
            </a:p>
          </p:txBody>
        </p:sp>
      </p:grpSp>
      <p:grpSp>
        <p:nvGrpSpPr>
          <p:cNvPr id="179" name="Groupe 178">
            <a:extLst>
              <a:ext uri="{FF2B5EF4-FFF2-40B4-BE49-F238E27FC236}">
                <a16:creationId xmlns:a16="http://schemas.microsoft.com/office/drawing/2014/main" id="{00882BE0-4119-4D4F-9327-8B64038A09D6}"/>
              </a:ext>
            </a:extLst>
          </p:cNvPr>
          <p:cNvGrpSpPr/>
          <p:nvPr/>
        </p:nvGrpSpPr>
        <p:grpSpPr>
          <a:xfrm>
            <a:off x="44864" y="4486090"/>
            <a:ext cx="4709924" cy="246221"/>
            <a:chOff x="44864" y="4845900"/>
            <a:chExt cx="4709924" cy="246221"/>
          </a:xfrm>
        </p:grpSpPr>
        <p:sp>
          <p:nvSpPr>
            <p:cNvPr id="40" name="Rectangle : coins arrondis 39">
              <a:extLst>
                <a:ext uri="{FF2B5EF4-FFF2-40B4-BE49-F238E27FC236}">
                  <a16:creationId xmlns:a16="http://schemas.microsoft.com/office/drawing/2014/main" id="{33A329D1-37B3-4806-AC58-3D621BE43A89}"/>
                </a:ext>
              </a:extLst>
            </p:cNvPr>
            <p:cNvSpPr/>
            <p:nvPr/>
          </p:nvSpPr>
          <p:spPr>
            <a:xfrm>
              <a:off x="44864" y="4861010"/>
              <a:ext cx="4680000" cy="216000"/>
            </a:xfrm>
            <a:prstGeom prst="roundRect">
              <a:avLst/>
            </a:prstGeom>
            <a:solidFill>
              <a:srgbClr val="09488B"/>
            </a:solidFill>
            <a:ln>
              <a:solidFill>
                <a:srgbClr val="00206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1000" dirty="0"/>
            </a:p>
          </p:txBody>
        </p:sp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784669B8-A283-40B7-A109-233999361048}"/>
                </a:ext>
              </a:extLst>
            </p:cNvPr>
            <p:cNvSpPr txBox="1"/>
            <p:nvPr/>
          </p:nvSpPr>
          <p:spPr>
            <a:xfrm>
              <a:off x="44865" y="4845900"/>
              <a:ext cx="259204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>
                  <a:solidFill>
                    <a:schemeClr val="bg1"/>
                  </a:solidFill>
                </a:rPr>
                <a:t>8 - Quand doit-on faire appel au Stop Work ?</a:t>
              </a:r>
            </a:p>
          </p:txBody>
        </p:sp>
        <p:sp>
          <p:nvSpPr>
            <p:cNvPr id="123" name="ZoneTexte 122">
              <a:extLst>
                <a:ext uri="{FF2B5EF4-FFF2-40B4-BE49-F238E27FC236}">
                  <a16:creationId xmlns:a16="http://schemas.microsoft.com/office/drawing/2014/main" id="{EC8EA2FD-673C-4D0A-9ECB-9F3306FBC8EE}"/>
                </a:ext>
              </a:extLst>
            </p:cNvPr>
            <p:cNvSpPr txBox="1"/>
            <p:nvPr/>
          </p:nvSpPr>
          <p:spPr>
            <a:xfrm>
              <a:off x="4267827" y="4845900"/>
              <a:ext cx="4869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</a:rPr>
                <a:t>0,5 pt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2CCDBC7-6BA3-4D55-9B66-8369B515AD25}"/>
                </a:ext>
              </a:extLst>
            </p:cNvPr>
            <p:cNvSpPr/>
            <p:nvPr/>
          </p:nvSpPr>
          <p:spPr>
            <a:xfrm>
              <a:off x="3787965" y="4870800"/>
              <a:ext cx="505522" cy="19642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r"/>
              <a:r>
                <a:rPr lang="fr-FR" sz="1000" dirty="0">
                  <a:solidFill>
                    <a:srgbClr val="09488B"/>
                  </a:solidFill>
                </a:rPr>
                <a:t>/</a:t>
              </a:r>
              <a:r>
                <a:rPr lang="fr-FR" sz="1000" dirty="0">
                  <a:solidFill>
                    <a:schemeClr val="bg1"/>
                  </a:solidFill>
                </a:rPr>
                <a:t>. </a:t>
              </a:r>
              <a:r>
                <a:rPr lang="fr-FR" sz="1000" dirty="0">
                  <a:solidFill>
                    <a:srgbClr val="09488B"/>
                  </a:solidFill>
                </a:rPr>
                <a:t>  </a:t>
              </a:r>
            </a:p>
          </p:txBody>
        </p:sp>
      </p:grpSp>
      <p:grpSp>
        <p:nvGrpSpPr>
          <p:cNvPr id="178" name="Groupe 177">
            <a:extLst>
              <a:ext uri="{FF2B5EF4-FFF2-40B4-BE49-F238E27FC236}">
                <a16:creationId xmlns:a16="http://schemas.microsoft.com/office/drawing/2014/main" id="{7AFC16B6-BD63-4C0D-AF1A-741589E90C02}"/>
              </a:ext>
            </a:extLst>
          </p:cNvPr>
          <p:cNvGrpSpPr/>
          <p:nvPr/>
        </p:nvGrpSpPr>
        <p:grpSpPr>
          <a:xfrm>
            <a:off x="44864" y="4002714"/>
            <a:ext cx="4759560" cy="246221"/>
            <a:chOff x="44864" y="4337123"/>
            <a:chExt cx="4759560" cy="246221"/>
          </a:xfrm>
        </p:grpSpPr>
        <p:sp>
          <p:nvSpPr>
            <p:cNvPr id="36" name="Rectangle : coins arrondis 35">
              <a:extLst>
                <a:ext uri="{FF2B5EF4-FFF2-40B4-BE49-F238E27FC236}">
                  <a16:creationId xmlns:a16="http://schemas.microsoft.com/office/drawing/2014/main" id="{926E1A71-FF04-4B8D-BCDB-F77195AA62C7}"/>
                </a:ext>
              </a:extLst>
            </p:cNvPr>
            <p:cNvSpPr/>
            <p:nvPr/>
          </p:nvSpPr>
          <p:spPr>
            <a:xfrm>
              <a:off x="44864" y="4352233"/>
              <a:ext cx="4680000" cy="216000"/>
            </a:xfrm>
            <a:prstGeom prst="roundRect">
              <a:avLst/>
            </a:prstGeom>
            <a:solidFill>
              <a:srgbClr val="09488B"/>
            </a:solidFill>
            <a:ln>
              <a:solidFill>
                <a:srgbClr val="00206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1000" dirty="0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2088C109-A8CF-4811-9466-4BC7DB5D30F3}"/>
                </a:ext>
              </a:extLst>
            </p:cNvPr>
            <p:cNvSpPr txBox="1"/>
            <p:nvPr/>
          </p:nvSpPr>
          <p:spPr>
            <a:xfrm>
              <a:off x="44864" y="4337123"/>
              <a:ext cx="324012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>
                  <a:solidFill>
                    <a:schemeClr val="bg1"/>
                  </a:solidFill>
                </a:rPr>
                <a:t>7 - Sur le terrain, quels sont les EPI minimum obligatoires ?</a:t>
              </a:r>
            </a:p>
          </p:txBody>
        </p:sp>
        <p:sp>
          <p:nvSpPr>
            <p:cNvPr id="133" name="ZoneTexte 132">
              <a:extLst>
                <a:ext uri="{FF2B5EF4-FFF2-40B4-BE49-F238E27FC236}">
                  <a16:creationId xmlns:a16="http://schemas.microsoft.com/office/drawing/2014/main" id="{BD7BE05E-537F-435C-924B-D7540CBBBE19}"/>
                </a:ext>
              </a:extLst>
            </p:cNvPr>
            <p:cNvSpPr txBox="1"/>
            <p:nvPr/>
          </p:nvSpPr>
          <p:spPr>
            <a:xfrm>
              <a:off x="4212264" y="4337123"/>
              <a:ext cx="5921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>
                  <a:solidFill>
                    <a:schemeClr val="bg1"/>
                  </a:solidFill>
                </a:rPr>
                <a:t>0,5 </a:t>
              </a:r>
              <a:r>
                <a:rPr lang="fr-FR" sz="1000" dirty="0">
                  <a:solidFill>
                    <a:schemeClr val="bg1"/>
                  </a:solidFill>
                </a:rPr>
                <a:t>pt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9848BB34-6477-4931-B0C4-9D563CF1C14F}"/>
                </a:ext>
              </a:extLst>
            </p:cNvPr>
            <p:cNvSpPr/>
            <p:nvPr/>
          </p:nvSpPr>
          <p:spPr>
            <a:xfrm>
              <a:off x="3787965" y="4362023"/>
              <a:ext cx="505522" cy="19642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r"/>
              <a:r>
                <a:rPr lang="fr-FR" sz="1000" dirty="0">
                  <a:solidFill>
                    <a:srgbClr val="09488B"/>
                  </a:solidFill>
                </a:rPr>
                <a:t>/</a:t>
              </a:r>
              <a:r>
                <a:rPr lang="fr-FR" sz="1000" dirty="0">
                  <a:solidFill>
                    <a:schemeClr val="bg1"/>
                  </a:solidFill>
                </a:rPr>
                <a:t>. </a:t>
              </a:r>
              <a:r>
                <a:rPr lang="fr-FR" sz="1000" dirty="0">
                  <a:solidFill>
                    <a:srgbClr val="09488B"/>
                  </a:solidFill>
                </a:rPr>
                <a:t>  </a:t>
              </a:r>
            </a:p>
          </p:txBody>
        </p:sp>
      </p:grpSp>
      <p:grpSp>
        <p:nvGrpSpPr>
          <p:cNvPr id="175" name="Groupe 174">
            <a:extLst>
              <a:ext uri="{FF2B5EF4-FFF2-40B4-BE49-F238E27FC236}">
                <a16:creationId xmlns:a16="http://schemas.microsoft.com/office/drawing/2014/main" id="{C36648AC-7C5F-4332-9674-F367C75A95AB}"/>
              </a:ext>
            </a:extLst>
          </p:cNvPr>
          <p:cNvGrpSpPr/>
          <p:nvPr/>
        </p:nvGrpSpPr>
        <p:grpSpPr>
          <a:xfrm>
            <a:off x="44864" y="3199047"/>
            <a:ext cx="4714188" cy="246221"/>
            <a:chOff x="44864" y="3448786"/>
            <a:chExt cx="4714188" cy="246221"/>
          </a:xfrm>
        </p:grpSpPr>
        <p:sp>
          <p:nvSpPr>
            <p:cNvPr id="37" name="Rectangle : coins arrondis 36">
              <a:extLst>
                <a:ext uri="{FF2B5EF4-FFF2-40B4-BE49-F238E27FC236}">
                  <a16:creationId xmlns:a16="http://schemas.microsoft.com/office/drawing/2014/main" id="{1C1F913A-93CC-41C3-B9D8-082DADB5D3DD}"/>
                </a:ext>
              </a:extLst>
            </p:cNvPr>
            <p:cNvSpPr/>
            <p:nvPr/>
          </p:nvSpPr>
          <p:spPr>
            <a:xfrm>
              <a:off x="44864" y="3463896"/>
              <a:ext cx="4680000" cy="216000"/>
            </a:xfrm>
            <a:prstGeom prst="roundRect">
              <a:avLst/>
            </a:prstGeom>
            <a:solidFill>
              <a:srgbClr val="09488B"/>
            </a:solidFill>
            <a:ln>
              <a:solidFill>
                <a:srgbClr val="00206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1000" dirty="0"/>
            </a:p>
          </p:txBody>
        </p: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D311E8F8-8731-46E7-B40F-B3DF0DE261F0}"/>
                </a:ext>
              </a:extLst>
            </p:cNvPr>
            <p:cNvSpPr txBox="1"/>
            <p:nvPr/>
          </p:nvSpPr>
          <p:spPr>
            <a:xfrm>
              <a:off x="44864" y="3448786"/>
              <a:ext cx="155696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>
                  <a:solidFill>
                    <a:schemeClr val="bg1"/>
                  </a:solidFill>
                </a:rPr>
                <a:t>6 - Que signifie SAFE ?</a:t>
              </a:r>
            </a:p>
          </p:txBody>
        </p:sp>
        <p:sp>
          <p:nvSpPr>
            <p:cNvPr id="132" name="ZoneTexte 131">
              <a:extLst>
                <a:ext uri="{FF2B5EF4-FFF2-40B4-BE49-F238E27FC236}">
                  <a16:creationId xmlns:a16="http://schemas.microsoft.com/office/drawing/2014/main" id="{630D1DDC-05ED-4CF3-B88F-97AD7C89C09F}"/>
                </a:ext>
              </a:extLst>
            </p:cNvPr>
            <p:cNvSpPr txBox="1"/>
            <p:nvPr/>
          </p:nvSpPr>
          <p:spPr>
            <a:xfrm>
              <a:off x="4263563" y="3448786"/>
              <a:ext cx="49548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</a:rPr>
                <a:t>0,5 pt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F43377AC-E691-4C62-A3FA-11EBFCC26917}"/>
                </a:ext>
              </a:extLst>
            </p:cNvPr>
            <p:cNvSpPr/>
            <p:nvPr/>
          </p:nvSpPr>
          <p:spPr>
            <a:xfrm>
              <a:off x="3787965" y="3473686"/>
              <a:ext cx="505522" cy="19642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r"/>
              <a:r>
                <a:rPr lang="fr-FR" sz="1000" dirty="0">
                  <a:solidFill>
                    <a:srgbClr val="09488B"/>
                  </a:solidFill>
                </a:rPr>
                <a:t>/</a:t>
              </a:r>
              <a:r>
                <a:rPr lang="fr-FR" sz="1000" dirty="0">
                  <a:solidFill>
                    <a:schemeClr val="bg1"/>
                  </a:solidFill>
                </a:rPr>
                <a:t>. </a:t>
              </a:r>
              <a:r>
                <a:rPr lang="fr-FR" sz="1000" dirty="0">
                  <a:solidFill>
                    <a:srgbClr val="09488B"/>
                  </a:solidFill>
                </a:rPr>
                <a:t>  </a:t>
              </a:r>
            </a:p>
          </p:txBody>
        </p:sp>
      </p:grpSp>
      <p:grpSp>
        <p:nvGrpSpPr>
          <p:cNvPr id="174" name="Groupe 173">
            <a:extLst>
              <a:ext uri="{FF2B5EF4-FFF2-40B4-BE49-F238E27FC236}">
                <a16:creationId xmlns:a16="http://schemas.microsoft.com/office/drawing/2014/main" id="{8E128AD5-81C0-4D2C-A19B-4E4C37237BEA}"/>
              </a:ext>
            </a:extLst>
          </p:cNvPr>
          <p:cNvGrpSpPr/>
          <p:nvPr/>
        </p:nvGrpSpPr>
        <p:grpSpPr>
          <a:xfrm>
            <a:off x="44864" y="2937022"/>
            <a:ext cx="4714187" cy="246221"/>
            <a:chOff x="44864" y="3161360"/>
            <a:chExt cx="4714187" cy="246221"/>
          </a:xfrm>
        </p:grpSpPr>
        <p:sp>
          <p:nvSpPr>
            <p:cNvPr id="35" name="Rectangle : coins arrondis 34">
              <a:extLst>
                <a:ext uri="{FF2B5EF4-FFF2-40B4-BE49-F238E27FC236}">
                  <a16:creationId xmlns:a16="http://schemas.microsoft.com/office/drawing/2014/main" id="{7C5171E0-8AD2-44CC-AA58-2296ED70EECF}"/>
                </a:ext>
              </a:extLst>
            </p:cNvPr>
            <p:cNvSpPr/>
            <p:nvPr/>
          </p:nvSpPr>
          <p:spPr>
            <a:xfrm>
              <a:off x="44864" y="3176470"/>
              <a:ext cx="4680000" cy="216000"/>
            </a:xfrm>
            <a:prstGeom prst="roundRect">
              <a:avLst/>
            </a:prstGeom>
            <a:solidFill>
              <a:srgbClr val="09488B"/>
            </a:solidFill>
            <a:ln>
              <a:solidFill>
                <a:srgbClr val="00206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1000" dirty="0"/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F09D22E3-48D2-4673-998F-CB6F3347341B}"/>
                </a:ext>
              </a:extLst>
            </p:cNvPr>
            <p:cNvSpPr txBox="1"/>
            <p:nvPr/>
          </p:nvSpPr>
          <p:spPr>
            <a:xfrm>
              <a:off x="44864" y="3161360"/>
              <a:ext cx="302451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>
                  <a:solidFill>
                    <a:schemeClr val="bg1"/>
                  </a:solidFill>
                </a:rPr>
                <a:t>5 - Sommes-nous certifié MASE ?</a:t>
              </a:r>
            </a:p>
          </p:txBody>
        </p:sp>
        <p:sp>
          <p:nvSpPr>
            <p:cNvPr id="122" name="ZoneTexte 121">
              <a:extLst>
                <a:ext uri="{FF2B5EF4-FFF2-40B4-BE49-F238E27FC236}">
                  <a16:creationId xmlns:a16="http://schemas.microsoft.com/office/drawing/2014/main" id="{DE9A3D64-3B62-439D-9DB4-39AE33219621}"/>
                </a:ext>
              </a:extLst>
            </p:cNvPr>
            <p:cNvSpPr txBox="1"/>
            <p:nvPr/>
          </p:nvSpPr>
          <p:spPr>
            <a:xfrm>
              <a:off x="4263563" y="3161360"/>
              <a:ext cx="4954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</a:rPr>
                <a:t>0,5 pt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9A86667F-8F3B-423B-B01E-C7E111B6E963}"/>
                </a:ext>
              </a:extLst>
            </p:cNvPr>
            <p:cNvSpPr/>
            <p:nvPr/>
          </p:nvSpPr>
          <p:spPr>
            <a:xfrm>
              <a:off x="3787965" y="3186260"/>
              <a:ext cx="505522" cy="19642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r"/>
              <a:r>
                <a:rPr lang="fr-FR" sz="1000" dirty="0">
                  <a:solidFill>
                    <a:srgbClr val="09488B"/>
                  </a:solidFill>
                </a:rPr>
                <a:t>/</a:t>
              </a:r>
              <a:r>
                <a:rPr lang="fr-FR" sz="1000" dirty="0">
                  <a:solidFill>
                    <a:schemeClr val="bg1"/>
                  </a:solidFill>
                </a:rPr>
                <a:t>. </a:t>
              </a:r>
              <a:r>
                <a:rPr lang="fr-FR" sz="1000" dirty="0">
                  <a:solidFill>
                    <a:srgbClr val="09488B"/>
                  </a:solidFill>
                </a:rPr>
                <a:t>  </a:t>
              </a:r>
            </a:p>
          </p:txBody>
        </p:sp>
      </p:grpSp>
      <p:grpSp>
        <p:nvGrpSpPr>
          <p:cNvPr id="173" name="Groupe 172">
            <a:extLst>
              <a:ext uri="{FF2B5EF4-FFF2-40B4-BE49-F238E27FC236}">
                <a16:creationId xmlns:a16="http://schemas.microsoft.com/office/drawing/2014/main" id="{F370CB60-8F97-416E-9999-3701C3510B24}"/>
              </a:ext>
            </a:extLst>
          </p:cNvPr>
          <p:cNvGrpSpPr/>
          <p:nvPr/>
        </p:nvGrpSpPr>
        <p:grpSpPr>
          <a:xfrm>
            <a:off x="41674" y="2676775"/>
            <a:ext cx="5291762" cy="246221"/>
            <a:chOff x="41674" y="2864478"/>
            <a:chExt cx="5291762" cy="246221"/>
          </a:xfrm>
        </p:grpSpPr>
        <p:sp>
          <p:nvSpPr>
            <p:cNvPr id="38" name="Rectangle : coins arrondis 37">
              <a:extLst>
                <a:ext uri="{FF2B5EF4-FFF2-40B4-BE49-F238E27FC236}">
                  <a16:creationId xmlns:a16="http://schemas.microsoft.com/office/drawing/2014/main" id="{D8A160E1-7BA9-4FFF-A0D2-8632C22B986A}"/>
                </a:ext>
              </a:extLst>
            </p:cNvPr>
            <p:cNvSpPr/>
            <p:nvPr/>
          </p:nvSpPr>
          <p:spPr>
            <a:xfrm>
              <a:off x="41674" y="2879588"/>
              <a:ext cx="5223582" cy="216000"/>
            </a:xfrm>
            <a:prstGeom prst="roundRect">
              <a:avLst/>
            </a:prstGeom>
            <a:solidFill>
              <a:srgbClr val="09488B"/>
            </a:solidFill>
            <a:ln>
              <a:solidFill>
                <a:srgbClr val="00206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1000" dirty="0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B1C86172-64B7-4207-BACF-F6E328CB85E4}"/>
                </a:ext>
              </a:extLst>
            </p:cNvPr>
            <p:cNvSpPr txBox="1"/>
            <p:nvPr/>
          </p:nvSpPr>
          <p:spPr>
            <a:xfrm>
              <a:off x="41674" y="2864478"/>
              <a:ext cx="41987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>
                  <a:solidFill>
                    <a:schemeClr val="bg1"/>
                  </a:solidFill>
                </a:rPr>
                <a:t>4 - Le </a:t>
              </a:r>
              <a:r>
                <a:rPr lang="fr-FR" sz="1000" b="1" dirty="0">
                  <a:solidFill>
                    <a:schemeClr val="bg1"/>
                  </a:solidFill>
                </a:rPr>
                <a:t>D</a:t>
              </a:r>
              <a:r>
                <a:rPr lang="fr-FR" sz="1000" dirty="0">
                  <a:solidFill>
                    <a:schemeClr val="bg1"/>
                  </a:solidFill>
                </a:rPr>
                <a:t>ocument </a:t>
              </a:r>
              <a:r>
                <a:rPr lang="fr-FR" sz="1000" b="1" dirty="0">
                  <a:solidFill>
                    <a:schemeClr val="bg1"/>
                  </a:solidFill>
                </a:rPr>
                <a:t>U</a:t>
              </a:r>
              <a:r>
                <a:rPr lang="fr-FR" sz="1000" dirty="0">
                  <a:solidFill>
                    <a:schemeClr val="bg1"/>
                  </a:solidFill>
                </a:rPr>
                <a:t>nique d’</a:t>
              </a:r>
              <a:r>
                <a:rPr lang="fr-FR" sz="1000" b="1" dirty="0">
                  <a:solidFill>
                    <a:schemeClr val="bg1"/>
                  </a:solidFill>
                </a:rPr>
                <a:t>E</a:t>
              </a:r>
              <a:r>
                <a:rPr lang="fr-FR" sz="1000" dirty="0">
                  <a:solidFill>
                    <a:schemeClr val="bg1"/>
                  </a:solidFill>
                </a:rPr>
                <a:t>valuation des </a:t>
              </a:r>
              <a:r>
                <a:rPr lang="fr-FR" sz="1000" b="1" dirty="0">
                  <a:solidFill>
                    <a:schemeClr val="bg1"/>
                  </a:solidFill>
                </a:rPr>
                <a:t>R</a:t>
              </a:r>
              <a:r>
                <a:rPr lang="fr-FR" sz="1000" dirty="0">
                  <a:solidFill>
                    <a:schemeClr val="bg1"/>
                  </a:solidFill>
                </a:rPr>
                <a:t>isques </a:t>
              </a:r>
              <a:r>
                <a:rPr lang="fr-FR" sz="1000" b="1" dirty="0">
                  <a:solidFill>
                    <a:schemeClr val="bg1"/>
                  </a:solidFill>
                </a:rPr>
                <a:t>P</a:t>
              </a:r>
              <a:r>
                <a:rPr lang="fr-FR" sz="1000" dirty="0">
                  <a:solidFill>
                    <a:schemeClr val="bg1"/>
                  </a:solidFill>
                </a:rPr>
                <a:t>articuliers est-il facultatif ?</a:t>
              </a:r>
            </a:p>
          </p:txBody>
        </p:sp>
        <p:sp>
          <p:nvSpPr>
            <p:cNvPr id="131" name="ZoneTexte 130">
              <a:extLst>
                <a:ext uri="{FF2B5EF4-FFF2-40B4-BE49-F238E27FC236}">
                  <a16:creationId xmlns:a16="http://schemas.microsoft.com/office/drawing/2014/main" id="{38BC736D-64EC-4AD7-A92B-4A9BF9B2C003}"/>
                </a:ext>
              </a:extLst>
            </p:cNvPr>
            <p:cNvSpPr txBox="1"/>
            <p:nvPr/>
          </p:nvSpPr>
          <p:spPr>
            <a:xfrm>
              <a:off x="4768577" y="2864478"/>
              <a:ext cx="5648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</a:rPr>
                <a:t>1 pt</a:t>
              </a: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FC5C5DA0-5F9E-4137-90CE-9A14EF59871C}"/>
                </a:ext>
              </a:extLst>
            </p:cNvPr>
            <p:cNvSpPr/>
            <p:nvPr/>
          </p:nvSpPr>
          <p:spPr>
            <a:xfrm>
              <a:off x="4293096" y="2889378"/>
              <a:ext cx="505522" cy="19642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r"/>
              <a:r>
                <a:rPr lang="fr-FR" sz="1000" dirty="0">
                  <a:solidFill>
                    <a:srgbClr val="09488B"/>
                  </a:solidFill>
                </a:rPr>
                <a:t>/</a:t>
              </a:r>
              <a:r>
                <a:rPr lang="fr-FR" sz="1000" dirty="0">
                  <a:solidFill>
                    <a:schemeClr val="bg1"/>
                  </a:solidFill>
                </a:rPr>
                <a:t>. </a:t>
              </a:r>
              <a:r>
                <a:rPr lang="fr-FR" sz="1000" dirty="0">
                  <a:solidFill>
                    <a:srgbClr val="09488B"/>
                  </a:solidFill>
                </a:rPr>
                <a:t>  </a:t>
              </a:r>
            </a:p>
          </p:txBody>
        </p:sp>
      </p:grpSp>
      <p:grpSp>
        <p:nvGrpSpPr>
          <p:cNvPr id="172" name="Groupe 171">
            <a:extLst>
              <a:ext uri="{FF2B5EF4-FFF2-40B4-BE49-F238E27FC236}">
                <a16:creationId xmlns:a16="http://schemas.microsoft.com/office/drawing/2014/main" id="{EA6659C3-96CC-4AD4-BE74-09428599917B}"/>
              </a:ext>
            </a:extLst>
          </p:cNvPr>
          <p:cNvGrpSpPr/>
          <p:nvPr/>
        </p:nvGrpSpPr>
        <p:grpSpPr>
          <a:xfrm>
            <a:off x="44864" y="2411760"/>
            <a:ext cx="4714187" cy="246221"/>
            <a:chOff x="44864" y="2590996"/>
            <a:chExt cx="4714187" cy="246221"/>
          </a:xfrm>
        </p:grpSpPr>
        <p:sp>
          <p:nvSpPr>
            <p:cNvPr id="34" name="Rectangle : coins arrondis 33">
              <a:extLst>
                <a:ext uri="{FF2B5EF4-FFF2-40B4-BE49-F238E27FC236}">
                  <a16:creationId xmlns:a16="http://schemas.microsoft.com/office/drawing/2014/main" id="{DDFE6049-F571-4CBD-BF57-182B06C0574C}"/>
                </a:ext>
              </a:extLst>
            </p:cNvPr>
            <p:cNvSpPr/>
            <p:nvPr/>
          </p:nvSpPr>
          <p:spPr>
            <a:xfrm>
              <a:off x="44864" y="2606106"/>
              <a:ext cx="4680000" cy="216000"/>
            </a:xfrm>
            <a:prstGeom prst="roundRect">
              <a:avLst/>
            </a:prstGeom>
            <a:solidFill>
              <a:srgbClr val="09488B"/>
            </a:solidFill>
            <a:ln>
              <a:solidFill>
                <a:srgbClr val="00206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1000" dirty="0"/>
            </a:p>
          </p:txBody>
        </p: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6F798CE5-968A-4D63-96FF-B5B140718D3A}"/>
                </a:ext>
              </a:extLst>
            </p:cNvPr>
            <p:cNvSpPr txBox="1"/>
            <p:nvPr/>
          </p:nvSpPr>
          <p:spPr>
            <a:xfrm>
              <a:off x="44865" y="2590996"/>
              <a:ext cx="33799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>
                  <a:solidFill>
                    <a:schemeClr val="bg1"/>
                  </a:solidFill>
                </a:rPr>
                <a:t>3 - Les règles cardinales ou cardinal rules sont au nombre de :</a:t>
              </a:r>
            </a:p>
          </p:txBody>
        </p:sp>
        <p:sp>
          <p:nvSpPr>
            <p:cNvPr id="121" name="ZoneTexte 120">
              <a:extLst>
                <a:ext uri="{FF2B5EF4-FFF2-40B4-BE49-F238E27FC236}">
                  <a16:creationId xmlns:a16="http://schemas.microsoft.com/office/drawing/2014/main" id="{C69F25B3-5A04-49FE-A61B-607B2EB17C46}"/>
                </a:ext>
              </a:extLst>
            </p:cNvPr>
            <p:cNvSpPr txBox="1"/>
            <p:nvPr/>
          </p:nvSpPr>
          <p:spPr>
            <a:xfrm>
              <a:off x="4263563" y="2590996"/>
              <a:ext cx="4954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</a:rPr>
                <a:t>0,5 pt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E73C6FC0-1631-4E8B-8032-CB9816EE2587}"/>
                </a:ext>
              </a:extLst>
            </p:cNvPr>
            <p:cNvSpPr/>
            <p:nvPr/>
          </p:nvSpPr>
          <p:spPr>
            <a:xfrm>
              <a:off x="3787965" y="2615896"/>
              <a:ext cx="505522" cy="19642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r"/>
              <a:r>
                <a:rPr lang="fr-FR" sz="1000" dirty="0">
                  <a:solidFill>
                    <a:srgbClr val="09488B"/>
                  </a:solidFill>
                </a:rPr>
                <a:t>/</a:t>
              </a:r>
              <a:r>
                <a:rPr lang="fr-FR" sz="1000" dirty="0">
                  <a:solidFill>
                    <a:schemeClr val="bg1"/>
                  </a:solidFill>
                </a:rPr>
                <a:t>. </a:t>
              </a:r>
              <a:r>
                <a:rPr lang="fr-FR" sz="1000" dirty="0">
                  <a:solidFill>
                    <a:srgbClr val="09488B"/>
                  </a:solidFill>
                </a:rPr>
                <a:t>  </a:t>
              </a:r>
            </a:p>
          </p:txBody>
        </p:sp>
      </p:grpSp>
      <p:grpSp>
        <p:nvGrpSpPr>
          <p:cNvPr id="180" name="Groupe 179">
            <a:extLst>
              <a:ext uri="{FF2B5EF4-FFF2-40B4-BE49-F238E27FC236}">
                <a16:creationId xmlns:a16="http://schemas.microsoft.com/office/drawing/2014/main" id="{35BCB819-780E-4CD3-8CF9-2BCD2DA7FF20}"/>
              </a:ext>
            </a:extLst>
          </p:cNvPr>
          <p:cNvGrpSpPr/>
          <p:nvPr/>
        </p:nvGrpSpPr>
        <p:grpSpPr>
          <a:xfrm>
            <a:off x="50877" y="5141882"/>
            <a:ext cx="4706917" cy="246221"/>
            <a:chOff x="50877" y="5518626"/>
            <a:chExt cx="4706917" cy="246221"/>
          </a:xfrm>
        </p:grpSpPr>
        <p:sp>
          <p:nvSpPr>
            <p:cNvPr id="39" name="Rectangle : coins arrondis 38">
              <a:extLst>
                <a:ext uri="{FF2B5EF4-FFF2-40B4-BE49-F238E27FC236}">
                  <a16:creationId xmlns:a16="http://schemas.microsoft.com/office/drawing/2014/main" id="{BAB030F8-C0BA-41A3-889D-76E938250484}"/>
                </a:ext>
              </a:extLst>
            </p:cNvPr>
            <p:cNvSpPr/>
            <p:nvPr/>
          </p:nvSpPr>
          <p:spPr>
            <a:xfrm>
              <a:off x="50877" y="5533736"/>
              <a:ext cx="4680000" cy="216000"/>
            </a:xfrm>
            <a:prstGeom prst="roundRect">
              <a:avLst/>
            </a:prstGeom>
            <a:solidFill>
              <a:srgbClr val="09488B"/>
            </a:solidFill>
            <a:ln>
              <a:solidFill>
                <a:srgbClr val="00206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1000" dirty="0"/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D6938A94-B9DC-467E-B71C-722ED0F28F13}"/>
                </a:ext>
              </a:extLst>
            </p:cNvPr>
            <p:cNvSpPr txBox="1"/>
            <p:nvPr/>
          </p:nvSpPr>
          <p:spPr>
            <a:xfrm>
              <a:off x="50877" y="5518626"/>
              <a:ext cx="309460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>
                  <a:solidFill>
                    <a:schemeClr val="bg1"/>
                  </a:solidFill>
                </a:rPr>
                <a:t>9 - Quelle est la fréquence des causeries EHS ?</a:t>
              </a:r>
            </a:p>
          </p:txBody>
        </p:sp>
        <p:sp>
          <p:nvSpPr>
            <p:cNvPr id="129" name="ZoneTexte 128">
              <a:extLst>
                <a:ext uri="{FF2B5EF4-FFF2-40B4-BE49-F238E27FC236}">
                  <a16:creationId xmlns:a16="http://schemas.microsoft.com/office/drawing/2014/main" id="{12CF4BA8-C99B-4015-8C63-96F57A1EB1F3}"/>
                </a:ext>
              </a:extLst>
            </p:cNvPr>
            <p:cNvSpPr txBox="1"/>
            <p:nvPr/>
          </p:nvSpPr>
          <p:spPr>
            <a:xfrm>
              <a:off x="4264820" y="5518626"/>
              <a:ext cx="49297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</a:rPr>
                <a:t>0,5 pt</a:t>
              </a: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0F62F302-F2CF-4E52-992F-7465704327EF}"/>
                </a:ext>
              </a:extLst>
            </p:cNvPr>
            <p:cNvSpPr/>
            <p:nvPr/>
          </p:nvSpPr>
          <p:spPr>
            <a:xfrm>
              <a:off x="3787965" y="5543526"/>
              <a:ext cx="505522" cy="19642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r"/>
              <a:r>
                <a:rPr lang="fr-FR" sz="1000" dirty="0">
                  <a:solidFill>
                    <a:srgbClr val="09488B"/>
                  </a:solidFill>
                </a:rPr>
                <a:t>/</a:t>
              </a:r>
              <a:r>
                <a:rPr lang="fr-FR" sz="1000" dirty="0">
                  <a:solidFill>
                    <a:schemeClr val="bg1"/>
                  </a:solidFill>
                </a:rPr>
                <a:t>. </a:t>
              </a:r>
              <a:r>
                <a:rPr lang="fr-FR" sz="1000" dirty="0">
                  <a:solidFill>
                    <a:srgbClr val="09488B"/>
                  </a:solidFill>
                </a:rPr>
                <a:t>  </a:t>
              </a:r>
            </a:p>
          </p:txBody>
        </p:sp>
      </p:grpSp>
      <p:grpSp>
        <p:nvGrpSpPr>
          <p:cNvPr id="181" name="Groupe 180">
            <a:extLst>
              <a:ext uri="{FF2B5EF4-FFF2-40B4-BE49-F238E27FC236}">
                <a16:creationId xmlns:a16="http://schemas.microsoft.com/office/drawing/2014/main" id="{467A156A-03DB-4F8A-9C65-F8A234291A0B}"/>
              </a:ext>
            </a:extLst>
          </p:cNvPr>
          <p:cNvGrpSpPr/>
          <p:nvPr/>
        </p:nvGrpSpPr>
        <p:grpSpPr>
          <a:xfrm>
            <a:off x="44864" y="5629069"/>
            <a:ext cx="4680000" cy="246221"/>
            <a:chOff x="44864" y="6022747"/>
            <a:chExt cx="4680000" cy="246221"/>
          </a:xfrm>
        </p:grpSpPr>
        <p:sp>
          <p:nvSpPr>
            <p:cNvPr id="42" name="Rectangle : coins arrondis 41">
              <a:extLst>
                <a:ext uri="{FF2B5EF4-FFF2-40B4-BE49-F238E27FC236}">
                  <a16:creationId xmlns:a16="http://schemas.microsoft.com/office/drawing/2014/main" id="{9133FED8-B2B8-4702-B924-0267BFECAB3E}"/>
                </a:ext>
              </a:extLst>
            </p:cNvPr>
            <p:cNvSpPr/>
            <p:nvPr/>
          </p:nvSpPr>
          <p:spPr>
            <a:xfrm>
              <a:off x="44864" y="6037857"/>
              <a:ext cx="4680000" cy="216000"/>
            </a:xfrm>
            <a:prstGeom prst="roundRect">
              <a:avLst/>
            </a:prstGeom>
            <a:solidFill>
              <a:srgbClr val="09488B"/>
            </a:solidFill>
            <a:ln>
              <a:solidFill>
                <a:srgbClr val="00206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1000" dirty="0"/>
            </a:p>
          </p:txBody>
        </p: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C9EE0A97-0375-4160-9CBC-0F1BDD5E6B04}"/>
                </a:ext>
              </a:extLst>
            </p:cNvPr>
            <p:cNvSpPr txBox="1"/>
            <p:nvPr/>
          </p:nvSpPr>
          <p:spPr>
            <a:xfrm>
              <a:off x="44864" y="6022747"/>
              <a:ext cx="298274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>
                  <a:solidFill>
                    <a:schemeClr val="bg1"/>
                  </a:solidFill>
                </a:rPr>
                <a:t>10 - Durant un incendie, que faut-il faire en premier ?</a:t>
              </a:r>
            </a:p>
          </p:txBody>
        </p:sp>
        <p:sp>
          <p:nvSpPr>
            <p:cNvPr id="135" name="ZoneTexte 134">
              <a:extLst>
                <a:ext uri="{FF2B5EF4-FFF2-40B4-BE49-F238E27FC236}">
                  <a16:creationId xmlns:a16="http://schemas.microsoft.com/office/drawing/2014/main" id="{1BA40F59-5989-4EA7-B624-15191F1B7FDF}"/>
                </a:ext>
              </a:extLst>
            </p:cNvPr>
            <p:cNvSpPr txBox="1"/>
            <p:nvPr/>
          </p:nvSpPr>
          <p:spPr>
            <a:xfrm>
              <a:off x="4305824" y="6022747"/>
              <a:ext cx="41096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</a:rPr>
                <a:t>1 pt</a:t>
              </a: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1EB40219-FC7E-46BF-936B-E3A290F2E3DF}"/>
                </a:ext>
              </a:extLst>
            </p:cNvPr>
            <p:cNvSpPr/>
            <p:nvPr/>
          </p:nvSpPr>
          <p:spPr>
            <a:xfrm>
              <a:off x="3787965" y="6047647"/>
              <a:ext cx="505522" cy="19642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r"/>
              <a:r>
                <a:rPr lang="fr-FR" sz="1000" dirty="0">
                  <a:solidFill>
                    <a:srgbClr val="09488B"/>
                  </a:solidFill>
                </a:rPr>
                <a:t>/</a:t>
              </a:r>
              <a:r>
                <a:rPr lang="fr-FR" sz="1000" dirty="0">
                  <a:solidFill>
                    <a:schemeClr val="bg1"/>
                  </a:solidFill>
                </a:rPr>
                <a:t>. </a:t>
              </a:r>
              <a:r>
                <a:rPr lang="fr-FR" sz="1000" dirty="0">
                  <a:solidFill>
                    <a:srgbClr val="09488B"/>
                  </a:solidFill>
                </a:rPr>
                <a:t>  </a:t>
              </a:r>
            </a:p>
          </p:txBody>
        </p:sp>
      </p:grpSp>
      <p:grpSp>
        <p:nvGrpSpPr>
          <p:cNvPr id="184" name="Groupe 183">
            <a:extLst>
              <a:ext uri="{FF2B5EF4-FFF2-40B4-BE49-F238E27FC236}">
                <a16:creationId xmlns:a16="http://schemas.microsoft.com/office/drawing/2014/main" id="{9ACC8BCE-D75E-4784-B0F0-A62D7937FFDE}"/>
              </a:ext>
            </a:extLst>
          </p:cNvPr>
          <p:cNvGrpSpPr/>
          <p:nvPr/>
        </p:nvGrpSpPr>
        <p:grpSpPr>
          <a:xfrm>
            <a:off x="44862" y="6877629"/>
            <a:ext cx="4711686" cy="246221"/>
            <a:chOff x="44862" y="7330576"/>
            <a:chExt cx="4711686" cy="246221"/>
          </a:xfrm>
        </p:grpSpPr>
        <p:sp>
          <p:nvSpPr>
            <p:cNvPr id="45" name="Rectangle : coins arrondis 44">
              <a:extLst>
                <a:ext uri="{FF2B5EF4-FFF2-40B4-BE49-F238E27FC236}">
                  <a16:creationId xmlns:a16="http://schemas.microsoft.com/office/drawing/2014/main" id="{98FA8B40-8A72-4546-BA2C-518BBEE48C6B}"/>
                </a:ext>
              </a:extLst>
            </p:cNvPr>
            <p:cNvSpPr/>
            <p:nvPr/>
          </p:nvSpPr>
          <p:spPr>
            <a:xfrm>
              <a:off x="44862" y="7345686"/>
              <a:ext cx="4680000" cy="216000"/>
            </a:xfrm>
            <a:prstGeom prst="roundRect">
              <a:avLst/>
            </a:prstGeom>
            <a:solidFill>
              <a:srgbClr val="09488B"/>
            </a:solidFill>
            <a:ln>
              <a:solidFill>
                <a:srgbClr val="00206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1000" dirty="0"/>
            </a:p>
          </p:txBody>
        </p: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C284C682-E943-482A-9DAC-4E6E452BC151}"/>
                </a:ext>
              </a:extLst>
            </p:cNvPr>
            <p:cNvSpPr txBox="1"/>
            <p:nvPr/>
          </p:nvSpPr>
          <p:spPr>
            <a:xfrm>
              <a:off x="44864" y="7330576"/>
              <a:ext cx="324012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>
                  <a:solidFill>
                    <a:schemeClr val="bg1"/>
                  </a:solidFill>
                </a:rPr>
                <a:t>13 - Dois-je appliquer le Code de la route chez les clients ?</a:t>
              </a:r>
            </a:p>
          </p:txBody>
        </p:sp>
        <p:sp>
          <p:nvSpPr>
            <p:cNvPr id="130" name="ZoneTexte 129">
              <a:extLst>
                <a:ext uri="{FF2B5EF4-FFF2-40B4-BE49-F238E27FC236}">
                  <a16:creationId xmlns:a16="http://schemas.microsoft.com/office/drawing/2014/main" id="{ADF0B3D3-186A-441F-9105-D205D1A470B3}"/>
                </a:ext>
              </a:extLst>
            </p:cNvPr>
            <p:cNvSpPr txBox="1"/>
            <p:nvPr/>
          </p:nvSpPr>
          <p:spPr>
            <a:xfrm>
              <a:off x="4266066" y="7330576"/>
              <a:ext cx="49048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</a:rPr>
                <a:t>0,5 pt</a:t>
              </a: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4AD4D088-CE71-49B6-AD1B-D3135753C06A}"/>
                </a:ext>
              </a:extLst>
            </p:cNvPr>
            <p:cNvSpPr/>
            <p:nvPr/>
          </p:nvSpPr>
          <p:spPr>
            <a:xfrm>
              <a:off x="3787965" y="7355476"/>
              <a:ext cx="505522" cy="19642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r"/>
              <a:r>
                <a:rPr lang="fr-FR" sz="1000" dirty="0">
                  <a:solidFill>
                    <a:srgbClr val="09488B"/>
                  </a:solidFill>
                </a:rPr>
                <a:t>/</a:t>
              </a:r>
              <a:r>
                <a:rPr lang="fr-FR" sz="1000" dirty="0">
                  <a:solidFill>
                    <a:schemeClr val="bg1"/>
                  </a:solidFill>
                </a:rPr>
                <a:t>. </a:t>
              </a:r>
              <a:r>
                <a:rPr lang="fr-FR" sz="1000" dirty="0">
                  <a:solidFill>
                    <a:srgbClr val="09488B"/>
                  </a:solidFill>
                </a:rPr>
                <a:t>  </a:t>
              </a:r>
            </a:p>
          </p:txBody>
        </p:sp>
      </p:grpSp>
      <p:grpSp>
        <p:nvGrpSpPr>
          <p:cNvPr id="183" name="Groupe 182">
            <a:extLst>
              <a:ext uri="{FF2B5EF4-FFF2-40B4-BE49-F238E27FC236}">
                <a16:creationId xmlns:a16="http://schemas.microsoft.com/office/drawing/2014/main" id="{1520AFA6-8C0A-4D33-8F53-9B3072DFC9EF}"/>
              </a:ext>
            </a:extLst>
          </p:cNvPr>
          <p:cNvGrpSpPr/>
          <p:nvPr/>
        </p:nvGrpSpPr>
        <p:grpSpPr>
          <a:xfrm>
            <a:off x="44134" y="6382294"/>
            <a:ext cx="4710655" cy="246221"/>
            <a:chOff x="44134" y="6801373"/>
            <a:chExt cx="4710655" cy="246221"/>
          </a:xfrm>
        </p:grpSpPr>
        <p:sp>
          <p:nvSpPr>
            <p:cNvPr id="44" name="Rectangle : coins arrondis 43">
              <a:extLst>
                <a:ext uri="{FF2B5EF4-FFF2-40B4-BE49-F238E27FC236}">
                  <a16:creationId xmlns:a16="http://schemas.microsoft.com/office/drawing/2014/main" id="{251D0D4E-7EAA-453E-AA5D-92B9CCD70853}"/>
                </a:ext>
              </a:extLst>
            </p:cNvPr>
            <p:cNvSpPr/>
            <p:nvPr/>
          </p:nvSpPr>
          <p:spPr>
            <a:xfrm>
              <a:off x="44135" y="6816483"/>
              <a:ext cx="4680000" cy="216000"/>
            </a:xfrm>
            <a:prstGeom prst="roundRect">
              <a:avLst/>
            </a:prstGeom>
            <a:solidFill>
              <a:srgbClr val="09488B"/>
            </a:solidFill>
            <a:ln>
              <a:solidFill>
                <a:srgbClr val="00206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1000" dirty="0"/>
            </a:p>
          </p:txBody>
        </p: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6AE50078-3694-4761-935E-80192192DEB0}"/>
                </a:ext>
              </a:extLst>
            </p:cNvPr>
            <p:cNvSpPr txBox="1"/>
            <p:nvPr/>
          </p:nvSpPr>
          <p:spPr>
            <a:xfrm>
              <a:off x="44134" y="6801373"/>
              <a:ext cx="368117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>
                  <a:solidFill>
                    <a:schemeClr val="bg1"/>
                  </a:solidFill>
                </a:rPr>
                <a:t>12 - J’ai un accident de travail, quel doit-être mon premier réflexe ?</a:t>
              </a:r>
            </a:p>
          </p:txBody>
        </p:sp>
        <p:sp>
          <p:nvSpPr>
            <p:cNvPr id="136" name="ZoneTexte 135">
              <a:extLst>
                <a:ext uri="{FF2B5EF4-FFF2-40B4-BE49-F238E27FC236}">
                  <a16:creationId xmlns:a16="http://schemas.microsoft.com/office/drawing/2014/main" id="{9D2602D3-D1B5-417B-A5AA-9B7FB88AEBF1}"/>
                </a:ext>
              </a:extLst>
            </p:cNvPr>
            <p:cNvSpPr txBox="1"/>
            <p:nvPr/>
          </p:nvSpPr>
          <p:spPr>
            <a:xfrm>
              <a:off x="4238625" y="6801373"/>
              <a:ext cx="5161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</a:rPr>
                <a:t>0,5 pt</a:t>
              </a: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2CBD1FDF-FE6F-4DC3-8DC0-A4EB1DE2BBBA}"/>
                </a:ext>
              </a:extLst>
            </p:cNvPr>
            <p:cNvSpPr/>
            <p:nvPr/>
          </p:nvSpPr>
          <p:spPr>
            <a:xfrm>
              <a:off x="3787965" y="6826273"/>
              <a:ext cx="505522" cy="19642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r"/>
              <a:r>
                <a:rPr lang="fr-FR" sz="1000" dirty="0">
                  <a:solidFill>
                    <a:srgbClr val="09488B"/>
                  </a:solidFill>
                </a:rPr>
                <a:t>/</a:t>
              </a:r>
              <a:r>
                <a:rPr lang="fr-FR" sz="1000" dirty="0">
                  <a:solidFill>
                    <a:schemeClr val="bg1"/>
                  </a:solidFill>
                </a:rPr>
                <a:t>. </a:t>
              </a:r>
              <a:r>
                <a:rPr lang="fr-FR" sz="1000" dirty="0">
                  <a:solidFill>
                    <a:srgbClr val="09488B"/>
                  </a:solidFill>
                </a:rPr>
                <a:t>  </a:t>
              </a:r>
            </a:p>
          </p:txBody>
        </p:sp>
      </p:grpSp>
      <p:grpSp>
        <p:nvGrpSpPr>
          <p:cNvPr id="185" name="Groupe 184">
            <a:extLst>
              <a:ext uri="{FF2B5EF4-FFF2-40B4-BE49-F238E27FC236}">
                <a16:creationId xmlns:a16="http://schemas.microsoft.com/office/drawing/2014/main" id="{90409D6F-6279-4D63-BD0C-3BB7FF387446}"/>
              </a:ext>
            </a:extLst>
          </p:cNvPr>
          <p:cNvGrpSpPr/>
          <p:nvPr/>
        </p:nvGrpSpPr>
        <p:grpSpPr>
          <a:xfrm>
            <a:off x="41674" y="7166355"/>
            <a:ext cx="4714874" cy="246221"/>
            <a:chOff x="41674" y="7628293"/>
            <a:chExt cx="4714874" cy="246221"/>
          </a:xfrm>
        </p:grpSpPr>
        <p:sp>
          <p:nvSpPr>
            <p:cNvPr id="162" name="Rectangle : coins arrondis 161">
              <a:extLst>
                <a:ext uri="{FF2B5EF4-FFF2-40B4-BE49-F238E27FC236}">
                  <a16:creationId xmlns:a16="http://schemas.microsoft.com/office/drawing/2014/main" id="{EBC84123-93D5-4893-AE0B-58946657807D}"/>
                </a:ext>
              </a:extLst>
            </p:cNvPr>
            <p:cNvSpPr/>
            <p:nvPr/>
          </p:nvSpPr>
          <p:spPr>
            <a:xfrm>
              <a:off x="45144" y="7643403"/>
              <a:ext cx="4680000" cy="216000"/>
            </a:xfrm>
            <a:prstGeom prst="roundRect">
              <a:avLst/>
            </a:prstGeom>
            <a:solidFill>
              <a:srgbClr val="09488B"/>
            </a:solidFill>
            <a:ln>
              <a:solidFill>
                <a:srgbClr val="00206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1000" dirty="0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3909F3E5-3420-496C-A45A-178BEF334EDF}"/>
                </a:ext>
              </a:extLst>
            </p:cNvPr>
            <p:cNvSpPr/>
            <p:nvPr/>
          </p:nvSpPr>
          <p:spPr>
            <a:xfrm>
              <a:off x="41674" y="7628293"/>
              <a:ext cx="3819374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sz="1000" dirty="0">
                  <a:solidFill>
                    <a:schemeClr val="bg1"/>
                  </a:solidFill>
                </a:rPr>
                <a:t>14 - Comment pouvez-vous préserver l’environnement au quotidien :</a:t>
              </a:r>
            </a:p>
          </p:txBody>
        </p:sp>
        <p:sp>
          <p:nvSpPr>
            <p:cNvPr id="142" name="ZoneTexte 141">
              <a:extLst>
                <a:ext uri="{FF2B5EF4-FFF2-40B4-BE49-F238E27FC236}">
                  <a16:creationId xmlns:a16="http://schemas.microsoft.com/office/drawing/2014/main" id="{A1802095-268F-4A0F-A35E-016E777F02B7}"/>
                </a:ext>
              </a:extLst>
            </p:cNvPr>
            <p:cNvSpPr txBox="1"/>
            <p:nvPr/>
          </p:nvSpPr>
          <p:spPr>
            <a:xfrm>
              <a:off x="4238625" y="7628293"/>
              <a:ext cx="51792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</a:rPr>
                <a:t>1 pt</a:t>
              </a: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809F903A-1719-4CA9-B8D3-C71373D11ED6}"/>
                </a:ext>
              </a:extLst>
            </p:cNvPr>
            <p:cNvSpPr/>
            <p:nvPr/>
          </p:nvSpPr>
          <p:spPr>
            <a:xfrm>
              <a:off x="3787965" y="7653193"/>
              <a:ext cx="505522" cy="19642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r"/>
              <a:r>
                <a:rPr lang="fr-FR" sz="1000" dirty="0">
                  <a:solidFill>
                    <a:srgbClr val="09488B"/>
                  </a:solidFill>
                </a:rPr>
                <a:t>/</a:t>
              </a:r>
              <a:r>
                <a:rPr lang="fr-FR" sz="1000" dirty="0">
                  <a:solidFill>
                    <a:schemeClr val="bg1"/>
                  </a:solidFill>
                </a:rPr>
                <a:t>. </a:t>
              </a:r>
              <a:r>
                <a:rPr lang="fr-FR" sz="1000" dirty="0">
                  <a:solidFill>
                    <a:srgbClr val="09488B"/>
                  </a:solidFill>
                </a:rPr>
                <a:t>  </a:t>
              </a:r>
            </a:p>
          </p:txBody>
        </p:sp>
      </p:grpSp>
      <p:sp>
        <p:nvSpPr>
          <p:cNvPr id="169" name="Rectangle : coins arrondis 168">
            <a:extLst>
              <a:ext uri="{FF2B5EF4-FFF2-40B4-BE49-F238E27FC236}">
                <a16:creationId xmlns:a16="http://schemas.microsoft.com/office/drawing/2014/main" id="{50C3BDD7-DC1E-4849-8D33-29B9AC22FC39}"/>
              </a:ext>
            </a:extLst>
          </p:cNvPr>
          <p:cNvSpPr/>
          <p:nvPr/>
        </p:nvSpPr>
        <p:spPr>
          <a:xfrm>
            <a:off x="45137" y="7833399"/>
            <a:ext cx="6408199" cy="216000"/>
          </a:xfrm>
          <a:prstGeom prst="roundRect">
            <a:avLst/>
          </a:prstGeom>
          <a:solidFill>
            <a:srgbClr val="09488B"/>
          </a:solidFill>
          <a:ln>
            <a:solidFill>
              <a:srgbClr val="00206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000" dirty="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4E94102F-940B-4A10-BF0A-2B9F066C4CB8}"/>
              </a:ext>
            </a:extLst>
          </p:cNvPr>
          <p:cNvSpPr/>
          <p:nvPr/>
        </p:nvSpPr>
        <p:spPr>
          <a:xfrm>
            <a:off x="41667" y="7818289"/>
            <a:ext cx="550730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15 - Comment pouvez vous agir personnellement et au sein de l’entreprise pour vous engager en RSE ? </a:t>
            </a:r>
          </a:p>
        </p:txBody>
      </p:sp>
      <p:sp>
        <p:nvSpPr>
          <p:cNvPr id="177" name="ZoneTexte 176">
            <a:extLst>
              <a:ext uri="{FF2B5EF4-FFF2-40B4-BE49-F238E27FC236}">
                <a16:creationId xmlns:a16="http://schemas.microsoft.com/office/drawing/2014/main" id="{CB214EF1-7A75-49D4-AF7D-51AAA256B315}"/>
              </a:ext>
            </a:extLst>
          </p:cNvPr>
          <p:cNvSpPr txBox="1"/>
          <p:nvPr/>
        </p:nvSpPr>
        <p:spPr>
          <a:xfrm>
            <a:off x="5977852" y="7816077"/>
            <a:ext cx="517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bg1"/>
                </a:solidFill>
              </a:rPr>
              <a:t>0,5 pt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FCAEC2D5-282B-4C88-A802-C0926ADDA933}"/>
              </a:ext>
            </a:extLst>
          </p:cNvPr>
          <p:cNvSpPr/>
          <p:nvPr/>
        </p:nvSpPr>
        <p:spPr>
          <a:xfrm>
            <a:off x="5517232" y="7843189"/>
            <a:ext cx="505522" cy="196420"/>
          </a:xfrm>
          <a:prstGeom prst="rect">
            <a:avLst/>
          </a:prstGeom>
          <a:solidFill>
            <a:schemeClr val="bg1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algn="r"/>
            <a:r>
              <a:rPr lang="fr-FR" sz="1000" dirty="0">
                <a:solidFill>
                  <a:srgbClr val="09488B"/>
                </a:solidFill>
              </a:rPr>
              <a:t>/</a:t>
            </a:r>
            <a:r>
              <a:rPr lang="fr-FR" sz="1000" dirty="0">
                <a:solidFill>
                  <a:schemeClr val="bg1"/>
                </a:solidFill>
              </a:rPr>
              <a:t>. </a:t>
            </a:r>
            <a:r>
              <a:rPr lang="fr-FR" sz="1000" dirty="0">
                <a:solidFill>
                  <a:srgbClr val="09488B"/>
                </a:solidFill>
              </a:rPr>
              <a:t>  </a:t>
            </a:r>
          </a:p>
        </p:txBody>
      </p: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0B8167A1-B580-4E19-B271-132D8707E533}"/>
              </a:ext>
            </a:extLst>
          </p:cNvPr>
          <p:cNvGrpSpPr/>
          <p:nvPr/>
        </p:nvGrpSpPr>
        <p:grpSpPr>
          <a:xfrm>
            <a:off x="125161" y="8035817"/>
            <a:ext cx="6490447" cy="684000"/>
            <a:chOff x="125161" y="8035817"/>
            <a:chExt cx="6490447" cy="684000"/>
          </a:xfrm>
        </p:grpSpPr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A6DBB4D8-EF92-425A-9719-603CFD17F46C}"/>
                </a:ext>
              </a:extLst>
            </p:cNvPr>
            <p:cNvSpPr/>
            <p:nvPr/>
          </p:nvSpPr>
          <p:spPr>
            <a:xfrm>
              <a:off x="3447105" y="8035817"/>
              <a:ext cx="3168503" cy="6840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</a:pPr>
              <a:r>
                <a:rPr lang="fr-FR" sz="1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Participer aux évènements massages cardiaques qui vont se dérouler en agence</a:t>
              </a:r>
              <a:endParaRPr lang="fr-FR" sz="16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lvl="0">
                <a:lnSpc>
                  <a:spcPct val="107000"/>
                </a:lnSpc>
              </a:pPr>
              <a:r>
                <a:rPr lang="fr-FR" sz="1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Limiter ma consommation de plastique à titre individuel</a:t>
              </a: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58EE54A8-7D96-4CE9-BCDC-D85E85F2C524}"/>
                </a:ext>
              </a:extLst>
            </p:cNvPr>
            <p:cNvSpPr/>
            <p:nvPr/>
          </p:nvSpPr>
          <p:spPr>
            <a:xfrm>
              <a:off x="125161" y="8202400"/>
              <a:ext cx="108000" cy="106628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97E70BB4-E527-4094-89B7-B4F906FF56AC}"/>
                </a:ext>
              </a:extLst>
            </p:cNvPr>
            <p:cNvSpPr/>
            <p:nvPr/>
          </p:nvSpPr>
          <p:spPr>
            <a:xfrm>
              <a:off x="125161" y="8434278"/>
              <a:ext cx="108000" cy="106628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C4F2CBC6-5196-41C8-9EB3-8A4073122064}"/>
                </a:ext>
              </a:extLst>
            </p:cNvPr>
            <p:cNvSpPr/>
            <p:nvPr/>
          </p:nvSpPr>
          <p:spPr>
            <a:xfrm>
              <a:off x="3378157" y="8426931"/>
              <a:ext cx="108000" cy="106628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ABB870B2-497C-45FD-8A43-07ADF3AAA30A}"/>
                </a:ext>
              </a:extLst>
            </p:cNvPr>
            <p:cNvSpPr/>
            <p:nvPr/>
          </p:nvSpPr>
          <p:spPr>
            <a:xfrm>
              <a:off x="3373924" y="8189773"/>
              <a:ext cx="108000" cy="106628"/>
            </a:xfrm>
            <a:prstGeom prst="rect">
              <a:avLst/>
            </a:prstGeom>
            <a:noFill/>
            <a:ln w="28575">
              <a:solidFill>
                <a:srgbClr val="0948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100" dirty="0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044B8F65-42FC-4736-8BAD-E002E780DFBC}"/>
                </a:ext>
              </a:extLst>
            </p:cNvPr>
            <p:cNvSpPr/>
            <p:nvPr/>
          </p:nvSpPr>
          <p:spPr>
            <a:xfrm>
              <a:off x="188489" y="8035817"/>
              <a:ext cx="3168503" cy="6840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07000"/>
                </a:lnSpc>
              </a:pPr>
              <a:r>
                <a:rPr lang="fr-FR" sz="1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Ne pas déverser de produits ou liquides dans les eaux pluviales égouts de mon client	</a:t>
              </a:r>
            </a:p>
            <a:p>
              <a:pPr lvl="0">
                <a:lnSpc>
                  <a:spcPct val="107000"/>
                </a:lnSpc>
              </a:pPr>
              <a:r>
                <a:rPr lang="fr-FR" sz="1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Optimiser mes déplacements			</a:t>
              </a:r>
              <a:endParaRPr lang="fr-FR" sz="10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656294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F5F79FD40890418D173EADE56663CE" ma:contentTypeVersion="11" ma:contentTypeDescription="Create a new document." ma:contentTypeScope="" ma:versionID="40f1d3729eb886db8560a3503f44e5d7">
  <xsd:schema xmlns:xsd="http://www.w3.org/2001/XMLSchema" xmlns:xs="http://www.w3.org/2001/XMLSchema" xmlns:p="http://schemas.microsoft.com/office/2006/metadata/properties" xmlns:ns2="81d48b0f-3fcf-46b2-af19-5818eea7af79" xmlns:ns3="cf01652b-2804-432b-a929-7142549b4ccb" xmlns:ns4="5ca74ee1-336a-4c0a-9b47-8403515742a9" targetNamespace="http://schemas.microsoft.com/office/2006/metadata/properties" ma:root="true" ma:fieldsID="0d69114bd6a8418ce0c4b16e0a6cb044" ns2:_="" ns3:_="" ns4:_="">
    <xsd:import namespace="81d48b0f-3fcf-46b2-af19-5818eea7af79"/>
    <xsd:import namespace="cf01652b-2804-432b-a929-7142549b4ccb"/>
    <xsd:import namespace="5ca74ee1-336a-4c0a-9b47-8403515742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lcf76f155ced4ddcb4097134ff3c332f" minOccurs="0"/>
                <xsd:element ref="ns4:TaxCatchAll" minOccurs="0"/>
                <xsd:element ref="ns3:MediaServiceObjectDetectorVersion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8b0f-3fcf-46b2-af19-5818eea7af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01652b-2804-432b-a929-7142549b4cc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c492c26d-c709-4b13-843e-cf74e547853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a74ee1-336a-4c0a-9b47-8403515742a9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0ff34835-9d0d-4e3b-80b2-37de30d0244c}" ma:internalName="TaxCatchAll" ma:showField="CatchAllData" ma:web="5ca74ee1-336a-4c0a-9b47-8403515742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f01652b-2804-432b-a929-7142549b4ccb">
      <Terms xmlns="http://schemas.microsoft.com/office/infopath/2007/PartnerControls"/>
    </lcf76f155ced4ddcb4097134ff3c332f>
    <TaxCatchAll xmlns="5ca74ee1-336a-4c0a-9b47-8403515742a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356AFB2-90A8-4956-B78E-47B1092567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8b0f-3fcf-46b2-af19-5818eea7af79"/>
    <ds:schemaRef ds:uri="cf01652b-2804-432b-a929-7142549b4ccb"/>
    <ds:schemaRef ds:uri="5ca74ee1-336a-4c0a-9b47-8403515742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BE5F40-3AC3-4052-B8F6-9E265A1A3A6C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53ea487e-e6eb-42bf-b14c-68816c602875"/>
    <ds:schemaRef ds:uri="73b01b37-30b2-47dd-abfd-d6df2fe09a6f"/>
    <ds:schemaRef ds:uri="http://www.w3.org/XML/1998/namespace"/>
    <ds:schemaRef ds:uri="http://purl.org/dc/dcmitype/"/>
    <ds:schemaRef ds:uri="cf01652b-2804-432b-a929-7142549b4ccb"/>
    <ds:schemaRef ds:uri="5ca74ee1-336a-4c0a-9b47-8403515742a9"/>
  </ds:schemaRefs>
</ds:datastoreItem>
</file>

<file path=customXml/itemProps3.xml><?xml version="1.0" encoding="utf-8"?>
<ds:datastoreItem xmlns:ds="http://schemas.openxmlformats.org/officeDocument/2006/customXml" ds:itemID="{249F2AB6-5E26-4237-B665-792B758305E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1088</TotalTime>
  <Words>538</Words>
  <Application>Microsoft Office PowerPoint</Application>
  <PresentationFormat>Affichage à l'écran (4:3)</PresentationFormat>
  <Paragraphs>79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Thème Office</vt:lpstr>
      <vt:lpstr>Quizz Nouvel Arrivant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Giblaine, Anais           UTC CCS</dc:creator>
  <cp:lastModifiedBy>GALAND, Stephanie</cp:lastModifiedBy>
  <cp:revision>102</cp:revision>
  <cp:lastPrinted>2023-02-14T09:17:22Z</cp:lastPrinted>
  <dcterms:created xsi:type="dcterms:W3CDTF">2017-01-04T15:17:33Z</dcterms:created>
  <dcterms:modified xsi:type="dcterms:W3CDTF">2025-03-04T09:38:43Z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0x01010027F5F79FD40890418D173EADE56663CE</vt:lpwstr>
  </property>
  <property fmtid="{D5CDD505-2E9C-101B-9397-08002B2CF9AE}" pid="3" name="MediaServiceImageTags">
    <vt:lpwstr/>
  </property>
  <property fmtid="{D5CDD505-2E9C-101B-9397-08002B2CF9AE}" pid="4" name="MSIP_Label_defa4170-0d19-0005-0002-bc88714345d2_Enabled">
    <vt:lpwstr>true</vt:lpwstr>
  </property>
  <property fmtid="{D5CDD505-2E9C-101B-9397-08002B2CF9AE}" pid="5" name="MSIP_Label_defa4170-0d19-0005-0002-bc88714345d2_SetDate">
    <vt:lpwstr>2025-02-11T08:47:23Z</vt:lpwstr>
  </property>
  <property fmtid="{D5CDD505-2E9C-101B-9397-08002B2CF9AE}" pid="6" name="MSIP_Label_defa4170-0d19-0005-0002-bc88714345d2_Method">
    <vt:lpwstr>Standard</vt:lpwstr>
  </property>
  <property fmtid="{D5CDD505-2E9C-101B-9397-08002B2CF9AE}" pid="7" name="MSIP_Label_defa4170-0d19-0005-0002-bc88714345d2_Name">
    <vt:lpwstr>defa4170-0d19-0005-0002-bc88714345d2</vt:lpwstr>
  </property>
  <property fmtid="{D5CDD505-2E9C-101B-9397-08002B2CF9AE}" pid="8" name="MSIP_Label_defa4170-0d19-0005-0002-bc88714345d2_SiteId">
    <vt:lpwstr>47995fc2-1f56-47ce-9137-a87caef4be74</vt:lpwstr>
  </property>
  <property fmtid="{D5CDD505-2E9C-101B-9397-08002B2CF9AE}" pid="9" name="MSIP_Label_defa4170-0d19-0005-0002-bc88714345d2_ActionId">
    <vt:lpwstr>5f23988b-97d3-45d3-96db-88dff93d2a4c</vt:lpwstr>
  </property>
  <property fmtid="{D5CDD505-2E9C-101B-9397-08002B2CF9AE}" pid="10" name="MSIP_Label_defa4170-0d19-0005-0002-bc88714345d2_ContentBits">
    <vt:lpwstr>0</vt:lpwstr>
  </property>
</Properties>
</file>