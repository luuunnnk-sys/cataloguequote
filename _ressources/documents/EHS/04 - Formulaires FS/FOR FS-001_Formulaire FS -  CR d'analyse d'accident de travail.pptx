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8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9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5178" r:id="rId2"/>
    <p:sldMasterId id="2147485264" r:id="rId3"/>
    <p:sldMasterId id="2147486722" r:id="rId4"/>
    <p:sldMasterId id="2147486849" r:id="rId5"/>
    <p:sldMasterId id="2147486935" r:id="rId6"/>
    <p:sldMasterId id="2147487912" r:id="rId7"/>
    <p:sldMasterId id="2147488207" r:id="rId8"/>
    <p:sldMasterId id="2147489171" r:id="rId9"/>
    <p:sldMasterId id="2147489647" r:id="rId10"/>
  </p:sldMasterIdLst>
  <p:notesMasterIdLst>
    <p:notesMasterId r:id="rId18"/>
  </p:notesMasterIdLst>
  <p:handoutMasterIdLst>
    <p:handoutMasterId r:id="rId19"/>
  </p:handoutMasterIdLst>
  <p:sldIdLst>
    <p:sldId id="1507" r:id="rId11"/>
    <p:sldId id="1508" r:id="rId12"/>
    <p:sldId id="1497" r:id="rId13"/>
    <p:sldId id="1500" r:id="rId14"/>
    <p:sldId id="1505" r:id="rId15"/>
    <p:sldId id="1499" r:id="rId16"/>
    <p:sldId id="1498" r:id="rId17"/>
  </p:sldIdLst>
  <p:sldSz cx="9144000" cy="6858000" type="screen4x3"/>
  <p:notesSz cx="6858000" cy="9236075"/>
  <p:defaultTextStyle>
    <a:defPPr>
      <a:defRPr lang="en-US"/>
    </a:defPPr>
    <a:lvl1pPr marL="0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5082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0169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5253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0337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75399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0480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85563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0669" algn="l" defTabSz="910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A6D544-364E-9EE0-D39C-E58392146A6E}" name="DHAINAUT, Aymeric" initials="DA" userId="S::Aymeric.DHAINAUT@Chubbfs.com::17b029ae-1a1b-426b-8f94-18c3b966d9c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cerra, Kristy           UTCHQ" initials="BK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BEC"/>
    <a:srgbClr val="DFF0F1"/>
    <a:srgbClr val="E1EEEF"/>
    <a:srgbClr val="D3F9FD"/>
    <a:srgbClr val="D8F3F8"/>
    <a:srgbClr val="FF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D9AD7-8C44-4AE8-8C77-C45F1F2528AE}" v="77" dt="2023-09-08T18:15:38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9067" autoAdjust="0"/>
  </p:normalViewPr>
  <p:slideViewPr>
    <p:cSldViewPr>
      <p:cViewPr varScale="1">
        <p:scale>
          <a:sx n="64" d="100"/>
          <a:sy n="64" d="100"/>
        </p:scale>
        <p:origin x="135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6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3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r">
              <a:defRPr sz="1200"/>
            </a:lvl1pPr>
          </a:lstStyle>
          <a:p>
            <a:fld id="{FABD6A80-CEAD-4770-BF17-86453D00520F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772669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772669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r">
              <a:defRPr sz="1200"/>
            </a:lvl1pPr>
          </a:lstStyle>
          <a:p>
            <a:fld id="{737CEE11-4CE9-45CD-B12F-0AF302165B9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6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3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r">
              <a:defRPr sz="1200"/>
            </a:lvl1pPr>
          </a:lstStyle>
          <a:p>
            <a:fld id="{556E4EFB-A5F6-49CF-B1B9-19277E7FEFA3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91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6" tIns="45708" rIns="91416" bIns="457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87138"/>
            <a:ext cx="5486400" cy="4156234"/>
          </a:xfrm>
          <a:prstGeom prst="rect">
            <a:avLst/>
          </a:prstGeom>
        </p:spPr>
        <p:txBody>
          <a:bodyPr vert="horz" lIns="91416" tIns="45708" rIns="91416" bIns="457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772669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669"/>
            <a:ext cx="2971800" cy="461804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r">
              <a:defRPr sz="1200"/>
            </a:lvl1pPr>
          </a:lstStyle>
          <a:p>
            <a:fld id="{1F2E6800-6A4F-4CD4-8F2F-ECC6053B8E9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9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082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0169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5253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0337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75399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0480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85563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0669" algn="l" defTabSz="910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19188" y="692150"/>
            <a:ext cx="4619625" cy="3463925"/>
          </a:xfrm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Complete for all Lost Time and </a:t>
            </a:r>
            <a:r>
              <a:rPr lang="en-US"/>
              <a:t>FSI Incidents</a:t>
            </a:r>
            <a:endParaRPr lang="en-US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F57AD4-F369-4BB3-8F57-3A93F88FBB95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176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47"/>
            <a:ext cx="8558784" cy="563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88C42-1828-43D4-84E4-FBA39F2FCC08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2"/>
            <a:ext cx="7251193" cy="192024"/>
          </a:xfrm>
          <a:prstGeom prst="rect">
            <a:avLst/>
          </a:prstGeom>
        </p:spPr>
        <p:txBody>
          <a:bodyPr lIns="63759" tIns="31859" rIns="63759" bIns="31859"/>
          <a:lstStyle/>
          <a:p>
            <a:pPr defTabSz="764884"/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F654-7552-4B9D-9287-15EA6E658DE7}" type="slidenum">
              <a:rPr lang="en-US" smtClean="0">
                <a:solidFill>
                  <a:prstClr val="black"/>
                </a:solidFill>
              </a:rPr>
              <a:pPr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09" y="916958"/>
            <a:ext cx="8555035" cy="640080"/>
          </a:xfrm>
        </p:spPr>
        <p:txBody>
          <a:bodyPr vert="horz" lIns="12802" tIns="31859" rIns="12802" bIns="31859" rtlCol="0">
            <a:noAutofit/>
          </a:bodyPr>
          <a:lstStyle>
            <a:lvl1pPr>
              <a:defRPr lang="en-US" sz="2900" dirty="0"/>
            </a:lvl1pPr>
          </a:lstStyle>
          <a:p>
            <a:pPr lvl="0">
              <a:buFontTx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3892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53" tIns="45527" rIns="91053" bIns="45527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 defTabSz="910601">
              <a:defRPr/>
            </a:pPr>
            <a:fld id="{64AA8140-9FA3-42DC-984A-C841C903E487}" type="slidenum">
              <a:rPr lang="zh-CN" altLang="en-US" smtClean="0">
                <a:solidFill>
                  <a:srgbClr val="000000"/>
                </a:solidFill>
              </a:rPr>
              <a:pPr defTabSz="910601"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97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5" y="1981200"/>
            <a:ext cx="7936991" cy="4237038"/>
          </a:xfrm>
        </p:spPr>
        <p:txBody>
          <a:bodyPr/>
          <a:lstStyle>
            <a:lvl1pPr marL="0" indent="0">
              <a:buFont typeface="Arial" pitchFamily="34" charset="0"/>
              <a:buNone/>
              <a:defRPr sz="2400"/>
            </a:lvl1pPr>
            <a:lvl2pPr marL="0" indent="0">
              <a:buFont typeface="Arial" pitchFamily="34" charset="0"/>
              <a:buNone/>
              <a:defRPr sz="2200"/>
            </a:lvl2pPr>
            <a:lvl3pPr marL="0" indent="0">
              <a:buFont typeface="Arial" pitchFamily="34" charset="0"/>
              <a:buNone/>
              <a:defRPr sz="2000"/>
            </a:lvl3pPr>
            <a:lvl4pPr marL="0" indent="0">
              <a:buFont typeface="Arial" pitchFamily="34" charset="0"/>
              <a:buNone/>
              <a:defRPr sz="1800"/>
            </a:lvl4pPr>
            <a:lvl5pPr marL="0" indent="0">
              <a:buFont typeface="Arial" pitchFamily="34" charset="0"/>
              <a:buNone/>
              <a:defRPr sz="1800"/>
            </a:lvl5pPr>
            <a:lvl6pPr marL="0" indent="0">
              <a:buNone/>
              <a:defRPr sz="1800"/>
            </a:lvl6pPr>
            <a:lvl7pPr marL="0" indent="0">
              <a:buNone/>
              <a:defRPr sz="1800"/>
            </a:lvl7pPr>
            <a:lvl8pPr marL="0" indent="0">
              <a:buNone/>
              <a:defRPr sz="1800"/>
            </a:lvl8pPr>
            <a:lvl9pPr marL="0" indent="0">
              <a:buNone/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7200" y="6622086"/>
            <a:ext cx="762000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6F788C42-1828-43D4-84E4-FBA39F2FCC08}" type="datetime1">
              <a:rPr lang="en-US" smtClean="0">
                <a:solidFill>
                  <a:srgbClr val="000000"/>
                </a:solidFill>
              </a:rPr>
              <a:pPr defTabSz="910601"/>
              <a:t>11/4/2024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1"/>
            <a:ext cx="7251193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16" y="6385238"/>
            <a:ext cx="774191" cy="19339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789DF654-7552-4B9D-9287-15EA6E658DE7}" type="slidenum">
              <a:rPr lang="en-US" smtClean="0">
                <a:solidFill>
                  <a:srgbClr val="000000"/>
                </a:solidFill>
              </a:rPr>
              <a:pPr defTabSz="910601"/>
              <a:t>‹N°›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22" y="916961"/>
            <a:ext cx="8555037" cy="548640"/>
          </a:xfrm>
        </p:spPr>
        <p:txBody>
          <a:bodyPr vert="horz" lIns="18205" tIns="45527" rIns="18205" bIns="45527" rtlCol="0">
            <a:noAutofit/>
          </a:bodyPr>
          <a:lstStyle>
            <a:lvl1pPr marL="0" indent="0">
              <a:buFontTx/>
              <a:buNone/>
              <a:defRPr lang="en-US" sz="3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0601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2743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0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5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1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1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2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3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409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/>
          </p:nvPr>
        </p:nvSpPr>
        <p:spPr>
          <a:xfrm>
            <a:off x="292622" y="916961"/>
            <a:ext cx="8555037" cy="548640"/>
          </a:xfrm>
        </p:spPr>
        <p:txBody>
          <a:bodyPr lIns="18205" rIns="18205">
            <a:noAutofit/>
          </a:bodyPr>
          <a:lstStyle>
            <a:lvl1pPr marL="0" indent="0">
              <a:buFontTx/>
              <a:buNone/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xfrm>
            <a:off x="8077200" y="6621493"/>
            <a:ext cx="7620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2101" y="6383368"/>
            <a:ext cx="72517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6751638" y="6683375"/>
            <a:ext cx="2133600" cy="476250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fld id="{821FF6A5-1859-4B00-A5DF-E972EECEBF6A}" type="slidenum">
              <a:rPr lang="en-US" smtClean="0"/>
              <a:pPr defTabSz="910601"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7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83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5F214D-86D4-4D7E-9B85-7E5E83C2F5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11/4/2024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3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Global F&amp;S Field SW Kaizen Forecast &amp; Service Revenue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83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7CD6FF-2E20-41E6-AB97-F40BF55EDE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45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47"/>
            <a:ext cx="8558784" cy="563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88C42-1828-43D4-84E4-FBA39F2FCC08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2"/>
            <a:ext cx="7251193" cy="192024"/>
          </a:xfrm>
          <a:prstGeom prst="rect">
            <a:avLst/>
          </a:prstGeom>
        </p:spPr>
        <p:txBody>
          <a:bodyPr lIns="63759" tIns="31859" rIns="63759" bIns="31859"/>
          <a:lstStyle/>
          <a:p>
            <a:pPr defTabSz="764884"/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F654-7552-4B9D-9287-15EA6E658DE7}" type="slidenum">
              <a:rPr lang="en-US" smtClean="0">
                <a:solidFill>
                  <a:prstClr val="black"/>
                </a:solidFill>
              </a:rPr>
              <a:pPr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09" y="916958"/>
            <a:ext cx="8555035" cy="640080"/>
          </a:xfrm>
        </p:spPr>
        <p:txBody>
          <a:bodyPr vert="horz" lIns="12802" tIns="31859" rIns="12802" bIns="31859" rtlCol="0">
            <a:noAutofit/>
          </a:bodyPr>
          <a:lstStyle>
            <a:lvl1pPr>
              <a:defRPr lang="en-US" sz="2900" dirty="0"/>
            </a:lvl1pPr>
          </a:lstStyle>
          <a:p>
            <a:pPr lvl="0">
              <a:buFontTx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4622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47"/>
            <a:ext cx="8558784" cy="563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88C42-1828-43D4-84E4-FBA39F2FCC08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2"/>
            <a:ext cx="7251193" cy="192024"/>
          </a:xfrm>
          <a:prstGeom prst="rect">
            <a:avLst/>
          </a:prstGeom>
        </p:spPr>
        <p:txBody>
          <a:bodyPr lIns="63759" tIns="31859" rIns="63759" bIns="31859"/>
          <a:lstStyle/>
          <a:p>
            <a:pPr defTabSz="764884"/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F654-7552-4B9D-9287-15EA6E658DE7}" type="slidenum">
              <a:rPr lang="en-US" smtClean="0">
                <a:solidFill>
                  <a:prstClr val="black"/>
                </a:solidFill>
              </a:rPr>
              <a:pPr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09" y="916958"/>
            <a:ext cx="8555035" cy="640080"/>
          </a:xfrm>
        </p:spPr>
        <p:txBody>
          <a:bodyPr vert="horz" lIns="12802" tIns="31859" rIns="12802" bIns="31859" rtlCol="0">
            <a:noAutofit/>
          </a:bodyPr>
          <a:lstStyle>
            <a:lvl1pPr>
              <a:defRPr lang="en-US" sz="2900" dirty="0"/>
            </a:lvl1pPr>
          </a:lstStyle>
          <a:p>
            <a:pPr lvl="0">
              <a:buFontTx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07971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53" tIns="45527" rIns="91053" bIns="45527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 defTabSz="910601">
              <a:defRPr/>
            </a:pPr>
            <a:fld id="{64AA8140-9FA3-42DC-984A-C841C903E487}" type="slidenum">
              <a:rPr lang="zh-CN" altLang="en-US" smtClean="0">
                <a:solidFill>
                  <a:srgbClr val="000000"/>
                </a:solidFill>
              </a:rPr>
              <a:pPr defTabSz="910601"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7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5" y="1981200"/>
            <a:ext cx="7936991" cy="4237038"/>
          </a:xfrm>
        </p:spPr>
        <p:txBody>
          <a:bodyPr/>
          <a:lstStyle>
            <a:lvl1pPr marL="0" indent="0">
              <a:buFont typeface="Arial" pitchFamily="34" charset="0"/>
              <a:buNone/>
              <a:defRPr sz="2400"/>
            </a:lvl1pPr>
            <a:lvl2pPr marL="0" indent="0">
              <a:buFont typeface="Arial" pitchFamily="34" charset="0"/>
              <a:buNone/>
              <a:defRPr sz="2200"/>
            </a:lvl2pPr>
            <a:lvl3pPr marL="0" indent="0">
              <a:buFont typeface="Arial" pitchFamily="34" charset="0"/>
              <a:buNone/>
              <a:defRPr sz="2000"/>
            </a:lvl3pPr>
            <a:lvl4pPr marL="0" indent="0">
              <a:buFont typeface="Arial" pitchFamily="34" charset="0"/>
              <a:buNone/>
              <a:defRPr sz="1800"/>
            </a:lvl4pPr>
            <a:lvl5pPr marL="0" indent="0">
              <a:buFont typeface="Arial" pitchFamily="34" charset="0"/>
              <a:buNone/>
              <a:defRPr sz="1800"/>
            </a:lvl5pPr>
            <a:lvl6pPr marL="0" indent="0">
              <a:buNone/>
              <a:defRPr sz="1800"/>
            </a:lvl6pPr>
            <a:lvl7pPr marL="0" indent="0">
              <a:buNone/>
              <a:defRPr sz="1800"/>
            </a:lvl7pPr>
            <a:lvl8pPr marL="0" indent="0">
              <a:buNone/>
              <a:defRPr sz="1800"/>
            </a:lvl8pPr>
            <a:lvl9pPr marL="0" indent="0">
              <a:buNone/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7200" y="6622086"/>
            <a:ext cx="762000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6F788C42-1828-43D4-84E4-FBA39F2FCC08}" type="datetime1">
              <a:rPr lang="en-US" smtClean="0">
                <a:solidFill>
                  <a:srgbClr val="000000"/>
                </a:solidFill>
              </a:rPr>
              <a:pPr defTabSz="910601"/>
              <a:t>11/4/2024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1"/>
            <a:ext cx="7251193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16" y="6385239"/>
            <a:ext cx="774191" cy="19339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789DF654-7552-4B9D-9287-15EA6E658DE7}" type="slidenum">
              <a:rPr lang="en-US" smtClean="0">
                <a:solidFill>
                  <a:srgbClr val="000000"/>
                </a:solidFill>
              </a:rPr>
              <a:pPr defTabSz="910601"/>
              <a:t>‹N°›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22" y="916961"/>
            <a:ext cx="8555037" cy="548640"/>
          </a:xfrm>
        </p:spPr>
        <p:txBody>
          <a:bodyPr vert="horz" lIns="18205" tIns="45527" rIns="18205" bIns="45527" rtlCol="0">
            <a:noAutofit/>
          </a:bodyPr>
          <a:lstStyle>
            <a:lvl1pPr marL="0" indent="0">
              <a:buFontTx/>
              <a:buNone/>
              <a:defRPr lang="en-US" sz="3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0601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5799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0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5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1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1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2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755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/>
          </p:nvPr>
        </p:nvSpPr>
        <p:spPr>
          <a:xfrm>
            <a:off x="292622" y="916961"/>
            <a:ext cx="8555037" cy="548640"/>
          </a:xfrm>
        </p:spPr>
        <p:txBody>
          <a:bodyPr lIns="18205" rIns="18205">
            <a:noAutofit/>
          </a:bodyPr>
          <a:lstStyle>
            <a:lvl1pPr marL="0" indent="0">
              <a:buFontTx/>
              <a:buNone/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xfrm>
            <a:off x="8077200" y="6621497"/>
            <a:ext cx="7620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2101" y="6383372"/>
            <a:ext cx="72517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6751638" y="6683375"/>
            <a:ext cx="2133600" cy="476250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fld id="{821FF6A5-1859-4B00-A5DF-E972EECEBF6A}" type="slidenum">
              <a:rPr lang="en-US" smtClean="0"/>
              <a:pPr defTabSz="910601"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373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84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5F214D-86D4-4D7E-9B85-7E5E83C2F5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11/4/2024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Global F&amp;S Field SW Kaizen Forecast &amp; Service Revenue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84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7CD6FF-2E20-41E6-AB97-F40BF55EDE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72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53" tIns="45527" rIns="91053" bIns="45527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 defTabSz="910601">
              <a:defRPr/>
            </a:pPr>
            <a:fld id="{64AA8140-9FA3-42DC-984A-C841C903E487}" type="slidenum">
              <a:rPr lang="zh-CN" altLang="en-US" smtClean="0">
                <a:solidFill>
                  <a:srgbClr val="000000"/>
                </a:solidFill>
              </a:rPr>
              <a:pPr defTabSz="910601"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475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5" y="1981200"/>
            <a:ext cx="7936991" cy="4237038"/>
          </a:xfrm>
        </p:spPr>
        <p:txBody>
          <a:bodyPr/>
          <a:lstStyle>
            <a:lvl1pPr marL="0" indent="0">
              <a:buFont typeface="Arial" pitchFamily="34" charset="0"/>
              <a:buNone/>
              <a:defRPr sz="2400"/>
            </a:lvl1pPr>
            <a:lvl2pPr marL="0" indent="0">
              <a:buFont typeface="Arial" pitchFamily="34" charset="0"/>
              <a:buNone/>
              <a:defRPr sz="2200"/>
            </a:lvl2pPr>
            <a:lvl3pPr marL="0" indent="0">
              <a:buFont typeface="Arial" pitchFamily="34" charset="0"/>
              <a:buNone/>
              <a:defRPr sz="2000"/>
            </a:lvl3pPr>
            <a:lvl4pPr marL="0" indent="0">
              <a:buFont typeface="Arial" pitchFamily="34" charset="0"/>
              <a:buNone/>
              <a:defRPr sz="1800"/>
            </a:lvl4pPr>
            <a:lvl5pPr marL="0" indent="0">
              <a:buFont typeface="Arial" pitchFamily="34" charset="0"/>
              <a:buNone/>
              <a:defRPr sz="1800"/>
            </a:lvl5pPr>
            <a:lvl6pPr marL="0" indent="0">
              <a:buNone/>
              <a:defRPr sz="1800"/>
            </a:lvl6pPr>
            <a:lvl7pPr marL="0" indent="0">
              <a:buNone/>
              <a:defRPr sz="1800"/>
            </a:lvl7pPr>
            <a:lvl8pPr marL="0" indent="0">
              <a:buNone/>
              <a:defRPr sz="1800"/>
            </a:lvl8pPr>
            <a:lvl9pPr marL="0" indent="0">
              <a:buNone/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7200" y="6622086"/>
            <a:ext cx="762000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6F788C42-1828-43D4-84E4-FBA39F2FCC08}" type="datetime1">
              <a:rPr lang="en-US" smtClean="0">
                <a:solidFill>
                  <a:srgbClr val="000000"/>
                </a:solidFill>
              </a:rPr>
              <a:pPr defTabSz="910601"/>
              <a:t>11/4/2024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1"/>
            <a:ext cx="7251193" cy="192024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16" y="6385239"/>
            <a:ext cx="774191" cy="19339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fld id="{789DF654-7552-4B9D-9287-15EA6E658DE7}" type="slidenum">
              <a:rPr lang="en-US" smtClean="0">
                <a:solidFill>
                  <a:srgbClr val="000000"/>
                </a:solidFill>
              </a:rPr>
              <a:pPr defTabSz="910601"/>
              <a:t>‹N°›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22" y="916961"/>
            <a:ext cx="8555037" cy="548640"/>
          </a:xfrm>
        </p:spPr>
        <p:txBody>
          <a:bodyPr vert="horz" lIns="18205" tIns="45527" rIns="18205" bIns="45527" rtlCol="0">
            <a:noAutofit/>
          </a:bodyPr>
          <a:lstStyle>
            <a:lvl1pPr marL="0" indent="0">
              <a:buFontTx/>
              <a:buNone/>
              <a:defRPr lang="en-US" sz="3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0601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11331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0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5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1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1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2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/>
          <a:p>
            <a:pPr defTabSz="910601"/>
            <a:endParaRPr lang="en-US" dirty="0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681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/>
          </p:nvPr>
        </p:nvSpPr>
        <p:spPr>
          <a:xfrm>
            <a:off x="292622" y="916961"/>
            <a:ext cx="8555037" cy="548640"/>
          </a:xfrm>
        </p:spPr>
        <p:txBody>
          <a:bodyPr lIns="18205" rIns="18205">
            <a:noAutofit/>
          </a:bodyPr>
          <a:lstStyle>
            <a:lvl1pPr marL="0" indent="0">
              <a:buFontTx/>
              <a:buNone/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xfrm>
            <a:off x="8077200" y="6621497"/>
            <a:ext cx="7620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2101" y="6383372"/>
            <a:ext cx="7251700" cy="192087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6751638" y="6683375"/>
            <a:ext cx="2133600" cy="476250"/>
          </a:xfrm>
          <a:prstGeom prst="rect">
            <a:avLst/>
          </a:prstGeom>
        </p:spPr>
        <p:txBody>
          <a:bodyPr lIns="91053" tIns="45527" rIns="91053" bIns="45527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0601">
              <a:defRPr/>
            </a:pPr>
            <a:fld id="{821FF6A5-1859-4B00-A5DF-E972EECEBF6A}" type="slidenum">
              <a:rPr lang="en-US" smtClean="0"/>
              <a:pPr defTabSz="910601"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24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84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5F214D-86D4-4D7E-9B85-7E5E83C2F5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11/4/2024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Global F&amp;S Field SW Kaizen Forecast &amp; Service Revenue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84"/>
            <a:ext cx="2133600" cy="365125"/>
          </a:xfrm>
          <a:prstGeom prst="rect">
            <a:avLst/>
          </a:prstGeom>
        </p:spPr>
        <p:txBody>
          <a:bodyPr lIns="91053" tIns="45527" rIns="91053" bIns="45527"/>
          <a:lstStyle>
            <a:lvl1pPr>
              <a:defRPr/>
            </a:lvl1pPr>
          </a:lstStyle>
          <a:p>
            <a:pPr defTabSz="910601">
              <a:defRPr/>
            </a:pPr>
            <a:fld id="{417CD6FF-2E20-41E6-AB97-F40BF55EDE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0601">
                <a:defRPr/>
              </a:pPr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745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23" tIns="45312" rIns="90623" bIns="45312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 defTabSz="906416">
              <a:defRPr/>
            </a:pPr>
            <a:fld id="{64AA8140-9FA3-42DC-984A-C841C903E487}" type="slidenum">
              <a:rPr lang="zh-CN" altLang="en-US" smtClean="0">
                <a:solidFill>
                  <a:srgbClr val="000000"/>
                </a:solidFill>
              </a:rPr>
              <a:pPr defTabSz="906416"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12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5" y="1981200"/>
            <a:ext cx="7936991" cy="4237038"/>
          </a:xfrm>
        </p:spPr>
        <p:txBody>
          <a:bodyPr/>
          <a:lstStyle>
            <a:lvl1pPr marL="0" indent="0">
              <a:buFont typeface="Arial" pitchFamily="34" charset="0"/>
              <a:buNone/>
              <a:defRPr sz="2400"/>
            </a:lvl1pPr>
            <a:lvl2pPr marL="0" indent="0">
              <a:buFont typeface="Arial" pitchFamily="34" charset="0"/>
              <a:buNone/>
              <a:defRPr sz="2200"/>
            </a:lvl2pPr>
            <a:lvl3pPr marL="0" indent="0">
              <a:buFont typeface="Arial" pitchFamily="34" charset="0"/>
              <a:buNone/>
              <a:defRPr sz="2000"/>
            </a:lvl3pPr>
            <a:lvl4pPr marL="0" indent="0">
              <a:buFont typeface="Arial" pitchFamily="34" charset="0"/>
              <a:buNone/>
              <a:defRPr sz="1800"/>
            </a:lvl4pPr>
            <a:lvl5pPr marL="0" indent="0">
              <a:buFont typeface="Arial" pitchFamily="34" charset="0"/>
              <a:buNone/>
              <a:defRPr sz="1800"/>
            </a:lvl5pPr>
            <a:lvl6pPr marL="0" indent="0">
              <a:buNone/>
              <a:defRPr sz="1800"/>
            </a:lvl6pPr>
            <a:lvl7pPr marL="0" indent="0">
              <a:buNone/>
              <a:defRPr sz="1800"/>
            </a:lvl7pPr>
            <a:lvl8pPr marL="0" indent="0">
              <a:buNone/>
              <a:defRPr sz="1800"/>
            </a:lvl8pPr>
            <a:lvl9pPr marL="0" indent="0">
              <a:buNone/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7200" y="6622086"/>
            <a:ext cx="762000" cy="192024"/>
          </a:xfrm>
          <a:prstGeom prst="rect">
            <a:avLst/>
          </a:prstGeom>
        </p:spPr>
        <p:txBody>
          <a:bodyPr lIns="90623" tIns="45312" rIns="90623" bIns="45312"/>
          <a:lstStyle/>
          <a:p>
            <a:pPr defTabSz="906416"/>
            <a:fld id="{6F788C42-1828-43D4-84E4-FBA39F2FCC08}" type="datetime1">
              <a:rPr lang="en-US" smtClean="0">
                <a:solidFill>
                  <a:srgbClr val="000000"/>
                </a:solidFill>
              </a:rPr>
              <a:pPr defTabSz="906416"/>
              <a:t>11/4/2024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15" y="6383121"/>
            <a:ext cx="7251193" cy="192024"/>
          </a:xfrm>
          <a:prstGeom prst="rect">
            <a:avLst/>
          </a:prstGeom>
        </p:spPr>
        <p:txBody>
          <a:bodyPr lIns="90623" tIns="45312" rIns="90623" bIns="45312"/>
          <a:lstStyle/>
          <a:p>
            <a:pPr defTabSz="906416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16" y="6385239"/>
            <a:ext cx="774191" cy="193395"/>
          </a:xfrm>
          <a:prstGeom prst="rect">
            <a:avLst/>
          </a:prstGeom>
        </p:spPr>
        <p:txBody>
          <a:bodyPr lIns="90623" tIns="45312" rIns="90623" bIns="45312"/>
          <a:lstStyle/>
          <a:p>
            <a:pPr defTabSz="906416"/>
            <a:fld id="{789DF654-7552-4B9D-9287-15EA6E658DE7}" type="slidenum">
              <a:rPr lang="en-US" smtClean="0">
                <a:solidFill>
                  <a:srgbClr val="000000"/>
                </a:solidFill>
              </a:rPr>
              <a:pPr defTabSz="906416"/>
              <a:t>‹N°›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292622" y="916961"/>
            <a:ext cx="8555037" cy="548640"/>
          </a:xfrm>
        </p:spPr>
        <p:txBody>
          <a:bodyPr vert="horz" lIns="18113" tIns="45312" rIns="18113" bIns="45312" rtlCol="0">
            <a:noAutofit/>
          </a:bodyPr>
          <a:lstStyle>
            <a:lvl1pPr marL="0" indent="0">
              <a:buFontTx/>
              <a:buNone/>
              <a:defRPr lang="en-US" sz="3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06416" rtl="0" eaLnBrk="1" latinLnBrk="0" hangingPunct="1">
              <a:spcBef>
                <a:spcPts val="1200"/>
              </a:spcBef>
              <a:buFontTx/>
              <a:buNone/>
            </a:pPr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60239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3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9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2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6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9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2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25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0623" tIns="45312" rIns="90623" bIns="45312"/>
          <a:lstStyle/>
          <a:p>
            <a:pPr defTabSz="906416"/>
            <a:endParaRPr lang="en-US" dirty="0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7946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38"/>
            <a:ext cx="8558784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3"/>
          </p:nvPr>
        </p:nvSpPr>
        <p:spPr>
          <a:xfrm>
            <a:off x="292622" y="916961"/>
            <a:ext cx="8555037" cy="548640"/>
          </a:xfrm>
        </p:spPr>
        <p:txBody>
          <a:bodyPr lIns="18113" rIns="18113">
            <a:noAutofit/>
          </a:bodyPr>
          <a:lstStyle>
            <a:lvl1pPr marL="0" indent="0">
              <a:buFontTx/>
              <a:buNone/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xfrm>
            <a:off x="8077200" y="6621497"/>
            <a:ext cx="762000" cy="192087"/>
          </a:xfrm>
          <a:prstGeom prst="rect">
            <a:avLst/>
          </a:prstGeom>
        </p:spPr>
        <p:txBody>
          <a:bodyPr lIns="90623" tIns="45312" rIns="90623" bIns="45312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06416"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92101" y="6383372"/>
            <a:ext cx="7251700" cy="192087"/>
          </a:xfrm>
          <a:prstGeom prst="rect">
            <a:avLst/>
          </a:prstGeom>
        </p:spPr>
        <p:txBody>
          <a:bodyPr lIns="90623" tIns="45312" rIns="90623" bIns="45312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06416"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6751638" y="6683375"/>
            <a:ext cx="2133600" cy="476250"/>
          </a:xfrm>
          <a:prstGeom prst="rect">
            <a:avLst/>
          </a:prstGeom>
        </p:spPr>
        <p:txBody>
          <a:bodyPr lIns="90623" tIns="45312" rIns="90623" bIns="45312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06416">
              <a:defRPr/>
            </a:pPr>
            <a:fld id="{821FF6A5-1859-4B00-A5DF-E972EECEBF6A}" type="slidenum">
              <a:rPr lang="en-US" smtClean="0"/>
              <a:pPr defTabSz="906416"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92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84"/>
            <a:ext cx="2133600" cy="365125"/>
          </a:xfrm>
          <a:prstGeom prst="rect">
            <a:avLst/>
          </a:prstGeom>
        </p:spPr>
        <p:txBody>
          <a:bodyPr lIns="90623" tIns="45312" rIns="90623" bIns="45312"/>
          <a:lstStyle>
            <a:lvl1pPr>
              <a:defRPr/>
            </a:lvl1pPr>
          </a:lstStyle>
          <a:p>
            <a:pPr defTabSz="906416">
              <a:defRPr/>
            </a:pPr>
            <a:fld id="{415F214D-86D4-4D7E-9B85-7E5E83C2F5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06416">
                <a:defRPr/>
              </a:pPr>
              <a:t>11/4/2024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84"/>
            <a:ext cx="2895600" cy="365125"/>
          </a:xfrm>
          <a:prstGeom prst="rect">
            <a:avLst/>
          </a:prstGeom>
        </p:spPr>
        <p:txBody>
          <a:bodyPr lIns="90623" tIns="45312" rIns="90623" bIns="45312"/>
          <a:lstStyle>
            <a:lvl1pPr>
              <a:defRPr/>
            </a:lvl1pPr>
          </a:lstStyle>
          <a:p>
            <a:pPr defTabSz="906416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Global F&amp;S Field SW Kaizen Forecast &amp; Service Revenue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84"/>
            <a:ext cx="2133600" cy="365125"/>
          </a:xfrm>
          <a:prstGeom prst="rect">
            <a:avLst/>
          </a:prstGeom>
        </p:spPr>
        <p:txBody>
          <a:bodyPr lIns="90623" tIns="45312" rIns="90623" bIns="45312"/>
          <a:lstStyle>
            <a:lvl1pPr>
              <a:defRPr/>
            </a:lvl1pPr>
          </a:lstStyle>
          <a:p>
            <a:pPr defTabSz="906416">
              <a:defRPr/>
            </a:pPr>
            <a:fld id="{417CD6FF-2E20-41E6-AB97-F40BF55EDE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06416">
                <a:defRPr/>
              </a:pPr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352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2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4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BC96-C262-44A9-A0BB-2BDA2E2D38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9795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083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3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582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16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74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32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791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349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073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465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760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64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822" indent="0">
              <a:buNone/>
              <a:defRPr sz="2000" b="1"/>
            </a:lvl2pPr>
            <a:lvl3pPr marL="911648" indent="0">
              <a:buNone/>
              <a:defRPr sz="1800" b="1"/>
            </a:lvl3pPr>
            <a:lvl4pPr marL="1367471" indent="0">
              <a:buNone/>
              <a:defRPr sz="1600" b="1"/>
            </a:lvl4pPr>
            <a:lvl5pPr marL="1823294" indent="0">
              <a:buNone/>
              <a:defRPr sz="1600" b="1"/>
            </a:lvl5pPr>
            <a:lvl6pPr marL="2279102" indent="0">
              <a:buNone/>
              <a:defRPr sz="1600" b="1"/>
            </a:lvl6pPr>
            <a:lvl7pPr marL="2734916" indent="0">
              <a:buNone/>
              <a:defRPr sz="1600" b="1"/>
            </a:lvl7pPr>
            <a:lvl8pPr marL="3190739" indent="0">
              <a:buNone/>
              <a:defRPr sz="1600" b="1"/>
            </a:lvl8pPr>
            <a:lvl9pPr marL="36465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4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822" indent="0">
              <a:buNone/>
              <a:defRPr sz="2000" b="1"/>
            </a:lvl2pPr>
            <a:lvl3pPr marL="911648" indent="0">
              <a:buNone/>
              <a:defRPr sz="1800" b="1"/>
            </a:lvl3pPr>
            <a:lvl4pPr marL="1367471" indent="0">
              <a:buNone/>
              <a:defRPr sz="1600" b="1"/>
            </a:lvl4pPr>
            <a:lvl5pPr marL="1823294" indent="0">
              <a:buNone/>
              <a:defRPr sz="1600" b="1"/>
            </a:lvl5pPr>
            <a:lvl6pPr marL="2279102" indent="0">
              <a:buNone/>
              <a:defRPr sz="1600" b="1"/>
            </a:lvl6pPr>
            <a:lvl7pPr marL="2734916" indent="0">
              <a:buNone/>
              <a:defRPr sz="1600" b="1"/>
            </a:lvl7pPr>
            <a:lvl8pPr marL="3190739" indent="0">
              <a:buNone/>
              <a:defRPr sz="1600" b="1"/>
            </a:lvl8pPr>
            <a:lvl9pPr marL="36465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4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4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892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Organigramme : Processus 16">
            <a:extLst>
              <a:ext uri="{FF2B5EF4-FFF2-40B4-BE49-F238E27FC236}">
                <a16:creationId xmlns:a16="http://schemas.microsoft.com/office/drawing/2014/main" id="{A5945FB8-EC64-42E4-992F-E52C1ADDC10B}"/>
              </a:ext>
            </a:extLst>
          </p:cNvPr>
          <p:cNvSpPr/>
          <p:nvPr userDrawn="1"/>
        </p:nvSpPr>
        <p:spPr>
          <a:xfrm>
            <a:off x="-55037" y="174754"/>
            <a:ext cx="1477401" cy="171933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solidFill>
                <a:schemeClr val="tx1"/>
              </a:solidFill>
            </a:endParaRPr>
          </a:p>
        </p:txBody>
      </p:sp>
      <p:sp>
        <p:nvSpPr>
          <p:cNvPr id="5" name="Organigramme : Processus 39">
            <a:extLst>
              <a:ext uri="{FF2B5EF4-FFF2-40B4-BE49-F238E27FC236}">
                <a16:creationId xmlns:a16="http://schemas.microsoft.com/office/drawing/2014/main" id="{26BEBD9B-03F0-489A-ADC7-864B06166B86}"/>
              </a:ext>
            </a:extLst>
          </p:cNvPr>
          <p:cNvSpPr/>
          <p:nvPr userDrawn="1"/>
        </p:nvSpPr>
        <p:spPr>
          <a:xfrm>
            <a:off x="107504" y="35187"/>
            <a:ext cx="1192292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0977C4-763B-4E8B-8409-0FB4101B0828}"/>
              </a:ext>
            </a:extLst>
          </p:cNvPr>
          <p:cNvCxnSpPr/>
          <p:nvPr userDrawn="1"/>
        </p:nvCxnSpPr>
        <p:spPr>
          <a:xfrm>
            <a:off x="520628" y="6296"/>
            <a:ext cx="0" cy="3787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2C322EEC-A798-471A-9CE4-EF91441BF599}"/>
              </a:ext>
            </a:extLst>
          </p:cNvPr>
          <p:cNvSpPr txBox="1"/>
          <p:nvPr userDrawn="1"/>
        </p:nvSpPr>
        <p:spPr>
          <a:xfrm>
            <a:off x="142008" y="6296"/>
            <a:ext cx="38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3DCC754-343F-41FF-B423-DF600F6622ED}"/>
              </a:ext>
            </a:extLst>
          </p:cNvPr>
          <p:cNvSpPr txBox="1"/>
          <p:nvPr userDrawn="1"/>
        </p:nvSpPr>
        <p:spPr>
          <a:xfrm>
            <a:off x="516078" y="6296"/>
            <a:ext cx="38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H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B895ACE-5213-4973-8DDC-06D5220B15E9}"/>
              </a:ext>
            </a:extLst>
          </p:cNvPr>
          <p:cNvCxnSpPr/>
          <p:nvPr userDrawn="1"/>
        </p:nvCxnSpPr>
        <p:spPr>
          <a:xfrm>
            <a:off x="894698" y="6296"/>
            <a:ext cx="0" cy="3787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A7683B89-1832-4464-9ABF-7159C8FABBA8}"/>
              </a:ext>
            </a:extLst>
          </p:cNvPr>
          <p:cNvSpPr txBox="1"/>
          <p:nvPr userDrawn="1"/>
        </p:nvSpPr>
        <p:spPr>
          <a:xfrm>
            <a:off x="890148" y="6296"/>
            <a:ext cx="38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BC33E55-8C5A-4D66-8A85-75BEFA2F5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924" y="48744"/>
            <a:ext cx="629873" cy="423952"/>
          </a:xfrm>
          <a:prstGeom prst="rect">
            <a:avLst/>
          </a:prstGeom>
        </p:spPr>
      </p:pic>
      <p:sp>
        <p:nvSpPr>
          <p:cNvPr id="16" name="Organigramme : Processus 16">
            <a:extLst>
              <a:ext uri="{FF2B5EF4-FFF2-40B4-BE49-F238E27FC236}">
                <a16:creationId xmlns:a16="http://schemas.microsoft.com/office/drawing/2014/main" id="{3CEF4FB4-A646-4ED8-8C71-F8E708593FD6}"/>
              </a:ext>
            </a:extLst>
          </p:cNvPr>
          <p:cNvSpPr/>
          <p:nvPr userDrawn="1"/>
        </p:nvSpPr>
        <p:spPr>
          <a:xfrm>
            <a:off x="2254960" y="177779"/>
            <a:ext cx="164956" cy="165882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295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5822" indent="0">
              <a:buNone/>
              <a:defRPr sz="1200"/>
            </a:lvl2pPr>
            <a:lvl3pPr marL="911648" indent="0">
              <a:buNone/>
              <a:defRPr sz="1000"/>
            </a:lvl3pPr>
            <a:lvl4pPr marL="1367471" indent="0">
              <a:buNone/>
              <a:defRPr sz="900"/>
            </a:lvl4pPr>
            <a:lvl5pPr marL="1823294" indent="0">
              <a:buNone/>
              <a:defRPr sz="900"/>
            </a:lvl5pPr>
            <a:lvl6pPr marL="2279102" indent="0">
              <a:buNone/>
              <a:defRPr sz="900"/>
            </a:lvl6pPr>
            <a:lvl7pPr marL="2734916" indent="0">
              <a:buNone/>
              <a:defRPr sz="900"/>
            </a:lvl7pPr>
            <a:lvl8pPr marL="3190739" indent="0">
              <a:buNone/>
              <a:defRPr sz="900"/>
            </a:lvl8pPr>
            <a:lvl9pPr marL="364658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796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5822" indent="0">
              <a:buNone/>
              <a:defRPr sz="2800"/>
            </a:lvl2pPr>
            <a:lvl3pPr marL="911648" indent="0">
              <a:buNone/>
              <a:defRPr sz="2400"/>
            </a:lvl3pPr>
            <a:lvl4pPr marL="1367471" indent="0">
              <a:buNone/>
              <a:defRPr sz="2000"/>
            </a:lvl4pPr>
            <a:lvl5pPr marL="1823294" indent="0">
              <a:buNone/>
              <a:defRPr sz="2000"/>
            </a:lvl5pPr>
            <a:lvl6pPr marL="2279102" indent="0">
              <a:buNone/>
              <a:defRPr sz="2000"/>
            </a:lvl6pPr>
            <a:lvl7pPr marL="2734916" indent="0">
              <a:buNone/>
              <a:defRPr sz="2000"/>
            </a:lvl7pPr>
            <a:lvl8pPr marL="3190739" indent="0">
              <a:buNone/>
              <a:defRPr sz="2000"/>
            </a:lvl8pPr>
            <a:lvl9pPr marL="364658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5822" indent="0">
              <a:buNone/>
              <a:defRPr sz="1200"/>
            </a:lvl2pPr>
            <a:lvl3pPr marL="911648" indent="0">
              <a:buNone/>
              <a:defRPr sz="1000"/>
            </a:lvl3pPr>
            <a:lvl4pPr marL="1367471" indent="0">
              <a:buNone/>
              <a:defRPr sz="900"/>
            </a:lvl4pPr>
            <a:lvl5pPr marL="1823294" indent="0">
              <a:buNone/>
              <a:defRPr sz="900"/>
            </a:lvl5pPr>
            <a:lvl6pPr marL="2279102" indent="0">
              <a:buNone/>
              <a:defRPr sz="900"/>
            </a:lvl6pPr>
            <a:lvl7pPr marL="2734916" indent="0">
              <a:buNone/>
              <a:defRPr sz="900"/>
            </a:lvl7pPr>
            <a:lvl8pPr marL="3190739" indent="0">
              <a:buNone/>
              <a:defRPr sz="900"/>
            </a:lvl8pPr>
            <a:lvl9pPr marL="364658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4064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111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6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850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321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084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43000"/>
            <a:ext cx="4229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143000"/>
            <a:ext cx="4229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3884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960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232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4159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082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263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2971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7" y="304800"/>
            <a:ext cx="2162175" cy="60960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2" y="304800"/>
            <a:ext cx="6334125" cy="60960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1880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04800"/>
            <a:ext cx="8610600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228600" y="1143000"/>
            <a:ext cx="8610600" cy="5257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4AA8140-9FA3-42DC-984A-C841C903E4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17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2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F2A1B-126A-44F2-A8DD-D6F62211A91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0595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-161925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 algn="ctr">
              <a:defRPr sz="1000"/>
            </a:lvl1pPr>
          </a:lstStyle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>
                <a:solidFill>
                  <a:srgbClr val="000000"/>
                </a:solidFill>
              </a:rPr>
              <a:t>Company restricted information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328"/>
            <a:ext cx="2133600" cy="476250"/>
          </a:xfrm>
          <a:prstGeom prst="rect">
            <a:avLst/>
          </a:prstGeom>
          <a:ln/>
        </p:spPr>
        <p:txBody>
          <a:bodyPr/>
          <a:lstStyle>
            <a:lvl1pPr algn="r">
              <a:defRPr sz="1400"/>
            </a:lvl1pPr>
          </a:lstStyle>
          <a:p>
            <a:pPr>
              <a:defRPr/>
            </a:pPr>
            <a:fld id="{88A8161E-F670-4DF2-B7C2-B25C0F57145D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7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4" tIns="45497" rIns="90994" bIns="454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6215" y="381000"/>
            <a:ext cx="86090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4" tIns="45497" rIns="90994" bIns="454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60132" name="Line 4"/>
          <p:cNvSpPr>
            <a:spLocks noChangeShapeType="1"/>
          </p:cNvSpPr>
          <p:nvPr/>
        </p:nvSpPr>
        <p:spPr bwMode="auto">
          <a:xfrm>
            <a:off x="301628" y="794347"/>
            <a:ext cx="855027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007" tIns="45504" rIns="91007" bIns="45504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493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507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6pPr>
      <a:lvl7pPr marL="910147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7pPr>
      <a:lvl8pPr marL="1365219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8pPr>
      <a:lvl9pPr marL="1820292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9pPr>
    </p:titleStyle>
    <p:bodyStyle>
      <a:lvl1pPr marL="341310" indent="-341310" algn="l" rtl="0" fontAlgn="base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39491" indent="-284441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7670" indent="-227509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2744" indent="-229098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7798" indent="-22750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02840" indent="-22750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57941" indent="-22750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13009" indent="-22750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68074" indent="-22750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071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147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219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0292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5342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0412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5483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0578" algn="l" defTabSz="910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47"/>
            <a:ext cx="8558784" cy="563563"/>
          </a:xfrm>
          <a:prstGeom prst="rect">
            <a:avLst/>
          </a:prstGeom>
        </p:spPr>
        <p:txBody>
          <a:bodyPr vert="horz" lIns="0" tIns="31859" rIns="0" bIns="31859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" y="1600201"/>
            <a:ext cx="8558784" cy="4618038"/>
          </a:xfrm>
          <a:prstGeom prst="rect">
            <a:avLst/>
          </a:prstGeom>
        </p:spPr>
        <p:txBody>
          <a:bodyPr vert="horz" lIns="0" tIns="31859" rIns="0" bIns="3185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7200" y="6622087"/>
            <a:ext cx="762000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764884" rtl="0" eaLnBrk="1" latinLnBrk="0" hangingPunct="1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defRPr>
            </a:lvl1pPr>
          </a:lstStyle>
          <a:p>
            <a:fld id="{7E7A5CC5-104E-4C74-B418-EC9AB20DE29C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16" y="6385238"/>
            <a:ext cx="774191" cy="19339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00">
                <a:solidFill>
                  <a:schemeClr val="tx1"/>
                </a:solidFill>
                <a:latin typeface="+mn-lt"/>
                <a:cs typeface="Times New Roman" pitchFamily="18" charset="0"/>
              </a:defRPr>
            </a:lvl1pPr>
          </a:lstStyle>
          <a:p>
            <a:pPr defTabSz="764884"/>
            <a:fld id="{789DF654-7552-4B9D-9287-15EA6E658DE7}" type="slidenum">
              <a:rPr lang="en-US" smtClean="0">
                <a:solidFill>
                  <a:prstClr val="black"/>
                </a:solidFill>
              </a:rPr>
              <a:pPr defTabSz="764884"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" y="914400"/>
            <a:ext cx="855878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0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9" r:id="rId1"/>
  </p:sldLayoutIdLst>
  <p:hf hdr="0" ftr="0" dt="0"/>
  <p:txStyles>
    <p:titleStyle>
      <a:lvl1pPr algn="l" defTabSz="764884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2461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488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7333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976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1223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9468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714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956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6215" y="381000"/>
            <a:ext cx="86090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60132" name="Line 4"/>
          <p:cNvSpPr>
            <a:spLocks noChangeShapeType="1"/>
          </p:cNvSpPr>
          <p:nvPr/>
        </p:nvSpPr>
        <p:spPr bwMode="auto">
          <a:xfrm>
            <a:off x="301628" y="794346"/>
            <a:ext cx="855027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053" tIns="45527" rIns="91053" bIns="45527" anchor="ctr"/>
          <a:lstStyle/>
          <a:p>
            <a:pPr defTabSz="910601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8767412" y="6597832"/>
            <a:ext cx="439737" cy="46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053" tIns="45527" rIns="91053" bIns="45527">
            <a:spAutoFit/>
          </a:bodyPr>
          <a:lstStyle/>
          <a:p>
            <a:pPr algn="ctr" defTabSz="910601" eaLnBrk="0" fontAlgn="base" hangingPunct="0">
              <a:spcBef>
                <a:spcPct val="50000"/>
              </a:spcBef>
              <a:spcAft>
                <a:spcPct val="0"/>
              </a:spcAft>
            </a:pPr>
            <a:fld id="{55DC38BA-8D9C-4443-8CB8-E41D1C761207}" type="slidenum">
              <a:rPr lang="en-US" altLang="en-US" sz="1200" smtClean="0">
                <a:solidFill>
                  <a:srgbClr val="000000"/>
                </a:solidFill>
                <a:latin typeface="Times New Roman" pitchFamily="18" charset="0"/>
              </a:rPr>
              <a:pPr algn="ctr" defTabSz="910601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‹N°›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0" y="6516089"/>
            <a:ext cx="4572000" cy="368942"/>
          </a:xfrm>
          <a:prstGeom prst="rect">
            <a:avLst/>
          </a:prstGeom>
        </p:spPr>
        <p:txBody>
          <a:bodyPr lIns="91053" tIns="45527" rIns="91053" bIns="45527">
            <a:spAutoFit/>
          </a:bodyPr>
          <a:lstStyle/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CCS PROPRIETARY &amp; CONFIDENTIAL</a:t>
            </a:r>
            <a:endParaRPr lang="fr-FR" sz="900" b="1" dirty="0">
              <a:solidFill>
                <a:prstClr val="black"/>
              </a:solidFill>
            </a:endParaRPr>
          </a:p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600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66" r:id="rId1"/>
    <p:sldLayoutId id="2147485267" r:id="rId2"/>
    <p:sldLayoutId id="2147485268" r:id="rId3"/>
    <p:sldLayoutId id="2147485269" r:id="rId4"/>
    <p:sldLayoutId id="2147485271" r:id="rId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5299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6pPr>
      <a:lvl7pPr marL="9106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7pPr>
      <a:lvl8pPr marL="1365902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8pPr>
      <a:lvl9pPr marL="18212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9pPr>
    </p:titleStyle>
    <p:bodyStyle>
      <a:lvl1pPr marL="341481" indent="-341481" algn="l" rtl="0" fontAlgn="base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39860" indent="-284581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8241" indent="-227626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3537" indent="-229216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8825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04089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5942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14712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7001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299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6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902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12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648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1777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7075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2398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47"/>
            <a:ext cx="8558784" cy="563563"/>
          </a:xfrm>
          <a:prstGeom prst="rect">
            <a:avLst/>
          </a:prstGeom>
        </p:spPr>
        <p:txBody>
          <a:bodyPr vert="horz" lIns="0" tIns="31859" rIns="0" bIns="31859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" y="1600201"/>
            <a:ext cx="8558784" cy="4618038"/>
          </a:xfrm>
          <a:prstGeom prst="rect">
            <a:avLst/>
          </a:prstGeom>
        </p:spPr>
        <p:txBody>
          <a:bodyPr vert="horz" lIns="0" tIns="31859" rIns="0" bIns="3185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7200" y="6622087"/>
            <a:ext cx="762000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764884" rtl="0" eaLnBrk="1" latinLnBrk="0" hangingPunct="1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defRPr>
            </a:lvl1pPr>
          </a:lstStyle>
          <a:p>
            <a:fld id="{7E7A5CC5-104E-4C74-B418-EC9AB20DE29C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16" y="6385238"/>
            <a:ext cx="774191" cy="19339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00">
                <a:solidFill>
                  <a:schemeClr val="tx1"/>
                </a:solidFill>
                <a:latin typeface="+mn-lt"/>
                <a:cs typeface="Times New Roman" pitchFamily="18" charset="0"/>
              </a:defRPr>
            </a:lvl1pPr>
          </a:lstStyle>
          <a:p>
            <a:pPr defTabSz="764884"/>
            <a:fld id="{789DF654-7552-4B9D-9287-15EA6E658DE7}" type="slidenum">
              <a:rPr lang="en-US" smtClean="0">
                <a:solidFill>
                  <a:prstClr val="black"/>
                </a:solidFill>
              </a:rPr>
              <a:pPr defTabSz="764884"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" y="914400"/>
            <a:ext cx="855878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8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23" r:id="rId1"/>
  </p:sldLayoutIdLst>
  <p:hf hdr="0" ftr="0" dt="0"/>
  <p:txStyles>
    <p:titleStyle>
      <a:lvl1pPr algn="l" defTabSz="764884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2461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488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7333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976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1223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9468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714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956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7" y="350847"/>
            <a:ext cx="8558784" cy="563563"/>
          </a:xfrm>
          <a:prstGeom prst="rect">
            <a:avLst/>
          </a:prstGeom>
        </p:spPr>
        <p:txBody>
          <a:bodyPr vert="horz" lIns="0" tIns="31859" rIns="0" bIns="31859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" y="1600201"/>
            <a:ext cx="8558784" cy="4618038"/>
          </a:xfrm>
          <a:prstGeom prst="rect">
            <a:avLst/>
          </a:prstGeom>
        </p:spPr>
        <p:txBody>
          <a:bodyPr vert="horz" lIns="0" tIns="31859" rIns="0" bIns="3185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7200" y="6622087"/>
            <a:ext cx="762000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764884" rtl="0" eaLnBrk="1" latinLnBrk="0" hangingPunct="1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defRPr>
            </a:lvl1pPr>
          </a:lstStyle>
          <a:p>
            <a:fld id="{7E7A5CC5-104E-4C74-B418-EC9AB20DE29C}" type="datetime1">
              <a:rPr lang="en-US">
                <a:solidFill>
                  <a:prstClr val="black"/>
                </a:solidFill>
              </a:rPr>
              <a:pPr/>
              <a:t>11/4/2024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16" y="6385238"/>
            <a:ext cx="774191" cy="19339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00">
                <a:solidFill>
                  <a:schemeClr val="tx1"/>
                </a:solidFill>
                <a:latin typeface="+mn-lt"/>
                <a:cs typeface="Times New Roman" pitchFamily="18" charset="0"/>
              </a:defRPr>
            </a:lvl1pPr>
          </a:lstStyle>
          <a:p>
            <a:pPr defTabSz="764884"/>
            <a:fld id="{789DF654-7552-4B9D-9287-15EA6E658DE7}" type="slidenum">
              <a:rPr lang="en-US" smtClean="0">
                <a:solidFill>
                  <a:prstClr val="black"/>
                </a:solidFill>
              </a:rPr>
              <a:pPr defTabSz="764884"/>
              <a:t>‹N°›</a:t>
            </a:fld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" y="914400"/>
            <a:ext cx="855878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53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50" r:id="rId1"/>
  </p:sldLayoutIdLst>
  <p:hf hdr="0" ftr="0" dt="0"/>
  <p:txStyles>
    <p:titleStyle>
      <a:lvl1pPr algn="l" defTabSz="764884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764884" rtl="0" eaLnBrk="1" latinLnBrk="0" hangingPunct="1">
        <a:spcBef>
          <a:spcPts val="1008"/>
        </a:spcBef>
        <a:buFont typeface="Times New Roman" pitchFamily="18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764884" rtl="0" eaLnBrk="1" latinLnBrk="0" hangingPunct="1">
        <a:spcBef>
          <a:spcPts val="1008"/>
        </a:spcBef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2461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488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7333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9764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1223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94689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714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9562" algn="l" defTabSz="76488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6215" y="381000"/>
            <a:ext cx="86090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60132" name="Line 4"/>
          <p:cNvSpPr>
            <a:spLocks noChangeShapeType="1"/>
          </p:cNvSpPr>
          <p:nvPr/>
        </p:nvSpPr>
        <p:spPr bwMode="auto">
          <a:xfrm>
            <a:off x="301628" y="794346"/>
            <a:ext cx="855027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053" tIns="45527" rIns="91053" bIns="45527" anchor="ctr"/>
          <a:lstStyle/>
          <a:p>
            <a:pPr defTabSz="910601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8767412" y="6597832"/>
            <a:ext cx="439737" cy="46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053" tIns="45527" rIns="91053" bIns="45527">
            <a:spAutoFit/>
          </a:bodyPr>
          <a:lstStyle/>
          <a:p>
            <a:pPr algn="ctr" defTabSz="910601" eaLnBrk="0" fontAlgn="base" hangingPunct="0">
              <a:spcBef>
                <a:spcPct val="50000"/>
              </a:spcBef>
              <a:spcAft>
                <a:spcPct val="0"/>
              </a:spcAft>
            </a:pPr>
            <a:fld id="{55DC38BA-8D9C-4443-8CB8-E41D1C761207}" type="slidenum">
              <a:rPr lang="en-US" altLang="en-US" sz="1200" smtClean="0">
                <a:solidFill>
                  <a:srgbClr val="000000"/>
                </a:solidFill>
                <a:latin typeface="Times New Roman" pitchFamily="18" charset="0"/>
              </a:rPr>
              <a:pPr algn="ctr" defTabSz="910601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‹N°›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0" y="6516089"/>
            <a:ext cx="4572000" cy="368942"/>
          </a:xfrm>
          <a:prstGeom prst="rect">
            <a:avLst/>
          </a:prstGeom>
        </p:spPr>
        <p:txBody>
          <a:bodyPr lIns="91053" tIns="45527" rIns="91053" bIns="45527">
            <a:spAutoFit/>
          </a:bodyPr>
          <a:lstStyle/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CCS PROPRIETARY &amp; CONFIDENTIAL</a:t>
            </a:r>
            <a:endParaRPr lang="fr-FR" sz="900" b="1" dirty="0">
              <a:solidFill>
                <a:prstClr val="black"/>
              </a:solidFill>
            </a:endParaRPr>
          </a:p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3603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937" r:id="rId1"/>
    <p:sldLayoutId id="2147486938" r:id="rId2"/>
    <p:sldLayoutId id="2147486939" r:id="rId3"/>
    <p:sldLayoutId id="2147486940" r:id="rId4"/>
    <p:sldLayoutId id="2147486941" r:id="rId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5299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6pPr>
      <a:lvl7pPr marL="9106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7pPr>
      <a:lvl8pPr marL="1365902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8pPr>
      <a:lvl9pPr marL="18212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9pPr>
    </p:titleStyle>
    <p:bodyStyle>
      <a:lvl1pPr marL="341481" indent="-341481" algn="l" rtl="0" fontAlgn="base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39860" indent="-284581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8241" indent="-227626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3537" indent="-229216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8825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04089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5942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14712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7001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299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6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902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12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648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1777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7075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2398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6215" y="381000"/>
            <a:ext cx="86090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41" tIns="45520" rIns="91041" bIns="455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60132" name="Line 4"/>
          <p:cNvSpPr>
            <a:spLocks noChangeShapeType="1"/>
          </p:cNvSpPr>
          <p:nvPr/>
        </p:nvSpPr>
        <p:spPr bwMode="auto">
          <a:xfrm>
            <a:off x="301628" y="794346"/>
            <a:ext cx="855027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1053" tIns="45527" rIns="91053" bIns="45527" anchor="ctr"/>
          <a:lstStyle/>
          <a:p>
            <a:pPr defTabSz="910601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8767412" y="6597832"/>
            <a:ext cx="439737" cy="46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053" tIns="45527" rIns="91053" bIns="45527">
            <a:spAutoFit/>
          </a:bodyPr>
          <a:lstStyle/>
          <a:p>
            <a:pPr algn="ctr" defTabSz="910601" eaLnBrk="0" fontAlgn="base" hangingPunct="0">
              <a:spcBef>
                <a:spcPct val="50000"/>
              </a:spcBef>
              <a:spcAft>
                <a:spcPct val="0"/>
              </a:spcAft>
            </a:pPr>
            <a:fld id="{55DC38BA-8D9C-4443-8CB8-E41D1C761207}" type="slidenum">
              <a:rPr lang="en-US" altLang="en-US" sz="1200" smtClean="0">
                <a:solidFill>
                  <a:srgbClr val="000000"/>
                </a:solidFill>
                <a:latin typeface="Times New Roman" pitchFamily="18" charset="0"/>
              </a:rPr>
              <a:pPr algn="ctr" defTabSz="910601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‹N°›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0" y="6516089"/>
            <a:ext cx="4572000" cy="368942"/>
          </a:xfrm>
          <a:prstGeom prst="rect">
            <a:avLst/>
          </a:prstGeom>
        </p:spPr>
        <p:txBody>
          <a:bodyPr lIns="91053" tIns="45527" rIns="91053" bIns="45527">
            <a:spAutoFit/>
          </a:bodyPr>
          <a:lstStyle/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CCS PROPRIETARY &amp; CONFIDENTIAL</a:t>
            </a:r>
            <a:endParaRPr lang="fr-FR" sz="900" b="1" dirty="0">
              <a:solidFill>
                <a:prstClr val="black"/>
              </a:solidFill>
            </a:endParaRPr>
          </a:p>
          <a:p>
            <a:pPr algn="ctr" defTabSz="910601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790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4" r:id="rId1"/>
    <p:sldLayoutId id="2147487915" r:id="rId2"/>
    <p:sldLayoutId id="2147487916" r:id="rId3"/>
    <p:sldLayoutId id="2147487917" r:id="rId4"/>
    <p:sldLayoutId id="2147487918" r:id="rId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5299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6pPr>
      <a:lvl7pPr marL="9106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7pPr>
      <a:lvl8pPr marL="1365902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8pPr>
      <a:lvl9pPr marL="1821201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9pPr>
    </p:titleStyle>
    <p:bodyStyle>
      <a:lvl1pPr marL="341481" indent="-341481" algn="l" rtl="0" fontAlgn="base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39860" indent="-284581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8241" indent="-227626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3537" indent="-229216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8825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04089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5942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14712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70011" indent="-22762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299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6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902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1201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6480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1777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7075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2398" algn="l" defTabSz="910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12" tIns="45305" rIns="90612" bIns="45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6215" y="381000"/>
            <a:ext cx="86090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12" tIns="45305" rIns="90612" bIns="45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60132" name="Line 4"/>
          <p:cNvSpPr>
            <a:spLocks noChangeShapeType="1"/>
          </p:cNvSpPr>
          <p:nvPr/>
        </p:nvSpPr>
        <p:spPr bwMode="auto">
          <a:xfrm>
            <a:off x="301628" y="794346"/>
            <a:ext cx="855027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lIns="90623" tIns="45312" rIns="90623" bIns="45312" anchor="ctr"/>
          <a:lstStyle/>
          <a:p>
            <a:pPr defTabSz="906416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8767505" y="6597873"/>
            <a:ext cx="439737" cy="4608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623" tIns="45312" rIns="90623" bIns="45312">
            <a:spAutoFit/>
          </a:bodyPr>
          <a:lstStyle/>
          <a:p>
            <a:pPr algn="ctr" defTabSz="906416" eaLnBrk="0" fontAlgn="base" hangingPunct="0">
              <a:spcBef>
                <a:spcPct val="50000"/>
              </a:spcBef>
              <a:spcAft>
                <a:spcPct val="0"/>
              </a:spcAft>
            </a:pPr>
            <a:fld id="{55DC38BA-8D9C-4443-8CB8-E41D1C761207}" type="slidenum">
              <a:rPr lang="en-US" altLang="en-US" sz="1200" smtClean="0">
                <a:solidFill>
                  <a:srgbClr val="000000"/>
                </a:solidFill>
                <a:latin typeface="Times New Roman" pitchFamily="18" charset="0"/>
              </a:rPr>
              <a:pPr algn="ctr" defTabSz="906416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‹N°›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0" y="6516126"/>
            <a:ext cx="4572000" cy="368508"/>
          </a:xfrm>
          <a:prstGeom prst="rect">
            <a:avLst/>
          </a:prstGeom>
        </p:spPr>
        <p:txBody>
          <a:bodyPr lIns="90623" tIns="45312" rIns="90623" bIns="45312">
            <a:spAutoFit/>
          </a:bodyPr>
          <a:lstStyle/>
          <a:p>
            <a:pPr algn="ctr" defTabSz="906416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CCS PROPRIETARY &amp; CONFIDENTIAL</a:t>
            </a:r>
            <a:endParaRPr lang="fr-FR" sz="900" b="1" dirty="0">
              <a:solidFill>
                <a:prstClr val="black"/>
              </a:solidFill>
            </a:endParaRPr>
          </a:p>
          <a:p>
            <a:pPr algn="ctr" defTabSz="906416" fontAlgn="base">
              <a:spcBef>
                <a:spcPct val="0"/>
              </a:spcBef>
              <a:spcAft>
                <a:spcPct val="0"/>
              </a:spcAft>
            </a:pPr>
            <a:r>
              <a:rPr lang="en-GB" sz="900" b="1" dirty="0">
                <a:solidFill>
                  <a:prstClr val="black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795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209" r:id="rId1"/>
    <p:sldLayoutId id="2147488210" r:id="rId2"/>
    <p:sldLayoutId id="2147488211" r:id="rId3"/>
    <p:sldLayoutId id="2147488212" r:id="rId4"/>
    <p:sldLayoutId id="2147488213" r:id="rId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3206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6pPr>
      <a:lvl7pPr marL="906416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7pPr>
      <a:lvl8pPr marL="1359642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8pPr>
      <a:lvl9pPr marL="1812829" algn="l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9pPr>
    </p:titleStyle>
    <p:bodyStyle>
      <a:lvl1pPr marL="339917" indent="-339917" algn="l" rtl="0" fontAlgn="base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36460" indent="-283293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3066" indent="-22657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86239" indent="-228142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39424" indent="-22657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92600" indent="-22657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45873" indent="-22657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399054" indent="-22657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52253" indent="-22657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3206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6416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9642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2829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6026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9240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2453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5659" algn="l" defTabSz="9064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160" tIns="45581" rIns="91160" bIns="4558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160" tIns="45581" rIns="91160" bIns="4558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83"/>
            <a:ext cx="2133600" cy="365125"/>
          </a:xfrm>
          <a:prstGeom prst="rect">
            <a:avLst/>
          </a:prstGeom>
        </p:spPr>
        <p:txBody>
          <a:bodyPr vert="horz" lIns="91160" tIns="45581" rIns="91160" bIns="4558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16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83"/>
            <a:ext cx="2895600" cy="365125"/>
          </a:xfrm>
          <a:prstGeom prst="rect">
            <a:avLst/>
          </a:prstGeom>
        </p:spPr>
        <p:txBody>
          <a:bodyPr vert="horz" lIns="91160" tIns="45581" rIns="91160" bIns="4558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16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83"/>
            <a:ext cx="2133600" cy="365125"/>
          </a:xfrm>
          <a:prstGeom prst="rect">
            <a:avLst/>
          </a:prstGeom>
        </p:spPr>
        <p:txBody>
          <a:bodyPr vert="horz" lIns="91160" tIns="45581" rIns="91160" bIns="4558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1648"/>
            <a:fld id="{77D5BC96-C262-44A9-A0BB-2BDA2E2D38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1648"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2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172" r:id="rId1"/>
    <p:sldLayoutId id="2147489173" r:id="rId2"/>
    <p:sldLayoutId id="2147489174" r:id="rId3"/>
    <p:sldLayoutId id="2147489175" r:id="rId4"/>
    <p:sldLayoutId id="2147489176" r:id="rId5"/>
    <p:sldLayoutId id="2147489177" r:id="rId6"/>
    <p:sldLayoutId id="2147489178" r:id="rId7"/>
    <p:sldLayoutId id="2147489179" r:id="rId8"/>
    <p:sldLayoutId id="2147489180" r:id="rId9"/>
    <p:sldLayoutId id="2147489181" r:id="rId10"/>
    <p:sldLayoutId id="2147489182" r:id="rId11"/>
  </p:sldLayoutIdLst>
  <p:hf hdr="0" ftr="0" dt="0"/>
  <p:txStyles>
    <p:titleStyle>
      <a:lvl1pPr algn="ctr" defTabSz="91164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871" indent="-341871" algn="l" defTabSz="91164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0712" indent="-284904" algn="l" defTabSz="91164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9552" indent="-227894" algn="l" defTabSz="91164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5364" indent="-227894" algn="l" defTabSz="91164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1186" indent="-227894" algn="l" defTabSz="91164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980" indent="-227894" algn="l" defTabSz="9116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825" indent="-227894" algn="l" defTabSz="9116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643" indent="-227894" algn="l" defTabSz="9116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466" indent="-227894" algn="l" defTabSz="9116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22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648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471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294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102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4916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739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583" algn="l" defTabSz="9116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6700" y="304800"/>
            <a:ext cx="8610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610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20644" name="Line 4"/>
          <p:cNvSpPr>
            <a:spLocks noChangeShapeType="1"/>
          </p:cNvSpPr>
          <p:nvPr/>
        </p:nvSpPr>
        <p:spPr bwMode="auto">
          <a:xfrm>
            <a:off x="296865" y="838200"/>
            <a:ext cx="855027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914377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rgbClr val="0000F0"/>
              </a:solidFill>
              <a:cs typeface="Arial" charset="0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1638" y="66833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latin typeface="Times New Roman" pitchFamily="18" charset="0"/>
                <a:ea typeface="+mn-ea"/>
              </a:defRPr>
            </a:lvl1pPr>
          </a:lstStyle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4AA8140-9FA3-42DC-984A-C841C903E487}" type="slidenum">
              <a:rPr lang="zh-CN" altLang="en-US" smtClean="0">
                <a:solidFill>
                  <a:srgbClr val="000000"/>
                </a:solidFill>
                <a:cs typeface="Arial" charset="0"/>
              </a:rPr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zh-CN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74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648" r:id="rId1"/>
    <p:sldLayoutId id="2147489649" r:id="rId2"/>
    <p:sldLayoutId id="2147489650" r:id="rId3"/>
    <p:sldLayoutId id="2147489651" r:id="rId4"/>
    <p:sldLayoutId id="2147489652" r:id="rId5"/>
    <p:sldLayoutId id="2147489653" r:id="rId6"/>
    <p:sldLayoutId id="2147489654" r:id="rId7"/>
    <p:sldLayoutId id="2147489655" r:id="rId8"/>
    <p:sldLayoutId id="2147489656" r:id="rId9"/>
    <p:sldLayoutId id="2147489657" r:id="rId10"/>
    <p:sldLayoutId id="2147489658" r:id="rId11"/>
    <p:sldLayoutId id="2147489659" r:id="rId12"/>
    <p:sldLayoutId id="2147489660" r:id="rId13"/>
    <p:sldLayoutId id="214748966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宋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5pPr>
      <a:lvl6pPr marL="457189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6pPr>
      <a:lvl7pPr marL="914377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7pPr>
      <a:lvl8pPr marL="1371566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8pPr>
      <a:lvl9pPr marL="1828754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宋体" pitchFamily="2" charset="-122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宋体" pitchFamily="2" charset="-122"/>
        </a:defRPr>
      </a:lvl2pPr>
      <a:lvl3pPr marL="1085824" indent="-228594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428715" indent="-228594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宋体" pitchFamily="2" charset="-122"/>
        </a:defRPr>
      </a:lvl4pPr>
      <a:lvl5pPr marL="1771606" indent="-228594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宋体" pitchFamily="2" charset="-122"/>
        </a:defRPr>
      </a:lvl5pPr>
      <a:lvl6pPr marL="2228795" indent="-228594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6pPr>
      <a:lvl7pPr marL="2685984" indent="-228594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7pPr>
      <a:lvl8pPr marL="3143172" indent="-228594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8pPr>
      <a:lvl9pPr marL="3600361" indent="-228594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6450C7B5-C580-3F86-7AE7-78EBF2402B71}"/>
              </a:ext>
            </a:extLst>
          </p:cNvPr>
          <p:cNvSpPr txBox="1"/>
          <p:nvPr/>
        </p:nvSpPr>
        <p:spPr>
          <a:xfrm>
            <a:off x="1763688" y="3812847"/>
            <a:ext cx="6552728" cy="120032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636A6E-CCCA-6FED-C26F-B68D4A01FBE5}"/>
              </a:ext>
            </a:extLst>
          </p:cNvPr>
          <p:cNvSpPr/>
          <p:nvPr/>
        </p:nvSpPr>
        <p:spPr>
          <a:xfrm>
            <a:off x="5220072" y="6597352"/>
            <a:ext cx="37561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001b  CR Final d’analyse d’accidents et événements – V3   août 2023</a:t>
            </a:r>
            <a:endParaRPr lang="fr-FR" i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520E9B-247E-DC01-009E-FB9F17C5EADE}"/>
              </a:ext>
            </a:extLst>
          </p:cNvPr>
          <p:cNvSpPr txBox="1"/>
          <p:nvPr/>
        </p:nvSpPr>
        <p:spPr>
          <a:xfrm>
            <a:off x="1259632" y="1268760"/>
            <a:ext cx="72728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Analyse et arbre des causes  - Report d’un accident</a:t>
            </a:r>
          </a:p>
          <a:p>
            <a:pPr algn="ctr"/>
            <a:r>
              <a:rPr lang="fr-FR" sz="2400" i="1" dirty="0"/>
              <a:t>France</a:t>
            </a:r>
          </a:p>
          <a:p>
            <a:pPr algn="ctr"/>
            <a:endParaRPr lang="fr-FR" sz="2400" i="1" dirty="0"/>
          </a:p>
          <a:p>
            <a:pPr algn="ctr"/>
            <a:endParaRPr lang="fr-FR" sz="2400" i="1" dirty="0"/>
          </a:p>
          <a:p>
            <a:pPr algn="ctr"/>
            <a:r>
              <a:rPr lang="fr-FR" sz="2400" dirty="0"/>
              <a:t>Activité : </a:t>
            </a:r>
            <a:r>
              <a:rPr lang="fr-FR" sz="2400" dirty="0">
                <a:solidFill>
                  <a:srgbClr val="C00000"/>
                </a:solidFill>
              </a:rPr>
              <a:t>PI / Chubb Système / Chubb Delta / </a:t>
            </a:r>
            <a:r>
              <a:rPr lang="fr-FR" sz="2400" dirty="0" err="1">
                <a:solidFill>
                  <a:srgbClr val="C00000"/>
                </a:solidFill>
              </a:rPr>
              <a:t>Cemis</a:t>
            </a:r>
            <a:endParaRPr lang="fr-FR" sz="2400" dirty="0">
              <a:solidFill>
                <a:srgbClr val="C00000"/>
              </a:solidFill>
            </a:endParaRPr>
          </a:p>
          <a:p>
            <a:pPr algn="ctr"/>
            <a:r>
              <a:rPr lang="fr-FR" sz="2400" dirty="0">
                <a:solidFill>
                  <a:srgbClr val="0070C0"/>
                </a:solidFill>
              </a:rPr>
              <a:t>Date de l’accident : </a:t>
            </a:r>
          </a:p>
          <a:p>
            <a:pPr algn="ctr"/>
            <a:endParaRPr lang="fr-FR" sz="2400" dirty="0">
              <a:solidFill>
                <a:srgbClr val="0070C0"/>
              </a:solidFill>
            </a:endParaRPr>
          </a:p>
          <a:p>
            <a:pPr algn="ctr"/>
            <a:r>
              <a:rPr lang="fr-FR" sz="2400" dirty="0">
                <a:solidFill>
                  <a:srgbClr val="0070C0"/>
                </a:solidFill>
              </a:rPr>
              <a:t>Catégorie de l’accident : </a:t>
            </a:r>
          </a:p>
          <a:p>
            <a:pPr algn="ctr"/>
            <a:r>
              <a:rPr lang="fr-FR" i="1" dirty="0"/>
              <a:t>Electrisation – chute de hauteur….</a:t>
            </a:r>
            <a:endParaRPr lang="fr-FR" sz="2400" i="1" dirty="0"/>
          </a:p>
          <a:p>
            <a:pPr algn="ctr"/>
            <a:endParaRPr lang="fr-FR" sz="2400" dirty="0"/>
          </a:p>
          <a:p>
            <a:pPr algn="ctr"/>
            <a:endParaRPr lang="fr-FR" dirty="0"/>
          </a:p>
          <a:p>
            <a:pPr algn="ctr"/>
            <a:r>
              <a:rPr lang="fr-FR" dirty="0"/>
              <a:t>Classification Accident France : </a:t>
            </a:r>
            <a:r>
              <a:rPr lang="fr-FR" dirty="0">
                <a:solidFill>
                  <a:srgbClr val="C00000"/>
                </a:solidFill>
              </a:rPr>
              <a:t>ATAA / ATJAA / ATSA / HIPO</a:t>
            </a:r>
          </a:p>
          <a:p>
            <a:pPr algn="ctr"/>
            <a:r>
              <a:rPr lang="fr-FR" dirty="0"/>
              <a:t>Classification accident API : </a:t>
            </a:r>
            <a:r>
              <a:rPr lang="fr-FR" dirty="0">
                <a:solidFill>
                  <a:srgbClr val="C00000"/>
                </a:solidFill>
              </a:rPr>
              <a:t>LT / MT / RD / HIPO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E07EC84-6D36-8405-BAAC-E7FB08A13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55158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6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36A6E-CCCA-6FED-C26F-B68D4A01FBE5}"/>
              </a:ext>
            </a:extLst>
          </p:cNvPr>
          <p:cNvSpPr/>
          <p:nvPr/>
        </p:nvSpPr>
        <p:spPr>
          <a:xfrm>
            <a:off x="7524328" y="6676015"/>
            <a:ext cx="15536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001b – V3 août 2023</a:t>
            </a:r>
            <a:endParaRPr lang="fr-FR" i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520E9B-247E-DC01-009E-FB9F17C5EADE}"/>
              </a:ext>
            </a:extLst>
          </p:cNvPr>
          <p:cNvSpPr txBox="1"/>
          <p:nvPr/>
        </p:nvSpPr>
        <p:spPr>
          <a:xfrm>
            <a:off x="1259632" y="1268760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EQUIPE D’INVESTIGATION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2FFD709-80EF-8CA6-6914-DF2466D54439}"/>
              </a:ext>
            </a:extLst>
          </p:cNvPr>
          <p:cNvSpPr txBox="1"/>
          <p:nvPr/>
        </p:nvSpPr>
        <p:spPr>
          <a:xfrm flipH="1">
            <a:off x="2843808" y="1811981"/>
            <a:ext cx="5652628" cy="4585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fr-FR" sz="1400" b="1" u="sng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400" b="1" dirty="0"/>
              <a:t>Date de l’analyse 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400" b="1" dirty="0"/>
          </a:p>
          <a:p>
            <a:r>
              <a:rPr lang="fr-FR" sz="1400" b="1" dirty="0"/>
              <a:t>________________________________</a:t>
            </a:r>
          </a:p>
          <a:p>
            <a:endParaRPr lang="fr-FR" sz="14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4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400" dirty="0"/>
              <a:t>Invitations/Présents </a:t>
            </a:r>
            <a:r>
              <a:rPr lang="fr-FR" sz="1100" i="1" dirty="0">
                <a:solidFill>
                  <a:srgbClr val="0070C0"/>
                </a:solidFill>
              </a:rPr>
              <a:t>(Nom fonction  </a:t>
            </a:r>
            <a:r>
              <a:rPr lang="fr-FR" sz="1100" i="1" dirty="0">
                <a:solidFill>
                  <a:srgbClr val="7030A0"/>
                </a:solidFill>
              </a:rPr>
              <a:t>cochés = présents)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fr-FR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1400" dirty="0"/>
              <a:t>.</a:t>
            </a:r>
          </a:p>
          <a:p>
            <a:endParaRPr lang="fr-FR" sz="1400" dirty="0"/>
          </a:p>
          <a:p>
            <a:r>
              <a:rPr lang="fr-FR" sz="1200" dirty="0" err="1"/>
              <a:t>Resp</a:t>
            </a:r>
            <a:r>
              <a:rPr lang="fr-FR" sz="1200" dirty="0"/>
              <a:t> EHS garant de l’arbre des causes : </a:t>
            </a:r>
            <a:r>
              <a:rPr lang="fr-FR" sz="1400" dirty="0"/>
              <a:t>_____________________________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101A46D-3D1B-C598-AD43-99A3084E9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55158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7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>
            <a:extLst>
              <a:ext uri="{FF2B5EF4-FFF2-40B4-BE49-F238E27FC236}">
                <a16:creationId xmlns:a16="http://schemas.microsoft.com/office/drawing/2014/main" id="{0D712A7F-748C-4B27-BF7D-37C14E80A0F2}"/>
              </a:ext>
            </a:extLst>
          </p:cNvPr>
          <p:cNvSpPr txBox="1"/>
          <p:nvPr/>
        </p:nvSpPr>
        <p:spPr>
          <a:xfrm>
            <a:off x="7182664" y="343172"/>
            <a:ext cx="14798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/>
              <a:t>Presqu’accident ou HIPO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28A453-2BD4-4450-AB42-31EF24380112}"/>
              </a:ext>
            </a:extLst>
          </p:cNvPr>
          <p:cNvSpPr txBox="1"/>
          <p:nvPr/>
        </p:nvSpPr>
        <p:spPr>
          <a:xfrm>
            <a:off x="7187014" y="55140"/>
            <a:ext cx="1127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/>
              <a:t>Accident du travail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66419" y="895891"/>
          <a:ext cx="5281537" cy="1380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795">
                  <a:extLst>
                    <a:ext uri="{9D8B030D-6E8A-4147-A177-3AD203B41FA5}">
                      <a16:colId xmlns:a16="http://schemas.microsoft.com/office/drawing/2014/main" val="3188995889"/>
                    </a:ext>
                  </a:extLst>
                </a:gridCol>
                <a:gridCol w="576061">
                  <a:extLst>
                    <a:ext uri="{9D8B030D-6E8A-4147-A177-3AD203B41FA5}">
                      <a16:colId xmlns:a16="http://schemas.microsoft.com/office/drawing/2014/main" val="322854451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06">
                  <a:extLst>
                    <a:ext uri="{9D8B030D-6E8A-4147-A177-3AD203B41FA5}">
                      <a16:colId xmlns:a16="http://schemas.microsoft.com/office/drawing/2014/main" val="204034754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96249732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765849697"/>
                    </a:ext>
                  </a:extLst>
                </a:gridCol>
                <a:gridCol w="1119972">
                  <a:extLst>
                    <a:ext uri="{9D8B030D-6E8A-4147-A177-3AD203B41FA5}">
                      <a16:colId xmlns:a16="http://schemas.microsoft.com/office/drawing/2014/main" val="1036023377"/>
                    </a:ext>
                  </a:extLst>
                </a:gridCol>
              </a:tblGrid>
              <a:tr h="25400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/>
                        <a:t>Information Générale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26614"/>
                  </a:ext>
                </a:extLst>
              </a:tr>
              <a:tr h="27363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000" noProof="0" dirty="0"/>
                        <a:t>Date &amp; Heure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000" noProof="0" dirty="0"/>
                        <a:t>Lieu</a:t>
                      </a:r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560569"/>
                  </a:ext>
                </a:extLst>
              </a:tr>
              <a:tr h="27388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100" noProof="0" dirty="0"/>
                        <a:t>Employé :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100" noProof="0"/>
                        <a:t>Manager :</a:t>
                      </a:r>
                      <a:endParaRPr lang="fr-FR" sz="19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1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fr-FR" sz="1000" b="0" noProof="0" dirty="0"/>
                        <a:t>Age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fr-FR" sz="1000" b="0" noProof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baseline="0" noProof="0" dirty="0"/>
                        <a:t>Ancienneté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b="0" baseline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 err="1"/>
                        <a:t>Statut</a:t>
                      </a:r>
                      <a:endParaRPr lang="fr-F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fr-FR" sz="1000" b="0" noProof="0" dirty="0"/>
                        <a:t>Activité : 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noProof="0" dirty="0"/>
                        <a:t>Agence: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Fonction:</a:t>
                      </a:r>
                      <a:endParaRPr lang="fr-F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21" name="Rectangle 2"/>
          <p:cNvSpPr>
            <a:spLocks noChangeArrowheads="1"/>
          </p:cNvSpPr>
          <p:nvPr/>
        </p:nvSpPr>
        <p:spPr bwMode="auto">
          <a:xfrm>
            <a:off x="2233096" y="44624"/>
            <a:ext cx="4931192" cy="5596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en-US" sz="1600" b="1" u="sng" dirty="0" err="1"/>
              <a:t>Objet</a:t>
            </a:r>
            <a:r>
              <a:rPr lang="en-US" altLang="en-US" sz="1600" b="1" u="sng" dirty="0"/>
              <a:t> </a:t>
            </a:r>
            <a:r>
              <a:rPr lang="en-US" altLang="en-US" sz="1600" b="1" u="sng" dirty="0" err="1"/>
              <a:t>Evènement</a:t>
            </a:r>
            <a:r>
              <a:rPr lang="en-US" altLang="en-US" sz="1600" b="1" u="sng" dirty="0"/>
              <a:t> </a:t>
            </a:r>
            <a:r>
              <a:rPr lang="en-US" altLang="en-US" sz="1200" b="1" u="sng" dirty="0"/>
              <a:t>:  </a:t>
            </a:r>
          </a:p>
          <a:p>
            <a:r>
              <a:rPr lang="en-US" altLang="en-US" sz="1200" dirty="0">
                <a:highlight>
                  <a:srgbClr val="FFFF00"/>
                </a:highlight>
              </a:rPr>
              <a:t>N° </a:t>
            </a:r>
          </a:p>
        </p:txBody>
      </p:sp>
      <p:cxnSp>
        <p:nvCxnSpPr>
          <p:cNvPr id="15" name="Straight Connector 8"/>
          <p:cNvCxnSpPr/>
          <p:nvPr/>
        </p:nvCxnSpPr>
        <p:spPr>
          <a:xfrm>
            <a:off x="246192" y="762000"/>
            <a:ext cx="853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49068" y="1282793"/>
            <a:ext cx="3225460" cy="2646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Photos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  <a:p>
            <a:endParaRPr lang="en-GB" sz="10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6449A6D-3D63-429C-80AD-0BB1BA57A507}"/>
              </a:ext>
            </a:extLst>
          </p:cNvPr>
          <p:cNvSpPr txBox="1"/>
          <p:nvPr/>
        </p:nvSpPr>
        <p:spPr>
          <a:xfrm>
            <a:off x="164156" y="537085"/>
            <a:ext cx="2020105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1" b="1" i="1" dirty="0"/>
              <a:t>Cpte rendu initial d’accident 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7D251F8-0507-4214-A0C3-5D646DBE1AB2}"/>
              </a:ext>
            </a:extLst>
          </p:cNvPr>
          <p:cNvGrpSpPr/>
          <p:nvPr/>
        </p:nvGrpSpPr>
        <p:grpSpPr>
          <a:xfrm>
            <a:off x="9646" y="6453341"/>
            <a:ext cx="9058156" cy="451067"/>
            <a:chOff x="7233" y="6184547"/>
            <a:chExt cx="9181348" cy="6734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B9C312-D7BD-4EE0-AF89-79D413509672}"/>
                </a:ext>
              </a:extLst>
            </p:cNvPr>
            <p:cNvSpPr/>
            <p:nvPr/>
          </p:nvSpPr>
          <p:spPr>
            <a:xfrm>
              <a:off x="7233" y="6184547"/>
              <a:ext cx="9131819" cy="673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18442C8-5F8D-4DF3-AB9A-ED37085E8BA3}"/>
                </a:ext>
              </a:extLst>
            </p:cNvPr>
            <p:cNvSpPr txBox="1"/>
            <p:nvPr/>
          </p:nvSpPr>
          <p:spPr>
            <a:xfrm>
              <a:off x="6735342" y="6255237"/>
              <a:ext cx="2453239" cy="483868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EC554AA-20F3-49F8-B70E-52C6E50FCFEE}"/>
              </a:ext>
            </a:extLst>
          </p:cNvPr>
          <p:cNvSpPr/>
          <p:nvPr/>
        </p:nvSpPr>
        <p:spPr>
          <a:xfrm>
            <a:off x="8798588" y="92349"/>
            <a:ext cx="107541" cy="12161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D0708-05B9-42D1-9948-21355C2710D6}"/>
              </a:ext>
            </a:extLst>
          </p:cNvPr>
          <p:cNvSpPr/>
          <p:nvPr/>
        </p:nvSpPr>
        <p:spPr>
          <a:xfrm>
            <a:off x="8796534" y="236365"/>
            <a:ext cx="107541" cy="12161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BE0E255-58D8-4E2D-B43D-43CA0C2CA835}"/>
              </a:ext>
            </a:extLst>
          </p:cNvPr>
          <p:cNvSpPr txBox="1"/>
          <p:nvPr/>
        </p:nvSpPr>
        <p:spPr>
          <a:xfrm>
            <a:off x="7184148" y="199156"/>
            <a:ext cx="1075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/>
              <a:t>Accident de trajet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2DD498-8DF9-4664-A936-06EF5A67F079}"/>
              </a:ext>
            </a:extLst>
          </p:cNvPr>
          <p:cNvSpPr/>
          <p:nvPr/>
        </p:nvSpPr>
        <p:spPr>
          <a:xfrm>
            <a:off x="8794866" y="380381"/>
            <a:ext cx="107541" cy="12161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0" name="Table 2">
            <a:extLst>
              <a:ext uri="{FF2B5EF4-FFF2-40B4-BE49-F238E27FC236}">
                <a16:creationId xmlns:a16="http://schemas.microsoft.com/office/drawing/2014/main" id="{E90540FF-D10A-4B39-955E-75D3B17207E7}"/>
              </a:ext>
            </a:extLst>
          </p:cNvPr>
          <p:cNvGraphicFramePr>
            <a:graphicFrameLocks noGrp="1"/>
          </p:cNvGraphicFramePr>
          <p:nvPr/>
        </p:nvGraphicFramePr>
        <p:xfrm>
          <a:off x="266419" y="2420888"/>
          <a:ext cx="528153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93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/>
                        <a:t>Information sur l ’accident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26614"/>
                  </a:ext>
                </a:extLst>
              </a:tr>
              <a:tr h="4989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fr-FR" sz="900" b="0" u="sng" noProof="0" dirty="0"/>
                        <a:t>Circonstances: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74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fr-FR" sz="1100" b="0" u="sng" noProof="0" dirty="0">
                          <a:solidFill>
                            <a:schemeClr val="tx1"/>
                          </a:solidFill>
                        </a:rPr>
                        <a:t>Causes possibles – 1ere analyse :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938452"/>
                  </a:ext>
                </a:extLst>
              </a:tr>
            </a:tbl>
          </a:graphicData>
        </a:graphic>
      </p:graphicFrame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87AF1A7D-A90F-4296-9E0D-422805FB722F}"/>
              </a:ext>
            </a:extLst>
          </p:cNvPr>
          <p:cNvGraphicFramePr>
            <a:graphicFrameLocks noGrp="1"/>
          </p:cNvGraphicFramePr>
          <p:nvPr/>
        </p:nvGraphicFramePr>
        <p:xfrm>
          <a:off x="246192" y="5146326"/>
          <a:ext cx="5295703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771">
                  <a:extLst>
                    <a:ext uri="{9D8B030D-6E8A-4147-A177-3AD203B41FA5}">
                      <a16:colId xmlns:a16="http://schemas.microsoft.com/office/drawing/2014/main" val="2655930632"/>
                    </a:ext>
                  </a:extLst>
                </a:gridCol>
                <a:gridCol w="125307">
                  <a:extLst>
                    <a:ext uri="{9D8B030D-6E8A-4147-A177-3AD203B41FA5}">
                      <a16:colId xmlns:a16="http://schemas.microsoft.com/office/drawing/2014/main" val="290536738"/>
                    </a:ext>
                  </a:extLst>
                </a:gridCol>
                <a:gridCol w="925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196">
                  <a:extLst>
                    <a:ext uri="{9D8B030D-6E8A-4147-A177-3AD203B41FA5}">
                      <a16:colId xmlns:a16="http://schemas.microsoft.com/office/drawing/2014/main" val="1219815124"/>
                    </a:ext>
                  </a:extLst>
                </a:gridCol>
                <a:gridCol w="613908">
                  <a:extLst>
                    <a:ext uri="{9D8B030D-6E8A-4147-A177-3AD203B41FA5}">
                      <a16:colId xmlns:a16="http://schemas.microsoft.com/office/drawing/2014/main" val="1061426366"/>
                    </a:ext>
                  </a:extLst>
                </a:gridCol>
                <a:gridCol w="572312">
                  <a:extLst>
                    <a:ext uri="{9D8B030D-6E8A-4147-A177-3AD203B41FA5}">
                      <a16:colId xmlns:a16="http://schemas.microsoft.com/office/drawing/2014/main" val="197921998"/>
                    </a:ext>
                  </a:extLst>
                </a:gridCol>
                <a:gridCol w="756900">
                  <a:extLst>
                    <a:ext uri="{9D8B030D-6E8A-4147-A177-3AD203B41FA5}">
                      <a16:colId xmlns:a16="http://schemas.microsoft.com/office/drawing/2014/main" val="3099891965"/>
                    </a:ext>
                  </a:extLst>
                </a:gridCol>
                <a:gridCol w="216747">
                  <a:extLst>
                    <a:ext uri="{9D8B030D-6E8A-4147-A177-3AD203B41FA5}">
                      <a16:colId xmlns:a16="http://schemas.microsoft.com/office/drawing/2014/main" val="577442849"/>
                    </a:ext>
                  </a:extLst>
                </a:gridCol>
              </a:tblGrid>
              <a:tr h="254000">
                <a:tc grid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 err="1"/>
                        <a:t>Blessures</a:t>
                      </a:r>
                      <a:endParaRPr 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266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fr-FR" sz="900" b="0" u="non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accident (chute-heurt – Elec…)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b="0" u="non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Partie du corps impacté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Arrêt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64951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fr-FR" sz="900" b="0" u="non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Soins (Nature)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fr-F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fr-F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000905"/>
                  </a:ext>
                </a:extLst>
              </a:tr>
              <a:tr h="375920">
                <a:tc gridSpan="2">
                  <a:txBody>
                    <a:bodyPr/>
                    <a:lstStyle/>
                    <a:p>
                      <a:r>
                        <a:rPr lang="fr-FR" sz="900" b="0" u="non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Medical</a:t>
                      </a:r>
                      <a:r>
                        <a:rPr lang="fr-FR" sz="900" b="0" u="non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u="non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treatment</a:t>
                      </a:r>
                      <a:endParaRPr lang="fr-FR" sz="900" b="0" u="none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endParaRPr lang="fr-FR" sz="900" b="0" u="none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437634"/>
                  </a:ext>
                </a:extLst>
              </a:tr>
            </a:tbl>
          </a:graphicData>
        </a:graphic>
      </p:graphicFrame>
      <p:graphicFrame>
        <p:nvGraphicFramePr>
          <p:cNvPr id="26" name="Table 2">
            <a:extLst>
              <a:ext uri="{FF2B5EF4-FFF2-40B4-BE49-F238E27FC236}">
                <a16:creationId xmlns:a16="http://schemas.microsoft.com/office/drawing/2014/main" id="{DCF490F2-E4F5-4123-96AC-6F48E45317BC}"/>
              </a:ext>
            </a:extLst>
          </p:cNvPr>
          <p:cNvGraphicFramePr>
            <a:graphicFrameLocks noGrp="1"/>
          </p:cNvGraphicFramePr>
          <p:nvPr/>
        </p:nvGraphicFramePr>
        <p:xfrm>
          <a:off x="5652121" y="3988703"/>
          <a:ext cx="3245687" cy="2315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5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 err="1"/>
                        <a:t>Mesures</a:t>
                      </a:r>
                      <a:r>
                        <a:rPr lang="en-US" sz="1100" dirty="0"/>
                        <a:t> conservatoires </a:t>
                      </a:r>
                      <a:r>
                        <a:rPr lang="en-US" sz="1100" dirty="0" err="1"/>
                        <a:t>immédiates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prises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26614"/>
                  </a:ext>
                </a:extLst>
              </a:tr>
              <a:tr h="192165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endParaRPr lang="fr-FR" sz="1100" b="0" u="sng" noProof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3762741-E392-463D-906A-E77E4F8B7D84}"/>
              </a:ext>
            </a:extLst>
          </p:cNvPr>
          <p:cNvSpPr/>
          <p:nvPr/>
        </p:nvSpPr>
        <p:spPr>
          <a:xfrm>
            <a:off x="5715602" y="583607"/>
            <a:ext cx="1495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 – V2 août 2023</a:t>
            </a:r>
            <a:endParaRPr lang="fr-FR" i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0B6C674-DBEC-5E24-CA74-817FC4625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09" y="6521897"/>
            <a:ext cx="3310923" cy="27261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40B71D9-2A7C-57DC-CAC5-FB0F0B23D8DE}"/>
              </a:ext>
            </a:extLst>
          </p:cNvPr>
          <p:cNvSpPr txBox="1"/>
          <p:nvPr/>
        </p:nvSpPr>
        <p:spPr>
          <a:xfrm>
            <a:off x="5661598" y="895891"/>
            <a:ext cx="3212930" cy="27699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solidFill>
                  <a:schemeClr val="bg1"/>
                </a:solidFill>
              </a:rPr>
              <a:t>Severité</a:t>
            </a:r>
            <a:r>
              <a:rPr lang="fr-FR" sz="1200" dirty="0">
                <a:solidFill>
                  <a:schemeClr val="bg1"/>
                </a:solidFill>
              </a:rPr>
              <a:t> API : </a:t>
            </a:r>
            <a:r>
              <a:rPr lang="fr-FR" sz="1200" dirty="0">
                <a:solidFill>
                  <a:srgbClr val="FFFF00"/>
                </a:solidFill>
              </a:rPr>
              <a:t>LT ou MT ou RD ou HIPO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4698DB9D-C6DE-3786-5AD5-88BA66BB6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19" y="51526"/>
            <a:ext cx="934048" cy="46297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22297387-3989-7AA5-E3A4-C3A92899889E}"/>
              </a:ext>
            </a:extLst>
          </p:cNvPr>
          <p:cNvSpPr txBox="1"/>
          <p:nvPr/>
        </p:nvSpPr>
        <p:spPr>
          <a:xfrm>
            <a:off x="7184152" y="501996"/>
            <a:ext cx="16530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/>
              <a:t>Evénement environnemental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98D37-05DD-7796-0C15-AD2D02AA92F6}"/>
              </a:ext>
            </a:extLst>
          </p:cNvPr>
          <p:cNvSpPr/>
          <p:nvPr/>
        </p:nvSpPr>
        <p:spPr>
          <a:xfrm>
            <a:off x="8796354" y="549229"/>
            <a:ext cx="107541" cy="12161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B7AE978-0B15-6E14-EDC7-2AE8DE9D5F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55158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1F0CB3A7-9B79-63AB-BF85-18F64DB55BD0}"/>
              </a:ext>
            </a:extLst>
          </p:cNvPr>
          <p:cNvSpPr txBox="1"/>
          <p:nvPr/>
        </p:nvSpPr>
        <p:spPr>
          <a:xfrm>
            <a:off x="3865402" y="5589241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932DBB3-5D34-EBEC-8546-E5BCC94B38FE}"/>
              </a:ext>
            </a:extLst>
          </p:cNvPr>
          <p:cNvSpPr txBox="1"/>
          <p:nvPr/>
        </p:nvSpPr>
        <p:spPr>
          <a:xfrm>
            <a:off x="3843349" y="3959478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DF654A-387E-C1DB-7E7C-B6617C78ACFD}"/>
              </a:ext>
            </a:extLst>
          </p:cNvPr>
          <p:cNvSpPr txBox="1"/>
          <p:nvPr/>
        </p:nvSpPr>
        <p:spPr>
          <a:xfrm>
            <a:off x="3835477" y="3573016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55F519-A4E8-1AD2-6C75-19D8D9DC5F96}"/>
              </a:ext>
            </a:extLst>
          </p:cNvPr>
          <p:cNvSpPr txBox="1"/>
          <p:nvPr/>
        </p:nvSpPr>
        <p:spPr>
          <a:xfrm>
            <a:off x="3835477" y="3023374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8908FC-3A07-A8D9-A27C-DC38715D40F0}"/>
              </a:ext>
            </a:extLst>
          </p:cNvPr>
          <p:cNvSpPr txBox="1"/>
          <p:nvPr/>
        </p:nvSpPr>
        <p:spPr>
          <a:xfrm>
            <a:off x="3851920" y="2087270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7B4B3B-D1A4-9D7F-8A68-2CA2EA54F9A2}"/>
              </a:ext>
            </a:extLst>
          </p:cNvPr>
          <p:cNvSpPr txBox="1"/>
          <p:nvPr/>
        </p:nvSpPr>
        <p:spPr>
          <a:xfrm>
            <a:off x="3851920" y="1196752"/>
            <a:ext cx="504056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55CD7-F3FF-4AA1-894C-C543D661C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7" y="692695"/>
            <a:ext cx="3312368" cy="5760637"/>
          </a:xfrm>
          <a:prstGeom prst="rect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sz="1600" b="1" u="sng" dirty="0"/>
              <a:t>RECUEIL DES PHOTOS COMPLEMENTAIRES</a:t>
            </a:r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algn="ctr"/>
            <a:endParaRPr lang="en-US" altLang="en-US" sz="1600" b="1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55570-9E5D-3B06-DE18-CAAE639142A1}"/>
              </a:ext>
            </a:extLst>
          </p:cNvPr>
          <p:cNvSpPr/>
          <p:nvPr/>
        </p:nvSpPr>
        <p:spPr>
          <a:xfrm>
            <a:off x="7524328" y="6676015"/>
            <a:ext cx="15536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001b – V3 août 2023</a:t>
            </a:r>
            <a:endParaRPr lang="fr-FR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4E66F-802A-6DF4-222F-4998B0EB5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9473" y="690542"/>
            <a:ext cx="5112568" cy="5760637"/>
          </a:xfrm>
          <a:prstGeom prst="rect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sz="1600" b="1" u="sng" dirty="0"/>
              <a:t>Situation de formation du </a:t>
            </a:r>
            <a:r>
              <a:rPr lang="en-US" altLang="en-US" sz="1600" b="1" u="sng" dirty="0" err="1"/>
              <a:t>salarié</a:t>
            </a:r>
            <a:endParaRPr lang="en-US" altLang="en-US" sz="1600" b="1" u="sng" dirty="0"/>
          </a:p>
          <a:p>
            <a:pPr algn="ctr"/>
            <a:endParaRPr lang="en-US" altLang="en-US" sz="16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rgbClr val="0070C0"/>
                </a:solidFill>
              </a:rPr>
              <a:t>Formations EHS + date fin </a:t>
            </a:r>
            <a:r>
              <a:rPr lang="en-US" altLang="en-US" sz="1200" dirty="0" err="1">
                <a:solidFill>
                  <a:srgbClr val="0070C0"/>
                </a:solidFill>
              </a:rPr>
              <a:t>échéance</a:t>
            </a:r>
            <a:r>
              <a:rPr lang="en-US" altLang="en-US" sz="1200" dirty="0">
                <a:solidFill>
                  <a:srgbClr val="0070C0"/>
                </a:solidFill>
              </a:rPr>
              <a:t> :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rgbClr val="0070C0"/>
                </a:solidFill>
              </a:rPr>
              <a:t>Formations métier :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endParaRPr lang="en-US" altLang="en-US" sz="12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rgbClr val="0070C0"/>
                </a:solidFill>
              </a:rPr>
              <a:t>Prise</a:t>
            </a:r>
            <a:r>
              <a:rPr lang="en-US" altLang="en-US" sz="1200" dirty="0">
                <a:solidFill>
                  <a:srgbClr val="0070C0"/>
                </a:solidFill>
              </a:rPr>
              <a:t> </a:t>
            </a:r>
            <a:r>
              <a:rPr lang="en-US" altLang="en-US" sz="1200" dirty="0" err="1">
                <a:solidFill>
                  <a:srgbClr val="0070C0"/>
                </a:solidFill>
              </a:rPr>
              <a:t>en</a:t>
            </a:r>
            <a:r>
              <a:rPr lang="en-US" altLang="en-US" sz="1200" dirty="0">
                <a:solidFill>
                  <a:srgbClr val="0070C0"/>
                </a:solidFill>
              </a:rPr>
              <a:t> </a:t>
            </a:r>
            <a:r>
              <a:rPr lang="en-US" altLang="en-US" sz="1200" dirty="0" err="1">
                <a:solidFill>
                  <a:srgbClr val="0070C0"/>
                </a:solidFill>
              </a:rPr>
              <a:t>compte</a:t>
            </a:r>
            <a:r>
              <a:rPr lang="en-US" altLang="en-US" sz="1200" dirty="0">
                <a:solidFill>
                  <a:srgbClr val="0070C0"/>
                </a:solidFill>
              </a:rPr>
              <a:t> du </a:t>
            </a:r>
            <a:r>
              <a:rPr lang="en-US" altLang="en-US" sz="1200" dirty="0" err="1">
                <a:solidFill>
                  <a:srgbClr val="0070C0"/>
                </a:solidFill>
              </a:rPr>
              <a:t>livret</a:t>
            </a:r>
            <a:r>
              <a:rPr lang="en-US" altLang="en-US" sz="1200" dirty="0">
                <a:solidFill>
                  <a:srgbClr val="0070C0"/>
                </a:solidFill>
              </a:rPr>
              <a:t> EHS : </a:t>
            </a:r>
            <a:r>
              <a:rPr lang="en-US" altLang="en-US" sz="1200" dirty="0" err="1">
                <a:solidFill>
                  <a:srgbClr val="C00000"/>
                </a:solidFill>
              </a:rPr>
              <a:t>Oui</a:t>
            </a:r>
            <a:r>
              <a:rPr lang="en-US" altLang="en-US" sz="1200" dirty="0">
                <a:solidFill>
                  <a:srgbClr val="C00000"/>
                </a:solidFill>
              </a:rPr>
              <a:t>/non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rgbClr val="0070C0"/>
                </a:solidFill>
              </a:rPr>
              <a:t>Vidéo</a:t>
            </a:r>
            <a:r>
              <a:rPr lang="en-US" altLang="en-US" sz="1200" dirty="0">
                <a:solidFill>
                  <a:srgbClr val="0070C0"/>
                </a:solidFill>
              </a:rPr>
              <a:t> </a:t>
            </a:r>
            <a:r>
              <a:rPr lang="en-US" altLang="en-US" sz="1200" dirty="0" err="1">
                <a:solidFill>
                  <a:srgbClr val="0070C0"/>
                </a:solidFill>
              </a:rPr>
              <a:t>accueil</a:t>
            </a:r>
            <a:r>
              <a:rPr lang="en-US" altLang="en-US" sz="1200" dirty="0">
                <a:solidFill>
                  <a:srgbClr val="0070C0"/>
                </a:solidFill>
              </a:rPr>
              <a:t> </a:t>
            </a:r>
            <a:r>
              <a:rPr lang="en-US" altLang="en-US" sz="1200" dirty="0" err="1">
                <a:solidFill>
                  <a:srgbClr val="0070C0"/>
                </a:solidFill>
              </a:rPr>
              <a:t>sécurité</a:t>
            </a:r>
            <a:r>
              <a:rPr lang="en-US" altLang="en-US" sz="1200" dirty="0">
                <a:solidFill>
                  <a:srgbClr val="0070C0"/>
                </a:solidFill>
              </a:rPr>
              <a:t> : </a:t>
            </a:r>
            <a:r>
              <a:rPr lang="en-US" altLang="en-US" sz="1200" dirty="0" err="1">
                <a:solidFill>
                  <a:srgbClr val="C00000"/>
                </a:solidFill>
              </a:rPr>
              <a:t>Oui</a:t>
            </a:r>
            <a:r>
              <a:rPr lang="en-US" altLang="en-US" sz="1200" dirty="0">
                <a:solidFill>
                  <a:srgbClr val="C00000"/>
                </a:solidFill>
              </a:rPr>
              <a:t>/non</a:t>
            </a:r>
          </a:p>
          <a:p>
            <a:endParaRPr lang="en-US" altLang="en-US" sz="1200" b="1" u="sng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rgbClr val="0070C0"/>
                </a:solidFill>
              </a:rPr>
              <a:t>Inspection – audits: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740832" lvl="1" indent="-285750">
              <a:buFontTx/>
              <a:buChar char="-"/>
            </a:pPr>
            <a:r>
              <a:rPr lang="en-US" altLang="en-US" sz="1200" dirty="0">
                <a:solidFill>
                  <a:srgbClr val="0070C0"/>
                </a:solidFill>
              </a:rPr>
              <a:t>EPI/</a:t>
            </a:r>
            <a:r>
              <a:rPr lang="en-US" altLang="en-US" sz="1200" dirty="0" err="1">
                <a:solidFill>
                  <a:srgbClr val="0070C0"/>
                </a:solidFill>
              </a:rPr>
              <a:t>véhicules</a:t>
            </a:r>
            <a:r>
              <a:rPr lang="en-US" altLang="en-US" sz="1200" dirty="0">
                <a:solidFill>
                  <a:srgbClr val="0070C0"/>
                </a:solidFill>
              </a:rPr>
              <a:t> </a:t>
            </a:r>
            <a:r>
              <a:rPr lang="en-US" altLang="en-US" sz="800" i="1" dirty="0">
                <a:solidFill>
                  <a:srgbClr val="0070C0"/>
                </a:solidFill>
              </a:rPr>
              <a:t>(</a:t>
            </a:r>
            <a:r>
              <a:rPr lang="en-US" altLang="en-US" sz="800" i="1" dirty="0" err="1">
                <a:solidFill>
                  <a:srgbClr val="0070C0"/>
                </a:solidFill>
              </a:rPr>
              <a:t>dernière</a:t>
            </a:r>
            <a:r>
              <a:rPr lang="en-US" altLang="en-US" sz="800" i="1" dirty="0">
                <a:solidFill>
                  <a:srgbClr val="0070C0"/>
                </a:solidFill>
              </a:rPr>
              <a:t> date - </a:t>
            </a:r>
            <a:r>
              <a:rPr lang="en-US" altLang="en-US" sz="800" i="1" dirty="0" err="1">
                <a:solidFill>
                  <a:srgbClr val="0070C0"/>
                </a:solidFill>
              </a:rPr>
              <a:t>écarts</a:t>
            </a:r>
            <a:r>
              <a:rPr lang="en-US" altLang="en-US" sz="800" i="1" dirty="0">
                <a:solidFill>
                  <a:srgbClr val="0070C0"/>
                </a:solidFill>
              </a:rPr>
              <a:t> ?) </a:t>
            </a:r>
            <a:r>
              <a:rPr lang="en-US" altLang="en-US" sz="1200" i="1" dirty="0">
                <a:solidFill>
                  <a:srgbClr val="0070C0"/>
                </a:solidFill>
              </a:rPr>
              <a:t>:</a:t>
            </a:r>
          </a:p>
          <a:p>
            <a:pPr marL="740832" lvl="1" indent="-285750">
              <a:buFontTx/>
              <a:buChar char="-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740832" lvl="1" indent="-285750">
              <a:buFontTx/>
              <a:buChar char="-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740832" lvl="1" indent="-285750">
              <a:buFontTx/>
              <a:buChar char="-"/>
            </a:pPr>
            <a:r>
              <a:rPr lang="en-US" altLang="en-US" sz="1200" dirty="0">
                <a:solidFill>
                  <a:srgbClr val="0070C0"/>
                </a:solidFill>
              </a:rPr>
              <a:t>Audits managers et/</a:t>
            </a:r>
            <a:r>
              <a:rPr lang="en-US" altLang="en-US" sz="1200" dirty="0" err="1">
                <a:solidFill>
                  <a:srgbClr val="0070C0"/>
                </a:solidFill>
              </a:rPr>
              <a:t>ou</a:t>
            </a:r>
            <a:r>
              <a:rPr lang="en-US" altLang="en-US" sz="1200" dirty="0">
                <a:solidFill>
                  <a:srgbClr val="0070C0"/>
                </a:solidFill>
              </a:rPr>
              <a:t> EHS </a:t>
            </a:r>
            <a:r>
              <a:rPr lang="en-US" altLang="en-US" sz="800" i="1" dirty="0">
                <a:solidFill>
                  <a:srgbClr val="0070C0"/>
                </a:solidFill>
              </a:rPr>
              <a:t>(</a:t>
            </a:r>
            <a:r>
              <a:rPr lang="en-US" altLang="en-US" sz="800" i="1" dirty="0" err="1">
                <a:solidFill>
                  <a:srgbClr val="0070C0"/>
                </a:solidFill>
              </a:rPr>
              <a:t>dernière</a:t>
            </a:r>
            <a:r>
              <a:rPr lang="en-US" altLang="en-US" sz="800" i="1" dirty="0">
                <a:solidFill>
                  <a:srgbClr val="0070C0"/>
                </a:solidFill>
              </a:rPr>
              <a:t> date - </a:t>
            </a:r>
            <a:r>
              <a:rPr lang="en-US" altLang="en-US" sz="800" i="1" dirty="0" err="1">
                <a:solidFill>
                  <a:srgbClr val="0070C0"/>
                </a:solidFill>
              </a:rPr>
              <a:t>écarts</a:t>
            </a:r>
            <a:r>
              <a:rPr lang="en-US" altLang="en-US" sz="800" i="1" dirty="0">
                <a:solidFill>
                  <a:srgbClr val="0070C0"/>
                </a:solidFill>
              </a:rPr>
              <a:t> ?) : </a:t>
            </a:r>
            <a:endParaRPr lang="en-US" altLang="en-US" sz="2400" dirty="0">
              <a:solidFill>
                <a:srgbClr val="0070C0"/>
              </a:solidFill>
            </a:endParaRPr>
          </a:p>
          <a:p>
            <a:pPr lvl="1"/>
            <a:endParaRPr lang="en-US" altLang="en-US" sz="1200" dirty="0">
              <a:solidFill>
                <a:srgbClr val="0070C0"/>
              </a:solidFill>
            </a:endParaRPr>
          </a:p>
          <a:p>
            <a:pPr lvl="1"/>
            <a:endParaRPr lang="en-US" altLang="en-US" sz="1200" dirty="0">
              <a:solidFill>
                <a:srgbClr val="0070C0"/>
              </a:solidFill>
            </a:endParaRPr>
          </a:p>
          <a:p>
            <a:pPr marL="740832" lvl="1" indent="-285750">
              <a:buFontTx/>
              <a:buChar char="-"/>
            </a:pPr>
            <a:endParaRPr lang="en-US" altLang="en-US" sz="12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rgbClr val="0070C0"/>
                </a:solidFill>
              </a:rPr>
              <a:t>Anciens</a:t>
            </a:r>
            <a:r>
              <a:rPr lang="en-US" altLang="en-US" sz="1200" dirty="0">
                <a:solidFill>
                  <a:srgbClr val="0070C0"/>
                </a:solidFill>
              </a:rPr>
              <a:t> accidents ?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</a:p>
          <a:p>
            <a:pPr lvl="1"/>
            <a:r>
              <a:rPr lang="en-US" altLang="en-US" sz="1200" dirty="0">
                <a:solidFill>
                  <a:srgbClr val="0070C0"/>
                </a:solidFill>
              </a:rPr>
              <a:t>-</a:t>
            </a:r>
            <a:endParaRPr lang="en-US" altLang="en-US" sz="1600" b="1" u="sng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58D4A1A-A3EC-A069-D558-E60C656C4E97}"/>
              </a:ext>
            </a:extLst>
          </p:cNvPr>
          <p:cNvCxnSpPr/>
          <p:nvPr/>
        </p:nvCxnSpPr>
        <p:spPr>
          <a:xfrm>
            <a:off x="4644007" y="4725144"/>
            <a:ext cx="423202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4861973-17BD-A38A-A29A-00FCDBDDB03A}"/>
              </a:ext>
            </a:extLst>
          </p:cNvPr>
          <p:cNvCxnSpPr/>
          <p:nvPr/>
        </p:nvCxnSpPr>
        <p:spPr>
          <a:xfrm>
            <a:off x="4660451" y="5517232"/>
            <a:ext cx="423202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4301089-DA54-C98F-F4A8-D6AAB76B753B}"/>
              </a:ext>
            </a:extLst>
          </p:cNvPr>
          <p:cNvCxnSpPr/>
          <p:nvPr/>
        </p:nvCxnSpPr>
        <p:spPr>
          <a:xfrm>
            <a:off x="4644007" y="5301208"/>
            <a:ext cx="423202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3368CD10-69A8-DB73-071E-5754A029D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55158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8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8F8D803-4B47-43A3-9DA3-2FA0FC82B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81" y="87468"/>
            <a:ext cx="3992591" cy="55964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sz="1600" b="1" u="sng" dirty="0"/>
              <a:t>RECUEIL DES FAITS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4FA7D-9D1F-4DD5-91D9-E5CB29F725FF}"/>
              </a:ext>
            </a:extLst>
          </p:cNvPr>
          <p:cNvSpPr/>
          <p:nvPr/>
        </p:nvSpPr>
        <p:spPr>
          <a:xfrm>
            <a:off x="347308" y="836712"/>
            <a:ext cx="83291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dk1"/>
                </a:solidFill>
              </a:rPr>
              <a:t>Que s’est-il passé ? (les circonstances, historique, habitudes, les différentes actions qui ont amené à l’évènement…)</a:t>
            </a:r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ADB782EA-FFDF-4D26-A5CC-088BA73FCBB8}"/>
              </a:ext>
            </a:extLst>
          </p:cNvPr>
          <p:cNvSpPr/>
          <p:nvPr/>
        </p:nvSpPr>
        <p:spPr>
          <a:xfrm>
            <a:off x="467544" y="1340768"/>
            <a:ext cx="432048" cy="51706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CHRONOLOGIE</a:t>
            </a:r>
          </a:p>
          <a:p>
            <a:pPr algn="ctr"/>
            <a:endParaRPr lang="fr-FR" sz="1200" dirty="0"/>
          </a:p>
          <a:p>
            <a:pPr algn="ctr"/>
            <a:r>
              <a:rPr lang="fr-FR" sz="1200" dirty="0"/>
              <a:t>TEMPS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636A6E-CCCA-6FED-C26F-B68D4A01FBE5}"/>
              </a:ext>
            </a:extLst>
          </p:cNvPr>
          <p:cNvSpPr/>
          <p:nvPr/>
        </p:nvSpPr>
        <p:spPr>
          <a:xfrm>
            <a:off x="7524328" y="6676015"/>
            <a:ext cx="15536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001b – V3 août 2023</a:t>
            </a:r>
            <a:endParaRPr lang="fr-FR" i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EEC789-83BB-0246-7D6A-27958C3EC6E2}"/>
              </a:ext>
            </a:extLst>
          </p:cNvPr>
          <p:cNvSpPr txBox="1"/>
          <p:nvPr/>
        </p:nvSpPr>
        <p:spPr>
          <a:xfrm>
            <a:off x="899592" y="1340768"/>
            <a:ext cx="817836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54C9C3-BC8C-1F3A-BBA3-C709CA9AF770}"/>
              </a:ext>
            </a:extLst>
          </p:cNvPr>
          <p:cNvSpPr txBox="1"/>
          <p:nvPr/>
        </p:nvSpPr>
        <p:spPr>
          <a:xfrm>
            <a:off x="899592" y="1340768"/>
            <a:ext cx="7992888" cy="2616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</a:rPr>
              <a:t>	Avant </a:t>
            </a:r>
            <a:r>
              <a:rPr lang="fr-FR" sz="1050" i="1" dirty="0">
                <a:solidFill>
                  <a:schemeClr val="bg1"/>
                </a:solidFill>
              </a:rPr>
              <a:t>l’</a:t>
            </a:r>
            <a:r>
              <a:rPr lang="fr-FR" sz="1050" i="1" dirty="0" err="1">
                <a:solidFill>
                  <a:schemeClr val="bg1"/>
                </a:solidFill>
              </a:rPr>
              <a:t>évènement</a:t>
            </a:r>
            <a:r>
              <a:rPr lang="fr-FR" sz="1050" dirty="0">
                <a:solidFill>
                  <a:schemeClr val="bg1"/>
                </a:solidFill>
              </a:rPr>
              <a:t> en lui-même – contexte environnement de travail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FA3508E-53BF-A3E8-6843-13374FB65188}"/>
              </a:ext>
            </a:extLst>
          </p:cNvPr>
          <p:cNvSpPr txBox="1"/>
          <p:nvPr/>
        </p:nvSpPr>
        <p:spPr>
          <a:xfrm>
            <a:off x="899592" y="2640710"/>
            <a:ext cx="7992888" cy="2616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</a:rPr>
              <a:t>	Enchaînement des </a:t>
            </a:r>
            <a:r>
              <a:rPr lang="fr-FR" sz="1050" dirty="0" err="1">
                <a:solidFill>
                  <a:schemeClr val="bg1"/>
                </a:solidFill>
              </a:rPr>
              <a:t>évènements</a:t>
            </a:r>
            <a:r>
              <a:rPr lang="fr-FR" sz="1050" dirty="0">
                <a:solidFill>
                  <a:schemeClr val="bg1"/>
                </a:solidFill>
              </a:rPr>
              <a:t> le jour de l’accident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D06B54C-30C0-5335-5FDD-F7649BA4D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36134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16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oneTexte 24">
            <a:extLst>
              <a:ext uri="{FF2B5EF4-FFF2-40B4-BE49-F238E27FC236}">
                <a16:creationId xmlns:a16="http://schemas.microsoft.com/office/drawing/2014/main" id="{B64400AD-783A-D084-B46B-50024FCC081F}"/>
              </a:ext>
            </a:extLst>
          </p:cNvPr>
          <p:cNvSpPr txBox="1"/>
          <p:nvPr/>
        </p:nvSpPr>
        <p:spPr>
          <a:xfrm>
            <a:off x="987015" y="980728"/>
            <a:ext cx="1992483" cy="47859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i="1" dirty="0"/>
              <a:t>Qu’a-t-il fallu pour</a:t>
            </a:r>
          </a:p>
          <a:p>
            <a:r>
              <a:rPr lang="fr-FR" sz="1000" i="1" dirty="0"/>
              <a:t> </a:t>
            </a:r>
          </a:p>
          <a:p>
            <a:endParaRPr lang="fr-FR" sz="1000" i="1" dirty="0"/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82A0B6-1310-463D-B333-C33443EB0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81" y="87468"/>
            <a:ext cx="3992591" cy="55964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sz="1600" b="1" u="sng" dirty="0"/>
              <a:t>ARBRE DES CAUSES SIMPLIFIE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91E269-69EB-16F4-B278-433DEB1B634D}"/>
              </a:ext>
            </a:extLst>
          </p:cNvPr>
          <p:cNvSpPr txBox="1"/>
          <p:nvPr/>
        </p:nvSpPr>
        <p:spPr>
          <a:xfrm>
            <a:off x="500939" y="6142678"/>
            <a:ext cx="22695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highlight>
                  <a:srgbClr val="FFFF00"/>
                </a:highlight>
              </a:rPr>
              <a:t>Facteur le plus influent - cause principale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24A8AF-C974-4B87-8DE7-3D706609E1CD}"/>
              </a:ext>
            </a:extLst>
          </p:cNvPr>
          <p:cNvSpPr txBox="1"/>
          <p:nvPr/>
        </p:nvSpPr>
        <p:spPr>
          <a:xfrm>
            <a:off x="2267744" y="6080446"/>
            <a:ext cx="6600007" cy="5078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900" dirty="0"/>
              <a:t>Présence d’un facteur aggravant ? :</a:t>
            </a:r>
          </a:p>
          <a:p>
            <a:r>
              <a:rPr lang="fr-FR" sz="900" dirty="0"/>
              <a:t>- </a:t>
            </a:r>
          </a:p>
          <a:p>
            <a:endParaRPr lang="fr-FR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E056AF-4202-124C-C83A-3FF3A9BF2B0D}"/>
              </a:ext>
            </a:extLst>
          </p:cNvPr>
          <p:cNvSpPr/>
          <p:nvPr/>
        </p:nvSpPr>
        <p:spPr>
          <a:xfrm>
            <a:off x="7524328" y="6676015"/>
            <a:ext cx="15536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FOR FS 001b – V3 août 2023</a:t>
            </a:r>
            <a:endParaRPr lang="fr-FR" i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5DFE8AF-7563-6A4A-17C2-07F7058D03AC}"/>
              </a:ext>
            </a:extLst>
          </p:cNvPr>
          <p:cNvSpPr/>
          <p:nvPr/>
        </p:nvSpPr>
        <p:spPr bwMode="auto">
          <a:xfrm>
            <a:off x="59503" y="6142754"/>
            <a:ext cx="429967" cy="212732"/>
          </a:xfrm>
          <a:prstGeom prst="round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12542" tIns="56271" rIns="112542" bIns="56271" numCol="1" rtlCol="0" anchor="t" anchorCtr="0" compatLnSpc="1">
            <a:prstTxWarp prst="textNoShape">
              <a:avLst/>
            </a:prstTxWarp>
          </a:bodyPr>
          <a:lstStyle/>
          <a:p>
            <a:pPr defTabSz="1035564">
              <a:lnSpc>
                <a:spcPct val="90000"/>
              </a:lnSpc>
              <a:spcBef>
                <a:spcPct val="4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</a:pPr>
            <a:endParaRPr lang="fr-FR" sz="2215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B6DCE0D-D4D6-C97E-41A6-304FCE0726CD}"/>
              </a:ext>
            </a:extLst>
          </p:cNvPr>
          <p:cNvSpPr/>
          <p:nvPr/>
        </p:nvSpPr>
        <p:spPr bwMode="auto">
          <a:xfrm>
            <a:off x="59502" y="6397586"/>
            <a:ext cx="429967" cy="212732"/>
          </a:xfrm>
          <a:prstGeom prst="roundRect">
            <a:avLst/>
          </a:prstGeom>
          <a:solidFill>
            <a:srgbClr val="6699FF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12542" tIns="56271" rIns="112542" bIns="56271" numCol="1" rtlCol="0" anchor="t" anchorCtr="0" compatLnSpc="1">
            <a:prstTxWarp prst="textNoShape">
              <a:avLst/>
            </a:prstTxWarp>
          </a:bodyPr>
          <a:lstStyle/>
          <a:p>
            <a:pPr defTabSz="1035564">
              <a:lnSpc>
                <a:spcPct val="90000"/>
              </a:lnSpc>
              <a:spcBef>
                <a:spcPct val="4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</a:pPr>
            <a:endParaRPr lang="fr-FR" sz="2215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0D35F26-DFFA-D711-4BB0-C141CE4AB667}"/>
              </a:ext>
            </a:extLst>
          </p:cNvPr>
          <p:cNvSpPr txBox="1"/>
          <p:nvPr/>
        </p:nvSpPr>
        <p:spPr>
          <a:xfrm>
            <a:off x="502294" y="6419428"/>
            <a:ext cx="226950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solidFill>
                  <a:srgbClr val="0070C0"/>
                </a:solidFill>
              </a:rPr>
              <a:t>Cause liée au système de management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2C5E051-F211-7F61-09F6-D8FC1A06F522}"/>
              </a:ext>
            </a:extLst>
          </p:cNvPr>
          <p:cNvSpPr/>
          <p:nvPr/>
        </p:nvSpPr>
        <p:spPr>
          <a:xfrm>
            <a:off x="41266" y="3194988"/>
            <a:ext cx="744132" cy="70237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50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0DFD63C-7B86-043E-DE68-40F8BD33BD62}"/>
              </a:ext>
            </a:extLst>
          </p:cNvPr>
          <p:cNvSpPr txBox="1"/>
          <p:nvPr/>
        </p:nvSpPr>
        <p:spPr>
          <a:xfrm>
            <a:off x="3058765" y="980728"/>
            <a:ext cx="1992483" cy="4770537"/>
          </a:xfrm>
          <a:prstGeom prst="rect">
            <a:avLst/>
          </a:prstGeom>
          <a:solidFill>
            <a:srgbClr val="D8F3F8"/>
          </a:solidFill>
        </p:spPr>
        <p:txBody>
          <a:bodyPr wrap="square" rtlCol="0">
            <a:spAutoFit/>
          </a:bodyPr>
          <a:lstStyle/>
          <a:p>
            <a:r>
              <a:rPr lang="fr-FR" sz="1000" i="1" dirty="0"/>
              <a:t>Qu’a-t-il fallu pour </a:t>
            </a:r>
          </a:p>
          <a:p>
            <a:endParaRPr lang="fr-FR" sz="1000" i="1" dirty="0"/>
          </a:p>
          <a:p>
            <a:endParaRPr lang="fr-FR" sz="1000" i="1" dirty="0"/>
          </a:p>
          <a:p>
            <a:endParaRPr lang="fr-FR" sz="10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0DB295A-0ADF-6ED2-2541-634D9DD7A53A}"/>
              </a:ext>
            </a:extLst>
          </p:cNvPr>
          <p:cNvSpPr txBox="1"/>
          <p:nvPr/>
        </p:nvSpPr>
        <p:spPr>
          <a:xfrm>
            <a:off x="5122762" y="980728"/>
            <a:ext cx="1992483" cy="4785926"/>
          </a:xfrm>
          <a:prstGeom prst="rect">
            <a:avLst/>
          </a:prstGeom>
          <a:solidFill>
            <a:srgbClr val="DFF0F1"/>
          </a:solidFill>
        </p:spPr>
        <p:txBody>
          <a:bodyPr wrap="square" rtlCol="0">
            <a:spAutoFit/>
          </a:bodyPr>
          <a:lstStyle/>
          <a:p>
            <a:r>
              <a:rPr lang="fr-FR" sz="1000" i="1" dirty="0"/>
              <a:t>Qu’a-t-il fallu pour</a:t>
            </a:r>
          </a:p>
          <a:p>
            <a:endParaRPr lang="fr-FR" sz="1000" i="1" dirty="0"/>
          </a:p>
          <a:p>
            <a:r>
              <a:rPr lang="fr-FR" sz="1000" i="1" dirty="0"/>
              <a:t> </a:t>
            </a: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</p:txBody>
      </p: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7BE2C158-193B-FE82-FB79-39689B3E5A3B}"/>
              </a:ext>
            </a:extLst>
          </p:cNvPr>
          <p:cNvCxnSpPr>
            <a:cxnSpLocks/>
            <a:stCxn id="10" idx="3"/>
            <a:endCxn id="31" idx="1"/>
          </p:cNvCxnSpPr>
          <p:nvPr/>
        </p:nvCxnSpPr>
        <p:spPr>
          <a:xfrm flipV="1">
            <a:off x="2723833" y="1699924"/>
            <a:ext cx="700012" cy="60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1B909AD-6EB5-87C8-69C0-51A28B351DA4}"/>
              </a:ext>
            </a:extLst>
          </p:cNvPr>
          <p:cNvSpPr/>
          <p:nvPr/>
        </p:nvSpPr>
        <p:spPr>
          <a:xfrm>
            <a:off x="3423845" y="1520470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585FC570-A77B-8AA3-32E0-5833A59D0222}"/>
              </a:ext>
            </a:extLst>
          </p:cNvPr>
          <p:cNvSpPr/>
          <p:nvPr/>
        </p:nvSpPr>
        <p:spPr>
          <a:xfrm>
            <a:off x="3423845" y="1949939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377CB136-C234-A69D-2A87-77B045345C37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>
            <a:off x="2723833" y="1760587"/>
            <a:ext cx="700012" cy="3688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B3AE9C15-0AD3-FE7A-E4C5-A8BD0885F95C}"/>
              </a:ext>
            </a:extLst>
          </p:cNvPr>
          <p:cNvSpPr/>
          <p:nvPr/>
        </p:nvSpPr>
        <p:spPr>
          <a:xfrm>
            <a:off x="3423845" y="2673872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82E5C351-CB02-7930-DF2A-937B02431FB3}"/>
              </a:ext>
            </a:extLst>
          </p:cNvPr>
          <p:cNvSpPr/>
          <p:nvPr/>
        </p:nvSpPr>
        <p:spPr>
          <a:xfrm>
            <a:off x="3423845" y="3145403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574107A7-C4D2-7F71-E306-6BDC958C152D}"/>
              </a:ext>
            </a:extLst>
          </p:cNvPr>
          <p:cNvSpPr/>
          <p:nvPr/>
        </p:nvSpPr>
        <p:spPr>
          <a:xfrm>
            <a:off x="3423845" y="3566717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250C9FEF-D3FF-B08F-111E-13690336DE01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 flipV="1">
            <a:off x="2723833" y="2853326"/>
            <a:ext cx="700012" cy="460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6980B72A-6CE6-42B5-8019-B46AF775BAC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785398" y="1760587"/>
            <a:ext cx="473374" cy="17855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 : en angle 76">
            <a:extLst>
              <a:ext uri="{FF2B5EF4-FFF2-40B4-BE49-F238E27FC236}">
                <a16:creationId xmlns:a16="http://schemas.microsoft.com/office/drawing/2014/main" id="{BC23DD81-0596-4B42-AB75-3302D1A7519C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785398" y="3546173"/>
            <a:ext cx="473374" cy="9660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 : en angle 78">
            <a:extLst>
              <a:ext uri="{FF2B5EF4-FFF2-40B4-BE49-F238E27FC236}">
                <a16:creationId xmlns:a16="http://schemas.microsoft.com/office/drawing/2014/main" id="{54F5CC7A-0EAC-477A-B754-77E4FCCCB6C2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785398" y="2899349"/>
            <a:ext cx="473374" cy="6468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A0A93BF-A4B5-4F29-69A9-96D41118F9E4}"/>
              </a:ext>
            </a:extLst>
          </p:cNvPr>
          <p:cNvSpPr/>
          <p:nvPr/>
        </p:nvSpPr>
        <p:spPr>
          <a:xfrm>
            <a:off x="1258772" y="1480764"/>
            <a:ext cx="1465061" cy="55964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921AB67-BA61-5529-4613-03CEF2FC4D86}"/>
              </a:ext>
            </a:extLst>
          </p:cNvPr>
          <p:cNvSpPr/>
          <p:nvPr/>
        </p:nvSpPr>
        <p:spPr>
          <a:xfrm>
            <a:off x="1258772" y="2619526"/>
            <a:ext cx="1465061" cy="55964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08F603D-F8BF-0CD0-A18A-040FCB98BDE5}"/>
              </a:ext>
            </a:extLst>
          </p:cNvPr>
          <p:cNvSpPr/>
          <p:nvPr/>
        </p:nvSpPr>
        <p:spPr>
          <a:xfrm>
            <a:off x="1258772" y="4232355"/>
            <a:ext cx="1465061" cy="55964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041436C-EA8E-429B-2F04-DCC8CF1CB1D4}"/>
              </a:ext>
            </a:extLst>
          </p:cNvPr>
          <p:cNvSpPr/>
          <p:nvPr/>
        </p:nvSpPr>
        <p:spPr>
          <a:xfrm>
            <a:off x="1265688" y="5024443"/>
            <a:ext cx="1465061" cy="55964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278E4A1C-25B0-F1D6-D638-FAF4882A14F0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785398" y="3546173"/>
            <a:ext cx="480290" cy="17580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C097727E-4B98-BCF0-12E3-11F299F2D2CC}"/>
              </a:ext>
            </a:extLst>
          </p:cNvPr>
          <p:cNvCxnSpPr>
            <a:cxnSpLocks/>
            <a:stCxn id="13" idx="3"/>
            <a:endCxn id="39" idx="1"/>
          </p:cNvCxnSpPr>
          <p:nvPr/>
        </p:nvCxnSpPr>
        <p:spPr>
          <a:xfrm>
            <a:off x="2723833" y="2899349"/>
            <a:ext cx="700012" cy="425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 : en angle 49">
            <a:extLst>
              <a:ext uri="{FF2B5EF4-FFF2-40B4-BE49-F238E27FC236}">
                <a16:creationId xmlns:a16="http://schemas.microsoft.com/office/drawing/2014/main" id="{7CB0D106-F388-8B37-6313-6FA44C30009D}"/>
              </a:ext>
            </a:extLst>
          </p:cNvPr>
          <p:cNvCxnSpPr>
            <a:cxnSpLocks/>
            <a:stCxn id="13" idx="3"/>
            <a:endCxn id="40" idx="1"/>
          </p:cNvCxnSpPr>
          <p:nvPr/>
        </p:nvCxnSpPr>
        <p:spPr>
          <a:xfrm>
            <a:off x="2723833" y="2899349"/>
            <a:ext cx="700012" cy="8468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id="{B0E426DB-D872-E61D-8E17-CA3D2896B55F}"/>
              </a:ext>
            </a:extLst>
          </p:cNvPr>
          <p:cNvCxnSpPr>
            <a:cxnSpLocks/>
            <a:stCxn id="15" idx="3"/>
            <a:endCxn id="54" idx="1"/>
          </p:cNvCxnSpPr>
          <p:nvPr/>
        </p:nvCxnSpPr>
        <p:spPr>
          <a:xfrm flipV="1">
            <a:off x="2723833" y="4365534"/>
            <a:ext cx="700012" cy="1466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B3F8DEC9-F09E-5203-FDFC-600BCAB939FC}"/>
              </a:ext>
            </a:extLst>
          </p:cNvPr>
          <p:cNvSpPr/>
          <p:nvPr/>
        </p:nvSpPr>
        <p:spPr>
          <a:xfrm>
            <a:off x="3423845" y="4186080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8B60092C-DEF6-DBB1-90A2-8C608559B64C}"/>
              </a:ext>
            </a:extLst>
          </p:cNvPr>
          <p:cNvSpPr/>
          <p:nvPr/>
        </p:nvSpPr>
        <p:spPr>
          <a:xfrm>
            <a:off x="3423845" y="4615549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56" name="Connecteur : en angle 55">
            <a:extLst>
              <a:ext uri="{FF2B5EF4-FFF2-40B4-BE49-F238E27FC236}">
                <a16:creationId xmlns:a16="http://schemas.microsoft.com/office/drawing/2014/main" id="{A65174B0-6DB5-9A5B-6F3D-B8DBE444FB83}"/>
              </a:ext>
            </a:extLst>
          </p:cNvPr>
          <p:cNvCxnSpPr>
            <a:cxnSpLocks/>
            <a:stCxn id="15" idx="3"/>
            <a:endCxn id="55" idx="1"/>
          </p:cNvCxnSpPr>
          <p:nvPr/>
        </p:nvCxnSpPr>
        <p:spPr>
          <a:xfrm>
            <a:off x="2723833" y="4512178"/>
            <a:ext cx="700012" cy="282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83B555F4-C7CB-ACAC-149F-BF1BED3251DD}"/>
              </a:ext>
            </a:extLst>
          </p:cNvPr>
          <p:cNvSpPr/>
          <p:nvPr/>
        </p:nvSpPr>
        <p:spPr>
          <a:xfrm>
            <a:off x="3407130" y="5167510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63" name="Connecteur : en angle 62">
            <a:extLst>
              <a:ext uri="{FF2B5EF4-FFF2-40B4-BE49-F238E27FC236}">
                <a16:creationId xmlns:a16="http://schemas.microsoft.com/office/drawing/2014/main" id="{7BC6A5FE-CEFD-9C57-C77E-6F8407CF53CB}"/>
              </a:ext>
            </a:extLst>
          </p:cNvPr>
          <p:cNvCxnSpPr>
            <a:cxnSpLocks/>
            <a:stCxn id="20" idx="3"/>
            <a:endCxn id="61" idx="1"/>
          </p:cNvCxnSpPr>
          <p:nvPr/>
        </p:nvCxnSpPr>
        <p:spPr>
          <a:xfrm>
            <a:off x="2730749" y="5304266"/>
            <a:ext cx="676381" cy="426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E992B592-A5FC-B9DB-4E0D-774F7BB49677}"/>
              </a:ext>
            </a:extLst>
          </p:cNvPr>
          <p:cNvSpPr/>
          <p:nvPr/>
        </p:nvSpPr>
        <p:spPr>
          <a:xfrm>
            <a:off x="5377039" y="2661585"/>
            <a:ext cx="146506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70" name="Connecteur : en angle 69">
            <a:extLst>
              <a:ext uri="{FF2B5EF4-FFF2-40B4-BE49-F238E27FC236}">
                <a16:creationId xmlns:a16="http://schemas.microsoft.com/office/drawing/2014/main" id="{0337B730-CDB7-3D63-D5E3-A0FE82F55B80}"/>
              </a:ext>
            </a:extLst>
          </p:cNvPr>
          <p:cNvCxnSpPr>
            <a:cxnSpLocks/>
            <a:stCxn id="31" idx="3"/>
            <a:endCxn id="73" idx="1"/>
          </p:cNvCxnSpPr>
          <p:nvPr/>
        </p:nvCxnSpPr>
        <p:spPr>
          <a:xfrm flipV="1">
            <a:off x="4888906" y="1692568"/>
            <a:ext cx="505504" cy="73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CFF62B64-EE2C-EF36-4DB2-E7A9ABC72861}"/>
              </a:ext>
            </a:extLst>
          </p:cNvPr>
          <p:cNvSpPr/>
          <p:nvPr/>
        </p:nvSpPr>
        <p:spPr>
          <a:xfrm>
            <a:off x="5394410" y="1513114"/>
            <a:ext cx="360651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0070C0"/>
                </a:solidFill>
              </a:rPr>
              <a:t>X</a:t>
            </a:r>
          </a:p>
        </p:txBody>
      </p:sp>
      <p:cxnSp>
        <p:nvCxnSpPr>
          <p:cNvPr id="74" name="Connecteur : en angle 73">
            <a:extLst>
              <a:ext uri="{FF2B5EF4-FFF2-40B4-BE49-F238E27FC236}">
                <a16:creationId xmlns:a16="http://schemas.microsoft.com/office/drawing/2014/main" id="{E5BC0992-49DB-76DB-93DB-E8EBD6DF1A78}"/>
              </a:ext>
            </a:extLst>
          </p:cNvPr>
          <p:cNvCxnSpPr>
            <a:cxnSpLocks/>
            <a:stCxn id="38" idx="3"/>
            <a:endCxn id="69" idx="1"/>
          </p:cNvCxnSpPr>
          <p:nvPr/>
        </p:nvCxnSpPr>
        <p:spPr>
          <a:xfrm flipV="1">
            <a:off x="4888906" y="2841039"/>
            <a:ext cx="488133" cy="122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ZoneTexte 98">
            <a:extLst>
              <a:ext uri="{FF2B5EF4-FFF2-40B4-BE49-F238E27FC236}">
                <a16:creationId xmlns:a16="http://schemas.microsoft.com/office/drawing/2014/main" id="{B4F01F51-53F9-84EA-EF27-815CE2A03A81}"/>
              </a:ext>
            </a:extLst>
          </p:cNvPr>
          <p:cNvSpPr txBox="1"/>
          <p:nvPr/>
        </p:nvSpPr>
        <p:spPr>
          <a:xfrm>
            <a:off x="7194612" y="980728"/>
            <a:ext cx="1685398" cy="4801314"/>
          </a:xfrm>
          <a:prstGeom prst="rect">
            <a:avLst/>
          </a:prstGeom>
          <a:solidFill>
            <a:srgbClr val="E4EBEC"/>
          </a:solidFill>
        </p:spPr>
        <p:txBody>
          <a:bodyPr wrap="square" rtlCol="0">
            <a:spAutoFit/>
          </a:bodyPr>
          <a:lstStyle/>
          <a:p>
            <a:r>
              <a:rPr lang="fr-FR" sz="1000" i="1" dirty="0"/>
              <a:t>Qu’a-t-il fallu pour</a:t>
            </a:r>
          </a:p>
          <a:p>
            <a:endParaRPr lang="fr-FR" sz="1000" i="1" dirty="0"/>
          </a:p>
          <a:p>
            <a:endParaRPr lang="fr-FR" sz="1100" i="1" dirty="0"/>
          </a:p>
          <a:p>
            <a:r>
              <a:rPr lang="fr-FR" sz="1100" i="1" dirty="0"/>
              <a:t> </a:t>
            </a: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  <a:p>
            <a:endParaRPr lang="fr-FR" sz="1100" dirty="0">
              <a:solidFill>
                <a:srgbClr val="0070C0"/>
              </a:solidFill>
            </a:endParaRPr>
          </a:p>
        </p:txBody>
      </p:sp>
      <p:sp>
        <p:nvSpPr>
          <p:cNvPr id="100" name="Rectangle : coins arrondis 99">
            <a:extLst>
              <a:ext uri="{FF2B5EF4-FFF2-40B4-BE49-F238E27FC236}">
                <a16:creationId xmlns:a16="http://schemas.microsoft.com/office/drawing/2014/main" id="{04BC0677-9340-FF4E-6E56-38D448423F88}"/>
              </a:ext>
            </a:extLst>
          </p:cNvPr>
          <p:cNvSpPr/>
          <p:nvPr/>
        </p:nvSpPr>
        <p:spPr>
          <a:xfrm>
            <a:off x="7448888" y="2661585"/>
            <a:ext cx="1239263" cy="35890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107" name="Connecteur : en angle 106">
            <a:extLst>
              <a:ext uri="{FF2B5EF4-FFF2-40B4-BE49-F238E27FC236}">
                <a16:creationId xmlns:a16="http://schemas.microsoft.com/office/drawing/2014/main" id="{28650720-E276-8B5D-0D4E-2D4ECED45378}"/>
              </a:ext>
            </a:extLst>
          </p:cNvPr>
          <p:cNvCxnSpPr>
            <a:cxnSpLocks/>
            <a:stCxn id="69" idx="3"/>
            <a:endCxn id="100" idx="1"/>
          </p:cNvCxnSpPr>
          <p:nvPr/>
        </p:nvCxnSpPr>
        <p:spPr>
          <a:xfrm>
            <a:off x="6842100" y="2841039"/>
            <a:ext cx="60678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FE07BB8D-8F23-C9A2-4E40-030B374DBE07}"/>
              </a:ext>
            </a:extLst>
          </p:cNvPr>
          <p:cNvCxnSpPr/>
          <p:nvPr/>
        </p:nvCxnSpPr>
        <p:spPr>
          <a:xfrm flipH="1">
            <a:off x="500939" y="1124744"/>
            <a:ext cx="5211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5E12553F-863C-4789-980E-C103FC1E6A37}"/>
              </a:ext>
            </a:extLst>
          </p:cNvPr>
          <p:cNvCxnSpPr/>
          <p:nvPr/>
        </p:nvCxnSpPr>
        <p:spPr>
          <a:xfrm>
            <a:off x="489469" y="1124744"/>
            <a:ext cx="11470" cy="19080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DCC8F055-5D90-82A6-BE76-FCC998C174F6}"/>
              </a:ext>
            </a:extLst>
          </p:cNvPr>
          <p:cNvCxnSpPr/>
          <p:nvPr/>
        </p:nvCxnSpPr>
        <p:spPr>
          <a:xfrm flipH="1">
            <a:off x="2547793" y="1124744"/>
            <a:ext cx="5211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306D0D91-5C43-4EEC-A8D8-79008E2E0CB6}"/>
              </a:ext>
            </a:extLst>
          </p:cNvPr>
          <p:cNvCxnSpPr>
            <a:cxnSpLocks/>
          </p:cNvCxnSpPr>
          <p:nvPr/>
        </p:nvCxnSpPr>
        <p:spPr>
          <a:xfrm>
            <a:off x="2563721" y="1143245"/>
            <a:ext cx="0" cy="1555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EF4CF4A9-DAFC-FE3D-9356-5E8DADC99E6F}"/>
              </a:ext>
            </a:extLst>
          </p:cNvPr>
          <p:cNvCxnSpPr/>
          <p:nvPr/>
        </p:nvCxnSpPr>
        <p:spPr>
          <a:xfrm>
            <a:off x="987015" y="1340768"/>
            <a:ext cx="81569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>
            <a:extLst>
              <a:ext uri="{FF2B5EF4-FFF2-40B4-BE49-F238E27FC236}">
                <a16:creationId xmlns:a16="http://schemas.microsoft.com/office/drawing/2014/main" id="{2F9A0180-4668-32B8-9ACA-A4E49C9B3552}"/>
              </a:ext>
            </a:extLst>
          </p:cNvPr>
          <p:cNvSpPr txBox="1"/>
          <p:nvPr/>
        </p:nvSpPr>
        <p:spPr>
          <a:xfrm>
            <a:off x="58087" y="906471"/>
            <a:ext cx="874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Questions ?</a:t>
            </a:r>
          </a:p>
        </p:txBody>
      </p: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E1A240C4-C04E-96FC-9A84-CFACD8FF135F}"/>
              </a:ext>
            </a:extLst>
          </p:cNvPr>
          <p:cNvCxnSpPr/>
          <p:nvPr/>
        </p:nvCxnSpPr>
        <p:spPr>
          <a:xfrm flipH="1">
            <a:off x="4611618" y="1111404"/>
            <a:ext cx="5211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46B21C8C-1629-17FC-E2E6-00D05F957A29}"/>
              </a:ext>
            </a:extLst>
          </p:cNvPr>
          <p:cNvCxnSpPr>
            <a:cxnSpLocks/>
          </p:cNvCxnSpPr>
          <p:nvPr/>
        </p:nvCxnSpPr>
        <p:spPr>
          <a:xfrm>
            <a:off x="4627546" y="1129905"/>
            <a:ext cx="0" cy="1555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985F0FC7-FAD3-E9D7-D22B-79E6E4C4965B}"/>
              </a:ext>
            </a:extLst>
          </p:cNvPr>
          <p:cNvCxnSpPr/>
          <p:nvPr/>
        </p:nvCxnSpPr>
        <p:spPr>
          <a:xfrm flipH="1">
            <a:off x="6696372" y="1112813"/>
            <a:ext cx="5211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29605506-F40E-873D-6286-FD6FD65ED602}"/>
              </a:ext>
            </a:extLst>
          </p:cNvPr>
          <p:cNvCxnSpPr>
            <a:cxnSpLocks/>
          </p:cNvCxnSpPr>
          <p:nvPr/>
        </p:nvCxnSpPr>
        <p:spPr>
          <a:xfrm>
            <a:off x="6712300" y="1131314"/>
            <a:ext cx="0" cy="1555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15F18B2A-C5D9-C00A-E412-95105B1F0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585" y="563830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8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 : avec coin arrondi 16">
            <a:extLst>
              <a:ext uri="{FF2B5EF4-FFF2-40B4-BE49-F238E27FC236}">
                <a16:creationId xmlns:a16="http://schemas.microsoft.com/office/drawing/2014/main" id="{AC9D0DE9-FF89-4E8F-B39A-2532B0D422AD}"/>
              </a:ext>
            </a:extLst>
          </p:cNvPr>
          <p:cNvSpPr/>
          <p:nvPr/>
        </p:nvSpPr>
        <p:spPr>
          <a:xfrm rot="10800000">
            <a:off x="5940149" y="899396"/>
            <a:ext cx="3155248" cy="5411928"/>
          </a:xfrm>
          <a:prstGeom prst="round1Rect">
            <a:avLst>
              <a:gd name="adj" fmla="val 6205"/>
            </a:avLst>
          </a:prstGeom>
          <a:solidFill>
            <a:srgbClr val="BDD8E1">
              <a:alpha val="40000"/>
            </a:srgbClr>
          </a:solidFill>
        </p:spPr>
        <p:txBody>
          <a:bodyPr wrap="square" lIns="54000" tIns="54000" rIns="54000" bIns="54000" rtlCol="0"/>
          <a:lstStyle/>
          <a:p>
            <a:pPr eaLnBrk="0" hangingPunct="0">
              <a:tabLst>
                <a:tab pos="176215" algn="l"/>
              </a:tabLst>
            </a:pPr>
            <a:endParaRPr lang="en-US" sz="900" b="1" dirty="0">
              <a:latin typeface="Clan Pro"/>
              <a:cs typeface="Times New Roman" pitchFamily="18" charset="0"/>
            </a:endParaRPr>
          </a:p>
          <a:p>
            <a:pPr eaLnBrk="0" hangingPunct="0">
              <a:tabLst>
                <a:tab pos="176215" algn="l"/>
              </a:tabLst>
            </a:pPr>
            <a:endParaRPr lang="en-US" sz="900" b="1" dirty="0">
              <a:latin typeface="Clan Pro"/>
              <a:cs typeface="Times New Roman" pitchFamily="18" charset="0"/>
            </a:endParaRPr>
          </a:p>
          <a:p>
            <a:pPr eaLnBrk="0" hangingPunct="0">
              <a:tabLst>
                <a:tab pos="176215" algn="l"/>
              </a:tabLst>
            </a:pPr>
            <a:endParaRPr lang="en-US" sz="900" b="1" dirty="0">
              <a:latin typeface="Clan Pro"/>
              <a:cs typeface="Times New Roman" pitchFamily="18" charset="0"/>
            </a:endParaRPr>
          </a:p>
          <a:p>
            <a:pPr eaLnBrk="0" hangingPunct="0">
              <a:tabLst>
                <a:tab pos="176215" algn="l"/>
              </a:tabLst>
            </a:pPr>
            <a:endParaRPr lang="en-US" sz="900" b="1" dirty="0">
              <a:latin typeface="Clan Pro"/>
              <a:cs typeface="Times New Roman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39CDB-9529-4950-BACD-9A0DE8C8FE05}"/>
              </a:ext>
            </a:extLst>
          </p:cNvPr>
          <p:cNvSpPr/>
          <p:nvPr/>
        </p:nvSpPr>
        <p:spPr>
          <a:xfrm>
            <a:off x="228604" y="902698"/>
            <a:ext cx="5567532" cy="4830558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txBody>
          <a:bodyPr wrap="square" lIns="108000" tIns="61577" rIns="108000" bIns="54000" rtlCol="0"/>
          <a:lstStyle/>
          <a:p>
            <a:pPr algn="ctr" eaLnBrk="0" hangingPunct="0">
              <a:tabLst>
                <a:tab pos="176215" algn="l"/>
              </a:tabLst>
            </a:pPr>
            <a:r>
              <a:rPr lang="en-US" sz="1197" b="1" dirty="0">
                <a:solidFill>
                  <a:srgbClr val="C00000"/>
                </a:solidFill>
                <a:latin typeface="Clan Pro"/>
                <a:cs typeface="Times New Roman" pitchFamily="18" charset="0"/>
              </a:rPr>
              <a:t>NON SATISFACTION / FACTEURS DE </a:t>
            </a:r>
            <a:r>
              <a:rPr lang="fr-FR" sz="1197" b="1" cap="all" dirty="0">
                <a:solidFill>
                  <a:srgbClr val="C00000"/>
                </a:solidFill>
                <a:latin typeface="Clan Pro"/>
                <a:cs typeface="Times New Roman" pitchFamily="18" charset="0"/>
              </a:rPr>
              <a:t>Dysfonctionnement</a:t>
            </a:r>
          </a:p>
          <a:p>
            <a:pPr algn="ctr" eaLnBrk="0" hangingPunct="0">
              <a:tabLst>
                <a:tab pos="176215" algn="l"/>
              </a:tabLst>
            </a:pPr>
            <a:r>
              <a:rPr lang="en-US" sz="770" i="1" dirty="0">
                <a:highlight>
                  <a:srgbClr val="FFFF00"/>
                </a:highlight>
                <a:latin typeface="Clan Pro"/>
                <a:cs typeface="Times New Roman" pitchFamily="18" charset="0"/>
              </a:rPr>
              <a:t>(</a:t>
            </a:r>
            <a:r>
              <a:rPr lang="en-US" sz="770" i="1" dirty="0" err="1">
                <a:highlight>
                  <a:srgbClr val="FFFF00"/>
                </a:highlight>
                <a:latin typeface="Clan Pro"/>
                <a:cs typeface="Times New Roman" pitchFamily="18" charset="0"/>
              </a:rPr>
              <a:t>Choisissez</a:t>
            </a:r>
            <a:r>
              <a:rPr lang="en-US" sz="770" i="1" dirty="0">
                <a:highlight>
                  <a:srgbClr val="FFFF00"/>
                </a:highlight>
                <a:latin typeface="Clan Pro"/>
                <a:cs typeface="Times New Roman" pitchFamily="18" charset="0"/>
              </a:rPr>
              <a:t> 1 à 3facteurs </a:t>
            </a:r>
            <a:r>
              <a:rPr lang="en-US" sz="770" i="1" dirty="0" err="1">
                <a:highlight>
                  <a:srgbClr val="FFFF00"/>
                </a:highlight>
                <a:latin typeface="Clan Pro"/>
                <a:cs typeface="Times New Roman" pitchFamily="18" charset="0"/>
              </a:rPr>
              <a:t>significatifs</a:t>
            </a:r>
            <a:r>
              <a:rPr lang="en-US" sz="770" i="1" dirty="0">
                <a:highlight>
                  <a:srgbClr val="FFFF00"/>
                </a:highlight>
                <a:latin typeface="Clan Pro"/>
                <a:cs typeface="Times New Roman" pitchFamily="18" charset="0"/>
              </a:rPr>
              <a:t> de </a:t>
            </a:r>
            <a:r>
              <a:rPr lang="en-US" sz="770" i="1" dirty="0" err="1">
                <a:highlight>
                  <a:srgbClr val="FFFF00"/>
                </a:highlight>
                <a:latin typeface="Clan Pro"/>
                <a:cs typeface="Times New Roman" pitchFamily="18" charset="0"/>
              </a:rPr>
              <a:t>l’évènement</a:t>
            </a:r>
            <a:r>
              <a:rPr lang="en-US" sz="770" i="1" dirty="0">
                <a:highlight>
                  <a:srgbClr val="FFFF00"/>
                </a:highlight>
                <a:latin typeface="Clan Pro"/>
                <a:cs typeface="Times New Roman" pitchFamily="18" charset="0"/>
              </a:rPr>
              <a:t> - Avant accident)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239C900-6702-407E-A3CA-0B57E6399F42}"/>
              </a:ext>
            </a:extLst>
          </p:cNvPr>
          <p:cNvSpPr txBox="1"/>
          <p:nvPr/>
        </p:nvSpPr>
        <p:spPr>
          <a:xfrm>
            <a:off x="5940151" y="1007609"/>
            <a:ext cx="2975245" cy="2249235"/>
          </a:xfrm>
          <a:prstGeom prst="rect">
            <a:avLst/>
          </a:prstGeom>
          <a:noFill/>
        </p:spPr>
        <p:txBody>
          <a:bodyPr wrap="square" lIns="135000" tIns="61577" rIns="108000" rtlCol="0">
            <a:noAutofit/>
          </a:bodyPr>
          <a:lstStyle/>
          <a:p>
            <a:pPr algn="ctr"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r>
              <a:rPr lang="fr-FR" sz="1197" b="1" dirty="0">
                <a:solidFill>
                  <a:srgbClr val="007DC5"/>
                </a:solidFill>
                <a:latin typeface="Clan Pro"/>
                <a:cs typeface="Times New Roman" pitchFamily="18" charset="0"/>
              </a:rPr>
              <a:t>PLAN D’ACTION </a:t>
            </a:r>
            <a:r>
              <a:rPr lang="fr-FR" sz="800" i="1" dirty="0">
                <a:highlight>
                  <a:srgbClr val="FFFF00"/>
                </a:highlight>
                <a:latin typeface="Clan Pro"/>
                <a:cs typeface="Times New Roman" pitchFamily="18" charset="0"/>
              </a:rPr>
              <a:t>(Après accident)</a:t>
            </a:r>
          </a:p>
          <a:p>
            <a:pPr algn="ctr"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1197" b="1" i="1" dirty="0">
              <a:solidFill>
                <a:srgbClr val="007DC5"/>
              </a:solidFill>
              <a:highlight>
                <a:srgbClr val="FFFF00"/>
              </a:highlight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r>
              <a:rPr lang="fr-FR" sz="900" b="1" dirty="0">
                <a:latin typeface="Clan Pro"/>
                <a:cs typeface="Times New Roman" pitchFamily="18" charset="0"/>
              </a:rPr>
              <a:t>Facteurs Organisationnels :</a:t>
            </a: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marL="3" indent="-128590" eaLnBrk="0" hangingPunct="0">
              <a:buClr>
                <a:srgbClr val="007DC5"/>
              </a:buClr>
              <a:buFont typeface="Wingdings" panose="05000000000000000000" pitchFamily="2" charset="2"/>
              <a:buChar char="§"/>
              <a:tabLst>
                <a:tab pos="176215" algn="l"/>
              </a:tabLst>
              <a:defRPr/>
            </a:pPr>
            <a:endParaRPr lang="fr-FR" sz="900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r>
              <a:rPr lang="fr-FR" sz="900" b="1" dirty="0">
                <a:latin typeface="Clan Pro"/>
                <a:cs typeface="Times New Roman" pitchFamily="18" charset="0"/>
              </a:rPr>
              <a:t>Facteurs Techniques :</a:t>
            </a:r>
          </a:p>
          <a:p>
            <a:pPr marL="3" indent="-128590" eaLnBrk="0" hangingPunct="0">
              <a:buClr>
                <a:srgbClr val="20BEC6"/>
              </a:buClr>
              <a:buFont typeface="Wingdings" panose="05000000000000000000" pitchFamily="2" charset="2"/>
              <a:buChar char="§"/>
              <a:tabLst>
                <a:tab pos="176215" algn="l"/>
              </a:tabLst>
              <a:defRPr/>
            </a:pPr>
            <a:endParaRPr lang="fr-FR" sz="900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endParaRPr lang="fr-FR" sz="900" b="1" dirty="0">
              <a:latin typeface="Clan Pro"/>
              <a:cs typeface="Times New Roman" pitchFamily="18" charset="0"/>
            </a:endParaRPr>
          </a:p>
          <a:p>
            <a:pPr eaLnBrk="0" hangingPunct="0">
              <a:buClr>
                <a:srgbClr val="00B050"/>
              </a:buClr>
              <a:tabLst>
                <a:tab pos="176215" algn="l"/>
              </a:tabLst>
              <a:defRPr/>
            </a:pPr>
            <a:r>
              <a:rPr lang="fr-FR" sz="900" b="1" dirty="0">
                <a:latin typeface="Clan Pro"/>
                <a:cs typeface="Times New Roman" pitchFamily="18" charset="0"/>
              </a:rPr>
              <a:t>Facteurs Humains :</a:t>
            </a:r>
            <a:endParaRPr lang="fr-FR" sz="900" dirty="0">
              <a:latin typeface="Clan Pro"/>
              <a:cs typeface="Times New Roman" pitchFamily="18" charset="0"/>
            </a:endParaRPr>
          </a:p>
          <a:p>
            <a:pPr marL="128590" indent="-128590" eaLnBrk="0" hangingPunct="0">
              <a:buClr>
                <a:srgbClr val="82CA9C"/>
              </a:buClr>
              <a:buFont typeface="Wingdings" panose="05000000000000000000" pitchFamily="2" charset="2"/>
              <a:buChar char="§"/>
              <a:tabLst>
                <a:tab pos="176215" algn="l"/>
              </a:tabLst>
              <a:defRPr/>
            </a:pPr>
            <a:endParaRPr lang="fr-FR" sz="900" dirty="0">
              <a:latin typeface="Clan Pro"/>
              <a:cs typeface="Times New Roman" pitchFamily="18" charset="0"/>
            </a:endParaRPr>
          </a:p>
          <a:p>
            <a:endParaRPr lang="fr-FR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D1D972-8C1D-4875-872C-FE354C3DF9CC}"/>
              </a:ext>
            </a:extLst>
          </p:cNvPr>
          <p:cNvSpPr/>
          <p:nvPr/>
        </p:nvSpPr>
        <p:spPr>
          <a:xfrm>
            <a:off x="1997608" y="1369479"/>
            <a:ext cx="1728809" cy="3490911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0788" tIns="30788" rIns="30788" bIns="30788" rtlCol="0"/>
          <a:lstStyle/>
          <a:p>
            <a:pPr algn="ctr" eaLnBrk="0" hangingPunct="0">
              <a:tabLst>
                <a:tab pos="176215" algn="l"/>
              </a:tabLst>
            </a:pPr>
            <a:r>
              <a:rPr lang="fr-FR" sz="1050" b="1" dirty="0">
                <a:solidFill>
                  <a:srgbClr val="007DC5"/>
                </a:solidFill>
                <a:latin typeface="Clan Pro"/>
                <a:cs typeface="Times New Roman" pitchFamily="18" charset="0"/>
              </a:rPr>
              <a:t>Facteurs Organisationnels</a:t>
            </a:r>
          </a:p>
          <a:p>
            <a:pPr algn="ctr" fontAlgn="b"/>
            <a:r>
              <a:rPr lang="fr-FR" sz="1000" i="1" dirty="0">
                <a:solidFill>
                  <a:srgbClr val="007DC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communication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coordination / opération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Interruption dans le travail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Encombrement et accès à la zone de travail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Taches multiples et simultanées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clarté des procédures de travail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disponibilité de l'outillage / équipement inadapté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vérification / manque de préparation préalable </a:t>
            </a:r>
          </a:p>
          <a:p>
            <a:pPr marL="171450" indent="-171450" fontAlgn="b">
              <a:buClr>
                <a:srgbClr val="007DC5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personnes pour effectuer la tâche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6818E0-2F00-477A-9121-8DC732998121}"/>
              </a:ext>
            </a:extLst>
          </p:cNvPr>
          <p:cNvSpPr/>
          <p:nvPr/>
        </p:nvSpPr>
        <p:spPr>
          <a:xfrm>
            <a:off x="255855" y="1370891"/>
            <a:ext cx="1682649" cy="3480421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0788" tIns="30788" rIns="30788" bIns="30788" rtlCol="0"/>
          <a:lstStyle/>
          <a:p>
            <a:pPr algn="ctr" eaLnBrk="0" hangingPunct="0">
              <a:tabLst>
                <a:tab pos="176215" algn="l"/>
              </a:tabLst>
            </a:pPr>
            <a:r>
              <a:rPr lang="fr-FR" sz="1050" b="1" dirty="0">
                <a:solidFill>
                  <a:srgbClr val="20BEC6"/>
                </a:solidFill>
                <a:latin typeface="Clan Pro"/>
                <a:cs typeface="Times New Roman" pitchFamily="18" charset="0"/>
              </a:rPr>
              <a:t>Facteurs Techniques</a:t>
            </a:r>
          </a:p>
          <a:p>
            <a:pPr algn="ctr" fontAlgn="b"/>
            <a:r>
              <a:rPr lang="fr-FR" sz="1000" i="1" dirty="0">
                <a:solidFill>
                  <a:srgbClr val="20BE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Matériel inadapté pour la tâche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Méthodes d'intervention inadéquates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Défaillance outillage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Défaillance équipement, machine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Conditions de travail insatisfaisantes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Risque lié à l’Environnement du travail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Procédure inexistante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Complexité de la tâche 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Produits dangereux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Espace restreint / Zone de travail</a:t>
            </a:r>
          </a:p>
          <a:p>
            <a:pPr marL="171450" indent="-171450" fontAlgn="b">
              <a:buClr>
                <a:srgbClr val="20BEC6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Mouvements répétitifs / Ergo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849610-D77F-4216-B4BD-E5BF5548ACCB}"/>
              </a:ext>
            </a:extLst>
          </p:cNvPr>
          <p:cNvSpPr/>
          <p:nvPr/>
        </p:nvSpPr>
        <p:spPr>
          <a:xfrm>
            <a:off x="3788979" y="1364081"/>
            <a:ext cx="1887510" cy="3489075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lIns="30788" tIns="30788" rIns="30788" bIns="30788" rtlCol="0"/>
          <a:lstStyle/>
          <a:p>
            <a:pPr algn="ctr" eaLnBrk="0" hangingPunct="0">
              <a:tabLst>
                <a:tab pos="176215" algn="l"/>
              </a:tabLst>
            </a:pPr>
            <a:r>
              <a:rPr lang="fr-FR" sz="1050" b="1" dirty="0">
                <a:solidFill>
                  <a:srgbClr val="82CA9C"/>
                </a:solidFill>
                <a:latin typeface="Clan Pro"/>
                <a:cs typeface="Times New Roman" pitchFamily="18" charset="0"/>
              </a:rPr>
              <a:t>Facteurs Humains</a:t>
            </a:r>
          </a:p>
          <a:p>
            <a:pPr algn="ctr" fontAlgn="b"/>
            <a:r>
              <a:rPr lang="fr-FR" sz="1050" i="1" dirty="0">
                <a:solidFill>
                  <a:srgbClr val="82CA9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000" i="1" dirty="0">
              <a:solidFill>
                <a:srgbClr val="82CA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de compétences et connaissances (formation)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Manque d'expérience - Tâche non familière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Habitudes - Actions répétitives - Perte de vigilance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Stress - Urgence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Fatigue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Surcharge de travail 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Surcharge cognitive 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Attitude à risque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Oubli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Déviation intentionnelle (règle ou MOP connus mais non respectés)</a:t>
            </a:r>
          </a:p>
          <a:p>
            <a:pPr marL="171450" indent="-171450" fontAlgn="b">
              <a:buClr>
                <a:srgbClr val="82CA9C"/>
              </a:buClr>
              <a:buFont typeface="Wingdings" panose="05000000000000000000" pitchFamily="2" charset="2"/>
              <a:buChar char="q"/>
            </a:pPr>
            <a:r>
              <a:rPr lang="fr-FR" sz="1000" dirty="0">
                <a:latin typeface="Calibri" panose="020F0502020204030204" pitchFamily="34" charset="0"/>
                <a:cs typeface="Calibri" panose="020F0502020204030204" pitchFamily="34" charset="0"/>
              </a:rPr>
              <a:t>Déviation normalisée - contournement d'une règle (pratique acceptée)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FB83B8A-793A-4601-E6F9-7CF8C306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1" y="61043"/>
            <a:ext cx="6755645" cy="5596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en-US" sz="1600" b="1" u="sng" dirty="0" err="1"/>
              <a:t>Objet</a:t>
            </a:r>
            <a:r>
              <a:rPr lang="en-US" altLang="en-US" sz="1600" b="1" u="sng" dirty="0"/>
              <a:t> </a:t>
            </a:r>
            <a:r>
              <a:rPr lang="en-US" altLang="en-US" sz="1600" b="1" u="sng" dirty="0" err="1"/>
              <a:t>Evènement</a:t>
            </a:r>
            <a:r>
              <a:rPr lang="en-US" altLang="en-US" sz="1600" b="1" u="sng" dirty="0"/>
              <a:t> </a:t>
            </a:r>
            <a:r>
              <a:rPr lang="en-US" altLang="en-US" sz="1200" b="1" u="sng" dirty="0"/>
              <a:t>:  </a:t>
            </a:r>
          </a:p>
          <a:p>
            <a:r>
              <a:rPr lang="en-US" altLang="en-US" sz="1400" dirty="0">
                <a:highlight>
                  <a:srgbClr val="FFFF00"/>
                </a:highlight>
              </a:rPr>
              <a:t>N°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0A999801-19EC-7BA3-ECD0-B54D85F4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681" y="25082"/>
            <a:ext cx="944493" cy="468151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DD6BFD5F-2B8A-FADD-C9E8-B5F3147832AC}"/>
              </a:ext>
            </a:extLst>
          </p:cNvPr>
          <p:cNvGrpSpPr/>
          <p:nvPr/>
        </p:nvGrpSpPr>
        <p:grpSpPr>
          <a:xfrm>
            <a:off x="37242" y="6443207"/>
            <a:ext cx="9058156" cy="451067"/>
            <a:chOff x="7233" y="6184547"/>
            <a:chExt cx="9181348" cy="67345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C675B7D-BB8D-1324-FBAE-4E5E25779D6E}"/>
                </a:ext>
              </a:extLst>
            </p:cNvPr>
            <p:cNvSpPr/>
            <p:nvPr/>
          </p:nvSpPr>
          <p:spPr>
            <a:xfrm>
              <a:off x="7233" y="6184547"/>
              <a:ext cx="9131819" cy="673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1934E22-95FB-817E-2A26-F2CF98292D0D}"/>
                </a:ext>
              </a:extLst>
            </p:cNvPr>
            <p:cNvSpPr txBox="1"/>
            <p:nvPr/>
          </p:nvSpPr>
          <p:spPr>
            <a:xfrm>
              <a:off x="6735342" y="6255237"/>
              <a:ext cx="2453239" cy="483868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42" name="Image 41">
            <a:extLst>
              <a:ext uri="{FF2B5EF4-FFF2-40B4-BE49-F238E27FC236}">
                <a16:creationId xmlns:a16="http://schemas.microsoft.com/office/drawing/2014/main" id="{3D1A7B99-BFE8-9A43-14FF-B1545E3D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33" y="6438744"/>
            <a:ext cx="3937500" cy="324200"/>
          </a:xfrm>
          <a:prstGeom prst="rect">
            <a:avLst/>
          </a:prstGeom>
        </p:spPr>
      </p:pic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6A7829AC-C884-3457-1028-C2749CCBCDDB}"/>
              </a:ext>
            </a:extLst>
          </p:cNvPr>
          <p:cNvSpPr/>
          <p:nvPr/>
        </p:nvSpPr>
        <p:spPr>
          <a:xfrm>
            <a:off x="467544" y="5106980"/>
            <a:ext cx="821137" cy="401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07E3889-700F-4409-EAE8-89F595055E96}"/>
              </a:ext>
            </a:extLst>
          </p:cNvPr>
          <p:cNvSpPr/>
          <p:nvPr/>
        </p:nvSpPr>
        <p:spPr>
          <a:xfrm>
            <a:off x="1500370" y="5001087"/>
            <a:ext cx="4176119" cy="588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L’insérer dans le TDB Agence (DA) + tableau </a:t>
            </a:r>
            <a:r>
              <a:rPr lang="fr-FR" sz="1200" dirty="0" err="1"/>
              <a:t>excel</a:t>
            </a:r>
            <a:r>
              <a:rPr lang="fr-FR" sz="1200" dirty="0"/>
              <a:t> (EHS) de suivi des accidents</a:t>
            </a:r>
          </a:p>
        </p:txBody>
      </p:sp>
      <p:graphicFrame>
        <p:nvGraphicFramePr>
          <p:cNvPr id="5" name="Tableau 7">
            <a:extLst>
              <a:ext uri="{FF2B5EF4-FFF2-40B4-BE49-F238E27FC236}">
                <a16:creationId xmlns:a16="http://schemas.microsoft.com/office/drawing/2014/main" id="{24D85B38-1B31-7D4C-A5D2-F6E53404B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57217"/>
              </p:ext>
            </p:extLst>
          </p:nvPr>
        </p:nvGraphicFramePr>
        <p:xfrm>
          <a:off x="6077516" y="1602371"/>
          <a:ext cx="29752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80">
                  <a:extLst>
                    <a:ext uri="{9D8B030D-6E8A-4147-A177-3AD203B41FA5}">
                      <a16:colId xmlns:a16="http://schemas.microsoft.com/office/drawing/2014/main" val="142663181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11094830"/>
                    </a:ext>
                  </a:extLst>
                </a:gridCol>
                <a:gridCol w="496592">
                  <a:extLst>
                    <a:ext uri="{9D8B030D-6E8A-4147-A177-3AD203B41FA5}">
                      <a16:colId xmlns:a16="http://schemas.microsoft.com/office/drawing/2014/main" val="3907188712"/>
                    </a:ext>
                  </a:extLst>
                </a:gridCol>
                <a:gridCol w="743812">
                  <a:extLst>
                    <a:ext uri="{9D8B030D-6E8A-4147-A177-3AD203B41FA5}">
                      <a16:colId xmlns:a16="http://schemas.microsoft.com/office/drawing/2014/main" val="1967085061"/>
                    </a:ext>
                  </a:extLst>
                </a:gridCol>
              </a:tblGrid>
              <a:tr h="147039"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 err="1"/>
                        <a:t>Resp</a:t>
                      </a:r>
                      <a:endParaRPr lang="fr-FR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Soldé date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407357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9453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141830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738863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FF9B6F5-9B63-F3D0-9A11-C2A8B2B77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65439"/>
              </p:ext>
            </p:extLst>
          </p:nvPr>
        </p:nvGraphicFramePr>
        <p:xfrm>
          <a:off x="6054465" y="3008097"/>
          <a:ext cx="29752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80">
                  <a:extLst>
                    <a:ext uri="{9D8B030D-6E8A-4147-A177-3AD203B41FA5}">
                      <a16:colId xmlns:a16="http://schemas.microsoft.com/office/drawing/2014/main" val="142663181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11094830"/>
                    </a:ext>
                  </a:extLst>
                </a:gridCol>
                <a:gridCol w="496592">
                  <a:extLst>
                    <a:ext uri="{9D8B030D-6E8A-4147-A177-3AD203B41FA5}">
                      <a16:colId xmlns:a16="http://schemas.microsoft.com/office/drawing/2014/main" val="3907188712"/>
                    </a:ext>
                  </a:extLst>
                </a:gridCol>
                <a:gridCol w="743812">
                  <a:extLst>
                    <a:ext uri="{9D8B030D-6E8A-4147-A177-3AD203B41FA5}">
                      <a16:colId xmlns:a16="http://schemas.microsoft.com/office/drawing/2014/main" val="1967085061"/>
                    </a:ext>
                  </a:extLst>
                </a:gridCol>
              </a:tblGrid>
              <a:tr h="147039"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 err="1"/>
                        <a:t>Resp</a:t>
                      </a:r>
                      <a:endParaRPr lang="fr-FR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Soldé date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407357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9453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141830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738863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98331D4-A7FB-2143-7541-FC7CA87C1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613452"/>
              </p:ext>
            </p:extLst>
          </p:nvPr>
        </p:nvGraphicFramePr>
        <p:xfrm>
          <a:off x="6054465" y="4364981"/>
          <a:ext cx="29752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780">
                  <a:extLst>
                    <a:ext uri="{9D8B030D-6E8A-4147-A177-3AD203B41FA5}">
                      <a16:colId xmlns:a16="http://schemas.microsoft.com/office/drawing/2014/main" val="142663181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11094830"/>
                    </a:ext>
                  </a:extLst>
                </a:gridCol>
                <a:gridCol w="496592">
                  <a:extLst>
                    <a:ext uri="{9D8B030D-6E8A-4147-A177-3AD203B41FA5}">
                      <a16:colId xmlns:a16="http://schemas.microsoft.com/office/drawing/2014/main" val="3907188712"/>
                    </a:ext>
                  </a:extLst>
                </a:gridCol>
                <a:gridCol w="743812">
                  <a:extLst>
                    <a:ext uri="{9D8B030D-6E8A-4147-A177-3AD203B41FA5}">
                      <a16:colId xmlns:a16="http://schemas.microsoft.com/office/drawing/2014/main" val="1967085061"/>
                    </a:ext>
                  </a:extLst>
                </a:gridCol>
              </a:tblGrid>
              <a:tr h="147039"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 err="1"/>
                        <a:t>Resp</a:t>
                      </a:r>
                      <a:endParaRPr lang="fr-FR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600" dirty="0"/>
                        <a:t>Soldé date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407357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9453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141830"/>
                  </a:ext>
                </a:extLst>
              </a:tr>
              <a:tr h="147039"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738863"/>
                  </a:ext>
                </a:extLst>
              </a:tr>
            </a:tbl>
          </a:graphicData>
        </a:graphic>
      </p:graphicFrame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27C05EAE-0A31-94A1-6AEF-F0D31D04F363}"/>
              </a:ext>
            </a:extLst>
          </p:cNvPr>
          <p:cNvSpPr/>
          <p:nvPr/>
        </p:nvSpPr>
        <p:spPr>
          <a:xfrm>
            <a:off x="5974511" y="5685283"/>
            <a:ext cx="325681" cy="401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79514C5-D739-1D13-D5B3-9184BB4CA154}"/>
              </a:ext>
            </a:extLst>
          </p:cNvPr>
          <p:cNvSpPr/>
          <p:nvPr/>
        </p:nvSpPr>
        <p:spPr>
          <a:xfrm>
            <a:off x="6433190" y="5586365"/>
            <a:ext cx="2596524" cy="588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L’insérer dans le TDB Agence (DA) + tableau </a:t>
            </a:r>
            <a:r>
              <a:rPr lang="fr-FR" sz="1200" dirty="0" err="1"/>
              <a:t>excel</a:t>
            </a:r>
            <a:r>
              <a:rPr lang="fr-FR" sz="1200" dirty="0"/>
              <a:t> (EHS) de suivi des accidents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F5F20D-C6FC-36DD-35A6-4839A5D10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3" y="6555158"/>
            <a:ext cx="3654425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03715"/>
      </p:ext>
    </p:extLst>
  </p:cSld>
  <p:clrMapOvr>
    <a:masterClrMapping/>
  </p:clrMapOvr>
</p:sld>
</file>

<file path=ppt/theme/theme1.xml><?xml version="1.0" encoding="utf-8"?>
<a:theme xmlns:a="http://schemas.openxmlformats.org/drawingml/2006/main" name="6_Default Design">
  <a:themeElements>
    <a:clrScheme name="2_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E2AAAA"/>
      </a:accent5>
      <a:accent6>
        <a:srgbClr val="0000E7"/>
      </a:accent6>
      <a:hlink>
        <a:srgbClr val="009900"/>
      </a:hlink>
      <a:folHlink>
        <a:srgbClr val="FFFF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0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D9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E7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4_UTC">
  <a:themeElements>
    <a:clrScheme name="Custom 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B7FF"/>
      </a:accent1>
      <a:accent2>
        <a:srgbClr val="3191B0"/>
      </a:accent2>
      <a:accent3>
        <a:srgbClr val="FF8000"/>
      </a:accent3>
      <a:accent4>
        <a:srgbClr val="81D72B"/>
      </a:accent4>
      <a:accent5>
        <a:srgbClr val="3AC6C6"/>
      </a:accent5>
      <a:accent6>
        <a:srgbClr val="4DECFF"/>
      </a:accent6>
      <a:hlink>
        <a:srgbClr val="0000FF"/>
      </a:hlink>
      <a:folHlink>
        <a:srgbClr val="40ADD2"/>
      </a:folHlink>
    </a:clrScheme>
    <a:fontScheme name="UTC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T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dk1">
                <a:tint val="100000"/>
                <a:satMod val="10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8_Default Design">
  <a:themeElements>
    <a:clrScheme name="2_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E2AAAA"/>
      </a:accent5>
      <a:accent6>
        <a:srgbClr val="0000E7"/>
      </a:accent6>
      <a:hlink>
        <a:srgbClr val="009900"/>
      </a:hlink>
      <a:folHlink>
        <a:srgbClr val="FFFF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0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D9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E7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7_UTC">
  <a:themeElements>
    <a:clrScheme name="Custom 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B7FF"/>
      </a:accent1>
      <a:accent2>
        <a:srgbClr val="3191B0"/>
      </a:accent2>
      <a:accent3>
        <a:srgbClr val="FF8000"/>
      </a:accent3>
      <a:accent4>
        <a:srgbClr val="81D72B"/>
      </a:accent4>
      <a:accent5>
        <a:srgbClr val="3AC6C6"/>
      </a:accent5>
      <a:accent6>
        <a:srgbClr val="4DECFF"/>
      </a:accent6>
      <a:hlink>
        <a:srgbClr val="0000FF"/>
      </a:hlink>
      <a:folHlink>
        <a:srgbClr val="40ADD2"/>
      </a:folHlink>
    </a:clrScheme>
    <a:fontScheme name="UTC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T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dk1">
                <a:tint val="100000"/>
                <a:satMod val="10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9_UTC">
  <a:themeElements>
    <a:clrScheme name="Custom 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B7FF"/>
      </a:accent1>
      <a:accent2>
        <a:srgbClr val="3191B0"/>
      </a:accent2>
      <a:accent3>
        <a:srgbClr val="FF8000"/>
      </a:accent3>
      <a:accent4>
        <a:srgbClr val="81D72B"/>
      </a:accent4>
      <a:accent5>
        <a:srgbClr val="3AC6C6"/>
      </a:accent5>
      <a:accent6>
        <a:srgbClr val="4DECFF"/>
      </a:accent6>
      <a:hlink>
        <a:srgbClr val="0000FF"/>
      </a:hlink>
      <a:folHlink>
        <a:srgbClr val="40ADD2"/>
      </a:folHlink>
    </a:clrScheme>
    <a:fontScheme name="UTC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T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dk1">
                <a:tint val="100000"/>
                <a:satMod val="10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0_Default Design">
  <a:themeElements>
    <a:clrScheme name="2_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E2AAAA"/>
      </a:accent5>
      <a:accent6>
        <a:srgbClr val="0000E7"/>
      </a:accent6>
      <a:hlink>
        <a:srgbClr val="009900"/>
      </a:hlink>
      <a:folHlink>
        <a:srgbClr val="FFFF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0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D9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E7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1_Default Design">
  <a:themeElements>
    <a:clrScheme name="2_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E2AAAA"/>
      </a:accent5>
      <a:accent6>
        <a:srgbClr val="0000E7"/>
      </a:accent6>
      <a:hlink>
        <a:srgbClr val="009900"/>
      </a:hlink>
      <a:folHlink>
        <a:srgbClr val="FFFF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0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D9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E7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2_Default Design">
  <a:themeElements>
    <a:clrScheme name="2_Default Design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E2AAAA"/>
      </a:accent5>
      <a:accent6>
        <a:srgbClr val="0000E7"/>
      </a:accent6>
      <a:hlink>
        <a:srgbClr val="009900"/>
      </a:hlink>
      <a:folHlink>
        <a:srgbClr val="FFFF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0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D9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0000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0000E7"/>
        </a:accent6>
        <a:hlink>
          <a:srgbClr val="00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31_UTC 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20000"/>
      </a:accent1>
      <a:accent2>
        <a:srgbClr val="0000F0"/>
      </a:accent2>
      <a:accent3>
        <a:srgbClr val="FFFFFF"/>
      </a:accent3>
      <a:accent4>
        <a:srgbClr val="000000"/>
      </a:accent4>
      <a:accent5>
        <a:srgbClr val="E5AAAA"/>
      </a:accent5>
      <a:accent6>
        <a:srgbClr val="0000D9"/>
      </a:accent6>
      <a:hlink>
        <a:srgbClr val="F6FC00"/>
      </a:hlink>
      <a:folHlink>
        <a:srgbClr val="009A00"/>
      </a:folHlink>
    </a:clrScheme>
    <a:fontScheme name="UTC Templat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TC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C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TC 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C 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C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C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TC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2850</TotalTime>
  <Words>676</Words>
  <Application>Microsoft Office PowerPoint</Application>
  <PresentationFormat>Affichage à l'écran (4:3)</PresentationFormat>
  <Paragraphs>372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7</vt:i4>
      </vt:variant>
    </vt:vector>
  </HeadingPairs>
  <TitlesOfParts>
    <vt:vector size="22" baseType="lpstr">
      <vt:lpstr>Arial</vt:lpstr>
      <vt:lpstr>Calibri</vt:lpstr>
      <vt:lpstr>Clan Pro</vt:lpstr>
      <vt:lpstr>Times New Roman</vt:lpstr>
      <vt:lpstr>Wingdings</vt:lpstr>
      <vt:lpstr>6_Default Design</vt:lpstr>
      <vt:lpstr>14_UTC</vt:lpstr>
      <vt:lpstr>8_Default Design</vt:lpstr>
      <vt:lpstr>17_UTC</vt:lpstr>
      <vt:lpstr>19_UTC</vt:lpstr>
      <vt:lpstr>10_Default Design</vt:lpstr>
      <vt:lpstr>11_Default Design</vt:lpstr>
      <vt:lpstr>12_Default Design</vt:lpstr>
      <vt:lpstr>4_Default Theme</vt:lpstr>
      <vt:lpstr>31_UTC Template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United Technologies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CSC</dc:creator>
  <cp:lastModifiedBy>LACHAUME, Veronique</cp:lastModifiedBy>
  <cp:revision>1492</cp:revision>
  <cp:lastPrinted>2020-09-09T07:13:58Z</cp:lastPrinted>
  <dcterms:created xsi:type="dcterms:W3CDTF">2015-09-22T09:12:48Z</dcterms:created>
  <dcterms:modified xsi:type="dcterms:W3CDTF">2024-11-04T13:33:12Z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2023-08-25T14:10:30Z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897c390a-6757-4985-a44f-abcafc030cae</vt:lpwstr>
  </property>
  <property fmtid="{D5CDD505-2E9C-101B-9397-08002B2CF9AE}" pid="8" name="MSIP_Label_defa4170-0d19-0005-0004-bc88714345d2_ContentBits">
    <vt:lpwstr>0</vt:lpwstr>
  </property>
</Properties>
</file>