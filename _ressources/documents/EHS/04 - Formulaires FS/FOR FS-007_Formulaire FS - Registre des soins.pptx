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1" r:id="rId3"/>
    <p:sldId id="267" r:id="rId4"/>
    <p:sldId id="268" r:id="rId5"/>
    <p:sldId id="269" r:id="rId6"/>
    <p:sldId id="270" r:id="rId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140" y="4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gif"/><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679055"/>
            <a:ext cx="7772400" cy="1470025"/>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smtClean="0"/>
              <a:t>Modifiez le style du titre</a:t>
            </a:r>
            <a:endParaRPr lang="en-US" dirty="0"/>
          </a:p>
        </p:txBody>
      </p:sp>
      <p:sp>
        <p:nvSpPr>
          <p:cNvPr id="8" name="Subtitle 2"/>
          <p:cNvSpPr>
            <a:spLocks noGrp="1"/>
          </p:cNvSpPr>
          <p:nvPr>
            <p:ph type="subTitle" idx="1"/>
          </p:nvPr>
        </p:nvSpPr>
        <p:spPr>
          <a:xfrm>
            <a:off x="1371600" y="3886200"/>
            <a:ext cx="6400800" cy="17526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smtClean="0"/>
              <a:t>Modifiez le style des sous-titres du masque</a:t>
            </a:r>
            <a:endParaRPr lang="en-US" dirty="0"/>
          </a:p>
        </p:txBody>
      </p:sp>
      <p:grpSp>
        <p:nvGrpSpPr>
          <p:cNvPr id="9" name="Groupe 8"/>
          <p:cNvGrpSpPr/>
          <p:nvPr userDrawn="1"/>
        </p:nvGrpSpPr>
        <p:grpSpPr>
          <a:xfrm>
            <a:off x="7233" y="6184547"/>
            <a:ext cx="9131819" cy="673453"/>
            <a:chOff x="7233" y="6184547"/>
            <a:chExt cx="9131819" cy="673453"/>
          </a:xfrm>
        </p:grpSpPr>
        <p:sp>
          <p:nvSpPr>
            <p:cNvPr id="10" name="Rectangle 9"/>
            <p:cNvSpPr/>
            <p:nvPr/>
          </p:nvSpPr>
          <p:spPr>
            <a:xfrm>
              <a:off x="7233" y="6184547"/>
              <a:ext cx="9131819" cy="673453"/>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67504" y="6433665"/>
              <a:ext cx="791360" cy="227597"/>
            </a:xfrm>
            <a:prstGeom prst="rect">
              <a:avLst/>
            </a:prstGeom>
          </p:spPr>
        </p:pic>
        <p:pic>
          <p:nvPicPr>
            <p:cNvPr id="12" name="Image 1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4847" y="6300156"/>
              <a:ext cx="611977" cy="416608"/>
            </a:xfrm>
            <a:prstGeom prst="rect">
              <a:avLst/>
            </a:prstGeom>
          </p:spPr>
        </p:pic>
        <p:pic>
          <p:nvPicPr>
            <p:cNvPr id="13" name="Imag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1909" y="6356577"/>
              <a:ext cx="836447" cy="302155"/>
            </a:xfrm>
            <a:prstGeom prst="rect">
              <a:avLst/>
            </a:prstGeom>
          </p:spPr>
        </p:pic>
        <p:pic>
          <p:nvPicPr>
            <p:cNvPr id="14" name="Imag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70051" y="6454143"/>
              <a:ext cx="613904" cy="207887"/>
            </a:xfrm>
            <a:prstGeom prst="rect">
              <a:avLst/>
            </a:prstGeom>
          </p:spPr>
        </p:pic>
        <p:pic>
          <p:nvPicPr>
            <p:cNvPr id="15" name="Image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9677" y="6398532"/>
              <a:ext cx="1131885" cy="260935"/>
            </a:xfrm>
            <a:prstGeom prst="rect">
              <a:avLst/>
            </a:prstGeom>
          </p:spPr>
        </p:pic>
        <p:sp>
          <p:nvSpPr>
            <p:cNvPr id="16" name="ZoneTexte 15"/>
            <p:cNvSpPr txBox="1"/>
            <p:nvPr/>
          </p:nvSpPr>
          <p:spPr>
            <a:xfrm>
              <a:off x="6364250" y="6343547"/>
              <a:ext cx="2453239" cy="335398"/>
            </a:xfrm>
            <a:prstGeom prst="rect">
              <a:avLst/>
            </a:prstGeom>
            <a:noFill/>
          </p:spPr>
          <p:txBody>
            <a:bodyPr wrap="square" lIns="77111" tIns="38556" rIns="77111" bIns="38556" rtlCol="0">
              <a:spAutoFit/>
            </a:bodyPr>
            <a:lstStyle/>
            <a:p>
              <a:r>
                <a:rPr lang="fr-FR" sz="800" i="1" dirty="0">
                  <a:latin typeface="Calibri" panose="020F0502020204030204" pitchFamily="34" charset="0"/>
                </a:rPr>
                <a:t>Ce document est confidentiel. Toute reproduction, même partielle est interdite.</a:t>
              </a:r>
            </a:p>
          </p:txBody>
        </p:sp>
      </p:grpSp>
      <p:sp>
        <p:nvSpPr>
          <p:cNvPr id="17" name="Organigramme : Processus 16"/>
          <p:cNvSpPr/>
          <p:nvPr userDrawn="1"/>
        </p:nvSpPr>
        <p:spPr>
          <a:xfrm>
            <a:off x="-1746" y="732766"/>
            <a:ext cx="9145745" cy="214818"/>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8" name="Rectangle 17"/>
          <p:cNvSpPr/>
          <p:nvPr userDrawn="1"/>
        </p:nvSpPr>
        <p:spPr>
          <a:xfrm rot="21419042">
            <a:off x="7270650" y="753732"/>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userDrawn="1"/>
        </p:nvSpPr>
        <p:spPr>
          <a:xfrm rot="21336737">
            <a:off x="8320535" y="68241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
        <p:nvSpPr>
          <p:cNvPr id="20" name="ZoneTexte 19"/>
          <p:cNvSpPr txBox="1"/>
          <p:nvPr userDrawn="1"/>
        </p:nvSpPr>
        <p:spPr>
          <a:xfrm>
            <a:off x="2477459" y="731560"/>
            <a:ext cx="3974132" cy="261610"/>
          </a:xfrm>
          <a:prstGeom prst="rect">
            <a:avLst/>
          </a:prstGeom>
          <a:noFill/>
        </p:spPr>
        <p:txBody>
          <a:bodyPr wrap="square" rtlCol="0">
            <a:spAutoFit/>
          </a:bodyPr>
          <a:lstStyle/>
          <a:p>
            <a:r>
              <a:rPr lang="fr-FR" sz="1100" i="1" dirty="0" smtClean="0">
                <a:solidFill>
                  <a:schemeClr val="bg1"/>
                </a:solidFill>
              </a:rPr>
              <a:t>Hygiène    Environnement    Management </a:t>
            </a:r>
            <a:endParaRPr lang="fr-FR" sz="1100" i="1" dirty="0">
              <a:solidFill>
                <a:schemeClr val="bg1"/>
              </a:solidFill>
            </a:endParaRPr>
          </a:p>
        </p:txBody>
      </p:sp>
      <p:sp>
        <p:nvSpPr>
          <p:cNvPr id="21" name="Forme libre 20"/>
          <p:cNvSpPr/>
          <p:nvPr userDrawn="1"/>
        </p:nvSpPr>
        <p:spPr>
          <a:xfrm>
            <a:off x="-15192" y="935389"/>
            <a:ext cx="376518" cy="147918"/>
          </a:xfrm>
          <a:custGeom>
            <a:avLst/>
            <a:gdLst>
              <a:gd name="connsiteX0" fmla="*/ 0 w 376518"/>
              <a:gd name="connsiteY0" fmla="*/ 0 h 147918"/>
              <a:gd name="connsiteX1" fmla="*/ 376518 w 376518"/>
              <a:gd name="connsiteY1" fmla="*/ 0 h 147918"/>
              <a:gd name="connsiteX2" fmla="*/ 376518 w 376518"/>
              <a:gd name="connsiteY2" fmla="*/ 147918 h 147918"/>
              <a:gd name="connsiteX3" fmla="*/ 0 w 376518"/>
              <a:gd name="connsiteY3" fmla="*/ 0 h 147918"/>
            </a:gdLst>
            <a:ahLst/>
            <a:cxnLst>
              <a:cxn ang="0">
                <a:pos x="connsiteX0" y="connsiteY0"/>
              </a:cxn>
              <a:cxn ang="0">
                <a:pos x="connsiteX1" y="connsiteY1"/>
              </a:cxn>
              <a:cxn ang="0">
                <a:pos x="connsiteX2" y="connsiteY2"/>
              </a:cxn>
              <a:cxn ang="0">
                <a:pos x="connsiteX3" y="connsiteY3"/>
              </a:cxn>
            </a:cxnLst>
            <a:rect l="l" t="t" r="r" b="b"/>
            <a:pathLst>
              <a:path w="376518" h="147918">
                <a:moveTo>
                  <a:pt x="0" y="0"/>
                </a:moveTo>
                <a:lnTo>
                  <a:pt x="376518" y="0"/>
                </a:lnTo>
                <a:lnTo>
                  <a:pt x="376518" y="147918"/>
                </a:lnTo>
                <a:lnTo>
                  <a:pt x="0"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Organigramme : Processus 21"/>
          <p:cNvSpPr/>
          <p:nvPr userDrawn="1"/>
        </p:nvSpPr>
        <p:spPr>
          <a:xfrm>
            <a:off x="330911" y="443528"/>
            <a:ext cx="2034730" cy="792088"/>
          </a:xfrm>
          <a:prstGeom prst="flowChartProcess">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22"/>
          <p:cNvCxnSpPr/>
          <p:nvPr userDrawn="1"/>
        </p:nvCxnSpPr>
        <p:spPr>
          <a:xfrm>
            <a:off x="978983" y="587544"/>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ZoneTexte 23"/>
          <p:cNvSpPr txBox="1"/>
          <p:nvPr userDrawn="1"/>
        </p:nvSpPr>
        <p:spPr>
          <a:xfrm>
            <a:off x="1129859" y="459290"/>
            <a:ext cx="383170" cy="707886"/>
          </a:xfrm>
          <a:prstGeom prst="rect">
            <a:avLst/>
          </a:prstGeom>
          <a:noFill/>
        </p:spPr>
        <p:txBody>
          <a:bodyPr wrap="square" rtlCol="0">
            <a:spAutoFit/>
          </a:bodyPr>
          <a:lstStyle/>
          <a:p>
            <a:r>
              <a:rPr lang="fr-FR" sz="4000" dirty="0"/>
              <a:t>H</a:t>
            </a:r>
          </a:p>
        </p:txBody>
      </p:sp>
      <p:sp>
        <p:nvSpPr>
          <p:cNvPr id="25" name="ZoneTexte 24"/>
          <p:cNvSpPr txBox="1"/>
          <p:nvPr userDrawn="1"/>
        </p:nvSpPr>
        <p:spPr>
          <a:xfrm>
            <a:off x="1861118" y="469338"/>
            <a:ext cx="383170" cy="707886"/>
          </a:xfrm>
          <a:prstGeom prst="rect">
            <a:avLst/>
          </a:prstGeom>
          <a:noFill/>
        </p:spPr>
        <p:txBody>
          <a:bodyPr wrap="square" rtlCol="0">
            <a:spAutoFit/>
          </a:bodyPr>
          <a:lstStyle/>
          <a:p>
            <a:r>
              <a:rPr lang="fr-FR" sz="4000" b="1" dirty="0">
                <a:solidFill>
                  <a:schemeClr val="accent2">
                    <a:lumMod val="75000"/>
                  </a:schemeClr>
                </a:solidFill>
              </a:rPr>
              <a:t>S</a:t>
            </a:r>
          </a:p>
        </p:txBody>
      </p:sp>
      <p:sp>
        <p:nvSpPr>
          <p:cNvPr id="26" name="ZoneTexte 25"/>
          <p:cNvSpPr txBox="1"/>
          <p:nvPr userDrawn="1"/>
        </p:nvSpPr>
        <p:spPr>
          <a:xfrm>
            <a:off x="467544" y="467252"/>
            <a:ext cx="383170" cy="707886"/>
          </a:xfrm>
          <a:prstGeom prst="rect">
            <a:avLst/>
          </a:prstGeom>
          <a:noFill/>
        </p:spPr>
        <p:txBody>
          <a:bodyPr wrap="square" rtlCol="0">
            <a:spAutoFit/>
          </a:bodyPr>
          <a:lstStyle/>
          <a:p>
            <a:r>
              <a:rPr lang="fr-FR" sz="4000" dirty="0" smtClean="0"/>
              <a:t>E</a:t>
            </a:r>
            <a:endParaRPr lang="fr-FR" sz="4000" dirty="0"/>
          </a:p>
        </p:txBody>
      </p:sp>
      <p:cxnSp>
        <p:nvCxnSpPr>
          <p:cNvPr id="27" name="Connecteur droit 26"/>
          <p:cNvCxnSpPr/>
          <p:nvPr userDrawn="1"/>
        </p:nvCxnSpPr>
        <p:spPr>
          <a:xfrm>
            <a:off x="1699063" y="587544"/>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Pentagone 27"/>
          <p:cNvSpPr/>
          <p:nvPr userDrawn="1"/>
        </p:nvSpPr>
        <p:spPr>
          <a:xfrm>
            <a:off x="318238" y="732766"/>
            <a:ext cx="115686" cy="214818"/>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Image 28"/>
          <p:cNvPicPr>
            <a:picLocks noChangeAspect="1"/>
          </p:cNvPicPr>
          <p:nvPr userDrawn="1"/>
        </p:nvPicPr>
        <p:blipFill>
          <a:blip r:embed="rId7">
            <a:duotone>
              <a:schemeClr val="accent2">
                <a:shade val="45000"/>
                <a:satMod val="135000"/>
              </a:schemeClr>
              <a:prstClr val="white"/>
            </a:duotone>
            <a:extLst>
              <a:ext uri="{BEBA8EAE-BF5A-486C-A8C5-ECC9F3942E4B}">
                <a14:imgProps xmlns:a14="http://schemas.microsoft.com/office/drawing/2010/main">
                  <a14:imgLayer r:embed="rId8">
                    <a14:imgEffect>
                      <a14:artisticGlowEdges/>
                    </a14:imgEffect>
                  </a14:imgLayer>
                </a14:imgProps>
              </a:ext>
              <a:ext uri="{28A0092B-C50C-407E-A947-70E740481C1C}">
                <a14:useLocalDpi xmlns:a14="http://schemas.microsoft.com/office/drawing/2010/main" val="0"/>
              </a:ext>
            </a:extLst>
          </a:blip>
          <a:stretch>
            <a:fillRect/>
          </a:stretch>
        </p:blipFill>
        <p:spPr>
          <a:xfrm>
            <a:off x="1636484" y="33248"/>
            <a:ext cx="837236" cy="563523"/>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6974904" y="6466712"/>
            <a:ext cx="2133600" cy="365125"/>
          </a:xfrm>
        </p:spPr>
        <p:txBody>
          <a:bodyPr/>
          <a:lstStyle/>
          <a:p>
            <a:fld id="{CF4668DC-857F-487D-BFFA-8C0CA5037977}" type="slidenum">
              <a:rPr lang="fr-BE" smtClean="0"/>
              <a:t>‹N°›</a:t>
            </a:fld>
            <a:endParaRPr lang="fr-BE"/>
          </a:p>
        </p:txBody>
      </p:sp>
      <p:sp>
        <p:nvSpPr>
          <p:cNvPr id="7" name="Content Placeholder 2"/>
          <p:cNvSpPr>
            <a:spLocks noGrp="1"/>
          </p:cNvSpPr>
          <p:nvPr>
            <p:ph idx="1"/>
          </p:nvPr>
        </p:nvSpPr>
        <p:spPr>
          <a:xfrm>
            <a:off x="457200" y="1600200"/>
            <a:ext cx="8229600" cy="4525963"/>
          </a:xfrm>
        </p:spPr>
        <p:txBody>
          <a:bodyPr/>
          <a:lstStyle>
            <a:lvl1pPr>
              <a:defRPr sz="2200">
                <a:solidFill>
                  <a:schemeClr val="accent2">
                    <a:lumMod val="75000"/>
                  </a:schemeClr>
                </a:solidFill>
                <a:latin typeface="Calibri" panose="020F0502020204030204" pitchFamily="34" charset="0"/>
              </a:defRPr>
            </a:lvl1pPr>
            <a:lvl2pPr marL="742950" indent="-285750">
              <a:buClr>
                <a:schemeClr val="accent2">
                  <a:lumMod val="75000"/>
                </a:schemeClr>
              </a:buClr>
              <a:buFont typeface="Wingdings" panose="05000000000000000000" pitchFamily="2" charset="2"/>
              <a:buChar char="§"/>
              <a:defRPr sz="1300">
                <a:solidFill>
                  <a:schemeClr val="tx1"/>
                </a:solidFill>
                <a:latin typeface="Calibri" panose="020F0502020204030204" pitchFamily="34" charset="0"/>
              </a:defRPr>
            </a:lvl2pPr>
            <a:lvl3pPr>
              <a:buClr>
                <a:schemeClr val="accent2">
                  <a:lumMod val="75000"/>
                </a:schemeClr>
              </a:buClr>
              <a:defRPr sz="1300">
                <a:solidFill>
                  <a:schemeClr val="tx1"/>
                </a:solidFill>
                <a:latin typeface="Calibri" panose="020F0502020204030204" pitchFamily="34" charset="0"/>
              </a:defRPr>
            </a:lvl3pPr>
            <a:lvl4pPr>
              <a:buClr>
                <a:schemeClr val="accent2">
                  <a:lumMod val="75000"/>
                </a:schemeClr>
              </a:buClr>
              <a:defRPr sz="1300">
                <a:solidFill>
                  <a:schemeClr val="tx1"/>
                </a:solidFill>
                <a:latin typeface="Calibri" panose="020F0502020204030204" pitchFamily="34" charset="0"/>
              </a:defRPr>
            </a:lvl4pPr>
            <a:lvl5pPr>
              <a:buClr>
                <a:schemeClr val="accent2">
                  <a:lumMod val="75000"/>
                </a:schemeClr>
              </a:buClr>
              <a:defRPr sz="1300">
                <a:solidFill>
                  <a:schemeClr val="tx1"/>
                </a:solidFill>
                <a:latin typeface="Calibri" panose="020F0502020204030204" pitchFamily="34" charset="0"/>
              </a:defRPr>
            </a:lvl5p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en-US" dirty="0"/>
          </a:p>
        </p:txBody>
      </p:sp>
      <p:sp>
        <p:nvSpPr>
          <p:cNvPr id="8" name="Title 1"/>
          <p:cNvSpPr>
            <a:spLocks noGrp="1"/>
          </p:cNvSpPr>
          <p:nvPr>
            <p:ph type="title" hasCustomPrompt="1"/>
          </p:nvPr>
        </p:nvSpPr>
        <p:spPr>
          <a:xfrm>
            <a:off x="457200" y="53752"/>
            <a:ext cx="8229600" cy="638944"/>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smtClean="0"/>
              <a:t>MODIFIEZ LE STYLE DU TITRE</a:t>
            </a:r>
            <a:endParaRPr lang="en-US" dirty="0"/>
          </a:p>
        </p:txBody>
      </p:sp>
      <p:sp>
        <p:nvSpPr>
          <p:cNvPr id="9" name="Organigramme : Processus 8"/>
          <p:cNvSpPr/>
          <p:nvPr userDrawn="1"/>
        </p:nvSpPr>
        <p:spPr>
          <a:xfrm>
            <a:off x="-1903" y="785439"/>
            <a:ext cx="9145905" cy="215800"/>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userDrawn="1"/>
        </p:nvSpPr>
        <p:spPr>
          <a:xfrm rot="21419042">
            <a:off x="7266383" y="821609"/>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rot="21339805">
            <a:off x="8343464" y="753882"/>
            <a:ext cx="867353" cy="338554"/>
          </a:xfrm>
          <a:prstGeom prst="rect">
            <a:avLst/>
          </a:prstGeom>
        </p:spPr>
        <p:txBody>
          <a:bodyPr wrap="none">
            <a:spAutoFit/>
          </a:bodyPr>
          <a:lstStyle/>
          <a:p>
            <a:r>
              <a:rPr lang="fr-FR" sz="1600" b="1" i="1" dirty="0" smtClean="0">
                <a:solidFill>
                  <a:prstClr val="white"/>
                </a:solidFill>
              </a:rPr>
              <a:t>Sécurité</a:t>
            </a:r>
            <a:endParaRPr lang="fr-FR" sz="1600" b="1"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6994634" y="6480223"/>
            <a:ext cx="2133600" cy="365125"/>
          </a:xfrm>
        </p:spPr>
        <p:txBody>
          <a:bodyPr/>
          <a:lstStyle/>
          <a:p>
            <a:fld id="{CF4668DC-857F-487D-BFFA-8C0CA5037977}" type="slidenum">
              <a:rPr lang="fr-BE" smtClean="0"/>
              <a:t>‹N°›</a:t>
            </a:fld>
            <a:endParaRPr lang="fr-BE"/>
          </a:p>
        </p:txBody>
      </p:sp>
      <p:sp>
        <p:nvSpPr>
          <p:cNvPr id="7" name="Title 1"/>
          <p:cNvSpPr>
            <a:spLocks noGrp="1"/>
          </p:cNvSpPr>
          <p:nvPr>
            <p:ph type="ctrTitle"/>
          </p:nvPr>
        </p:nvSpPr>
        <p:spPr>
          <a:xfrm>
            <a:off x="685800" y="2679055"/>
            <a:ext cx="7772400" cy="1470025"/>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smtClean="0"/>
              <a:t>Modifiez le style du titre</a:t>
            </a:r>
            <a:endParaRPr lang="en-US" dirty="0"/>
          </a:p>
        </p:txBody>
      </p:sp>
      <p:sp>
        <p:nvSpPr>
          <p:cNvPr id="8" name="Subtitle 2"/>
          <p:cNvSpPr>
            <a:spLocks noGrp="1"/>
          </p:cNvSpPr>
          <p:nvPr>
            <p:ph type="subTitle" idx="1"/>
          </p:nvPr>
        </p:nvSpPr>
        <p:spPr>
          <a:xfrm>
            <a:off x="1371600" y="3886200"/>
            <a:ext cx="6400800" cy="17526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smtClean="0"/>
              <a:t>Modifiez le style des sous-titres du masque</a:t>
            </a:r>
            <a:endParaRPr lang="en-US" dirty="0"/>
          </a:p>
        </p:txBody>
      </p:sp>
      <p:sp>
        <p:nvSpPr>
          <p:cNvPr id="12" name="Organigramme : Processus 11"/>
          <p:cNvSpPr/>
          <p:nvPr userDrawn="1"/>
        </p:nvSpPr>
        <p:spPr>
          <a:xfrm>
            <a:off x="-1903" y="785439"/>
            <a:ext cx="9145905" cy="215800"/>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p:cNvSpPr/>
          <p:nvPr userDrawn="1"/>
        </p:nvSpPr>
        <p:spPr>
          <a:xfrm rot="21419042">
            <a:off x="7266383" y="821609"/>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userDrawn="1"/>
        </p:nvSpPr>
        <p:spPr>
          <a:xfrm rot="21339805">
            <a:off x="8343464" y="753882"/>
            <a:ext cx="867353" cy="338554"/>
          </a:xfrm>
          <a:prstGeom prst="rect">
            <a:avLst/>
          </a:prstGeom>
        </p:spPr>
        <p:txBody>
          <a:bodyPr wrap="none">
            <a:spAutoFit/>
          </a:bodyPr>
          <a:lstStyle/>
          <a:p>
            <a:r>
              <a:rPr lang="fr-FR" sz="1600" b="1" i="1" dirty="0" smtClean="0">
                <a:solidFill>
                  <a:prstClr val="white"/>
                </a:solidFill>
              </a:rPr>
              <a:t>Sécurité</a:t>
            </a:r>
            <a:endParaRPr lang="fr-FR" sz="1600" b="1"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6994634" y="6471277"/>
            <a:ext cx="2133600" cy="365125"/>
          </a:xfrm>
        </p:spPr>
        <p:txBody>
          <a:bodyPr/>
          <a:lstStyle/>
          <a:p>
            <a:fld id="{CF4668DC-857F-487D-BFFA-8C0CA5037977}" type="slidenum">
              <a:rPr lang="fr-BE" smtClean="0"/>
              <a:t>‹N°›</a:t>
            </a:fld>
            <a:endParaRPr lang="fr-BE"/>
          </a:p>
        </p:txBody>
      </p:sp>
      <p:sp>
        <p:nvSpPr>
          <p:cNvPr id="5" name="Organigramme : Processus 4"/>
          <p:cNvSpPr/>
          <p:nvPr userDrawn="1"/>
        </p:nvSpPr>
        <p:spPr>
          <a:xfrm>
            <a:off x="-1903" y="785439"/>
            <a:ext cx="9145905" cy="215800"/>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Rectangle 5"/>
          <p:cNvSpPr/>
          <p:nvPr userDrawn="1"/>
        </p:nvSpPr>
        <p:spPr>
          <a:xfrm rot="21419042">
            <a:off x="7266383" y="821609"/>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userDrawn="1"/>
        </p:nvSpPr>
        <p:spPr>
          <a:xfrm rot="21339805">
            <a:off x="8343464" y="753882"/>
            <a:ext cx="867353" cy="338554"/>
          </a:xfrm>
          <a:prstGeom prst="rect">
            <a:avLst/>
          </a:prstGeom>
        </p:spPr>
        <p:txBody>
          <a:bodyPr wrap="none">
            <a:spAutoFit/>
          </a:bodyPr>
          <a:lstStyle/>
          <a:p>
            <a:r>
              <a:rPr lang="fr-FR" sz="1600" b="1" i="1" dirty="0" smtClean="0">
                <a:solidFill>
                  <a:prstClr val="white"/>
                </a:solidFill>
              </a:rPr>
              <a:t>Sécurité</a:t>
            </a:r>
            <a:endParaRPr lang="fr-FR" sz="1600" b="1" dirty="0"/>
          </a:p>
        </p:txBody>
      </p:sp>
      <p:sp>
        <p:nvSpPr>
          <p:cNvPr id="8" name="Title 1"/>
          <p:cNvSpPr>
            <a:spLocks noGrp="1"/>
          </p:cNvSpPr>
          <p:nvPr>
            <p:ph type="title" hasCustomPrompt="1"/>
          </p:nvPr>
        </p:nvSpPr>
        <p:spPr>
          <a:xfrm>
            <a:off x="457200" y="18746"/>
            <a:ext cx="8229600" cy="638944"/>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smtClean="0"/>
              <a:t>MODIFIEZ LE STYLE DU TITRE</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0929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t>28/08/2017</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REGISTRE DES SOINS</a:t>
            </a:r>
            <a:endParaRPr lang="fr-FR" dirty="0"/>
          </a:p>
        </p:txBody>
      </p:sp>
      <p:sp>
        <p:nvSpPr>
          <p:cNvPr id="3" name="Sous-titre 2"/>
          <p:cNvSpPr>
            <a:spLocks noGrp="1"/>
          </p:cNvSpPr>
          <p:nvPr>
            <p:ph type="subTitle" idx="1"/>
          </p:nvPr>
        </p:nvSpPr>
        <p:spPr/>
        <p:txBody>
          <a:bodyPr/>
          <a:lstStyle/>
          <a:p>
            <a:r>
              <a:rPr lang="fr-FR" dirty="0" smtClean="0"/>
              <a:t>Entité :</a:t>
            </a:r>
          </a:p>
          <a:p>
            <a:r>
              <a:rPr lang="fr-FR" dirty="0" smtClean="0"/>
              <a:t>Agence :</a:t>
            </a:r>
          </a:p>
          <a:p>
            <a:r>
              <a:rPr lang="fr-FR" dirty="0" smtClean="0"/>
              <a:t>Année :  </a:t>
            </a:r>
            <a:endParaRPr lang="fr-FR" dirty="0"/>
          </a:p>
        </p:txBody>
      </p:sp>
      <p:sp>
        <p:nvSpPr>
          <p:cNvPr id="4" name="ZoneTexte 3"/>
          <p:cNvSpPr txBox="1"/>
          <p:nvPr/>
        </p:nvSpPr>
        <p:spPr>
          <a:xfrm>
            <a:off x="6732240" y="549260"/>
            <a:ext cx="2411760" cy="215444"/>
          </a:xfrm>
          <a:prstGeom prst="rect">
            <a:avLst/>
          </a:prstGeom>
          <a:noFill/>
        </p:spPr>
        <p:txBody>
          <a:bodyPr wrap="square" rtlCol="0">
            <a:spAutoFit/>
          </a:bodyPr>
          <a:lstStyle/>
          <a:p>
            <a:pPr algn="r"/>
            <a:r>
              <a:rPr lang="fr-FR" sz="800" i="1" dirty="0" smtClean="0"/>
              <a:t>FOR FS 007 – Version 1 du 13/06/2017</a:t>
            </a:r>
            <a:endParaRPr lang="fr-FR" sz="800" i="1" dirty="0"/>
          </a:p>
        </p:txBody>
      </p:sp>
    </p:spTree>
    <p:extLst>
      <p:ext uri="{BB962C8B-B14F-4D97-AF65-F5344CB8AC3E}">
        <p14:creationId xmlns:p14="http://schemas.microsoft.com/office/powerpoint/2010/main" val="2922791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t>Registre des soins</a:t>
            </a:r>
            <a:endParaRPr lang="fr-FR" dirty="0"/>
          </a:p>
        </p:txBody>
      </p:sp>
      <p:sp>
        <p:nvSpPr>
          <p:cNvPr id="9" name="Rectangle 8"/>
          <p:cNvSpPr/>
          <p:nvPr/>
        </p:nvSpPr>
        <p:spPr>
          <a:xfrm>
            <a:off x="179512" y="1052736"/>
            <a:ext cx="8964488" cy="830997"/>
          </a:xfrm>
          <a:prstGeom prst="rect">
            <a:avLst/>
          </a:prstGeom>
        </p:spPr>
        <p:txBody>
          <a:bodyPr wrap="square">
            <a:spAutoFit/>
          </a:bodyPr>
          <a:lstStyle/>
          <a:p>
            <a:r>
              <a:rPr lang="fr-FR" sz="1200" dirty="0"/>
              <a:t>Les sauveteurs secouriste du travail de l’agence ou l’équipe d’encadrement doivent renseigner ce registre lors de tout soin prodigué en agence ou sur le terrain via une trousse de secours, ou lors de tout accident bénin ne nécessitant pas de prise en charge médicale externe. En cas de déclaration d’accident, même tardive, d’un salarié suite à un soin inscrit sur ce registre, le salarié pourra faire valoir ses droits auprès de la </a:t>
            </a:r>
            <a:r>
              <a:rPr lang="fr-FR" sz="1200" dirty="0" smtClean="0"/>
              <a:t>CPAM. Toute information inscrite dans ce registre doit être transmise au Responsable EHS immédiatement.</a:t>
            </a:r>
            <a:endParaRPr lang="fr-FR" sz="1200" dirty="0"/>
          </a:p>
        </p:txBody>
      </p:sp>
      <p:graphicFrame>
        <p:nvGraphicFramePr>
          <p:cNvPr id="11" name="Tableau 10"/>
          <p:cNvGraphicFramePr>
            <a:graphicFrameLocks noGrp="1"/>
          </p:cNvGraphicFramePr>
          <p:nvPr>
            <p:extLst>
              <p:ext uri="{D42A27DB-BD31-4B8C-83A1-F6EECF244321}">
                <p14:modId xmlns:p14="http://schemas.microsoft.com/office/powerpoint/2010/main" val="2811140862"/>
              </p:ext>
            </p:extLst>
          </p:nvPr>
        </p:nvGraphicFramePr>
        <p:xfrm>
          <a:off x="179512" y="1891276"/>
          <a:ext cx="8884264" cy="4706076"/>
        </p:xfrm>
        <a:graphic>
          <a:graphicData uri="http://schemas.openxmlformats.org/drawingml/2006/table">
            <a:tbl>
              <a:tblPr firstRow="1" firstCol="1" lastRow="1" lastCol="1" bandRow="1" bandCol="1"/>
              <a:tblGrid>
                <a:gridCol w="648072"/>
                <a:gridCol w="864096"/>
                <a:gridCol w="981639"/>
                <a:gridCol w="1215157"/>
                <a:gridCol w="1509462"/>
                <a:gridCol w="1478318"/>
                <a:gridCol w="648072"/>
                <a:gridCol w="648072"/>
                <a:gridCol w="891376"/>
              </a:tblGrid>
              <a:tr h="581380">
                <a:tc>
                  <a:txBody>
                    <a:bodyPr/>
                    <a:lstStyle/>
                    <a:p>
                      <a:pPr algn="ctr">
                        <a:spcAft>
                          <a:spcPts val="0"/>
                        </a:spcAft>
                      </a:pPr>
                      <a:r>
                        <a:rPr lang="fr-FR" sz="900" b="1" dirty="0">
                          <a:solidFill>
                            <a:srgbClr val="943634"/>
                          </a:solidFill>
                          <a:effectLst/>
                          <a:latin typeface="+mj-lt"/>
                          <a:ea typeface="Times New Roman"/>
                        </a:rPr>
                        <a:t>Date du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Nom du blessé</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Lieu du soin</a:t>
                      </a:r>
                      <a:endParaRPr lang="fr-FR" sz="900" b="1" dirty="0">
                        <a:effectLst/>
                        <a:latin typeface="+mj-lt"/>
                        <a:ea typeface="Times New Roman"/>
                      </a:endParaRPr>
                    </a:p>
                    <a:p>
                      <a:pPr algn="ctr">
                        <a:spcAft>
                          <a:spcPts val="0"/>
                        </a:spcAft>
                      </a:pPr>
                      <a:r>
                        <a:rPr lang="fr-FR" sz="900" dirty="0">
                          <a:solidFill>
                            <a:srgbClr val="943634"/>
                          </a:solidFill>
                          <a:effectLst/>
                          <a:latin typeface="+mj-lt"/>
                          <a:ea typeface="Times New Roman"/>
                        </a:rPr>
                        <a:t>(Nom du client et ville)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Nature de la blessure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(EX : Coupure main gauche, hématome cheville gauche….)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Circonstances</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(Comment la victime s’est blessée ?)</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Soins prodigués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(Eléments de la trousse à pharmacie ou de l’infirmerie du client utilisés</a:t>
                      </a:r>
                      <a:r>
                        <a:rPr lang="fr-FR" sz="900" dirty="0" smtClean="0">
                          <a:solidFill>
                            <a:srgbClr val="943634"/>
                          </a:solidFill>
                          <a:effectLst/>
                          <a:latin typeface="+mj-lt"/>
                          <a:ea typeface="Times New Roman"/>
                        </a:rPr>
                        <a:t>) + personne ayant prodigué</a:t>
                      </a:r>
                      <a:r>
                        <a:rPr lang="fr-FR" sz="900" baseline="0" dirty="0" smtClean="0">
                          <a:solidFill>
                            <a:srgbClr val="943634"/>
                          </a:solidFill>
                          <a:effectLst/>
                          <a:latin typeface="+mj-lt"/>
                          <a:ea typeface="Times New Roman"/>
                        </a:rPr>
                        <a:t> le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du blessé</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de la personne ayant rempli</a:t>
                      </a:r>
                      <a:r>
                        <a:rPr lang="fr-FR" sz="900" b="1" baseline="0" dirty="0" smtClean="0">
                          <a:solidFill>
                            <a:schemeClr val="accent2">
                              <a:lumMod val="75000"/>
                            </a:schemeClr>
                          </a:solidFill>
                          <a:effectLst/>
                          <a:latin typeface="+mj-lt"/>
                          <a:ea typeface="Times New Roman"/>
                        </a:rPr>
                        <a:t> le registre</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Information transmise au REHS</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baseline="0" dirty="0" smtClean="0">
                        <a:effectLst/>
                        <a:latin typeface="+mj-lt"/>
                        <a:ea typeface="Times New Roman"/>
                        <a:sym typeface="Wingdings"/>
                      </a:endParaRPr>
                    </a:p>
                    <a:p>
                      <a:pPr marL="171450" indent="-171450" algn="ctr">
                        <a:spcAft>
                          <a:spcPts val="0"/>
                        </a:spcAft>
                        <a:buFont typeface="Wingdings" pitchFamily="2" charset="2"/>
                        <a:buChar char="o"/>
                      </a:pPr>
                      <a:r>
                        <a:rPr lang="fr-FR" sz="1050" baseline="0" dirty="0" smtClean="0">
                          <a:effectLst/>
                          <a:latin typeface="+mj-lt"/>
                          <a:ea typeface="Times New Roman"/>
                          <a:sym typeface="Wingdings"/>
                        </a:rPr>
                        <a:t>Oui</a:t>
                      </a:r>
                    </a:p>
                    <a:p>
                      <a:pPr marL="0" indent="0" algn="ctr">
                        <a:spcAft>
                          <a:spcPts val="0"/>
                        </a:spcAft>
                        <a:buFont typeface="Wingdings" pitchFamily="2" charset="2"/>
                        <a:buNone/>
                      </a:pPr>
                      <a:endParaRPr lang="fr-FR" sz="1050" dirty="0" smtClean="0">
                        <a:effectLst/>
                        <a:latin typeface="+mj-lt"/>
                        <a:ea typeface="Times New Roman"/>
                        <a:sym typeface="Wingdings"/>
                      </a:endParaRPr>
                    </a:p>
                    <a:p>
                      <a:pPr algn="ctr">
                        <a:spcAft>
                          <a:spcPts val="0"/>
                        </a:spcAft>
                      </a:pPr>
                      <a:r>
                        <a:rPr lang="fr-FR" sz="1050" dirty="0" smtClean="0">
                          <a:effectLst/>
                          <a:latin typeface="+mj-lt"/>
                          <a:ea typeface="Times New Roman"/>
                          <a:sym typeface="Wingdings"/>
                        </a:rPr>
                        <a:t> Non</a:t>
                      </a:r>
                      <a:endParaRPr lang="fr-FR" sz="1050" dirty="0">
                        <a:effectLst/>
                        <a:latin typeface="+mj-lt"/>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ZoneTexte 11"/>
          <p:cNvSpPr txBox="1"/>
          <p:nvPr/>
        </p:nvSpPr>
        <p:spPr>
          <a:xfrm>
            <a:off x="6732240" y="549260"/>
            <a:ext cx="2411760" cy="215444"/>
          </a:xfrm>
          <a:prstGeom prst="rect">
            <a:avLst/>
          </a:prstGeom>
          <a:noFill/>
        </p:spPr>
        <p:txBody>
          <a:bodyPr wrap="square" rtlCol="0">
            <a:spAutoFit/>
          </a:bodyPr>
          <a:lstStyle/>
          <a:p>
            <a:pPr algn="r"/>
            <a:r>
              <a:rPr lang="fr-FR" sz="800" i="1" dirty="0" smtClean="0"/>
              <a:t>FOR FS 007 – Version 1 du 13/06/2017</a:t>
            </a:r>
            <a:endParaRPr lang="fr-FR" sz="800" i="1" dirty="0"/>
          </a:p>
        </p:txBody>
      </p:sp>
      <p:sp>
        <p:nvSpPr>
          <p:cNvPr id="13" name="ZoneTexte 12"/>
          <p:cNvSpPr txBox="1"/>
          <p:nvPr/>
        </p:nvSpPr>
        <p:spPr>
          <a:xfrm>
            <a:off x="32489" y="6581001"/>
            <a:ext cx="3456384" cy="276999"/>
          </a:xfrm>
          <a:prstGeom prst="rect">
            <a:avLst/>
          </a:prstGeom>
          <a:noFill/>
        </p:spPr>
        <p:txBody>
          <a:bodyPr wrap="square" rtlCol="0">
            <a:spAutoFit/>
          </a:bodyPr>
          <a:lstStyle/>
          <a:p>
            <a:r>
              <a:rPr lang="fr-FR" sz="1200" dirty="0" smtClean="0"/>
              <a:t>Page : </a:t>
            </a:r>
            <a:fld id="{06AF9771-BA74-46E8-9098-0905B630E610}" type="slidenum">
              <a:rPr lang="fr-FR" sz="1200" smtClean="0"/>
              <a:t>2</a:t>
            </a:fld>
            <a:r>
              <a:rPr lang="fr-FR" sz="1200" dirty="0" smtClean="0"/>
              <a:t>/6</a:t>
            </a:r>
            <a:endParaRPr lang="fr-FR" sz="1200" dirty="0"/>
          </a:p>
        </p:txBody>
      </p:sp>
    </p:spTree>
    <p:extLst>
      <p:ext uri="{BB962C8B-B14F-4D97-AF65-F5344CB8AC3E}">
        <p14:creationId xmlns:p14="http://schemas.microsoft.com/office/powerpoint/2010/main" val="1125248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t>Registre des soins</a:t>
            </a:r>
            <a:endParaRPr lang="fr-FR" dirty="0"/>
          </a:p>
        </p:txBody>
      </p:sp>
      <p:sp>
        <p:nvSpPr>
          <p:cNvPr id="9" name="Rectangle 8"/>
          <p:cNvSpPr/>
          <p:nvPr/>
        </p:nvSpPr>
        <p:spPr>
          <a:xfrm>
            <a:off x="179512" y="1052736"/>
            <a:ext cx="8964488" cy="830997"/>
          </a:xfrm>
          <a:prstGeom prst="rect">
            <a:avLst/>
          </a:prstGeom>
        </p:spPr>
        <p:txBody>
          <a:bodyPr wrap="square">
            <a:spAutoFit/>
          </a:bodyPr>
          <a:lstStyle/>
          <a:p>
            <a:r>
              <a:rPr lang="fr-FR" sz="1200" dirty="0"/>
              <a:t>Les sauveteurs secouriste du travail de l’agence ou l’équipe d’encadrement doivent renseigner ce registre lors de tout soin prodigué en agence ou sur le terrain via une trousse de secours, ou lors de tout accident bénin ne nécessitant pas de prise en charge médicale externe. En cas de déclaration d’accident, même tardive, d’un salarié suite à un soin inscrit sur ce registre, le salarié pourra faire valoir ses droits auprès de la </a:t>
            </a:r>
            <a:r>
              <a:rPr lang="fr-FR" sz="1200" dirty="0" smtClean="0"/>
              <a:t>CPAM. Toute information inscrite dans ce registre doit être transmise au Responsable EHS immédiatement.</a:t>
            </a:r>
            <a:endParaRPr lang="fr-FR" sz="1200" dirty="0"/>
          </a:p>
        </p:txBody>
      </p:sp>
      <p:graphicFrame>
        <p:nvGraphicFramePr>
          <p:cNvPr id="11" name="Tableau 10"/>
          <p:cNvGraphicFramePr>
            <a:graphicFrameLocks noGrp="1"/>
          </p:cNvGraphicFramePr>
          <p:nvPr>
            <p:extLst>
              <p:ext uri="{D42A27DB-BD31-4B8C-83A1-F6EECF244321}">
                <p14:modId xmlns:p14="http://schemas.microsoft.com/office/powerpoint/2010/main" val="3276054271"/>
              </p:ext>
            </p:extLst>
          </p:nvPr>
        </p:nvGraphicFramePr>
        <p:xfrm>
          <a:off x="179512" y="1891276"/>
          <a:ext cx="8884264" cy="4706076"/>
        </p:xfrm>
        <a:graphic>
          <a:graphicData uri="http://schemas.openxmlformats.org/drawingml/2006/table">
            <a:tbl>
              <a:tblPr firstRow="1" firstCol="1" lastRow="1" lastCol="1" bandRow="1" bandCol="1"/>
              <a:tblGrid>
                <a:gridCol w="648072"/>
                <a:gridCol w="864096"/>
                <a:gridCol w="981639"/>
                <a:gridCol w="1215157"/>
                <a:gridCol w="1509462"/>
                <a:gridCol w="1478318"/>
                <a:gridCol w="648072"/>
                <a:gridCol w="648072"/>
                <a:gridCol w="891376"/>
              </a:tblGrid>
              <a:tr h="581380">
                <a:tc>
                  <a:txBody>
                    <a:bodyPr/>
                    <a:lstStyle/>
                    <a:p>
                      <a:pPr algn="ctr">
                        <a:spcAft>
                          <a:spcPts val="0"/>
                        </a:spcAft>
                      </a:pPr>
                      <a:r>
                        <a:rPr lang="fr-FR" sz="900" b="1" dirty="0">
                          <a:solidFill>
                            <a:srgbClr val="943634"/>
                          </a:solidFill>
                          <a:effectLst/>
                          <a:latin typeface="+mj-lt"/>
                          <a:ea typeface="Times New Roman"/>
                        </a:rPr>
                        <a:t>Date du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Nom du blessé</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Lieu du soin</a:t>
                      </a:r>
                      <a:endParaRPr lang="fr-FR" sz="900" b="1" dirty="0">
                        <a:effectLst/>
                        <a:latin typeface="+mj-lt"/>
                        <a:ea typeface="Times New Roman"/>
                      </a:endParaRPr>
                    </a:p>
                    <a:p>
                      <a:pPr algn="ctr">
                        <a:spcAft>
                          <a:spcPts val="0"/>
                        </a:spcAft>
                      </a:pPr>
                      <a:r>
                        <a:rPr lang="fr-FR" sz="900" dirty="0">
                          <a:solidFill>
                            <a:srgbClr val="943634"/>
                          </a:solidFill>
                          <a:effectLst/>
                          <a:latin typeface="+mj-lt"/>
                          <a:ea typeface="Times New Roman"/>
                        </a:rPr>
                        <a:t>(Nom du client et ville)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Nature de la blessure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(EX : Coupure main gauche, hématome cheville gauche….)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Circonstances</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(Comment la victime s’est blessée ?)</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Soins prodigués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(Eléments de la trousse à pharmacie ou de l’infirmerie du client utilisés</a:t>
                      </a:r>
                      <a:r>
                        <a:rPr lang="fr-FR" sz="900" dirty="0" smtClean="0">
                          <a:solidFill>
                            <a:srgbClr val="943634"/>
                          </a:solidFill>
                          <a:effectLst/>
                          <a:latin typeface="+mj-lt"/>
                          <a:ea typeface="Times New Roman"/>
                        </a:rPr>
                        <a:t>) + personne ayant prodigué</a:t>
                      </a:r>
                      <a:r>
                        <a:rPr lang="fr-FR" sz="900" baseline="0" dirty="0" smtClean="0">
                          <a:solidFill>
                            <a:srgbClr val="943634"/>
                          </a:solidFill>
                          <a:effectLst/>
                          <a:latin typeface="+mj-lt"/>
                          <a:ea typeface="Times New Roman"/>
                        </a:rPr>
                        <a:t> le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du blessé</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de la personne ayant rempli</a:t>
                      </a:r>
                      <a:r>
                        <a:rPr lang="fr-FR" sz="900" b="1" baseline="0" dirty="0" smtClean="0">
                          <a:solidFill>
                            <a:schemeClr val="accent2">
                              <a:lumMod val="75000"/>
                            </a:schemeClr>
                          </a:solidFill>
                          <a:effectLst/>
                          <a:latin typeface="+mj-lt"/>
                          <a:ea typeface="Times New Roman"/>
                        </a:rPr>
                        <a:t> le registre</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Information transmise au REHS</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baseline="0" dirty="0" smtClean="0">
                        <a:effectLst/>
                        <a:latin typeface="+mj-lt"/>
                        <a:ea typeface="Times New Roman"/>
                        <a:sym typeface="Wingdings"/>
                      </a:endParaRPr>
                    </a:p>
                    <a:p>
                      <a:pPr marL="171450" indent="-171450" algn="ctr">
                        <a:spcAft>
                          <a:spcPts val="0"/>
                        </a:spcAft>
                        <a:buFont typeface="Wingdings" pitchFamily="2" charset="2"/>
                        <a:buChar char="o"/>
                      </a:pPr>
                      <a:r>
                        <a:rPr lang="fr-FR" sz="1050" baseline="0" dirty="0" smtClean="0">
                          <a:effectLst/>
                          <a:latin typeface="+mj-lt"/>
                          <a:ea typeface="Times New Roman"/>
                          <a:sym typeface="Wingdings"/>
                        </a:rPr>
                        <a:t>Oui</a:t>
                      </a:r>
                    </a:p>
                    <a:p>
                      <a:pPr marL="0" indent="0" algn="ctr">
                        <a:spcAft>
                          <a:spcPts val="0"/>
                        </a:spcAft>
                        <a:buFont typeface="Wingdings" pitchFamily="2" charset="2"/>
                        <a:buNone/>
                      </a:pPr>
                      <a:endParaRPr lang="fr-FR" sz="1050" dirty="0" smtClean="0">
                        <a:effectLst/>
                        <a:latin typeface="+mj-lt"/>
                        <a:ea typeface="Times New Roman"/>
                        <a:sym typeface="Wingdings"/>
                      </a:endParaRPr>
                    </a:p>
                    <a:p>
                      <a:pPr algn="ctr">
                        <a:spcAft>
                          <a:spcPts val="0"/>
                        </a:spcAft>
                      </a:pPr>
                      <a:r>
                        <a:rPr lang="fr-FR" sz="1050" dirty="0" smtClean="0">
                          <a:effectLst/>
                          <a:latin typeface="+mj-lt"/>
                          <a:ea typeface="Times New Roman"/>
                          <a:sym typeface="Wingdings"/>
                        </a:rPr>
                        <a:t> Non</a:t>
                      </a:r>
                      <a:endParaRPr lang="fr-FR" sz="1050" dirty="0">
                        <a:effectLst/>
                        <a:latin typeface="+mj-lt"/>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ZoneTexte 11"/>
          <p:cNvSpPr txBox="1"/>
          <p:nvPr/>
        </p:nvSpPr>
        <p:spPr>
          <a:xfrm>
            <a:off x="6732240" y="549260"/>
            <a:ext cx="2411760" cy="215444"/>
          </a:xfrm>
          <a:prstGeom prst="rect">
            <a:avLst/>
          </a:prstGeom>
          <a:noFill/>
        </p:spPr>
        <p:txBody>
          <a:bodyPr wrap="square" rtlCol="0">
            <a:spAutoFit/>
          </a:bodyPr>
          <a:lstStyle/>
          <a:p>
            <a:pPr algn="r"/>
            <a:r>
              <a:rPr lang="fr-FR" sz="800" i="1" dirty="0" smtClean="0"/>
              <a:t>FOR FS 007 – Version 1 du 13/06/2017</a:t>
            </a:r>
            <a:endParaRPr lang="fr-FR" sz="800" i="1" dirty="0"/>
          </a:p>
        </p:txBody>
      </p:sp>
      <p:sp>
        <p:nvSpPr>
          <p:cNvPr id="13" name="ZoneTexte 12"/>
          <p:cNvSpPr txBox="1"/>
          <p:nvPr/>
        </p:nvSpPr>
        <p:spPr>
          <a:xfrm>
            <a:off x="32489" y="6581001"/>
            <a:ext cx="3456384" cy="276999"/>
          </a:xfrm>
          <a:prstGeom prst="rect">
            <a:avLst/>
          </a:prstGeom>
          <a:noFill/>
        </p:spPr>
        <p:txBody>
          <a:bodyPr wrap="square" rtlCol="0">
            <a:spAutoFit/>
          </a:bodyPr>
          <a:lstStyle/>
          <a:p>
            <a:r>
              <a:rPr lang="fr-FR" sz="1200" dirty="0" smtClean="0"/>
              <a:t>Page : </a:t>
            </a:r>
            <a:fld id="{06AF9771-BA74-46E8-9098-0905B630E610}" type="slidenum">
              <a:rPr lang="fr-FR" sz="1200" smtClean="0"/>
              <a:t>3</a:t>
            </a:fld>
            <a:r>
              <a:rPr lang="fr-FR" sz="1200" dirty="0" smtClean="0"/>
              <a:t>/6</a:t>
            </a:r>
            <a:endParaRPr lang="fr-FR" sz="1200" dirty="0"/>
          </a:p>
        </p:txBody>
      </p:sp>
    </p:spTree>
    <p:extLst>
      <p:ext uri="{BB962C8B-B14F-4D97-AF65-F5344CB8AC3E}">
        <p14:creationId xmlns:p14="http://schemas.microsoft.com/office/powerpoint/2010/main" val="2840077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t>Registre des soins</a:t>
            </a:r>
            <a:endParaRPr lang="fr-FR" dirty="0"/>
          </a:p>
        </p:txBody>
      </p:sp>
      <p:sp>
        <p:nvSpPr>
          <p:cNvPr id="9" name="Rectangle 8"/>
          <p:cNvSpPr/>
          <p:nvPr/>
        </p:nvSpPr>
        <p:spPr>
          <a:xfrm>
            <a:off x="179512" y="1052736"/>
            <a:ext cx="8964488" cy="830997"/>
          </a:xfrm>
          <a:prstGeom prst="rect">
            <a:avLst/>
          </a:prstGeom>
        </p:spPr>
        <p:txBody>
          <a:bodyPr wrap="square">
            <a:spAutoFit/>
          </a:bodyPr>
          <a:lstStyle/>
          <a:p>
            <a:r>
              <a:rPr lang="fr-FR" sz="1200" dirty="0"/>
              <a:t>Les sauveteurs secouriste du travail de l’agence ou l’équipe d’encadrement doivent renseigner ce registre lors de tout soin prodigué en agence ou sur le terrain via une trousse de secours, ou lors de tout accident bénin ne nécessitant pas de prise en charge médicale externe. En cas de déclaration d’accident, même tardive, d’un salarié suite à un soin inscrit sur ce registre, le salarié pourra faire valoir ses droits auprès de la </a:t>
            </a:r>
            <a:r>
              <a:rPr lang="fr-FR" sz="1200" dirty="0" smtClean="0"/>
              <a:t>CPAM. Toute information inscrite dans ce registre doit être transmise au Responsable EHS immédiatement.</a:t>
            </a:r>
            <a:endParaRPr lang="fr-FR" sz="1200" dirty="0"/>
          </a:p>
        </p:txBody>
      </p:sp>
      <p:graphicFrame>
        <p:nvGraphicFramePr>
          <p:cNvPr id="11" name="Tableau 10"/>
          <p:cNvGraphicFramePr>
            <a:graphicFrameLocks noGrp="1"/>
          </p:cNvGraphicFramePr>
          <p:nvPr>
            <p:extLst>
              <p:ext uri="{D42A27DB-BD31-4B8C-83A1-F6EECF244321}">
                <p14:modId xmlns:p14="http://schemas.microsoft.com/office/powerpoint/2010/main" val="3276054271"/>
              </p:ext>
            </p:extLst>
          </p:nvPr>
        </p:nvGraphicFramePr>
        <p:xfrm>
          <a:off x="179512" y="1891276"/>
          <a:ext cx="8884264" cy="4706076"/>
        </p:xfrm>
        <a:graphic>
          <a:graphicData uri="http://schemas.openxmlformats.org/drawingml/2006/table">
            <a:tbl>
              <a:tblPr firstRow="1" firstCol="1" lastRow="1" lastCol="1" bandRow="1" bandCol="1"/>
              <a:tblGrid>
                <a:gridCol w="648072"/>
                <a:gridCol w="864096"/>
                <a:gridCol w="981639"/>
                <a:gridCol w="1215157"/>
                <a:gridCol w="1509462"/>
                <a:gridCol w="1478318"/>
                <a:gridCol w="648072"/>
                <a:gridCol w="648072"/>
                <a:gridCol w="891376"/>
              </a:tblGrid>
              <a:tr h="581380">
                <a:tc>
                  <a:txBody>
                    <a:bodyPr/>
                    <a:lstStyle/>
                    <a:p>
                      <a:pPr algn="ctr">
                        <a:spcAft>
                          <a:spcPts val="0"/>
                        </a:spcAft>
                      </a:pPr>
                      <a:r>
                        <a:rPr lang="fr-FR" sz="900" b="1" dirty="0">
                          <a:solidFill>
                            <a:srgbClr val="943634"/>
                          </a:solidFill>
                          <a:effectLst/>
                          <a:latin typeface="+mj-lt"/>
                          <a:ea typeface="Times New Roman"/>
                        </a:rPr>
                        <a:t>Date du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Nom du blessé</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Lieu du soin</a:t>
                      </a:r>
                      <a:endParaRPr lang="fr-FR" sz="900" b="1" dirty="0">
                        <a:effectLst/>
                        <a:latin typeface="+mj-lt"/>
                        <a:ea typeface="Times New Roman"/>
                      </a:endParaRPr>
                    </a:p>
                    <a:p>
                      <a:pPr algn="ctr">
                        <a:spcAft>
                          <a:spcPts val="0"/>
                        </a:spcAft>
                      </a:pPr>
                      <a:r>
                        <a:rPr lang="fr-FR" sz="900" dirty="0">
                          <a:solidFill>
                            <a:srgbClr val="943634"/>
                          </a:solidFill>
                          <a:effectLst/>
                          <a:latin typeface="+mj-lt"/>
                          <a:ea typeface="Times New Roman"/>
                        </a:rPr>
                        <a:t>(Nom du client et ville)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Nature de la blessure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(EX : Coupure main gauche, hématome cheville gauche….)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Circonstances</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(Comment la victime s’est blessée ?)</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Soins prodigués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(Eléments de la trousse à pharmacie ou de l’infirmerie du client utilisés</a:t>
                      </a:r>
                      <a:r>
                        <a:rPr lang="fr-FR" sz="900" dirty="0" smtClean="0">
                          <a:solidFill>
                            <a:srgbClr val="943634"/>
                          </a:solidFill>
                          <a:effectLst/>
                          <a:latin typeface="+mj-lt"/>
                          <a:ea typeface="Times New Roman"/>
                        </a:rPr>
                        <a:t>) + personne ayant prodigué</a:t>
                      </a:r>
                      <a:r>
                        <a:rPr lang="fr-FR" sz="900" baseline="0" dirty="0" smtClean="0">
                          <a:solidFill>
                            <a:srgbClr val="943634"/>
                          </a:solidFill>
                          <a:effectLst/>
                          <a:latin typeface="+mj-lt"/>
                          <a:ea typeface="Times New Roman"/>
                        </a:rPr>
                        <a:t> le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du blessé</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de la personne ayant rempli</a:t>
                      </a:r>
                      <a:r>
                        <a:rPr lang="fr-FR" sz="900" b="1" baseline="0" dirty="0" smtClean="0">
                          <a:solidFill>
                            <a:schemeClr val="accent2">
                              <a:lumMod val="75000"/>
                            </a:schemeClr>
                          </a:solidFill>
                          <a:effectLst/>
                          <a:latin typeface="+mj-lt"/>
                          <a:ea typeface="Times New Roman"/>
                        </a:rPr>
                        <a:t> le registre</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Information transmise au REHS</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baseline="0" dirty="0" smtClean="0">
                        <a:effectLst/>
                        <a:latin typeface="+mj-lt"/>
                        <a:ea typeface="Times New Roman"/>
                        <a:sym typeface="Wingdings"/>
                      </a:endParaRPr>
                    </a:p>
                    <a:p>
                      <a:pPr marL="171450" indent="-171450" algn="ctr">
                        <a:spcAft>
                          <a:spcPts val="0"/>
                        </a:spcAft>
                        <a:buFont typeface="Wingdings" pitchFamily="2" charset="2"/>
                        <a:buChar char="o"/>
                      </a:pPr>
                      <a:r>
                        <a:rPr lang="fr-FR" sz="1050" baseline="0" dirty="0" smtClean="0">
                          <a:effectLst/>
                          <a:latin typeface="+mj-lt"/>
                          <a:ea typeface="Times New Roman"/>
                          <a:sym typeface="Wingdings"/>
                        </a:rPr>
                        <a:t>Oui</a:t>
                      </a:r>
                    </a:p>
                    <a:p>
                      <a:pPr marL="0" indent="0" algn="ctr">
                        <a:spcAft>
                          <a:spcPts val="0"/>
                        </a:spcAft>
                        <a:buFont typeface="Wingdings" pitchFamily="2" charset="2"/>
                        <a:buNone/>
                      </a:pPr>
                      <a:endParaRPr lang="fr-FR" sz="1050" dirty="0" smtClean="0">
                        <a:effectLst/>
                        <a:latin typeface="+mj-lt"/>
                        <a:ea typeface="Times New Roman"/>
                        <a:sym typeface="Wingdings"/>
                      </a:endParaRPr>
                    </a:p>
                    <a:p>
                      <a:pPr algn="ctr">
                        <a:spcAft>
                          <a:spcPts val="0"/>
                        </a:spcAft>
                      </a:pPr>
                      <a:r>
                        <a:rPr lang="fr-FR" sz="1050" dirty="0" smtClean="0">
                          <a:effectLst/>
                          <a:latin typeface="+mj-lt"/>
                          <a:ea typeface="Times New Roman"/>
                          <a:sym typeface="Wingdings"/>
                        </a:rPr>
                        <a:t> Non</a:t>
                      </a:r>
                      <a:endParaRPr lang="fr-FR" sz="1050" dirty="0">
                        <a:effectLst/>
                        <a:latin typeface="+mj-lt"/>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ZoneTexte 11"/>
          <p:cNvSpPr txBox="1"/>
          <p:nvPr/>
        </p:nvSpPr>
        <p:spPr>
          <a:xfrm>
            <a:off x="6732240" y="549260"/>
            <a:ext cx="2411760" cy="215444"/>
          </a:xfrm>
          <a:prstGeom prst="rect">
            <a:avLst/>
          </a:prstGeom>
          <a:noFill/>
        </p:spPr>
        <p:txBody>
          <a:bodyPr wrap="square" rtlCol="0">
            <a:spAutoFit/>
          </a:bodyPr>
          <a:lstStyle/>
          <a:p>
            <a:pPr algn="r"/>
            <a:r>
              <a:rPr lang="fr-FR" sz="800" i="1" dirty="0" smtClean="0"/>
              <a:t>FOR FS 007 – Version 1 du 13/06/2017</a:t>
            </a:r>
            <a:endParaRPr lang="fr-FR" sz="800" i="1" dirty="0"/>
          </a:p>
        </p:txBody>
      </p:sp>
      <p:sp>
        <p:nvSpPr>
          <p:cNvPr id="13" name="ZoneTexte 12"/>
          <p:cNvSpPr txBox="1"/>
          <p:nvPr/>
        </p:nvSpPr>
        <p:spPr>
          <a:xfrm>
            <a:off x="32489" y="6581001"/>
            <a:ext cx="3456384" cy="276999"/>
          </a:xfrm>
          <a:prstGeom prst="rect">
            <a:avLst/>
          </a:prstGeom>
          <a:noFill/>
        </p:spPr>
        <p:txBody>
          <a:bodyPr wrap="square" rtlCol="0">
            <a:spAutoFit/>
          </a:bodyPr>
          <a:lstStyle/>
          <a:p>
            <a:r>
              <a:rPr lang="fr-FR" sz="1200" dirty="0" smtClean="0"/>
              <a:t>Page : </a:t>
            </a:r>
            <a:fld id="{06AF9771-BA74-46E8-9098-0905B630E610}" type="slidenum">
              <a:rPr lang="fr-FR" sz="1200" smtClean="0"/>
              <a:t>4</a:t>
            </a:fld>
            <a:r>
              <a:rPr lang="fr-FR" sz="1200" dirty="0" smtClean="0"/>
              <a:t>/6</a:t>
            </a:r>
            <a:endParaRPr lang="fr-FR" sz="1200" dirty="0"/>
          </a:p>
        </p:txBody>
      </p:sp>
    </p:spTree>
    <p:extLst>
      <p:ext uri="{BB962C8B-B14F-4D97-AF65-F5344CB8AC3E}">
        <p14:creationId xmlns:p14="http://schemas.microsoft.com/office/powerpoint/2010/main" val="284007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t>Registre des soins</a:t>
            </a:r>
            <a:endParaRPr lang="fr-FR" dirty="0"/>
          </a:p>
        </p:txBody>
      </p:sp>
      <p:sp>
        <p:nvSpPr>
          <p:cNvPr id="9" name="Rectangle 8"/>
          <p:cNvSpPr/>
          <p:nvPr/>
        </p:nvSpPr>
        <p:spPr>
          <a:xfrm>
            <a:off x="179512" y="1052736"/>
            <a:ext cx="8964488" cy="830997"/>
          </a:xfrm>
          <a:prstGeom prst="rect">
            <a:avLst/>
          </a:prstGeom>
        </p:spPr>
        <p:txBody>
          <a:bodyPr wrap="square">
            <a:spAutoFit/>
          </a:bodyPr>
          <a:lstStyle/>
          <a:p>
            <a:r>
              <a:rPr lang="fr-FR" sz="1200" dirty="0"/>
              <a:t>Les sauveteurs secouriste du travail de l’agence ou l’équipe d’encadrement doivent renseigner ce registre lors de tout soin prodigué en agence ou sur le terrain via une trousse de secours, ou lors de tout accident bénin ne nécessitant pas de prise en charge médicale externe. En cas de déclaration d’accident, même tardive, d’un salarié suite à un soin inscrit sur ce registre, le salarié pourra faire valoir ses droits auprès de la </a:t>
            </a:r>
            <a:r>
              <a:rPr lang="fr-FR" sz="1200" dirty="0" smtClean="0"/>
              <a:t>CPAM. Toute information inscrite dans ce registre doit être transmise au Responsable EHS immédiatement.</a:t>
            </a:r>
            <a:endParaRPr lang="fr-FR" sz="1200" dirty="0"/>
          </a:p>
        </p:txBody>
      </p:sp>
      <p:graphicFrame>
        <p:nvGraphicFramePr>
          <p:cNvPr id="11" name="Tableau 10"/>
          <p:cNvGraphicFramePr>
            <a:graphicFrameLocks noGrp="1"/>
          </p:cNvGraphicFramePr>
          <p:nvPr>
            <p:extLst>
              <p:ext uri="{D42A27DB-BD31-4B8C-83A1-F6EECF244321}">
                <p14:modId xmlns:p14="http://schemas.microsoft.com/office/powerpoint/2010/main" val="3276054271"/>
              </p:ext>
            </p:extLst>
          </p:nvPr>
        </p:nvGraphicFramePr>
        <p:xfrm>
          <a:off x="179512" y="1891276"/>
          <a:ext cx="8884264" cy="4706076"/>
        </p:xfrm>
        <a:graphic>
          <a:graphicData uri="http://schemas.openxmlformats.org/drawingml/2006/table">
            <a:tbl>
              <a:tblPr firstRow="1" firstCol="1" lastRow="1" lastCol="1" bandRow="1" bandCol="1"/>
              <a:tblGrid>
                <a:gridCol w="648072"/>
                <a:gridCol w="864096"/>
                <a:gridCol w="981639"/>
                <a:gridCol w="1215157"/>
                <a:gridCol w="1509462"/>
                <a:gridCol w="1478318"/>
                <a:gridCol w="648072"/>
                <a:gridCol w="648072"/>
                <a:gridCol w="891376"/>
              </a:tblGrid>
              <a:tr h="581380">
                <a:tc>
                  <a:txBody>
                    <a:bodyPr/>
                    <a:lstStyle/>
                    <a:p>
                      <a:pPr algn="ctr">
                        <a:spcAft>
                          <a:spcPts val="0"/>
                        </a:spcAft>
                      </a:pPr>
                      <a:r>
                        <a:rPr lang="fr-FR" sz="900" b="1" dirty="0">
                          <a:solidFill>
                            <a:srgbClr val="943634"/>
                          </a:solidFill>
                          <a:effectLst/>
                          <a:latin typeface="+mj-lt"/>
                          <a:ea typeface="Times New Roman"/>
                        </a:rPr>
                        <a:t>Date du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Nom du blessé</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Lieu du soin</a:t>
                      </a:r>
                      <a:endParaRPr lang="fr-FR" sz="900" b="1" dirty="0">
                        <a:effectLst/>
                        <a:latin typeface="+mj-lt"/>
                        <a:ea typeface="Times New Roman"/>
                      </a:endParaRPr>
                    </a:p>
                    <a:p>
                      <a:pPr algn="ctr">
                        <a:spcAft>
                          <a:spcPts val="0"/>
                        </a:spcAft>
                      </a:pPr>
                      <a:r>
                        <a:rPr lang="fr-FR" sz="900" dirty="0">
                          <a:solidFill>
                            <a:srgbClr val="943634"/>
                          </a:solidFill>
                          <a:effectLst/>
                          <a:latin typeface="+mj-lt"/>
                          <a:ea typeface="Times New Roman"/>
                        </a:rPr>
                        <a:t>(Nom du client et ville)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Nature de la blessure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(EX : Coupure main gauche, hématome cheville gauche….)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Circonstances</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(Comment la victime s’est blessée ?)</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Soins prodigués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(Eléments de la trousse à pharmacie ou de l’infirmerie du client utilisés</a:t>
                      </a:r>
                      <a:r>
                        <a:rPr lang="fr-FR" sz="900" dirty="0" smtClean="0">
                          <a:solidFill>
                            <a:srgbClr val="943634"/>
                          </a:solidFill>
                          <a:effectLst/>
                          <a:latin typeface="+mj-lt"/>
                          <a:ea typeface="Times New Roman"/>
                        </a:rPr>
                        <a:t>) + personne ayant prodigué</a:t>
                      </a:r>
                      <a:r>
                        <a:rPr lang="fr-FR" sz="900" baseline="0" dirty="0" smtClean="0">
                          <a:solidFill>
                            <a:srgbClr val="943634"/>
                          </a:solidFill>
                          <a:effectLst/>
                          <a:latin typeface="+mj-lt"/>
                          <a:ea typeface="Times New Roman"/>
                        </a:rPr>
                        <a:t> le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du blessé</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de la personne ayant rempli</a:t>
                      </a:r>
                      <a:r>
                        <a:rPr lang="fr-FR" sz="900" b="1" baseline="0" dirty="0" smtClean="0">
                          <a:solidFill>
                            <a:schemeClr val="accent2">
                              <a:lumMod val="75000"/>
                            </a:schemeClr>
                          </a:solidFill>
                          <a:effectLst/>
                          <a:latin typeface="+mj-lt"/>
                          <a:ea typeface="Times New Roman"/>
                        </a:rPr>
                        <a:t> le registre</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Information transmise au REHS</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baseline="0" dirty="0" smtClean="0">
                        <a:effectLst/>
                        <a:latin typeface="+mj-lt"/>
                        <a:ea typeface="Times New Roman"/>
                        <a:sym typeface="Wingdings"/>
                      </a:endParaRPr>
                    </a:p>
                    <a:p>
                      <a:pPr marL="171450" indent="-171450" algn="ctr">
                        <a:spcAft>
                          <a:spcPts val="0"/>
                        </a:spcAft>
                        <a:buFont typeface="Wingdings" pitchFamily="2" charset="2"/>
                        <a:buChar char="o"/>
                      </a:pPr>
                      <a:r>
                        <a:rPr lang="fr-FR" sz="1050" baseline="0" dirty="0" smtClean="0">
                          <a:effectLst/>
                          <a:latin typeface="+mj-lt"/>
                          <a:ea typeface="Times New Roman"/>
                          <a:sym typeface="Wingdings"/>
                        </a:rPr>
                        <a:t>Oui</a:t>
                      </a:r>
                    </a:p>
                    <a:p>
                      <a:pPr marL="0" indent="0" algn="ctr">
                        <a:spcAft>
                          <a:spcPts val="0"/>
                        </a:spcAft>
                        <a:buFont typeface="Wingdings" pitchFamily="2" charset="2"/>
                        <a:buNone/>
                      </a:pPr>
                      <a:endParaRPr lang="fr-FR" sz="1050" dirty="0" smtClean="0">
                        <a:effectLst/>
                        <a:latin typeface="+mj-lt"/>
                        <a:ea typeface="Times New Roman"/>
                        <a:sym typeface="Wingdings"/>
                      </a:endParaRPr>
                    </a:p>
                    <a:p>
                      <a:pPr algn="ctr">
                        <a:spcAft>
                          <a:spcPts val="0"/>
                        </a:spcAft>
                      </a:pPr>
                      <a:r>
                        <a:rPr lang="fr-FR" sz="1050" dirty="0" smtClean="0">
                          <a:effectLst/>
                          <a:latin typeface="+mj-lt"/>
                          <a:ea typeface="Times New Roman"/>
                          <a:sym typeface="Wingdings"/>
                        </a:rPr>
                        <a:t> Non</a:t>
                      </a:r>
                      <a:endParaRPr lang="fr-FR" sz="1050" dirty="0">
                        <a:effectLst/>
                        <a:latin typeface="+mj-lt"/>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ZoneTexte 11"/>
          <p:cNvSpPr txBox="1"/>
          <p:nvPr/>
        </p:nvSpPr>
        <p:spPr>
          <a:xfrm>
            <a:off x="6732240" y="549260"/>
            <a:ext cx="2411760" cy="215444"/>
          </a:xfrm>
          <a:prstGeom prst="rect">
            <a:avLst/>
          </a:prstGeom>
          <a:noFill/>
        </p:spPr>
        <p:txBody>
          <a:bodyPr wrap="square" rtlCol="0">
            <a:spAutoFit/>
          </a:bodyPr>
          <a:lstStyle/>
          <a:p>
            <a:pPr algn="r"/>
            <a:r>
              <a:rPr lang="fr-FR" sz="800" i="1" dirty="0" smtClean="0"/>
              <a:t>FOR FS 007 – Version 1 du 13/06/2017</a:t>
            </a:r>
            <a:endParaRPr lang="fr-FR" sz="800" i="1" dirty="0"/>
          </a:p>
        </p:txBody>
      </p:sp>
      <p:sp>
        <p:nvSpPr>
          <p:cNvPr id="13" name="ZoneTexte 12"/>
          <p:cNvSpPr txBox="1"/>
          <p:nvPr/>
        </p:nvSpPr>
        <p:spPr>
          <a:xfrm>
            <a:off x="32489" y="6581001"/>
            <a:ext cx="3456384" cy="276999"/>
          </a:xfrm>
          <a:prstGeom prst="rect">
            <a:avLst/>
          </a:prstGeom>
          <a:noFill/>
        </p:spPr>
        <p:txBody>
          <a:bodyPr wrap="square" rtlCol="0">
            <a:spAutoFit/>
          </a:bodyPr>
          <a:lstStyle/>
          <a:p>
            <a:r>
              <a:rPr lang="fr-FR" sz="1200" dirty="0" smtClean="0"/>
              <a:t>Page : </a:t>
            </a:r>
            <a:fld id="{06AF9771-BA74-46E8-9098-0905B630E610}" type="slidenum">
              <a:rPr lang="fr-FR" sz="1200" smtClean="0"/>
              <a:t>5</a:t>
            </a:fld>
            <a:r>
              <a:rPr lang="fr-FR" sz="1200" dirty="0" smtClean="0"/>
              <a:t>/6</a:t>
            </a:r>
            <a:endParaRPr lang="fr-FR" sz="1200" dirty="0"/>
          </a:p>
        </p:txBody>
      </p:sp>
    </p:spTree>
    <p:extLst>
      <p:ext uri="{BB962C8B-B14F-4D97-AF65-F5344CB8AC3E}">
        <p14:creationId xmlns:p14="http://schemas.microsoft.com/office/powerpoint/2010/main" val="2840077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t>Registre des soins</a:t>
            </a:r>
            <a:endParaRPr lang="fr-FR" dirty="0"/>
          </a:p>
        </p:txBody>
      </p:sp>
      <p:sp>
        <p:nvSpPr>
          <p:cNvPr id="9" name="Rectangle 8"/>
          <p:cNvSpPr/>
          <p:nvPr/>
        </p:nvSpPr>
        <p:spPr>
          <a:xfrm>
            <a:off x="179512" y="1052736"/>
            <a:ext cx="8964488" cy="830997"/>
          </a:xfrm>
          <a:prstGeom prst="rect">
            <a:avLst/>
          </a:prstGeom>
        </p:spPr>
        <p:txBody>
          <a:bodyPr wrap="square">
            <a:spAutoFit/>
          </a:bodyPr>
          <a:lstStyle/>
          <a:p>
            <a:r>
              <a:rPr lang="fr-FR" sz="1200" dirty="0"/>
              <a:t>Les sauveteurs secouriste du travail de l’agence ou l’équipe d’encadrement doivent renseigner ce registre lors de tout soin prodigué en agence ou sur le terrain via une trousse de secours, ou lors de tout accident bénin ne nécessitant pas de prise en charge médicale externe. En cas de déclaration d’accident, même tardive, d’un salarié suite à un soin inscrit sur ce registre, le salarié pourra faire valoir ses droits auprès de la </a:t>
            </a:r>
            <a:r>
              <a:rPr lang="fr-FR" sz="1200" dirty="0" smtClean="0"/>
              <a:t>CPAM. Toute information inscrite dans ce registre doit être transmise au Responsable EHS immédiatement.</a:t>
            </a:r>
            <a:endParaRPr lang="fr-FR" sz="1200" dirty="0"/>
          </a:p>
        </p:txBody>
      </p:sp>
      <p:graphicFrame>
        <p:nvGraphicFramePr>
          <p:cNvPr id="11" name="Tableau 10"/>
          <p:cNvGraphicFramePr>
            <a:graphicFrameLocks noGrp="1"/>
          </p:cNvGraphicFramePr>
          <p:nvPr>
            <p:extLst>
              <p:ext uri="{D42A27DB-BD31-4B8C-83A1-F6EECF244321}">
                <p14:modId xmlns:p14="http://schemas.microsoft.com/office/powerpoint/2010/main" val="3276054271"/>
              </p:ext>
            </p:extLst>
          </p:nvPr>
        </p:nvGraphicFramePr>
        <p:xfrm>
          <a:off x="179512" y="1891276"/>
          <a:ext cx="8884264" cy="4706076"/>
        </p:xfrm>
        <a:graphic>
          <a:graphicData uri="http://schemas.openxmlformats.org/drawingml/2006/table">
            <a:tbl>
              <a:tblPr firstRow="1" firstCol="1" lastRow="1" lastCol="1" bandRow="1" bandCol="1"/>
              <a:tblGrid>
                <a:gridCol w="648072"/>
                <a:gridCol w="864096"/>
                <a:gridCol w="981639"/>
                <a:gridCol w="1215157"/>
                <a:gridCol w="1509462"/>
                <a:gridCol w="1478318"/>
                <a:gridCol w="648072"/>
                <a:gridCol w="648072"/>
                <a:gridCol w="891376"/>
              </a:tblGrid>
              <a:tr h="581380">
                <a:tc>
                  <a:txBody>
                    <a:bodyPr/>
                    <a:lstStyle/>
                    <a:p>
                      <a:pPr algn="ctr">
                        <a:spcAft>
                          <a:spcPts val="0"/>
                        </a:spcAft>
                      </a:pPr>
                      <a:r>
                        <a:rPr lang="fr-FR" sz="900" b="1" dirty="0">
                          <a:solidFill>
                            <a:srgbClr val="943634"/>
                          </a:solidFill>
                          <a:effectLst/>
                          <a:latin typeface="+mj-lt"/>
                          <a:ea typeface="Times New Roman"/>
                        </a:rPr>
                        <a:t>Date du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Nom du blessé</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Lieu du soin</a:t>
                      </a:r>
                      <a:endParaRPr lang="fr-FR" sz="900" b="1" dirty="0">
                        <a:effectLst/>
                        <a:latin typeface="+mj-lt"/>
                        <a:ea typeface="Times New Roman"/>
                      </a:endParaRPr>
                    </a:p>
                    <a:p>
                      <a:pPr algn="ctr">
                        <a:spcAft>
                          <a:spcPts val="0"/>
                        </a:spcAft>
                      </a:pPr>
                      <a:r>
                        <a:rPr lang="fr-FR" sz="900" dirty="0">
                          <a:solidFill>
                            <a:srgbClr val="943634"/>
                          </a:solidFill>
                          <a:effectLst/>
                          <a:latin typeface="+mj-lt"/>
                          <a:ea typeface="Times New Roman"/>
                        </a:rPr>
                        <a:t>(Nom du client et ville)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Nature de la blessure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(EX : Coupure main gauche, hématome cheville gauche….)</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Circonstances</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(Comment la victime s’est blessée ?)</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a:solidFill>
                            <a:srgbClr val="943634"/>
                          </a:solidFill>
                          <a:effectLst/>
                          <a:latin typeface="+mj-lt"/>
                          <a:ea typeface="Times New Roman"/>
                        </a:rPr>
                        <a:t>Soins prodigués </a:t>
                      </a:r>
                      <a:endParaRPr lang="fr-FR" sz="900" dirty="0">
                        <a:effectLst/>
                        <a:latin typeface="+mj-lt"/>
                        <a:ea typeface="Times New Roman"/>
                      </a:endParaRPr>
                    </a:p>
                    <a:p>
                      <a:pPr algn="ctr">
                        <a:spcAft>
                          <a:spcPts val="0"/>
                        </a:spcAft>
                      </a:pPr>
                      <a:r>
                        <a:rPr lang="fr-FR" sz="900" dirty="0">
                          <a:solidFill>
                            <a:srgbClr val="943634"/>
                          </a:solidFill>
                          <a:effectLst/>
                          <a:latin typeface="+mj-lt"/>
                          <a:ea typeface="Times New Roman"/>
                        </a:rPr>
                        <a:t>(Eléments de la trousse à pharmacie ou de l’infirmerie du client utilisés</a:t>
                      </a:r>
                      <a:r>
                        <a:rPr lang="fr-FR" sz="900" dirty="0" smtClean="0">
                          <a:solidFill>
                            <a:srgbClr val="943634"/>
                          </a:solidFill>
                          <a:effectLst/>
                          <a:latin typeface="+mj-lt"/>
                          <a:ea typeface="Times New Roman"/>
                        </a:rPr>
                        <a:t>) + personne ayant prodigué</a:t>
                      </a:r>
                      <a:r>
                        <a:rPr lang="fr-FR" sz="900" baseline="0" dirty="0" smtClean="0">
                          <a:solidFill>
                            <a:srgbClr val="943634"/>
                          </a:solidFill>
                          <a:effectLst/>
                          <a:latin typeface="+mj-lt"/>
                          <a:ea typeface="Times New Roman"/>
                        </a:rPr>
                        <a:t> le soin</a:t>
                      </a:r>
                      <a:endParaRPr lang="fr-FR" sz="900" dirty="0">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du blessé</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Signature de la personne ayant rempli</a:t>
                      </a:r>
                      <a:r>
                        <a:rPr lang="fr-FR" sz="900" b="1" baseline="0" dirty="0" smtClean="0">
                          <a:solidFill>
                            <a:schemeClr val="accent2">
                              <a:lumMod val="75000"/>
                            </a:schemeClr>
                          </a:solidFill>
                          <a:effectLst/>
                          <a:latin typeface="+mj-lt"/>
                          <a:ea typeface="Times New Roman"/>
                        </a:rPr>
                        <a:t> le registre</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fr-FR" sz="900" b="1" dirty="0" smtClean="0">
                          <a:solidFill>
                            <a:schemeClr val="accent2">
                              <a:lumMod val="75000"/>
                            </a:schemeClr>
                          </a:solidFill>
                          <a:effectLst/>
                          <a:latin typeface="+mj-lt"/>
                          <a:ea typeface="Times New Roman"/>
                        </a:rPr>
                        <a:t>Information transmise au REHS</a:t>
                      </a:r>
                      <a:endParaRPr lang="fr-FR" sz="900" b="1" dirty="0">
                        <a:solidFill>
                          <a:schemeClr val="accent2">
                            <a:lumMod val="75000"/>
                          </a:schemeClr>
                        </a:solidFill>
                        <a:effectLst/>
                        <a:latin typeface="+mj-lt"/>
                        <a:ea typeface="Times New Roman"/>
                      </a:endParaRPr>
                    </a:p>
                  </a:txBody>
                  <a:tcPr marL="55194" marR="55194"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baseline="0" dirty="0" smtClean="0">
                        <a:effectLst/>
                        <a:latin typeface="+mj-lt"/>
                        <a:ea typeface="Times New Roman"/>
                        <a:sym typeface="Wingdings"/>
                      </a:endParaRPr>
                    </a:p>
                    <a:p>
                      <a:pPr marL="171450" indent="-171450" algn="ctr">
                        <a:spcAft>
                          <a:spcPts val="0"/>
                        </a:spcAft>
                        <a:buFont typeface="Wingdings" pitchFamily="2" charset="2"/>
                        <a:buChar char="o"/>
                      </a:pPr>
                      <a:r>
                        <a:rPr lang="fr-FR" sz="1050" baseline="0" dirty="0" smtClean="0">
                          <a:effectLst/>
                          <a:latin typeface="+mj-lt"/>
                          <a:ea typeface="Times New Roman"/>
                          <a:sym typeface="Wingdings"/>
                        </a:rPr>
                        <a:t>Oui</a:t>
                      </a:r>
                    </a:p>
                    <a:p>
                      <a:pPr marL="0" indent="0" algn="ctr">
                        <a:spcAft>
                          <a:spcPts val="0"/>
                        </a:spcAft>
                        <a:buFont typeface="Wingdings" pitchFamily="2" charset="2"/>
                        <a:buNone/>
                      </a:pPr>
                      <a:endParaRPr lang="fr-FR" sz="1050" dirty="0" smtClean="0">
                        <a:effectLst/>
                        <a:latin typeface="+mj-lt"/>
                        <a:ea typeface="Times New Roman"/>
                        <a:sym typeface="Wingdings"/>
                      </a:endParaRPr>
                    </a:p>
                    <a:p>
                      <a:pPr algn="ctr">
                        <a:spcAft>
                          <a:spcPts val="0"/>
                        </a:spcAft>
                      </a:pPr>
                      <a:r>
                        <a:rPr lang="fr-FR" sz="1050" dirty="0" smtClean="0">
                          <a:effectLst/>
                          <a:latin typeface="+mj-lt"/>
                          <a:ea typeface="Times New Roman"/>
                          <a:sym typeface="Wingdings"/>
                        </a:rPr>
                        <a:t> Non</a:t>
                      </a:r>
                      <a:endParaRPr lang="fr-FR" sz="1050" dirty="0">
                        <a:effectLst/>
                        <a:latin typeface="+mj-lt"/>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dirty="0">
                          <a:effectLst/>
                          <a:latin typeface="Calibri"/>
                          <a:ea typeface="Times New Roman"/>
                        </a:rPr>
                        <a:t> </a:t>
                      </a: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70779">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000" b="1">
                          <a:effectLst/>
                          <a:latin typeface="Calibri"/>
                          <a:ea typeface="Times New Roman"/>
                        </a:rPr>
                        <a:t> </a:t>
                      </a:r>
                      <a:endParaRPr lang="fr-FR" sz="100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fr-FR" sz="100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ctr">
                        <a:spcAft>
                          <a:spcPts val="0"/>
                        </a:spcAft>
                        <a:buFont typeface="Wingdings" pitchFamily="2" charset="2"/>
                        <a:buChar char="o"/>
                      </a:pPr>
                      <a:endParaRPr lang="fr-FR" sz="1050" kern="1200" baseline="0" dirty="0" smtClean="0">
                        <a:solidFill>
                          <a:schemeClr val="tx1"/>
                        </a:solidFill>
                        <a:effectLst/>
                        <a:latin typeface="+mn-lt"/>
                        <a:ea typeface="Times New Roman"/>
                        <a:cs typeface="+mn-cs"/>
                        <a:sym typeface="Wingdings"/>
                      </a:endParaRPr>
                    </a:p>
                    <a:p>
                      <a:pPr marL="171450" indent="-171450" algn="ctr">
                        <a:spcAft>
                          <a:spcPts val="0"/>
                        </a:spcAft>
                        <a:buFont typeface="Wingdings" pitchFamily="2" charset="2"/>
                        <a:buChar char="o"/>
                      </a:pPr>
                      <a:r>
                        <a:rPr lang="fr-FR" sz="1050" kern="1200" baseline="0" dirty="0" smtClean="0">
                          <a:solidFill>
                            <a:schemeClr val="tx1"/>
                          </a:solidFill>
                          <a:effectLst/>
                          <a:latin typeface="+mn-lt"/>
                          <a:ea typeface="Times New Roman"/>
                          <a:cs typeface="+mn-cs"/>
                          <a:sym typeface="Wingdings"/>
                        </a:rPr>
                        <a:t>Oui</a:t>
                      </a:r>
                    </a:p>
                    <a:p>
                      <a:pPr marL="0" indent="0" algn="ctr">
                        <a:spcAft>
                          <a:spcPts val="0"/>
                        </a:spcAft>
                        <a:buFont typeface="Wingdings" pitchFamily="2" charset="2"/>
                        <a:buNone/>
                      </a:pPr>
                      <a:endParaRPr lang="fr-FR" sz="1050" kern="1200" dirty="0" smtClean="0">
                        <a:solidFill>
                          <a:schemeClr val="tx1"/>
                        </a:solidFill>
                        <a:effectLst/>
                        <a:latin typeface="+mn-lt"/>
                        <a:ea typeface="Times New Roman"/>
                        <a:cs typeface="+mn-cs"/>
                        <a:sym typeface="Wingdings"/>
                      </a:endParaRPr>
                    </a:p>
                    <a:p>
                      <a:pPr algn="ctr">
                        <a:spcAft>
                          <a:spcPts val="0"/>
                        </a:spcAft>
                      </a:pPr>
                      <a:r>
                        <a:rPr lang="fr-FR" sz="1050" kern="1200" dirty="0" smtClean="0">
                          <a:solidFill>
                            <a:schemeClr val="tx1"/>
                          </a:solidFill>
                          <a:effectLst/>
                          <a:latin typeface="+mn-lt"/>
                          <a:ea typeface="Times New Roman"/>
                          <a:cs typeface="+mn-cs"/>
                          <a:sym typeface="Wingdings"/>
                        </a:rPr>
                        <a:t> Non</a:t>
                      </a:r>
                      <a:endParaRPr lang="fr-FR" sz="1050" kern="1200" dirty="0" smtClean="0">
                        <a:solidFill>
                          <a:schemeClr val="tx1"/>
                        </a:solidFill>
                        <a:effectLst/>
                        <a:latin typeface="+mn-lt"/>
                        <a:ea typeface="Times New Roman"/>
                        <a:cs typeface="+mn-cs"/>
                      </a:endParaRPr>
                    </a:p>
                    <a:p>
                      <a:pPr algn="ctr">
                        <a:spcAft>
                          <a:spcPts val="0"/>
                        </a:spcAft>
                      </a:pPr>
                      <a:endParaRPr lang="fr-FR" sz="1050" dirty="0">
                        <a:effectLst/>
                        <a:latin typeface="Times New Roman"/>
                        <a:ea typeface="Times New Roman"/>
                      </a:endParaRPr>
                    </a:p>
                  </a:txBody>
                  <a:tcPr marL="55194" marR="55194"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ZoneTexte 11"/>
          <p:cNvSpPr txBox="1"/>
          <p:nvPr/>
        </p:nvSpPr>
        <p:spPr>
          <a:xfrm>
            <a:off x="6732240" y="549260"/>
            <a:ext cx="2411760" cy="215444"/>
          </a:xfrm>
          <a:prstGeom prst="rect">
            <a:avLst/>
          </a:prstGeom>
          <a:noFill/>
        </p:spPr>
        <p:txBody>
          <a:bodyPr wrap="square" rtlCol="0">
            <a:spAutoFit/>
          </a:bodyPr>
          <a:lstStyle/>
          <a:p>
            <a:pPr algn="r"/>
            <a:r>
              <a:rPr lang="fr-FR" sz="800" i="1" dirty="0" smtClean="0"/>
              <a:t>FOR FS 007 – Version 1 du 13/06/2017</a:t>
            </a:r>
            <a:endParaRPr lang="fr-FR" sz="800" i="1" dirty="0"/>
          </a:p>
        </p:txBody>
      </p:sp>
      <p:sp>
        <p:nvSpPr>
          <p:cNvPr id="13" name="ZoneTexte 12"/>
          <p:cNvSpPr txBox="1"/>
          <p:nvPr/>
        </p:nvSpPr>
        <p:spPr>
          <a:xfrm>
            <a:off x="32489" y="6581001"/>
            <a:ext cx="3456384" cy="276999"/>
          </a:xfrm>
          <a:prstGeom prst="rect">
            <a:avLst/>
          </a:prstGeom>
          <a:noFill/>
        </p:spPr>
        <p:txBody>
          <a:bodyPr wrap="square" rtlCol="0">
            <a:spAutoFit/>
          </a:bodyPr>
          <a:lstStyle/>
          <a:p>
            <a:r>
              <a:rPr lang="fr-FR" sz="1200" dirty="0" smtClean="0"/>
              <a:t>Page : </a:t>
            </a:r>
            <a:fld id="{06AF9771-BA74-46E8-9098-0905B630E610}" type="slidenum">
              <a:rPr lang="fr-FR" sz="1200" smtClean="0"/>
              <a:t>6</a:t>
            </a:fld>
            <a:r>
              <a:rPr lang="fr-FR" sz="1200" dirty="0" smtClean="0"/>
              <a:t>/6</a:t>
            </a:r>
            <a:endParaRPr lang="fr-FR" sz="1200" dirty="0"/>
          </a:p>
        </p:txBody>
      </p:sp>
    </p:spTree>
    <p:extLst>
      <p:ext uri="{BB962C8B-B14F-4D97-AF65-F5344CB8AC3E}">
        <p14:creationId xmlns:p14="http://schemas.microsoft.com/office/powerpoint/2010/main" val="2840077736"/>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942</Words>
  <Application>Microsoft Office PowerPoint</Application>
  <PresentationFormat>Affichage à l'écran (4:3)</PresentationFormat>
  <Paragraphs>290</Paragraphs>
  <Slides>6</Slides>
  <Notes>0</Notes>
  <HiddenSlides>0</HiddenSlides>
  <MMClips>0</MMClips>
  <ScaleCrop>false</ScaleCrop>
  <HeadingPairs>
    <vt:vector size="4" baseType="variant">
      <vt:variant>
        <vt:lpstr>Thème</vt:lpstr>
      </vt:variant>
      <vt:variant>
        <vt:i4>1</vt:i4>
      </vt:variant>
      <vt:variant>
        <vt:lpstr>Titres des diapositives</vt:lpstr>
      </vt:variant>
      <vt:variant>
        <vt:i4>6</vt:i4>
      </vt:variant>
    </vt:vector>
  </HeadingPairs>
  <TitlesOfParts>
    <vt:vector size="7" baseType="lpstr">
      <vt:lpstr>Thème Office</vt:lpstr>
      <vt:lpstr>REGISTRE DES SOINS</vt:lpstr>
      <vt:lpstr>Registre des soins</vt:lpstr>
      <vt:lpstr>Registre des soins</vt:lpstr>
      <vt:lpstr>Registre des soins</vt:lpstr>
      <vt:lpstr>Registre des soins</vt:lpstr>
      <vt:lpstr>Registre des soins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Giblaine, Anais           UTC CCS</dc:creator>
  <cp:lastModifiedBy>Aurelie Montfort</cp:lastModifiedBy>
  <cp:revision>10</cp:revision>
  <dcterms:created xsi:type="dcterms:W3CDTF">2017-01-04T15:17:33Z</dcterms:created>
  <dcterms:modified xsi:type="dcterms:W3CDTF">2017-08-28T10:11:19Z</dcterms:modified>
</cp:coreProperties>
</file>