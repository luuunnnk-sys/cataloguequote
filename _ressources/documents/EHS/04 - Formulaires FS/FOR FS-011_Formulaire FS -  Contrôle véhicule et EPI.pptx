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9" r:id="rId2"/>
    <p:sldId id="260" r:id="rId3"/>
  </p:sldIdLst>
  <p:sldSz cx="6858000" cy="9144000" type="screen4x3"/>
  <p:notesSz cx="6810375" cy="9942513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5373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03DFB9A-A4F4-48C6-98D7-52326760C7DA}" v="6" dt="2024-02-06T12:56:23.16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00" d="100"/>
          <a:sy n="100" d="100"/>
        </p:scale>
        <p:origin x="1594" y="-1238"/>
      </p:cViewPr>
      <p:guideLst>
        <p:guide orient="horz" pos="2880"/>
        <p:guide pos="216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9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51163" cy="49885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57636" y="0"/>
            <a:ext cx="2951163" cy="49885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E2F5A3-ADE2-4EA1-B01C-886FB1D8E23D}" type="datetimeFigureOut">
              <a:rPr lang="fr-FR" smtClean="0"/>
              <a:t>15/02/2024</a:t>
            </a:fld>
            <a:endParaRPr lang="fr-FR" dirty="0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2147888" y="1243013"/>
            <a:ext cx="2514600" cy="33559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 dirty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1038" y="4784835"/>
            <a:ext cx="5448300" cy="391486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9443662"/>
            <a:ext cx="2951163" cy="49885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57636" y="9443662"/>
            <a:ext cx="2951163" cy="49885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C3379A-4AE5-4AF3-9712-2CE8C3817C4E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6158500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514350" y="3572076"/>
            <a:ext cx="5829300" cy="1960033"/>
          </a:xfrm>
        </p:spPr>
        <p:txBody>
          <a:bodyPr>
            <a:normAutofit/>
          </a:bodyPr>
          <a:lstStyle>
            <a:lvl1pPr>
              <a:defRPr sz="4000" b="1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r>
              <a:rPr lang="fr-FR" dirty="0"/>
              <a:t>Modifiez le style du titre</a:t>
            </a:r>
            <a:endParaRPr lang="en-US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1028700" y="5076093"/>
            <a:ext cx="4800600" cy="233680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dirty="0"/>
              <a:t>Modifiez le style des sous-titres du masque</a:t>
            </a:r>
            <a:endParaRPr lang="en-US" dirty="0"/>
          </a:p>
        </p:txBody>
      </p:sp>
      <p:sp>
        <p:nvSpPr>
          <p:cNvPr id="40" name="ZoneTexte 39"/>
          <p:cNvSpPr txBox="1"/>
          <p:nvPr userDrawn="1"/>
        </p:nvSpPr>
        <p:spPr>
          <a:xfrm>
            <a:off x="2477459" y="731560"/>
            <a:ext cx="397413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i="1" dirty="0">
                <a:solidFill>
                  <a:schemeClr val="bg1"/>
                </a:solidFill>
              </a:rPr>
              <a:t>Hygiène    Environnement    Management </a:t>
            </a:r>
          </a:p>
        </p:txBody>
      </p:sp>
      <p:pic>
        <p:nvPicPr>
          <p:cNvPr id="42" name="Image 41"/>
          <p:cNvPicPr>
            <a:picLocks noChangeAspect="1"/>
          </p:cNvPicPr>
          <p:nvPr userDrawn="1"/>
        </p:nvPicPr>
        <p:blipFill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GlowEdges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5703" y="102354"/>
            <a:ext cx="427885" cy="288000"/>
          </a:xfrm>
          <a:prstGeom prst="rect">
            <a:avLst/>
          </a:prstGeom>
        </p:spPr>
      </p:pic>
      <p:grpSp>
        <p:nvGrpSpPr>
          <p:cNvPr id="2" name="Groupe 1"/>
          <p:cNvGrpSpPr/>
          <p:nvPr userDrawn="1"/>
        </p:nvGrpSpPr>
        <p:grpSpPr>
          <a:xfrm>
            <a:off x="-10646" y="8677716"/>
            <a:ext cx="6854400" cy="504858"/>
            <a:chOff x="9468" y="8532440"/>
            <a:chExt cx="6854400" cy="675145"/>
          </a:xfrm>
        </p:grpSpPr>
        <p:sp>
          <p:nvSpPr>
            <p:cNvPr id="44" name="Rectangle 43"/>
            <p:cNvSpPr/>
            <p:nvPr/>
          </p:nvSpPr>
          <p:spPr>
            <a:xfrm>
              <a:off x="9468" y="8532440"/>
              <a:ext cx="6854400" cy="5295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13500000" algn="b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800" dirty="0"/>
            </a:p>
          </p:txBody>
        </p:sp>
        <p:sp>
          <p:nvSpPr>
            <p:cNvPr id="51" name="ZoneTexte 50"/>
            <p:cNvSpPr txBox="1"/>
            <p:nvPr/>
          </p:nvSpPr>
          <p:spPr>
            <a:xfrm>
              <a:off x="4797152" y="8609549"/>
              <a:ext cx="1841416" cy="598036"/>
            </a:xfrm>
            <a:prstGeom prst="rect">
              <a:avLst/>
            </a:prstGeom>
            <a:noFill/>
          </p:spPr>
          <p:txBody>
            <a:bodyPr wrap="square" lIns="77111" tIns="38556" rIns="77111" bIns="38556" rtlCol="0">
              <a:spAutoFit/>
            </a:bodyPr>
            <a:lstStyle/>
            <a:p>
              <a:r>
                <a:rPr lang="fr-FR" sz="800" i="1" dirty="0">
                  <a:latin typeface="Calibri" panose="020F0502020204030204" pitchFamily="34" charset="0"/>
                </a:rPr>
                <a:t>Ce document est confidentiel. Toute reproduction, même partielle est interdite.</a:t>
              </a:r>
            </a:p>
          </p:txBody>
        </p:sp>
      </p:grpSp>
      <p:sp>
        <p:nvSpPr>
          <p:cNvPr id="31" name="Rectangle 30"/>
          <p:cNvSpPr/>
          <p:nvPr userDrawn="1"/>
        </p:nvSpPr>
        <p:spPr>
          <a:xfrm rot="21336737">
            <a:off x="6034285" y="721175"/>
            <a:ext cx="9114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600" b="1" i="1" dirty="0">
                <a:solidFill>
                  <a:schemeClr val="bg1"/>
                </a:solidFill>
              </a:rPr>
              <a:t>Sécurité</a:t>
            </a:r>
            <a:r>
              <a:rPr lang="fr-FR" sz="1600" i="1" dirty="0">
                <a:solidFill>
                  <a:schemeClr val="bg1"/>
                </a:solidFill>
              </a:rPr>
              <a:t> </a:t>
            </a:r>
            <a:endParaRPr lang="fr-FR" sz="1600" dirty="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33AEBC6B-7B0E-460C-A379-EB09B745C39B}"/>
              </a:ext>
            </a:extLst>
          </p:cNvPr>
          <p:cNvSpPr/>
          <p:nvPr userDrawn="1"/>
        </p:nvSpPr>
        <p:spPr>
          <a:xfrm rot="21419042">
            <a:off x="5580365" y="195319"/>
            <a:ext cx="1260000" cy="162000"/>
          </a:xfrm>
          <a:prstGeom prst="rect">
            <a:avLst/>
          </a:prstGeom>
          <a:solidFill>
            <a:srgbClr val="9537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AFF00C51-C044-489E-8AD2-B88F865E9173}"/>
              </a:ext>
            </a:extLst>
          </p:cNvPr>
          <p:cNvSpPr/>
          <p:nvPr userDrawn="1"/>
        </p:nvSpPr>
        <p:spPr>
          <a:xfrm rot="21336737">
            <a:off x="5707738" y="92467"/>
            <a:ext cx="121532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Sécurité</a:t>
            </a:r>
            <a:r>
              <a:rPr kumimoji="0" lang="fr-FR" sz="14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endParaRPr kumimoji="0" lang="fr-FR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53" name="Connecteur droit 52">
            <a:extLst>
              <a:ext uri="{FF2B5EF4-FFF2-40B4-BE49-F238E27FC236}">
                <a16:creationId xmlns:a16="http://schemas.microsoft.com/office/drawing/2014/main" id="{2A06DB64-81C5-43D3-9E7C-BDDA60D8C296}"/>
              </a:ext>
            </a:extLst>
          </p:cNvPr>
          <p:cNvCxnSpPr>
            <a:cxnSpLocks/>
          </p:cNvCxnSpPr>
          <p:nvPr userDrawn="1"/>
        </p:nvCxnSpPr>
        <p:spPr>
          <a:xfrm>
            <a:off x="0" y="567272"/>
            <a:ext cx="6843754" cy="0"/>
          </a:xfrm>
          <a:prstGeom prst="line">
            <a:avLst/>
          </a:prstGeom>
          <a:ln w="28575">
            <a:solidFill>
              <a:srgbClr val="95373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Organigramme : Processus 39">
            <a:extLst>
              <a:ext uri="{FF2B5EF4-FFF2-40B4-BE49-F238E27FC236}">
                <a16:creationId xmlns:a16="http://schemas.microsoft.com/office/drawing/2014/main" id="{39817AC7-DEBC-4E00-942C-DAAD512E1E27}"/>
              </a:ext>
            </a:extLst>
          </p:cNvPr>
          <p:cNvSpPr/>
          <p:nvPr userDrawn="1"/>
        </p:nvSpPr>
        <p:spPr>
          <a:xfrm>
            <a:off x="44624" y="36002"/>
            <a:ext cx="1589723" cy="451067"/>
          </a:xfrm>
          <a:prstGeom prst="flowChartProcess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28" name="Groupe 27">
            <a:extLst>
              <a:ext uri="{FF2B5EF4-FFF2-40B4-BE49-F238E27FC236}">
                <a16:creationId xmlns:a16="http://schemas.microsoft.com/office/drawing/2014/main" id="{39B1D0A5-A3CF-4C1A-85F1-176A2FDD50C5}"/>
              </a:ext>
            </a:extLst>
          </p:cNvPr>
          <p:cNvGrpSpPr/>
          <p:nvPr userDrawn="1"/>
        </p:nvGrpSpPr>
        <p:grpSpPr>
          <a:xfrm>
            <a:off x="205423" y="-7666"/>
            <a:ext cx="1268125" cy="523220"/>
            <a:chOff x="225461" y="-7666"/>
            <a:chExt cx="1268125" cy="523220"/>
          </a:xfrm>
        </p:grpSpPr>
        <p:sp>
          <p:nvSpPr>
            <p:cNvPr id="30" name="ZoneTexte 29">
              <a:extLst>
                <a:ext uri="{FF2B5EF4-FFF2-40B4-BE49-F238E27FC236}">
                  <a16:creationId xmlns:a16="http://schemas.microsoft.com/office/drawing/2014/main" id="{9EDDECBC-6876-4D58-A122-4480488E1AFC}"/>
                </a:ext>
              </a:extLst>
            </p:cNvPr>
            <p:cNvSpPr txBox="1"/>
            <p:nvPr userDrawn="1"/>
          </p:nvSpPr>
          <p:spPr>
            <a:xfrm>
              <a:off x="225461" y="-7666"/>
              <a:ext cx="38317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2800" b="1" dirty="0">
                  <a:solidFill>
                    <a:schemeClr val="tx1"/>
                  </a:solidFill>
                </a:rPr>
                <a:t>E</a:t>
              </a:r>
            </a:p>
          </p:txBody>
        </p:sp>
        <p:sp>
          <p:nvSpPr>
            <p:cNvPr id="32" name="ZoneTexte 31">
              <a:extLst>
                <a:ext uri="{FF2B5EF4-FFF2-40B4-BE49-F238E27FC236}">
                  <a16:creationId xmlns:a16="http://schemas.microsoft.com/office/drawing/2014/main" id="{0CB2CAD0-4815-468D-ABF6-919705E9C5E3}"/>
                </a:ext>
              </a:extLst>
            </p:cNvPr>
            <p:cNvSpPr txBox="1"/>
            <p:nvPr userDrawn="1"/>
          </p:nvSpPr>
          <p:spPr>
            <a:xfrm>
              <a:off x="667937" y="-7666"/>
              <a:ext cx="38317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2800" b="1" dirty="0">
                  <a:solidFill>
                    <a:schemeClr val="tx1"/>
                  </a:solidFill>
                </a:rPr>
                <a:t>H</a:t>
              </a:r>
            </a:p>
          </p:txBody>
        </p:sp>
        <p:cxnSp>
          <p:nvCxnSpPr>
            <p:cNvPr id="33" name="Connecteur droit 32">
              <a:extLst>
                <a:ext uri="{FF2B5EF4-FFF2-40B4-BE49-F238E27FC236}">
                  <a16:creationId xmlns:a16="http://schemas.microsoft.com/office/drawing/2014/main" id="{BC7D6874-B395-4592-B0BE-9A6D82CD36A5}"/>
                </a:ext>
              </a:extLst>
            </p:cNvPr>
            <p:cNvCxnSpPr/>
            <p:nvPr userDrawn="1"/>
          </p:nvCxnSpPr>
          <p:spPr>
            <a:xfrm>
              <a:off x="638284" y="102354"/>
              <a:ext cx="0" cy="28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34" name="Connecteur droit 33">
              <a:extLst>
                <a:ext uri="{FF2B5EF4-FFF2-40B4-BE49-F238E27FC236}">
                  <a16:creationId xmlns:a16="http://schemas.microsoft.com/office/drawing/2014/main" id="{C44D8DFD-F87C-4BB5-8A57-2AEDF1D6D8C5}"/>
                </a:ext>
              </a:extLst>
            </p:cNvPr>
            <p:cNvCxnSpPr/>
            <p:nvPr userDrawn="1"/>
          </p:nvCxnSpPr>
          <p:spPr>
            <a:xfrm>
              <a:off x="1080761" y="102354"/>
              <a:ext cx="0" cy="28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sp>
          <p:nvSpPr>
            <p:cNvPr id="35" name="ZoneTexte 34">
              <a:extLst>
                <a:ext uri="{FF2B5EF4-FFF2-40B4-BE49-F238E27FC236}">
                  <a16:creationId xmlns:a16="http://schemas.microsoft.com/office/drawing/2014/main" id="{A9835664-C7B8-4869-8883-A41BF950E6F8}"/>
                </a:ext>
              </a:extLst>
            </p:cNvPr>
            <p:cNvSpPr txBox="1"/>
            <p:nvPr userDrawn="1"/>
          </p:nvSpPr>
          <p:spPr>
            <a:xfrm>
              <a:off x="1110415" y="-7666"/>
              <a:ext cx="38317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2800" b="1" dirty="0">
                  <a:solidFill>
                    <a:schemeClr val="tx1"/>
                  </a:solidFill>
                </a:rPr>
                <a:t>S</a:t>
              </a:r>
            </a:p>
          </p:txBody>
        </p:sp>
      </p:grpSp>
      <p:pic>
        <p:nvPicPr>
          <p:cNvPr id="4" name="Image 3" descr="Une image contenant texte, capture d’écran, Graphique, Police&#10;&#10;Description générée automatiquement">
            <a:extLst>
              <a:ext uri="{FF2B5EF4-FFF2-40B4-BE49-F238E27FC236}">
                <a16:creationId xmlns:a16="http://schemas.microsoft.com/office/drawing/2014/main" id="{F53264A5-A975-7C99-D839-8A25684165F8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50066" y="8676877"/>
            <a:ext cx="1129130" cy="447198"/>
          </a:xfrm>
          <a:prstGeom prst="rect">
            <a:avLst/>
          </a:prstGeom>
        </p:spPr>
      </p:pic>
      <p:pic>
        <p:nvPicPr>
          <p:cNvPr id="6" name="Image 5" descr="Une image contenant texte, Police, Graphique, capture d’écran&#10;&#10;Description générée automatiquement">
            <a:extLst>
              <a:ext uri="{FF2B5EF4-FFF2-40B4-BE49-F238E27FC236}">
                <a16:creationId xmlns:a16="http://schemas.microsoft.com/office/drawing/2014/main" id="{A48441E3-2FB9-E42B-0831-2E09558A0F0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364" y="8714886"/>
            <a:ext cx="1891045" cy="400962"/>
          </a:xfrm>
          <a:prstGeom prst="rect">
            <a:avLst/>
          </a:prstGeom>
        </p:spPr>
      </p:pic>
      <p:pic>
        <p:nvPicPr>
          <p:cNvPr id="10" name="Image 9" descr="Une image contenant Police, texte, Graphique, capture d’écran&#10;&#10;Description générée automatiquement">
            <a:extLst>
              <a:ext uri="{FF2B5EF4-FFF2-40B4-BE49-F238E27FC236}">
                <a16:creationId xmlns:a16="http://schemas.microsoft.com/office/drawing/2014/main" id="{FA722DF0-C617-DF5A-793F-0B3469D7258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95" y="8722566"/>
            <a:ext cx="980728" cy="3854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342900" y="2133603"/>
            <a:ext cx="6172200" cy="6034617"/>
          </a:xfrm>
        </p:spPr>
        <p:txBody>
          <a:bodyPr/>
          <a:lstStyle>
            <a:lvl1pPr>
              <a:defRPr sz="220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</a:defRPr>
            </a:lvl1pPr>
            <a:lvl2pPr marL="742950" indent="-285750"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§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>
              <a:buClr>
                <a:schemeClr val="accent2">
                  <a:lumMod val="75000"/>
                </a:schemeClr>
              </a:buClr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>
              <a:buClr>
                <a:schemeClr val="accent2">
                  <a:lumMod val="75000"/>
                </a:schemeClr>
              </a:buClr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>
              <a:buClr>
                <a:schemeClr val="accent2">
                  <a:lumMod val="75000"/>
                </a:schemeClr>
              </a:buClr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5pPr>
          </a:lstStyle>
          <a:p>
            <a:pPr lvl="0"/>
            <a:r>
              <a:rPr lang="fr-FR" dirty="0"/>
              <a:t>Modifiez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  <a:endParaRPr lang="en-US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5231178" y="8622286"/>
            <a:ext cx="1600200" cy="486833"/>
          </a:xfrm>
        </p:spPr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 dirty="0"/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2084944" y="73005"/>
            <a:ext cx="3324276" cy="396000"/>
          </a:xfrm>
        </p:spPr>
        <p:txBody>
          <a:bodyPr>
            <a:normAutofit/>
          </a:bodyPr>
          <a:lstStyle>
            <a:lvl1pPr algn="l">
              <a:defRPr sz="1600" b="1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r>
              <a:rPr lang="fr-FR" dirty="0"/>
              <a:t>MODIFIEZ LE STYLE DU TITRE</a:t>
            </a:r>
            <a:endParaRPr lang="en-US" dirty="0"/>
          </a:p>
        </p:txBody>
      </p:sp>
      <p:sp>
        <p:nvSpPr>
          <p:cNvPr id="14" name="Rectangle 13"/>
          <p:cNvSpPr/>
          <p:nvPr userDrawn="1"/>
        </p:nvSpPr>
        <p:spPr>
          <a:xfrm rot="21336737">
            <a:off x="6034285" y="1174739"/>
            <a:ext cx="9114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600" b="1" i="1" dirty="0">
                <a:solidFill>
                  <a:schemeClr val="bg1"/>
                </a:solidFill>
              </a:rPr>
              <a:t>Sécurité</a:t>
            </a:r>
            <a:r>
              <a:rPr lang="fr-FR" sz="1600" i="1" dirty="0">
                <a:solidFill>
                  <a:schemeClr val="bg1"/>
                </a:solidFill>
              </a:rPr>
              <a:t> </a:t>
            </a:r>
            <a:endParaRPr lang="fr-FR" sz="16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91400DB-74B9-4BA2-AAFB-FCCF415A81B2}"/>
              </a:ext>
            </a:extLst>
          </p:cNvPr>
          <p:cNvSpPr/>
          <p:nvPr userDrawn="1"/>
        </p:nvSpPr>
        <p:spPr>
          <a:xfrm rot="21419042">
            <a:off x="5580365" y="195319"/>
            <a:ext cx="1260000" cy="162000"/>
          </a:xfrm>
          <a:prstGeom prst="rect">
            <a:avLst/>
          </a:prstGeom>
          <a:solidFill>
            <a:srgbClr val="9537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7675E8F-70B4-4A48-B343-06C820E4420A}"/>
              </a:ext>
            </a:extLst>
          </p:cNvPr>
          <p:cNvSpPr/>
          <p:nvPr userDrawn="1"/>
        </p:nvSpPr>
        <p:spPr>
          <a:xfrm rot="21336737">
            <a:off x="5707738" y="92467"/>
            <a:ext cx="121532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Sécurité</a:t>
            </a:r>
            <a:r>
              <a:rPr kumimoji="0" lang="fr-FR" sz="14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endParaRPr kumimoji="0" lang="fr-FR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11" name="Connecteur droit 10">
            <a:extLst>
              <a:ext uri="{FF2B5EF4-FFF2-40B4-BE49-F238E27FC236}">
                <a16:creationId xmlns:a16="http://schemas.microsoft.com/office/drawing/2014/main" id="{84CA98C3-2311-40F0-9DB3-D4D7E81206D6}"/>
              </a:ext>
            </a:extLst>
          </p:cNvPr>
          <p:cNvCxnSpPr>
            <a:cxnSpLocks/>
          </p:cNvCxnSpPr>
          <p:nvPr userDrawn="1"/>
        </p:nvCxnSpPr>
        <p:spPr>
          <a:xfrm>
            <a:off x="0" y="567272"/>
            <a:ext cx="6843754" cy="0"/>
          </a:xfrm>
          <a:prstGeom prst="line">
            <a:avLst/>
          </a:prstGeom>
          <a:ln w="28575">
            <a:solidFill>
              <a:srgbClr val="95373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Image 21">
            <a:extLst>
              <a:ext uri="{FF2B5EF4-FFF2-40B4-BE49-F238E27FC236}">
                <a16:creationId xmlns:a16="http://schemas.microsoft.com/office/drawing/2014/main" id="{3C217357-2348-498D-A9AD-461AFC911B7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GlowEdges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5703" y="102354"/>
            <a:ext cx="427885" cy="288000"/>
          </a:xfrm>
          <a:prstGeom prst="rect">
            <a:avLst/>
          </a:prstGeom>
        </p:spPr>
      </p:pic>
      <p:sp>
        <p:nvSpPr>
          <p:cNvPr id="16" name="Organigramme : Processus 39">
            <a:extLst>
              <a:ext uri="{FF2B5EF4-FFF2-40B4-BE49-F238E27FC236}">
                <a16:creationId xmlns:a16="http://schemas.microsoft.com/office/drawing/2014/main" id="{141FA877-18DD-42A1-AFCD-3D8DD81B29B1}"/>
              </a:ext>
            </a:extLst>
          </p:cNvPr>
          <p:cNvSpPr/>
          <p:nvPr userDrawn="1"/>
        </p:nvSpPr>
        <p:spPr>
          <a:xfrm>
            <a:off x="44624" y="36002"/>
            <a:ext cx="1589723" cy="451067"/>
          </a:xfrm>
          <a:prstGeom prst="flowChartProcess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17" name="Groupe 16">
            <a:extLst>
              <a:ext uri="{FF2B5EF4-FFF2-40B4-BE49-F238E27FC236}">
                <a16:creationId xmlns:a16="http://schemas.microsoft.com/office/drawing/2014/main" id="{9D9D0229-4443-49D5-9367-F87D56CC5F5B}"/>
              </a:ext>
            </a:extLst>
          </p:cNvPr>
          <p:cNvGrpSpPr/>
          <p:nvPr userDrawn="1"/>
        </p:nvGrpSpPr>
        <p:grpSpPr>
          <a:xfrm>
            <a:off x="205423" y="-7666"/>
            <a:ext cx="1268125" cy="523220"/>
            <a:chOff x="225461" y="-7666"/>
            <a:chExt cx="1268125" cy="523220"/>
          </a:xfrm>
        </p:grpSpPr>
        <p:sp>
          <p:nvSpPr>
            <p:cNvPr id="18" name="ZoneTexte 17">
              <a:extLst>
                <a:ext uri="{FF2B5EF4-FFF2-40B4-BE49-F238E27FC236}">
                  <a16:creationId xmlns:a16="http://schemas.microsoft.com/office/drawing/2014/main" id="{DD5C341F-D245-4F37-AFA5-DD2546D2114C}"/>
                </a:ext>
              </a:extLst>
            </p:cNvPr>
            <p:cNvSpPr txBox="1"/>
            <p:nvPr userDrawn="1"/>
          </p:nvSpPr>
          <p:spPr>
            <a:xfrm>
              <a:off x="225461" y="-7666"/>
              <a:ext cx="38317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2800" b="1" dirty="0">
                  <a:solidFill>
                    <a:schemeClr val="tx1"/>
                  </a:solidFill>
                </a:rPr>
                <a:t>E</a:t>
              </a:r>
            </a:p>
          </p:txBody>
        </p:sp>
        <p:sp>
          <p:nvSpPr>
            <p:cNvPr id="19" name="ZoneTexte 18">
              <a:extLst>
                <a:ext uri="{FF2B5EF4-FFF2-40B4-BE49-F238E27FC236}">
                  <a16:creationId xmlns:a16="http://schemas.microsoft.com/office/drawing/2014/main" id="{B661441A-B63E-44AE-848F-198768B6F615}"/>
                </a:ext>
              </a:extLst>
            </p:cNvPr>
            <p:cNvSpPr txBox="1"/>
            <p:nvPr userDrawn="1"/>
          </p:nvSpPr>
          <p:spPr>
            <a:xfrm>
              <a:off x="667937" y="-7666"/>
              <a:ext cx="38317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2800" b="1" dirty="0">
                  <a:solidFill>
                    <a:schemeClr val="tx1"/>
                  </a:solidFill>
                </a:rPr>
                <a:t>H</a:t>
              </a:r>
            </a:p>
          </p:txBody>
        </p:sp>
        <p:cxnSp>
          <p:nvCxnSpPr>
            <p:cNvPr id="20" name="Connecteur droit 19">
              <a:extLst>
                <a:ext uri="{FF2B5EF4-FFF2-40B4-BE49-F238E27FC236}">
                  <a16:creationId xmlns:a16="http://schemas.microsoft.com/office/drawing/2014/main" id="{E7A813A0-D0A3-48E4-A9F4-74C43B4A8E24}"/>
                </a:ext>
              </a:extLst>
            </p:cNvPr>
            <p:cNvCxnSpPr/>
            <p:nvPr userDrawn="1"/>
          </p:nvCxnSpPr>
          <p:spPr>
            <a:xfrm>
              <a:off x="638284" y="102354"/>
              <a:ext cx="0" cy="28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8" name="Connecteur droit 27">
              <a:extLst>
                <a:ext uri="{FF2B5EF4-FFF2-40B4-BE49-F238E27FC236}">
                  <a16:creationId xmlns:a16="http://schemas.microsoft.com/office/drawing/2014/main" id="{F9408BAB-1DCB-4BD3-84E1-6FFB7E3173DA}"/>
                </a:ext>
              </a:extLst>
            </p:cNvPr>
            <p:cNvCxnSpPr/>
            <p:nvPr userDrawn="1"/>
          </p:nvCxnSpPr>
          <p:spPr>
            <a:xfrm>
              <a:off x="1080761" y="102354"/>
              <a:ext cx="0" cy="28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sp>
          <p:nvSpPr>
            <p:cNvPr id="29" name="ZoneTexte 28">
              <a:extLst>
                <a:ext uri="{FF2B5EF4-FFF2-40B4-BE49-F238E27FC236}">
                  <a16:creationId xmlns:a16="http://schemas.microsoft.com/office/drawing/2014/main" id="{A61EF55B-9578-4DF4-868F-A173FC17ABBD}"/>
                </a:ext>
              </a:extLst>
            </p:cNvPr>
            <p:cNvSpPr txBox="1"/>
            <p:nvPr userDrawn="1"/>
          </p:nvSpPr>
          <p:spPr>
            <a:xfrm>
              <a:off x="1110415" y="-7666"/>
              <a:ext cx="38317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2800" b="1" dirty="0">
                  <a:solidFill>
                    <a:schemeClr val="tx1"/>
                  </a:solidFill>
                </a:rPr>
                <a:t>S</a:t>
              </a: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F6D75C28-A858-4DBE-8E74-03EF83F0D19C}"/>
              </a:ext>
            </a:extLst>
          </p:cNvPr>
          <p:cNvSpPr/>
          <p:nvPr userDrawn="1"/>
        </p:nvSpPr>
        <p:spPr>
          <a:xfrm rot="21419042">
            <a:off x="5580365" y="195319"/>
            <a:ext cx="1260000" cy="162000"/>
          </a:xfrm>
          <a:prstGeom prst="rect">
            <a:avLst/>
          </a:prstGeom>
          <a:solidFill>
            <a:srgbClr val="9537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514350" y="3572076"/>
            <a:ext cx="5829300" cy="1960033"/>
          </a:xfrm>
        </p:spPr>
        <p:txBody>
          <a:bodyPr>
            <a:normAutofit/>
          </a:bodyPr>
          <a:lstStyle>
            <a:lvl1pPr>
              <a:defRPr sz="4000" b="1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r>
              <a:rPr lang="fr-FR" dirty="0"/>
              <a:t>Modifiez le style du titre</a:t>
            </a:r>
            <a:endParaRPr lang="en-US" dirty="0"/>
          </a:p>
        </p:txBody>
      </p:sp>
      <p:sp>
        <p:nvSpPr>
          <p:cNvPr id="11" name="Rectangle 10"/>
          <p:cNvSpPr/>
          <p:nvPr userDrawn="1"/>
        </p:nvSpPr>
        <p:spPr>
          <a:xfrm rot="21336737">
            <a:off x="6034285" y="1174739"/>
            <a:ext cx="9114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600" b="1" i="1" dirty="0">
                <a:solidFill>
                  <a:schemeClr val="bg1"/>
                </a:solidFill>
              </a:rPr>
              <a:t>Sécurité</a:t>
            </a:r>
            <a:r>
              <a:rPr lang="fr-FR" sz="1600" i="1" dirty="0">
                <a:solidFill>
                  <a:schemeClr val="bg1"/>
                </a:solidFill>
              </a:rPr>
              <a:t> </a:t>
            </a:r>
            <a:endParaRPr lang="fr-FR" sz="1600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5245976" y="8640300"/>
            <a:ext cx="1600200" cy="486833"/>
          </a:xfrm>
        </p:spPr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F118979-9782-4E14-9322-76A1A224C26D}"/>
              </a:ext>
            </a:extLst>
          </p:cNvPr>
          <p:cNvSpPr/>
          <p:nvPr userDrawn="1"/>
        </p:nvSpPr>
        <p:spPr>
          <a:xfrm rot="21336737">
            <a:off x="5707738" y="92467"/>
            <a:ext cx="121532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Sécurité</a:t>
            </a:r>
            <a:r>
              <a:rPr kumimoji="0" lang="fr-FR" sz="14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endParaRPr kumimoji="0" lang="fr-FR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22" name="Connecteur droit 21">
            <a:extLst>
              <a:ext uri="{FF2B5EF4-FFF2-40B4-BE49-F238E27FC236}">
                <a16:creationId xmlns:a16="http://schemas.microsoft.com/office/drawing/2014/main" id="{7713889D-31CB-4B4F-8550-B3D14B79F071}"/>
              </a:ext>
            </a:extLst>
          </p:cNvPr>
          <p:cNvCxnSpPr>
            <a:cxnSpLocks/>
          </p:cNvCxnSpPr>
          <p:nvPr userDrawn="1"/>
        </p:nvCxnSpPr>
        <p:spPr>
          <a:xfrm>
            <a:off x="0" y="567272"/>
            <a:ext cx="6843754" cy="0"/>
          </a:xfrm>
          <a:prstGeom prst="line">
            <a:avLst/>
          </a:prstGeom>
          <a:ln w="28575">
            <a:solidFill>
              <a:srgbClr val="95373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Subtitle 2">
            <a:extLst>
              <a:ext uri="{FF2B5EF4-FFF2-40B4-BE49-F238E27FC236}">
                <a16:creationId xmlns:a16="http://schemas.microsoft.com/office/drawing/2014/main" id="{A4BED9CF-384A-405F-828A-B0B9681390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28700" y="5076093"/>
            <a:ext cx="4800600" cy="233680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dirty="0"/>
              <a:t>Modifiez le style des sous-titres du masque</a:t>
            </a:r>
            <a:endParaRPr lang="en-US" dirty="0"/>
          </a:p>
        </p:txBody>
      </p:sp>
      <p:pic>
        <p:nvPicPr>
          <p:cNvPr id="25" name="Image 24">
            <a:extLst>
              <a:ext uri="{FF2B5EF4-FFF2-40B4-BE49-F238E27FC236}">
                <a16:creationId xmlns:a16="http://schemas.microsoft.com/office/drawing/2014/main" id="{138D5F71-737B-4A21-B5D8-7E95C0B3738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GlowEdges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5703" y="102354"/>
            <a:ext cx="427885" cy="288000"/>
          </a:xfrm>
          <a:prstGeom prst="rect">
            <a:avLst/>
          </a:prstGeom>
        </p:spPr>
      </p:pic>
      <p:sp>
        <p:nvSpPr>
          <p:cNvPr id="16" name="Organigramme : Processus 39">
            <a:extLst>
              <a:ext uri="{FF2B5EF4-FFF2-40B4-BE49-F238E27FC236}">
                <a16:creationId xmlns:a16="http://schemas.microsoft.com/office/drawing/2014/main" id="{5330F6ED-A41A-4A1D-8B17-95C5918F5C71}"/>
              </a:ext>
            </a:extLst>
          </p:cNvPr>
          <p:cNvSpPr/>
          <p:nvPr userDrawn="1"/>
        </p:nvSpPr>
        <p:spPr>
          <a:xfrm>
            <a:off x="44624" y="36002"/>
            <a:ext cx="1589723" cy="451067"/>
          </a:xfrm>
          <a:prstGeom prst="flowChartProcess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17" name="Groupe 16">
            <a:extLst>
              <a:ext uri="{FF2B5EF4-FFF2-40B4-BE49-F238E27FC236}">
                <a16:creationId xmlns:a16="http://schemas.microsoft.com/office/drawing/2014/main" id="{FF3A157B-004D-4EA2-9AE3-2C1FB37AD034}"/>
              </a:ext>
            </a:extLst>
          </p:cNvPr>
          <p:cNvGrpSpPr/>
          <p:nvPr userDrawn="1"/>
        </p:nvGrpSpPr>
        <p:grpSpPr>
          <a:xfrm>
            <a:off x="205423" y="-7666"/>
            <a:ext cx="1268125" cy="523220"/>
            <a:chOff x="225461" y="-7666"/>
            <a:chExt cx="1268125" cy="523220"/>
          </a:xfrm>
        </p:grpSpPr>
        <p:sp>
          <p:nvSpPr>
            <p:cNvPr id="18" name="ZoneTexte 17">
              <a:extLst>
                <a:ext uri="{FF2B5EF4-FFF2-40B4-BE49-F238E27FC236}">
                  <a16:creationId xmlns:a16="http://schemas.microsoft.com/office/drawing/2014/main" id="{5BD154CB-D843-4DDD-848F-D7E65FE7267C}"/>
                </a:ext>
              </a:extLst>
            </p:cNvPr>
            <p:cNvSpPr txBox="1"/>
            <p:nvPr userDrawn="1"/>
          </p:nvSpPr>
          <p:spPr>
            <a:xfrm>
              <a:off x="225461" y="-7666"/>
              <a:ext cx="38317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2800" b="1" dirty="0">
                  <a:solidFill>
                    <a:schemeClr val="tx1"/>
                  </a:solidFill>
                </a:rPr>
                <a:t>E</a:t>
              </a:r>
            </a:p>
          </p:txBody>
        </p:sp>
        <p:sp>
          <p:nvSpPr>
            <p:cNvPr id="19" name="ZoneTexte 18">
              <a:extLst>
                <a:ext uri="{FF2B5EF4-FFF2-40B4-BE49-F238E27FC236}">
                  <a16:creationId xmlns:a16="http://schemas.microsoft.com/office/drawing/2014/main" id="{4EB0AD7C-D96D-4A4A-A49C-B209BD04AA85}"/>
                </a:ext>
              </a:extLst>
            </p:cNvPr>
            <p:cNvSpPr txBox="1"/>
            <p:nvPr userDrawn="1"/>
          </p:nvSpPr>
          <p:spPr>
            <a:xfrm>
              <a:off x="667937" y="-7666"/>
              <a:ext cx="38317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2800" b="1" dirty="0">
                  <a:solidFill>
                    <a:schemeClr val="tx1"/>
                  </a:solidFill>
                </a:rPr>
                <a:t>H</a:t>
              </a:r>
            </a:p>
          </p:txBody>
        </p:sp>
        <p:cxnSp>
          <p:nvCxnSpPr>
            <p:cNvPr id="20" name="Connecteur droit 19">
              <a:extLst>
                <a:ext uri="{FF2B5EF4-FFF2-40B4-BE49-F238E27FC236}">
                  <a16:creationId xmlns:a16="http://schemas.microsoft.com/office/drawing/2014/main" id="{13761CDD-AA1E-4F4C-B15A-CA7E92C2C298}"/>
                </a:ext>
              </a:extLst>
            </p:cNvPr>
            <p:cNvCxnSpPr/>
            <p:nvPr userDrawn="1"/>
          </p:nvCxnSpPr>
          <p:spPr>
            <a:xfrm>
              <a:off x="638284" y="102354"/>
              <a:ext cx="0" cy="28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1" name="Connecteur droit 20">
              <a:extLst>
                <a:ext uri="{FF2B5EF4-FFF2-40B4-BE49-F238E27FC236}">
                  <a16:creationId xmlns:a16="http://schemas.microsoft.com/office/drawing/2014/main" id="{F5A988A0-CD9A-40BA-8A9D-26E54425022F}"/>
                </a:ext>
              </a:extLst>
            </p:cNvPr>
            <p:cNvCxnSpPr/>
            <p:nvPr userDrawn="1"/>
          </p:nvCxnSpPr>
          <p:spPr>
            <a:xfrm>
              <a:off x="1080761" y="102354"/>
              <a:ext cx="0" cy="28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sp>
          <p:nvSpPr>
            <p:cNvPr id="31" name="ZoneTexte 30">
              <a:extLst>
                <a:ext uri="{FF2B5EF4-FFF2-40B4-BE49-F238E27FC236}">
                  <a16:creationId xmlns:a16="http://schemas.microsoft.com/office/drawing/2014/main" id="{E6FF3AA8-7ABA-4661-A357-E3D514D2855E}"/>
                </a:ext>
              </a:extLst>
            </p:cNvPr>
            <p:cNvSpPr txBox="1"/>
            <p:nvPr userDrawn="1"/>
          </p:nvSpPr>
          <p:spPr>
            <a:xfrm>
              <a:off x="1110415" y="-7666"/>
              <a:ext cx="38317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2800" b="1" dirty="0">
                  <a:solidFill>
                    <a:schemeClr val="tx1"/>
                  </a:solidFill>
                </a:rPr>
                <a:t>S</a:t>
              </a: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xfrm>
            <a:off x="5245976" y="8628372"/>
            <a:ext cx="1600200" cy="486833"/>
          </a:xfrm>
        </p:spPr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 dirty="0"/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1B1D058A-E8CD-486E-84CA-17D556BA6BA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GlowEdges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5703" y="102354"/>
            <a:ext cx="427885" cy="28800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757461C0-DF9E-46CF-91A2-1D3B4341B756}"/>
              </a:ext>
            </a:extLst>
          </p:cNvPr>
          <p:cNvSpPr/>
          <p:nvPr userDrawn="1"/>
        </p:nvSpPr>
        <p:spPr>
          <a:xfrm rot="21419042">
            <a:off x="5580365" y="195319"/>
            <a:ext cx="1260000" cy="162000"/>
          </a:xfrm>
          <a:prstGeom prst="rect">
            <a:avLst/>
          </a:prstGeom>
          <a:solidFill>
            <a:srgbClr val="9537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21" name="Connecteur droit 20">
            <a:extLst>
              <a:ext uri="{FF2B5EF4-FFF2-40B4-BE49-F238E27FC236}">
                <a16:creationId xmlns:a16="http://schemas.microsoft.com/office/drawing/2014/main" id="{76FBD52B-51A4-4F94-903B-B260DD9A7E04}"/>
              </a:ext>
            </a:extLst>
          </p:cNvPr>
          <p:cNvCxnSpPr>
            <a:cxnSpLocks/>
          </p:cNvCxnSpPr>
          <p:nvPr userDrawn="1"/>
        </p:nvCxnSpPr>
        <p:spPr>
          <a:xfrm>
            <a:off x="0" y="567272"/>
            <a:ext cx="6843754" cy="0"/>
          </a:xfrm>
          <a:prstGeom prst="line">
            <a:avLst/>
          </a:prstGeom>
          <a:ln w="28575">
            <a:solidFill>
              <a:srgbClr val="95373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86B07848-4A28-4A0B-B68B-0487589272D4}"/>
              </a:ext>
            </a:extLst>
          </p:cNvPr>
          <p:cNvSpPr/>
          <p:nvPr userDrawn="1"/>
        </p:nvSpPr>
        <p:spPr>
          <a:xfrm rot="21336737">
            <a:off x="5707738" y="92467"/>
            <a:ext cx="121532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Sécurité</a:t>
            </a:r>
            <a:r>
              <a:rPr kumimoji="0" lang="fr-FR" sz="1400" b="0" i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endParaRPr kumimoji="0" lang="fr-FR" sz="1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87924930-6B66-4BC1-BCE5-4F34A21094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84944" y="73005"/>
            <a:ext cx="3324276" cy="396000"/>
          </a:xfrm>
        </p:spPr>
        <p:txBody>
          <a:bodyPr>
            <a:normAutofit/>
          </a:bodyPr>
          <a:lstStyle>
            <a:lvl1pPr algn="l">
              <a:defRPr sz="1600" b="1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r>
              <a:rPr lang="fr-FR" dirty="0"/>
              <a:t>MODIFIEZ LE STYLE DU TITRE</a:t>
            </a:r>
            <a:endParaRPr lang="en-US" dirty="0"/>
          </a:p>
        </p:txBody>
      </p:sp>
      <p:sp>
        <p:nvSpPr>
          <p:cNvPr id="14" name="Organigramme : Processus 39">
            <a:extLst>
              <a:ext uri="{FF2B5EF4-FFF2-40B4-BE49-F238E27FC236}">
                <a16:creationId xmlns:a16="http://schemas.microsoft.com/office/drawing/2014/main" id="{E9DE247B-A4C8-42F8-8B21-DA2B07CF398E}"/>
              </a:ext>
            </a:extLst>
          </p:cNvPr>
          <p:cNvSpPr/>
          <p:nvPr userDrawn="1"/>
        </p:nvSpPr>
        <p:spPr>
          <a:xfrm>
            <a:off x="44624" y="36002"/>
            <a:ext cx="1589723" cy="451067"/>
          </a:xfrm>
          <a:prstGeom prst="flowChartProcess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15" name="Groupe 14">
            <a:extLst>
              <a:ext uri="{FF2B5EF4-FFF2-40B4-BE49-F238E27FC236}">
                <a16:creationId xmlns:a16="http://schemas.microsoft.com/office/drawing/2014/main" id="{DCF0AF35-CDA6-43DF-AE0F-7B8B4498653B}"/>
              </a:ext>
            </a:extLst>
          </p:cNvPr>
          <p:cNvGrpSpPr/>
          <p:nvPr userDrawn="1"/>
        </p:nvGrpSpPr>
        <p:grpSpPr>
          <a:xfrm>
            <a:off x="205423" y="-7666"/>
            <a:ext cx="1268125" cy="523220"/>
            <a:chOff x="225461" y="-7666"/>
            <a:chExt cx="1268125" cy="523220"/>
          </a:xfrm>
        </p:grpSpPr>
        <p:sp>
          <p:nvSpPr>
            <p:cNvPr id="22" name="ZoneTexte 21">
              <a:extLst>
                <a:ext uri="{FF2B5EF4-FFF2-40B4-BE49-F238E27FC236}">
                  <a16:creationId xmlns:a16="http://schemas.microsoft.com/office/drawing/2014/main" id="{33E25E92-8DF2-48CF-8BB7-B847180578AE}"/>
                </a:ext>
              </a:extLst>
            </p:cNvPr>
            <p:cNvSpPr txBox="1"/>
            <p:nvPr userDrawn="1"/>
          </p:nvSpPr>
          <p:spPr>
            <a:xfrm>
              <a:off x="225461" y="-7666"/>
              <a:ext cx="38317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2800" b="1" dirty="0">
                  <a:solidFill>
                    <a:schemeClr val="tx1"/>
                  </a:solidFill>
                </a:rPr>
                <a:t>E</a:t>
              </a:r>
            </a:p>
          </p:txBody>
        </p:sp>
        <p:sp>
          <p:nvSpPr>
            <p:cNvPr id="24" name="ZoneTexte 23">
              <a:extLst>
                <a:ext uri="{FF2B5EF4-FFF2-40B4-BE49-F238E27FC236}">
                  <a16:creationId xmlns:a16="http://schemas.microsoft.com/office/drawing/2014/main" id="{1EFA892D-E35A-4319-8CF2-7BF8AAD9CA1B}"/>
                </a:ext>
              </a:extLst>
            </p:cNvPr>
            <p:cNvSpPr txBox="1"/>
            <p:nvPr userDrawn="1"/>
          </p:nvSpPr>
          <p:spPr>
            <a:xfrm>
              <a:off x="667937" y="-7666"/>
              <a:ext cx="38317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2800" b="1" dirty="0">
                  <a:solidFill>
                    <a:schemeClr val="tx1"/>
                  </a:solidFill>
                </a:rPr>
                <a:t>H</a:t>
              </a:r>
            </a:p>
          </p:txBody>
        </p:sp>
        <p:cxnSp>
          <p:nvCxnSpPr>
            <p:cNvPr id="25" name="Connecteur droit 24">
              <a:extLst>
                <a:ext uri="{FF2B5EF4-FFF2-40B4-BE49-F238E27FC236}">
                  <a16:creationId xmlns:a16="http://schemas.microsoft.com/office/drawing/2014/main" id="{1E480AA5-4E8A-46B7-BD65-F73EA9D33380}"/>
                </a:ext>
              </a:extLst>
            </p:cNvPr>
            <p:cNvCxnSpPr/>
            <p:nvPr userDrawn="1"/>
          </p:nvCxnSpPr>
          <p:spPr>
            <a:xfrm>
              <a:off x="638284" y="102354"/>
              <a:ext cx="0" cy="28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6" name="Connecteur droit 25">
              <a:extLst>
                <a:ext uri="{FF2B5EF4-FFF2-40B4-BE49-F238E27FC236}">
                  <a16:creationId xmlns:a16="http://schemas.microsoft.com/office/drawing/2014/main" id="{83A2C94D-43C4-4C40-A9E1-A04A80FD019E}"/>
                </a:ext>
              </a:extLst>
            </p:cNvPr>
            <p:cNvCxnSpPr/>
            <p:nvPr userDrawn="1"/>
          </p:nvCxnSpPr>
          <p:spPr>
            <a:xfrm>
              <a:off x="1080761" y="102354"/>
              <a:ext cx="0" cy="28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sp>
          <p:nvSpPr>
            <p:cNvPr id="27" name="ZoneTexte 26">
              <a:extLst>
                <a:ext uri="{FF2B5EF4-FFF2-40B4-BE49-F238E27FC236}">
                  <a16:creationId xmlns:a16="http://schemas.microsoft.com/office/drawing/2014/main" id="{DC1B4AD0-C138-417E-BF3C-0C2BE06D917C}"/>
                </a:ext>
              </a:extLst>
            </p:cNvPr>
            <p:cNvSpPr txBox="1"/>
            <p:nvPr userDrawn="1"/>
          </p:nvSpPr>
          <p:spPr>
            <a:xfrm>
              <a:off x="1110415" y="-7666"/>
              <a:ext cx="38317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2800" b="1" dirty="0">
                  <a:solidFill>
                    <a:schemeClr val="tx1"/>
                  </a:solidFill>
                </a:rPr>
                <a:t>S</a:t>
              </a:r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e 1">
            <a:extLst>
              <a:ext uri="{FF2B5EF4-FFF2-40B4-BE49-F238E27FC236}">
                <a16:creationId xmlns:a16="http://schemas.microsoft.com/office/drawing/2014/main" id="{5FEA50C2-C1D8-4894-9436-676DBDB952E3}"/>
              </a:ext>
            </a:extLst>
          </p:cNvPr>
          <p:cNvGrpSpPr/>
          <p:nvPr userDrawn="1"/>
        </p:nvGrpSpPr>
        <p:grpSpPr>
          <a:xfrm>
            <a:off x="-10646" y="8677716"/>
            <a:ext cx="6854400" cy="504858"/>
            <a:chOff x="9468" y="8532440"/>
            <a:chExt cx="6854400" cy="675145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8738C8AE-A0C0-476D-BC21-C559F14C4D51}"/>
                </a:ext>
              </a:extLst>
            </p:cNvPr>
            <p:cNvSpPr/>
            <p:nvPr/>
          </p:nvSpPr>
          <p:spPr>
            <a:xfrm>
              <a:off x="9468" y="8532440"/>
              <a:ext cx="6854400" cy="5295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13500000" algn="b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800" dirty="0"/>
            </a:p>
          </p:txBody>
        </p:sp>
        <p:sp>
          <p:nvSpPr>
            <p:cNvPr id="4" name="ZoneTexte 3">
              <a:extLst>
                <a:ext uri="{FF2B5EF4-FFF2-40B4-BE49-F238E27FC236}">
                  <a16:creationId xmlns:a16="http://schemas.microsoft.com/office/drawing/2014/main" id="{3A8787D1-51C3-476D-9191-A72D84B6729C}"/>
                </a:ext>
              </a:extLst>
            </p:cNvPr>
            <p:cNvSpPr txBox="1"/>
            <p:nvPr/>
          </p:nvSpPr>
          <p:spPr>
            <a:xfrm>
              <a:off x="4797152" y="8609549"/>
              <a:ext cx="1841416" cy="598036"/>
            </a:xfrm>
            <a:prstGeom prst="rect">
              <a:avLst/>
            </a:prstGeom>
            <a:noFill/>
          </p:spPr>
          <p:txBody>
            <a:bodyPr wrap="square" lIns="77111" tIns="38556" rIns="77111" bIns="38556" rtlCol="0">
              <a:spAutoFit/>
            </a:bodyPr>
            <a:lstStyle/>
            <a:p>
              <a:r>
                <a:rPr lang="fr-FR" sz="800" i="1" dirty="0">
                  <a:latin typeface="Calibri" panose="020F0502020204030204" pitchFamily="34" charset="0"/>
                </a:rPr>
                <a:t>Ce document est confidentiel. Toute reproduction, même partielle est interdite.</a:t>
              </a:r>
            </a:p>
          </p:txBody>
        </p:sp>
      </p:grpSp>
      <p:pic>
        <p:nvPicPr>
          <p:cNvPr id="10" name="Image 9">
            <a:extLst>
              <a:ext uri="{FF2B5EF4-FFF2-40B4-BE49-F238E27FC236}">
                <a16:creationId xmlns:a16="http://schemas.microsoft.com/office/drawing/2014/main" id="{10EDB3D0-D811-4DA5-B5B6-85D06588031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1021" y="8828092"/>
            <a:ext cx="3277979" cy="188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00929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342900" y="2133603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  <a:endParaRPr lang="fr-BE" dirty="0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342900" y="8475136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t>15/02/2024</a:t>
            </a:fld>
            <a:endParaRPr lang="fr-BE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2343150" y="8475136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4914900" y="8475136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t>‹N°›</a:t>
            </a:fld>
            <a:endParaRPr lang="fr-BE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5" r:id="rId4"/>
    <p:sldLayoutId id="2147483656" r:id="rId5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ZoneTexte 20">
            <a:extLst>
              <a:ext uri="{FF2B5EF4-FFF2-40B4-BE49-F238E27FC236}">
                <a16:creationId xmlns:a16="http://schemas.microsoft.com/office/drawing/2014/main" id="{D2796E40-4CE2-4642-BE66-AC05C82FE3A7}"/>
              </a:ext>
            </a:extLst>
          </p:cNvPr>
          <p:cNvSpPr txBox="1"/>
          <p:nvPr/>
        </p:nvSpPr>
        <p:spPr>
          <a:xfrm>
            <a:off x="5642198" y="1119280"/>
            <a:ext cx="102716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fr-FR" sz="1000" dirty="0"/>
              <a:t>Autocontrôle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9A8858DD-7788-4FC3-A80A-47C2CCE8A64C}"/>
              </a:ext>
            </a:extLst>
          </p:cNvPr>
          <p:cNvSpPr txBox="1"/>
          <p:nvPr/>
        </p:nvSpPr>
        <p:spPr>
          <a:xfrm>
            <a:off x="5634896" y="1258409"/>
            <a:ext cx="15385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fr-FR" sz="1000" dirty="0"/>
              <a:t>Contrôle hiérarchique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2151F55E-C05B-4FC0-92EB-FE1027041E8E}"/>
              </a:ext>
            </a:extLst>
          </p:cNvPr>
          <p:cNvSpPr txBox="1"/>
          <p:nvPr/>
        </p:nvSpPr>
        <p:spPr>
          <a:xfrm>
            <a:off x="1484784" y="941403"/>
            <a:ext cx="93391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fr-FR" sz="1000" dirty="0"/>
              <a:t>Chubb Delta</a:t>
            </a: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17647BC0-502C-420C-BDF8-BF7C39BDB363}"/>
              </a:ext>
            </a:extLst>
          </p:cNvPr>
          <p:cNvSpPr txBox="1"/>
          <p:nvPr/>
        </p:nvSpPr>
        <p:spPr>
          <a:xfrm>
            <a:off x="500400" y="940116"/>
            <a:ext cx="95975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fr-FR" sz="1000" dirty="0"/>
              <a:t>Chubb France</a:t>
            </a:r>
          </a:p>
        </p:txBody>
      </p:sp>
      <p:sp>
        <p:nvSpPr>
          <p:cNvPr id="50" name="ZoneTexte 49">
            <a:extLst>
              <a:ext uri="{FF2B5EF4-FFF2-40B4-BE49-F238E27FC236}">
                <a16:creationId xmlns:a16="http://schemas.microsoft.com/office/drawing/2014/main" id="{62B5C796-F335-41F7-87CA-3E4EFBC50D38}"/>
              </a:ext>
            </a:extLst>
          </p:cNvPr>
          <p:cNvSpPr txBox="1"/>
          <p:nvPr/>
        </p:nvSpPr>
        <p:spPr>
          <a:xfrm>
            <a:off x="2414894" y="946438"/>
            <a:ext cx="109424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fr-FR" sz="1000" dirty="0"/>
              <a:t>Cemis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B4DA6D89-2D7F-4A6A-BFC3-E15F8F386594}"/>
              </a:ext>
            </a:extLst>
          </p:cNvPr>
          <p:cNvSpPr txBox="1"/>
          <p:nvPr/>
        </p:nvSpPr>
        <p:spPr>
          <a:xfrm>
            <a:off x="2265326" y="50317"/>
            <a:ext cx="42484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fr-FR" sz="2000" b="1" dirty="0">
                <a:solidFill>
                  <a:schemeClr val="accent2">
                    <a:lumMod val="50000"/>
                  </a:schemeClr>
                </a:solidFill>
              </a:rPr>
              <a:t>Contrôle véhicule et EPI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B3ABAE9F-D7B7-4A14-9906-3B79D7C5C85C}"/>
              </a:ext>
            </a:extLst>
          </p:cNvPr>
          <p:cNvSpPr txBox="1"/>
          <p:nvPr/>
        </p:nvSpPr>
        <p:spPr>
          <a:xfrm>
            <a:off x="-27384" y="930736"/>
            <a:ext cx="57606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fr-FR" sz="1000" b="1" u="sng" dirty="0"/>
              <a:t>Entité :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EFE47B86-7D02-4346-B843-DAB7B09A865D}"/>
              </a:ext>
            </a:extLst>
          </p:cNvPr>
          <p:cNvSpPr txBox="1"/>
          <p:nvPr/>
        </p:nvSpPr>
        <p:spPr>
          <a:xfrm>
            <a:off x="-50437" y="1266604"/>
            <a:ext cx="304738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fr-FR" sz="1000" b="1" u="sng" dirty="0"/>
              <a:t>Modèle véhicule et année : </a:t>
            </a:r>
            <a:endParaRPr lang="fr-FR" sz="9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3DBAB82-119B-4AFE-AB81-B35F86AE235C}"/>
              </a:ext>
            </a:extLst>
          </p:cNvPr>
          <p:cNvSpPr/>
          <p:nvPr/>
        </p:nvSpPr>
        <p:spPr>
          <a:xfrm>
            <a:off x="1482040" y="1027225"/>
            <a:ext cx="72000" cy="72000"/>
          </a:xfrm>
          <a:prstGeom prst="rect">
            <a:avLst/>
          </a:prstGeom>
          <a:ln w="19050">
            <a:solidFill>
              <a:srgbClr val="95373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just"/>
            <a:endParaRPr lang="fr-FR" sz="1000" dirty="0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21C7CC54-DD74-4CB3-8E48-6AF3A4ADE880}"/>
              </a:ext>
            </a:extLst>
          </p:cNvPr>
          <p:cNvSpPr txBox="1"/>
          <p:nvPr/>
        </p:nvSpPr>
        <p:spPr>
          <a:xfrm>
            <a:off x="-48980" y="1493234"/>
            <a:ext cx="17497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fr-FR" sz="1000" b="1" u="sng" dirty="0"/>
              <a:t>Immatriculation:</a:t>
            </a:r>
            <a:endParaRPr lang="fr-FR" sz="10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ABB2216-7018-4EFD-B434-02F93C42BD7D}"/>
              </a:ext>
            </a:extLst>
          </p:cNvPr>
          <p:cNvSpPr/>
          <p:nvPr/>
        </p:nvSpPr>
        <p:spPr>
          <a:xfrm>
            <a:off x="9525" y="1916582"/>
            <a:ext cx="6813376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ctr"/>
            <a:r>
              <a:rPr lang="fr-FR" sz="900" i="1" dirty="0">
                <a:solidFill>
                  <a:srgbClr val="953735"/>
                </a:solidFill>
              </a:rPr>
              <a:t>Chaque thème doit comporter une réponse et Chaque point différent de « OK » doit être traité dans les plus brefs délais soit par l’utilisateur (ex : pneus usés,  clignotants …) soit par l’agence (ex : véhicule rayé, rétroviseur cassé…). </a:t>
            </a:r>
            <a:r>
              <a:rPr lang="fr-FR" sz="900" b="1" i="1" u="sng" dirty="0">
                <a:solidFill>
                  <a:srgbClr val="953735"/>
                </a:solidFill>
              </a:rPr>
              <a:t>Toute case cochée « NOK » doit faire l’objet d’une action corrective.</a:t>
            </a:r>
            <a:endParaRPr lang="fr-FR" sz="900" b="1" i="1" u="sng" dirty="0">
              <a:solidFill>
                <a:srgbClr val="953735"/>
              </a:solidFill>
              <a:uFill>
                <a:solidFill>
                  <a:srgbClr val="663300"/>
                </a:solidFill>
              </a:uFill>
            </a:endParaRP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C415B82C-F5BC-4D86-A774-B2513DC4872B}"/>
              </a:ext>
            </a:extLst>
          </p:cNvPr>
          <p:cNvSpPr txBox="1"/>
          <p:nvPr/>
        </p:nvSpPr>
        <p:spPr>
          <a:xfrm>
            <a:off x="3669998" y="937120"/>
            <a:ext cx="109424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fr-FR" sz="1000" b="1" u="sng" dirty="0"/>
              <a:t>Agence :</a:t>
            </a:r>
            <a:r>
              <a:rPr lang="fr-FR" sz="800" dirty="0"/>
              <a:t> </a:t>
            </a:r>
            <a:endParaRPr lang="fr-FR" sz="1000" dirty="0"/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6B9DD094-338C-4122-BD19-27CCDA50C436}"/>
              </a:ext>
            </a:extLst>
          </p:cNvPr>
          <p:cNvSpPr txBox="1"/>
          <p:nvPr/>
        </p:nvSpPr>
        <p:spPr>
          <a:xfrm>
            <a:off x="-46128" y="1739455"/>
            <a:ext cx="14589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fr-FR" sz="1000" b="1" u="sng" dirty="0"/>
              <a:t>Kilométrage :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8FFB4F53-8360-4AC5-BDA6-FA59811190EE}"/>
              </a:ext>
            </a:extLst>
          </p:cNvPr>
          <p:cNvSpPr txBox="1"/>
          <p:nvPr/>
        </p:nvSpPr>
        <p:spPr>
          <a:xfrm>
            <a:off x="5805264" y="683568"/>
            <a:ext cx="86409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fr-FR" sz="1200" b="1" dirty="0"/>
              <a:t>Date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BFB1926-3067-4B4E-92D6-C7BF1085FACC}"/>
              </a:ext>
            </a:extLst>
          </p:cNvPr>
          <p:cNvSpPr/>
          <p:nvPr/>
        </p:nvSpPr>
        <p:spPr>
          <a:xfrm>
            <a:off x="5589240" y="899592"/>
            <a:ext cx="1233661" cy="252364"/>
          </a:xfrm>
          <a:prstGeom prst="rect">
            <a:avLst/>
          </a:prstGeom>
          <a:noFill/>
          <a:ln>
            <a:solidFill>
              <a:srgbClr val="953735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A2DF5FA5-C04D-4B12-B846-EB3029C5FDC2}"/>
              </a:ext>
            </a:extLst>
          </p:cNvPr>
          <p:cNvSpPr txBox="1"/>
          <p:nvPr/>
        </p:nvSpPr>
        <p:spPr>
          <a:xfrm>
            <a:off x="2564904" y="1733491"/>
            <a:ext cx="27363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fr-FR" sz="1000" b="1" u="sng" dirty="0"/>
              <a:t>Permis de conduire présenté le :</a:t>
            </a:r>
            <a:endParaRPr lang="fr-FR" sz="100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55A31D6-2EC3-46D8-B97C-A39A773B1E33}"/>
              </a:ext>
            </a:extLst>
          </p:cNvPr>
          <p:cNvSpPr/>
          <p:nvPr/>
        </p:nvSpPr>
        <p:spPr>
          <a:xfrm>
            <a:off x="5598765" y="1198920"/>
            <a:ext cx="72000" cy="72000"/>
          </a:xfrm>
          <a:prstGeom prst="rect">
            <a:avLst/>
          </a:prstGeom>
          <a:ln w="19050">
            <a:solidFill>
              <a:srgbClr val="95373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just"/>
            <a:endParaRPr lang="fr-FR" sz="1000" dirty="0"/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E71BD36F-184D-40DD-AAC7-6FFF0B14272D}"/>
              </a:ext>
            </a:extLst>
          </p:cNvPr>
          <p:cNvSpPr txBox="1"/>
          <p:nvPr/>
        </p:nvSpPr>
        <p:spPr>
          <a:xfrm>
            <a:off x="2564904" y="1259632"/>
            <a:ext cx="206754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fr-FR" sz="1000" b="1" u="sng" dirty="0"/>
              <a:t>Conducteur :</a:t>
            </a:r>
            <a:endParaRPr lang="fr-FR" sz="1000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13E822C-1B25-4397-9549-6952104EB7B2}"/>
              </a:ext>
            </a:extLst>
          </p:cNvPr>
          <p:cNvSpPr/>
          <p:nvPr/>
        </p:nvSpPr>
        <p:spPr>
          <a:xfrm>
            <a:off x="492302" y="1027225"/>
            <a:ext cx="69916" cy="72000"/>
          </a:xfrm>
          <a:prstGeom prst="rect">
            <a:avLst/>
          </a:prstGeom>
          <a:ln w="19050">
            <a:solidFill>
              <a:srgbClr val="95373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just"/>
            <a:endParaRPr lang="fr-FR" sz="1000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7C59F89-C820-4E5B-82A9-2EFADF9FB7AD}"/>
              </a:ext>
            </a:extLst>
          </p:cNvPr>
          <p:cNvSpPr/>
          <p:nvPr/>
        </p:nvSpPr>
        <p:spPr>
          <a:xfrm>
            <a:off x="5598765" y="1351320"/>
            <a:ext cx="72000" cy="72000"/>
          </a:xfrm>
          <a:prstGeom prst="rect">
            <a:avLst/>
          </a:prstGeom>
          <a:ln w="19050">
            <a:solidFill>
              <a:srgbClr val="95373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endParaRPr lang="fr-FR" sz="1000" dirty="0"/>
          </a:p>
        </p:txBody>
      </p:sp>
      <p:graphicFrame>
        <p:nvGraphicFramePr>
          <p:cNvPr id="28" name="Tableau 27">
            <a:extLst>
              <a:ext uri="{FF2B5EF4-FFF2-40B4-BE49-F238E27FC236}">
                <a16:creationId xmlns:a16="http://schemas.microsoft.com/office/drawing/2014/main" id="{CF981B46-4E56-4D12-B25A-7DD4170594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9050875"/>
              </p:ext>
            </p:extLst>
          </p:nvPr>
        </p:nvGraphicFramePr>
        <p:xfrm>
          <a:off x="56678" y="2833504"/>
          <a:ext cx="3122857" cy="12344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0152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24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25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2565">
                  <a:extLst>
                    <a:ext uri="{9D8B030D-6E8A-4147-A177-3AD203B41FA5}">
                      <a16:colId xmlns:a16="http://schemas.microsoft.com/office/drawing/2014/main" val="127545967"/>
                    </a:ext>
                  </a:extLst>
                </a:gridCol>
              </a:tblGrid>
              <a:tr h="214812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Calibri" panose="020F0502020204030204" pitchFamily="34" charset="0"/>
                        </a:rPr>
                        <a:t>Identification du véhicule          </a:t>
                      </a:r>
                    </a:p>
                  </a:txBody>
                  <a:tcPr marL="36000" marR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Calibri" panose="020F0502020204030204" pitchFamily="34" charset="0"/>
                        </a:rPr>
                        <a:t>OK</a:t>
                      </a:r>
                    </a:p>
                  </a:txBody>
                  <a:tcPr marL="36000" marR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Calibri" panose="020F0502020204030204" pitchFamily="34" charset="0"/>
                        </a:rPr>
                        <a:t>NOK</a:t>
                      </a:r>
                    </a:p>
                  </a:txBody>
                  <a:tcPr marL="36000" marR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Calibri" panose="020F0502020204030204" pitchFamily="34" charset="0"/>
                        </a:rPr>
                        <a:t>N/A</a:t>
                      </a:r>
                    </a:p>
                  </a:txBody>
                  <a:tcPr marL="36000" marR="360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37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Calibri" panose="020F0502020204030204" pitchFamily="34" charset="0"/>
                        </a:rPr>
                        <a:t>- Plaque d’immatriculation , vignettes (Crit'Air, CT, assurance)</a:t>
                      </a:r>
                      <a:endParaRPr lang="fr-FR" sz="900" baseline="0" dirty="0">
                        <a:latin typeface="Calibri" panose="020F0502020204030204" pitchFamily="34" charset="0"/>
                      </a:endParaRPr>
                    </a:p>
                  </a:txBody>
                  <a:tcPr marL="36000" marR="36000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/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/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/>
                    </a:p>
                  </a:txBody>
                  <a:tcPr marL="36000" marR="36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147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baseline="0" dirty="0">
                          <a:solidFill>
                            <a:schemeClr val="tx2"/>
                          </a:solidFill>
                          <a:latin typeface="Calibri" panose="020F0502020204030204" pitchFamily="34" charset="0"/>
                        </a:rPr>
                        <a:t>- CT (véhicule de + 4 ans) : 1 fois sur 2 ans en alternance avec le contrôle anti-</a:t>
                      </a:r>
                      <a:r>
                        <a:rPr lang="fr-FR" sz="900" i="0" baseline="0" dirty="0">
                          <a:solidFill>
                            <a:schemeClr val="tx2"/>
                          </a:solidFill>
                          <a:latin typeface="Calibri" panose="020F0502020204030204" pitchFamily="34" charset="0"/>
                        </a:rPr>
                        <a:t>pollution : applicable pour les véhicules utilitaires et de services.</a:t>
                      </a:r>
                      <a:endParaRPr lang="fr-FR" sz="900" i="0" dirty="0">
                        <a:solidFill>
                          <a:schemeClr val="tx2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36000" marR="36000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/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/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/>
                    </a:p>
                  </a:txBody>
                  <a:tcPr marL="36000" marR="36000" anchor="ctr"/>
                </a:tc>
                <a:extLst>
                  <a:ext uri="{0D108BD9-81ED-4DB2-BD59-A6C34878D82A}">
                    <a16:rowId xmlns:a16="http://schemas.microsoft.com/office/drawing/2014/main" val="3630873940"/>
                  </a:ext>
                </a:extLst>
              </a:tr>
            </a:tbl>
          </a:graphicData>
        </a:graphic>
      </p:graphicFrame>
      <p:cxnSp>
        <p:nvCxnSpPr>
          <p:cNvPr id="29" name="Connecteur droit 28">
            <a:extLst>
              <a:ext uri="{FF2B5EF4-FFF2-40B4-BE49-F238E27FC236}">
                <a16:creationId xmlns:a16="http://schemas.microsoft.com/office/drawing/2014/main" id="{1A9BFFDC-AE34-4A91-9F31-EA1CEC296CDE}"/>
              </a:ext>
            </a:extLst>
          </p:cNvPr>
          <p:cNvCxnSpPr>
            <a:cxnSpLocks/>
          </p:cNvCxnSpPr>
          <p:nvPr/>
        </p:nvCxnSpPr>
        <p:spPr>
          <a:xfrm>
            <a:off x="2239839" y="3901119"/>
            <a:ext cx="74064" cy="50662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aphicFrame>
        <p:nvGraphicFramePr>
          <p:cNvPr id="30" name="Tableau 29">
            <a:extLst>
              <a:ext uri="{FF2B5EF4-FFF2-40B4-BE49-F238E27FC236}">
                <a16:creationId xmlns:a16="http://schemas.microsoft.com/office/drawing/2014/main" id="{D9957101-A952-4C3B-A1CC-80F1241618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4739499"/>
              </p:ext>
            </p:extLst>
          </p:nvPr>
        </p:nvGraphicFramePr>
        <p:xfrm>
          <a:off x="56678" y="2239003"/>
          <a:ext cx="3886244" cy="59436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0997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01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63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0085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Calibri" panose="020F0502020204030204" pitchFamily="34" charset="0"/>
                        </a:rPr>
                        <a:t>Visibilité</a:t>
                      </a:r>
                    </a:p>
                  </a:txBody>
                  <a:tcPr marL="36000" marR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Calibri" panose="020F0502020204030204" pitchFamily="34" charset="0"/>
                        </a:rPr>
                        <a:t>OK</a:t>
                      </a:r>
                    </a:p>
                  </a:txBody>
                  <a:tcPr marL="36000" marR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Calibri" panose="020F0502020204030204" pitchFamily="34" charset="0"/>
                        </a:rPr>
                        <a:t>NOK</a:t>
                      </a:r>
                    </a:p>
                  </a:txBody>
                  <a:tcPr marL="36000" marR="360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136">
                <a:tc>
                  <a:txBody>
                    <a:bodyPr/>
                    <a:lstStyle/>
                    <a:p>
                      <a:r>
                        <a:rPr lang="fr-FR" sz="900" dirty="0">
                          <a:latin typeface="Calibri" panose="020F0502020204030204" pitchFamily="34" charset="0"/>
                        </a:rPr>
                        <a:t>Pare-Brise, autres vitrages,</a:t>
                      </a:r>
                      <a:r>
                        <a:rPr lang="fr-FR" sz="900" baseline="0" dirty="0">
                          <a:latin typeface="Calibri" panose="020F0502020204030204" pitchFamily="34" charset="0"/>
                        </a:rPr>
                        <a:t> rétroviseurs intérieurs et extérieurs, essuies glaces</a:t>
                      </a:r>
                      <a:endParaRPr lang="fr-FR" sz="900" dirty="0">
                        <a:latin typeface="Calibri" panose="020F0502020204030204" pitchFamily="34" charset="0"/>
                      </a:endParaRPr>
                    </a:p>
                  </a:txBody>
                  <a:tcPr marL="36000" marR="36000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/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/>
                    </a:p>
                  </a:txBody>
                  <a:tcPr marL="36000" marR="36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2" name="Tableau 31">
            <a:extLst>
              <a:ext uri="{FF2B5EF4-FFF2-40B4-BE49-F238E27FC236}">
                <a16:creationId xmlns:a16="http://schemas.microsoft.com/office/drawing/2014/main" id="{42A8FB97-5D97-421C-BAE2-03AEDF55D9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5134209"/>
              </p:ext>
            </p:extLst>
          </p:nvPr>
        </p:nvGraphicFramePr>
        <p:xfrm>
          <a:off x="41358" y="4978654"/>
          <a:ext cx="2458451" cy="115489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5417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34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5244">
                  <a:extLst>
                    <a:ext uri="{9D8B030D-6E8A-4147-A177-3AD203B41FA5}">
                      <a16:colId xmlns:a16="http://schemas.microsoft.com/office/drawing/2014/main" val="784752435"/>
                    </a:ext>
                  </a:extLst>
                </a:gridCol>
              </a:tblGrid>
              <a:tr h="207980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Calibri" panose="020F0502020204030204" pitchFamily="34" charset="0"/>
                        </a:rPr>
                        <a:t>Pneumatiques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Calibri" panose="020F0502020204030204" pitchFamily="34" charset="0"/>
                        </a:rPr>
                        <a:t>OK</a:t>
                      </a:r>
                    </a:p>
                  </a:txBody>
                  <a:tcPr marL="36000" marR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Calibri" panose="020F0502020204030204" pitchFamily="34" charset="0"/>
                        </a:rPr>
                        <a:t>NOK</a:t>
                      </a:r>
                    </a:p>
                  </a:txBody>
                  <a:tcPr marL="36000" marR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Calibri" panose="020F0502020204030204" pitchFamily="34" charset="0"/>
                        </a:rPr>
                        <a:t>N/A</a:t>
                      </a:r>
                    </a:p>
                  </a:txBody>
                  <a:tcPr marL="36000" marR="360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9826">
                <a:tc>
                  <a:txBody>
                    <a:bodyPr/>
                    <a:lstStyle/>
                    <a:p>
                      <a:r>
                        <a:rPr lang="fr-FR" sz="900" dirty="0">
                          <a:latin typeface="Calibri" panose="020F0502020204030204" pitchFamily="34" charset="0"/>
                        </a:rPr>
                        <a:t>Roue de</a:t>
                      </a:r>
                      <a:r>
                        <a:rPr lang="fr-FR" sz="900" baseline="0" dirty="0">
                          <a:latin typeface="Calibri" panose="020F0502020204030204" pitchFamily="34" charset="0"/>
                        </a:rPr>
                        <a:t> secours + cric + manivelle, usure des pneus, contrôle visuel de la pression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/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/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/>
                    </a:p>
                  </a:txBody>
                  <a:tcPr marL="36000" marR="36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337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baseline="0" dirty="0">
                          <a:solidFill>
                            <a:schemeClr val="tx2"/>
                          </a:solidFill>
                          <a:latin typeface="Calibri" panose="020F0502020204030204" pitchFamily="34" charset="0"/>
                        </a:rPr>
                        <a:t>- Suivant loi montagne : équipement pneus neige</a:t>
                      </a:r>
                      <a:endParaRPr lang="fr-FR" sz="900" dirty="0">
                        <a:solidFill>
                          <a:schemeClr val="tx2"/>
                        </a:solidFill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/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/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/>
                    </a:p>
                  </a:txBody>
                  <a:tcPr marL="36000" marR="36000" anchor="ctr"/>
                </a:tc>
                <a:extLst>
                  <a:ext uri="{0D108BD9-81ED-4DB2-BD59-A6C34878D82A}">
                    <a16:rowId xmlns:a16="http://schemas.microsoft.com/office/drawing/2014/main" val="1205952829"/>
                  </a:ext>
                </a:extLst>
              </a:tr>
            </a:tbl>
          </a:graphicData>
        </a:graphic>
      </p:graphicFrame>
      <p:cxnSp>
        <p:nvCxnSpPr>
          <p:cNvPr id="33" name="Connecteur droit 32">
            <a:extLst>
              <a:ext uri="{FF2B5EF4-FFF2-40B4-BE49-F238E27FC236}">
                <a16:creationId xmlns:a16="http://schemas.microsoft.com/office/drawing/2014/main" id="{6596BF76-6380-422E-8495-429C209FB123}"/>
              </a:ext>
            </a:extLst>
          </p:cNvPr>
          <p:cNvCxnSpPr>
            <a:cxnSpLocks/>
          </p:cNvCxnSpPr>
          <p:nvPr/>
        </p:nvCxnSpPr>
        <p:spPr>
          <a:xfrm flipH="1">
            <a:off x="2401356" y="4700342"/>
            <a:ext cx="180134" cy="31482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aphicFrame>
        <p:nvGraphicFramePr>
          <p:cNvPr id="34" name="Tableau 33">
            <a:extLst>
              <a:ext uri="{FF2B5EF4-FFF2-40B4-BE49-F238E27FC236}">
                <a16:creationId xmlns:a16="http://schemas.microsoft.com/office/drawing/2014/main" id="{4B097DED-5BE5-47F2-913B-8A19A2A440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1293286"/>
              </p:ext>
            </p:extLst>
          </p:nvPr>
        </p:nvGraphicFramePr>
        <p:xfrm>
          <a:off x="4389562" y="2924944"/>
          <a:ext cx="2411760" cy="11430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8356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0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3014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Calibri" panose="020F0502020204030204" pitchFamily="34" charset="0"/>
                        </a:rPr>
                        <a:t>Rangement et propreté</a:t>
                      </a:r>
                    </a:p>
                  </a:txBody>
                  <a:tcPr marL="36000" marR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Calibri" panose="020F0502020204030204" pitchFamily="34" charset="0"/>
                        </a:rPr>
                        <a:t>OK</a:t>
                      </a:r>
                    </a:p>
                  </a:txBody>
                  <a:tcPr marL="36000" marR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Calibri" panose="020F0502020204030204" pitchFamily="34" charset="0"/>
                        </a:rPr>
                        <a:t>NOK</a:t>
                      </a:r>
                    </a:p>
                  </a:txBody>
                  <a:tcPr marL="36000" marR="360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45402">
                <a:tc>
                  <a:txBody>
                    <a:bodyPr/>
                    <a:lstStyle/>
                    <a:p>
                      <a:r>
                        <a:rPr lang="fr-FR" sz="900" dirty="0">
                          <a:latin typeface="Calibri" panose="020F0502020204030204" pitchFamily="34" charset="0"/>
                        </a:rPr>
                        <a:t>Habitacle / poste de conduite</a:t>
                      </a:r>
                      <a:r>
                        <a:rPr lang="fr-FR" sz="900" baseline="0" dirty="0">
                          <a:latin typeface="Calibri" panose="020F0502020204030204" pitchFamily="34" charset="0"/>
                        </a:rPr>
                        <a:t> propre et rangé, stabilité du chargement, plage arrière dégagée, produits chimiques liquides stockés dans bacs de rétention, matériel et outils facilement accessible</a:t>
                      </a:r>
                      <a:endParaRPr lang="fr-FR" sz="900" dirty="0">
                        <a:latin typeface="Calibri" panose="020F0502020204030204" pitchFamily="34" charset="0"/>
                      </a:endParaRPr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/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/>
                    </a:p>
                  </a:txBody>
                  <a:tcPr marL="36000" marR="36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35" name="Connecteur droit 34">
            <a:extLst>
              <a:ext uri="{FF2B5EF4-FFF2-40B4-BE49-F238E27FC236}">
                <a16:creationId xmlns:a16="http://schemas.microsoft.com/office/drawing/2014/main" id="{56E3E761-052F-4B45-9BC6-9A33A3EFCC33}"/>
              </a:ext>
            </a:extLst>
          </p:cNvPr>
          <p:cNvCxnSpPr>
            <a:cxnSpLocks/>
            <a:stCxn id="34" idx="1"/>
          </p:cNvCxnSpPr>
          <p:nvPr/>
        </p:nvCxnSpPr>
        <p:spPr>
          <a:xfrm flipH="1">
            <a:off x="3777281" y="3496444"/>
            <a:ext cx="612281" cy="816417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aphicFrame>
        <p:nvGraphicFramePr>
          <p:cNvPr id="36" name="Tableau 35">
            <a:extLst>
              <a:ext uri="{FF2B5EF4-FFF2-40B4-BE49-F238E27FC236}">
                <a16:creationId xmlns:a16="http://schemas.microsoft.com/office/drawing/2014/main" id="{9AF0DC69-797E-43F3-AE75-8131348219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7295657"/>
              </p:ext>
            </p:extLst>
          </p:nvPr>
        </p:nvGraphicFramePr>
        <p:xfrm>
          <a:off x="56678" y="4081982"/>
          <a:ext cx="2045782" cy="8686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4549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281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1352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Calibri" panose="020F0502020204030204" pitchFamily="34" charset="0"/>
                        </a:rPr>
                        <a:t>Eclairage - signalisation</a:t>
                      </a:r>
                    </a:p>
                  </a:txBody>
                  <a:tcPr marL="36000" marR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Calibri" panose="020F0502020204030204" pitchFamily="34" charset="0"/>
                        </a:rPr>
                        <a:t>OK</a:t>
                      </a:r>
                    </a:p>
                  </a:txBody>
                  <a:tcPr marL="36000" marR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Calibri" panose="020F0502020204030204" pitchFamily="34" charset="0"/>
                        </a:rPr>
                        <a:t>NOK</a:t>
                      </a:r>
                    </a:p>
                  </a:txBody>
                  <a:tcPr marL="36000" marR="360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1859">
                <a:tc>
                  <a:txBody>
                    <a:bodyPr/>
                    <a:lstStyle/>
                    <a:p>
                      <a:r>
                        <a:rPr lang="fr-FR" sz="900" dirty="0">
                          <a:latin typeface="Calibri" panose="020F0502020204030204" pitchFamily="34" charset="0"/>
                        </a:rPr>
                        <a:t>Feux de</a:t>
                      </a:r>
                      <a:r>
                        <a:rPr lang="fr-FR" sz="900" baseline="0" dirty="0">
                          <a:latin typeface="Calibri" panose="020F0502020204030204" pitchFamily="34" charset="0"/>
                        </a:rPr>
                        <a:t> signalisation, phares, clignotants, feux de recul, éclairage plaque d’immatriculation, klaxon</a:t>
                      </a:r>
                      <a:endParaRPr lang="fr-FR" sz="900" dirty="0">
                        <a:latin typeface="Calibri" panose="020F0502020204030204" pitchFamily="34" charset="0"/>
                      </a:endParaRPr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/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/>
                    </a:p>
                  </a:txBody>
                  <a:tcPr marL="36000" marR="36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37" name="Connecteur droit 36">
            <a:extLst>
              <a:ext uri="{FF2B5EF4-FFF2-40B4-BE49-F238E27FC236}">
                <a16:creationId xmlns:a16="http://schemas.microsoft.com/office/drawing/2014/main" id="{E50F27A0-2FBE-4811-853D-35291C1A0325}"/>
              </a:ext>
            </a:extLst>
          </p:cNvPr>
          <p:cNvCxnSpPr>
            <a:cxnSpLocks/>
          </p:cNvCxnSpPr>
          <p:nvPr/>
        </p:nvCxnSpPr>
        <p:spPr>
          <a:xfrm flipH="1">
            <a:off x="2132856" y="4658311"/>
            <a:ext cx="2685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aphicFrame>
        <p:nvGraphicFramePr>
          <p:cNvPr id="38" name="Tableau 37">
            <a:extLst>
              <a:ext uri="{FF2B5EF4-FFF2-40B4-BE49-F238E27FC236}">
                <a16:creationId xmlns:a16="http://schemas.microsoft.com/office/drawing/2014/main" id="{FFFED8B0-6B7F-4B2F-B2AA-BAF322F381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3377841"/>
              </p:ext>
            </p:extLst>
          </p:nvPr>
        </p:nvGraphicFramePr>
        <p:xfrm>
          <a:off x="4051644" y="2267744"/>
          <a:ext cx="2736304" cy="59436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16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0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58162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Calibri" panose="020F0502020204030204" pitchFamily="34" charset="0"/>
                        </a:rPr>
                        <a:t>Structure</a:t>
                      </a:r>
                    </a:p>
                  </a:txBody>
                  <a:tcPr marL="36000" marR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Calibri" panose="020F0502020204030204" pitchFamily="34" charset="0"/>
                        </a:rPr>
                        <a:t>OK</a:t>
                      </a:r>
                    </a:p>
                  </a:txBody>
                  <a:tcPr marL="36000" marR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Calibri" panose="020F0502020204030204" pitchFamily="34" charset="0"/>
                        </a:rPr>
                        <a:t>NOK</a:t>
                      </a:r>
                    </a:p>
                  </a:txBody>
                  <a:tcPr marL="36000" marR="360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1859">
                <a:tc>
                  <a:txBody>
                    <a:bodyPr/>
                    <a:lstStyle/>
                    <a:p>
                      <a:r>
                        <a:rPr lang="fr-FR" sz="900" dirty="0">
                          <a:latin typeface="Calibri" panose="020F0502020204030204" pitchFamily="34" charset="0"/>
                        </a:rPr>
                        <a:t>Carrosseries, pare-choc</a:t>
                      </a:r>
                      <a:r>
                        <a:rPr lang="fr-FR" sz="900" baseline="0" dirty="0">
                          <a:latin typeface="Calibri" panose="020F0502020204030204" pitchFamily="34" charset="0"/>
                        </a:rPr>
                        <a:t>, boucliers </a:t>
                      </a:r>
                    </a:p>
                    <a:p>
                      <a:r>
                        <a:rPr lang="fr-FR" sz="900" b="1" i="1" baseline="0" dirty="0">
                          <a:latin typeface="Calibri" panose="020F0502020204030204" pitchFamily="34" charset="0"/>
                        </a:rPr>
                        <a:t>(cocher sur le dessin les endroits d’impact)</a:t>
                      </a:r>
                      <a:endParaRPr lang="fr-FR" sz="900" b="1" i="1" dirty="0">
                        <a:latin typeface="Calibri" panose="020F0502020204030204" pitchFamily="34" charset="0"/>
                      </a:endParaRPr>
                    </a:p>
                  </a:txBody>
                  <a:tcPr marL="36000" marR="36000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/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/>
                    </a:p>
                  </a:txBody>
                  <a:tcPr marL="36000" marR="360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39" name="Connecteur droit 38">
            <a:extLst>
              <a:ext uri="{FF2B5EF4-FFF2-40B4-BE49-F238E27FC236}">
                <a16:creationId xmlns:a16="http://schemas.microsoft.com/office/drawing/2014/main" id="{DB56D4A5-AF7E-4460-A8EF-153245E48D51}"/>
              </a:ext>
            </a:extLst>
          </p:cNvPr>
          <p:cNvCxnSpPr>
            <a:cxnSpLocks/>
          </p:cNvCxnSpPr>
          <p:nvPr/>
        </p:nvCxnSpPr>
        <p:spPr>
          <a:xfrm flipH="1">
            <a:off x="3514527" y="2889347"/>
            <a:ext cx="875035" cy="1178597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aphicFrame>
        <p:nvGraphicFramePr>
          <p:cNvPr id="40" name="Tableau 39">
            <a:extLst>
              <a:ext uri="{FF2B5EF4-FFF2-40B4-BE49-F238E27FC236}">
                <a16:creationId xmlns:a16="http://schemas.microsoft.com/office/drawing/2014/main" id="{8212F0BC-E3B8-476F-B9C6-A736A4E83B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6789643"/>
              </p:ext>
            </p:extLst>
          </p:nvPr>
        </p:nvGraphicFramePr>
        <p:xfrm>
          <a:off x="2536842" y="4857812"/>
          <a:ext cx="2161205" cy="128016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3882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60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0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8922">
                  <a:extLst>
                    <a:ext uri="{9D8B030D-6E8A-4147-A177-3AD203B41FA5}">
                      <a16:colId xmlns:a16="http://schemas.microsoft.com/office/drawing/2014/main" val="734395811"/>
                    </a:ext>
                  </a:extLst>
                </a:gridCol>
              </a:tblGrid>
              <a:tr h="267777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Calibri" panose="020F0502020204030204" pitchFamily="34" charset="0"/>
                        </a:rPr>
                        <a:t>Transport détecteurs ioniques</a:t>
                      </a:r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Calibri" panose="020F0502020204030204" pitchFamily="34" charset="0"/>
                        </a:rPr>
                        <a:t>OK</a:t>
                      </a:r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Calibri" panose="020F0502020204030204" pitchFamily="34" charset="0"/>
                        </a:rPr>
                        <a:t>NOK</a:t>
                      </a:r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Calibri" panose="020F0502020204030204" pitchFamily="34" charset="0"/>
                        </a:rPr>
                        <a:t>N/A</a:t>
                      </a:r>
                    </a:p>
                  </a:txBody>
                  <a:tcPr marL="36000" marR="360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95163">
                <a:tc>
                  <a:txBody>
                    <a:bodyPr/>
                    <a:lstStyle/>
                    <a:p>
                      <a:r>
                        <a:rPr lang="fr-FR" sz="900" dirty="0">
                          <a:latin typeface="Calibri" panose="020F0502020204030204" pitchFamily="34" charset="0"/>
                        </a:rPr>
                        <a:t>Caisse /carton</a:t>
                      </a:r>
                      <a:r>
                        <a:rPr lang="fr-FR" sz="900" baseline="0" dirty="0"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fr-FR" sz="900" dirty="0">
                          <a:latin typeface="Calibri" panose="020F0502020204030204" pitchFamily="34" charset="0"/>
                        </a:rPr>
                        <a:t>de transport DI, étiquette,</a:t>
                      </a:r>
                      <a:r>
                        <a:rPr lang="fr-FR" sz="900" baseline="0" dirty="0">
                          <a:latin typeface="Calibri" panose="020F0502020204030204" pitchFamily="34" charset="0"/>
                        </a:rPr>
                        <a:t> gants jetables, sachet plastique, cale de roue, second triangle de signalisation, lampe de poche</a:t>
                      </a:r>
                      <a:endParaRPr lang="fr-FR" sz="900" i="1" dirty="0">
                        <a:latin typeface="Calibri" panose="020F0502020204030204" pitchFamily="34" charset="0"/>
                      </a:endParaRPr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/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/>
                    </a:p>
                  </a:txBody>
                  <a:tcPr marL="0" marR="0"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/>
                    </a:p>
                  </a:txBody>
                  <a:tcPr marL="0" marR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41" name="Connecteur droit 40">
            <a:extLst>
              <a:ext uri="{FF2B5EF4-FFF2-40B4-BE49-F238E27FC236}">
                <a16:creationId xmlns:a16="http://schemas.microsoft.com/office/drawing/2014/main" id="{A96D8D87-29AE-4E93-BF2A-81EDA88A5723}"/>
              </a:ext>
            </a:extLst>
          </p:cNvPr>
          <p:cNvCxnSpPr>
            <a:cxnSpLocks/>
          </p:cNvCxnSpPr>
          <p:nvPr/>
        </p:nvCxnSpPr>
        <p:spPr>
          <a:xfrm flipH="1" flipV="1">
            <a:off x="3942922" y="4460350"/>
            <a:ext cx="792158" cy="189647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aphicFrame>
        <p:nvGraphicFramePr>
          <p:cNvPr id="42" name="Tableau 41">
            <a:extLst>
              <a:ext uri="{FF2B5EF4-FFF2-40B4-BE49-F238E27FC236}">
                <a16:creationId xmlns:a16="http://schemas.microsoft.com/office/drawing/2014/main" id="{5BE61335-1196-4556-8685-E17898E82F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8991675"/>
              </p:ext>
            </p:extLst>
          </p:nvPr>
        </p:nvGraphicFramePr>
        <p:xfrm>
          <a:off x="3126717" y="6151592"/>
          <a:ext cx="3674606" cy="8686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0429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58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5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9166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Calibri" panose="020F0502020204030204" pitchFamily="34" charset="0"/>
                        </a:rPr>
                        <a:t>Equipements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Calibri" panose="020F0502020204030204" pitchFamily="34" charset="0"/>
                        </a:rPr>
                        <a:t>OK</a:t>
                      </a:r>
                    </a:p>
                  </a:txBody>
                  <a:tcPr marL="36000" marR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Calibri" panose="020F0502020204030204" pitchFamily="34" charset="0"/>
                        </a:rPr>
                        <a:t>NOK</a:t>
                      </a:r>
                    </a:p>
                  </a:txBody>
                  <a:tcPr marL="36000" marR="360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3666">
                <a:tc>
                  <a:txBody>
                    <a:bodyPr/>
                    <a:lstStyle/>
                    <a:p>
                      <a:r>
                        <a:rPr lang="fr-FR" sz="900" dirty="0">
                          <a:latin typeface="Calibri" panose="020F0502020204030204" pitchFamily="34" charset="0"/>
                        </a:rPr>
                        <a:t>Ceintures de sécurité, galerie, échelle d’accès, triangle + gilet (dans l’habitacle),  Sangle de maintien dans l’habitacle</a:t>
                      </a:r>
                    </a:p>
                    <a:p>
                      <a:r>
                        <a:rPr lang="fr-FR" sz="900" dirty="0">
                          <a:latin typeface="Calibri" panose="020F0502020204030204" pitchFamily="34" charset="0"/>
                        </a:rPr>
                        <a:t>Extincteur (validité : 5 ans) – date : </a:t>
                      </a:r>
                    </a:p>
                    <a:p>
                      <a:r>
                        <a:rPr lang="fr-FR" sz="900" dirty="0">
                          <a:latin typeface="Calibri" panose="020F0502020204030204" pitchFamily="34" charset="0"/>
                        </a:rPr>
                        <a:t>Trousse de secours </a:t>
                      </a:r>
                      <a:r>
                        <a:rPr lang="fr-FR" sz="900" dirty="0">
                          <a:solidFill>
                            <a:schemeClr val="tx2"/>
                          </a:solidFill>
                          <a:latin typeface="Calibri" panose="020F0502020204030204" pitchFamily="34" charset="0"/>
                        </a:rPr>
                        <a:t>+ sérum physiologique </a:t>
                      </a:r>
                      <a:r>
                        <a:rPr lang="fr-FR" sz="900" dirty="0">
                          <a:latin typeface="Calibri" panose="020F0502020204030204" pitchFamily="34" charset="0"/>
                        </a:rPr>
                        <a:t>– </a:t>
                      </a:r>
                      <a:r>
                        <a:rPr lang="fr-FR" sz="900" b="1" dirty="0">
                          <a:latin typeface="Calibri" panose="020F0502020204030204" pitchFamily="34" charset="0"/>
                        </a:rPr>
                        <a:t>Validité</a:t>
                      </a:r>
                      <a:r>
                        <a:rPr lang="fr-FR" sz="900" dirty="0">
                          <a:latin typeface="Calibri" panose="020F0502020204030204" pitchFamily="34" charset="0"/>
                        </a:rPr>
                        <a:t> 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/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/>
                    </a:p>
                  </a:txBody>
                  <a:tcPr marL="36000" marR="36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3" name="Tableau 42">
            <a:extLst>
              <a:ext uri="{FF2B5EF4-FFF2-40B4-BE49-F238E27FC236}">
                <a16:creationId xmlns:a16="http://schemas.microsoft.com/office/drawing/2014/main" id="{4D7D7006-106B-4148-9627-E6D96550BF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4120563"/>
              </p:ext>
            </p:extLst>
          </p:nvPr>
        </p:nvGraphicFramePr>
        <p:xfrm>
          <a:off x="44312" y="6187542"/>
          <a:ext cx="2987427" cy="8686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3441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52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1352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Calibri" panose="020F0502020204030204" pitchFamily="34" charset="0"/>
                        </a:rPr>
                        <a:t>Documents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Calibri" panose="020F0502020204030204" pitchFamily="34" charset="0"/>
                        </a:rPr>
                        <a:t>OK</a:t>
                      </a:r>
                    </a:p>
                  </a:txBody>
                  <a:tcPr marL="36000" marR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Calibri" panose="020F0502020204030204" pitchFamily="34" charset="0"/>
                        </a:rPr>
                        <a:t>NOK</a:t>
                      </a:r>
                    </a:p>
                  </a:txBody>
                  <a:tcPr marL="36000" marR="360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64">
                <a:tc>
                  <a:txBody>
                    <a:bodyPr/>
                    <a:lstStyle/>
                    <a:p>
                      <a:r>
                        <a:rPr lang="fr-FR" sz="900" dirty="0">
                          <a:latin typeface="Calibri" panose="020F0502020204030204" pitchFamily="34" charset="0"/>
                        </a:rPr>
                        <a:t>Charte véhicule, cartes entretien,</a:t>
                      </a:r>
                      <a:r>
                        <a:rPr lang="fr-FR" sz="900" baseline="0" dirty="0">
                          <a:latin typeface="Calibri" panose="020F0502020204030204" pitchFamily="34" charset="0"/>
                        </a:rPr>
                        <a:t> carte verte et carte grise valides, constat amiable, procédure ionique </a:t>
                      </a:r>
                      <a:r>
                        <a:rPr lang="fr-FR" sz="900" kern="1200" baseline="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INST-1026  (si applicable), </a:t>
                      </a:r>
                      <a:r>
                        <a:rPr lang="fr-FR" sz="900" kern="1200" baseline="0" dirty="0">
                          <a:solidFill>
                            <a:schemeClr val="tx2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Livret EHS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/>
                    </a:p>
                  </a:txBody>
                  <a:tcPr marL="36000" marR="36000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/>
                    </a:p>
                  </a:txBody>
                  <a:tcPr marL="36000" marR="360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4" name="Tableau 43">
            <a:extLst>
              <a:ext uri="{FF2B5EF4-FFF2-40B4-BE49-F238E27FC236}">
                <a16:creationId xmlns:a16="http://schemas.microsoft.com/office/drawing/2014/main" id="{5FEC51B8-5C4E-41C9-9E34-0F7B9C2110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6767034"/>
              </p:ext>
            </p:extLst>
          </p:nvPr>
        </p:nvGraphicFramePr>
        <p:xfrm>
          <a:off x="44624" y="7004248"/>
          <a:ext cx="6785790" cy="16002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701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605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10599">
                <a:tc>
                  <a:txBody>
                    <a:bodyPr/>
                    <a:lstStyle/>
                    <a:p>
                      <a:r>
                        <a:rPr lang="fr-FR" sz="900" dirty="0">
                          <a:latin typeface="Calibri" panose="020F0502020204030204" pitchFamily="34" charset="0"/>
                        </a:rPr>
                        <a:t>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900" dirty="0">
                          <a:latin typeface="Calibri" panose="020F0502020204030204" pitchFamily="34" charset="0"/>
                        </a:rPr>
                        <a:t>Responsable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900" dirty="0">
                          <a:latin typeface="Calibri" panose="020F0502020204030204" pitchFamily="34" charset="0"/>
                        </a:rPr>
                        <a:t>Délai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900" dirty="0">
                          <a:latin typeface="Calibri" panose="020F0502020204030204" pitchFamily="34" charset="0"/>
                        </a:rPr>
                        <a:t>Soldée 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0599">
                <a:tc>
                  <a:txBody>
                    <a:bodyPr/>
                    <a:lstStyle/>
                    <a:p>
                      <a:endParaRPr lang="fr-FR" sz="9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9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9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9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0599">
                <a:tc>
                  <a:txBody>
                    <a:bodyPr/>
                    <a:lstStyle/>
                    <a:p>
                      <a:endParaRPr lang="fr-FR" sz="9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9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9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9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0599">
                <a:tc>
                  <a:txBody>
                    <a:bodyPr/>
                    <a:lstStyle/>
                    <a:p>
                      <a:endParaRPr lang="fr-FR" sz="9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9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9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9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0599">
                <a:tc>
                  <a:txBody>
                    <a:bodyPr/>
                    <a:lstStyle/>
                    <a:p>
                      <a:endParaRPr lang="fr-FR" sz="9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9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9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9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1506110"/>
                  </a:ext>
                </a:extLst>
              </a:tr>
              <a:tr h="210599">
                <a:tc>
                  <a:txBody>
                    <a:bodyPr/>
                    <a:lstStyle/>
                    <a:p>
                      <a:endParaRPr lang="fr-FR" sz="9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9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9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9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6633117"/>
                  </a:ext>
                </a:extLst>
              </a:tr>
              <a:tr h="210599">
                <a:tc>
                  <a:txBody>
                    <a:bodyPr/>
                    <a:lstStyle/>
                    <a:p>
                      <a:endParaRPr lang="fr-FR" sz="9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9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9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9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7851409"/>
                  </a:ext>
                </a:extLst>
              </a:tr>
            </a:tbl>
          </a:graphicData>
        </a:graphic>
      </p:graphicFrame>
      <p:graphicFrame>
        <p:nvGraphicFramePr>
          <p:cNvPr id="47" name="Tableau 46">
            <a:extLst>
              <a:ext uri="{FF2B5EF4-FFF2-40B4-BE49-F238E27FC236}">
                <a16:creationId xmlns:a16="http://schemas.microsoft.com/office/drawing/2014/main" id="{34290119-EB24-461C-B164-2F37E5C4E8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0475822"/>
              </p:ext>
            </p:extLst>
          </p:nvPr>
        </p:nvGraphicFramePr>
        <p:xfrm>
          <a:off x="4747260" y="4130784"/>
          <a:ext cx="2068176" cy="1778912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2556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5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54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5454">
                  <a:extLst>
                    <a:ext uri="{9D8B030D-6E8A-4147-A177-3AD203B41FA5}">
                      <a16:colId xmlns:a16="http://schemas.microsoft.com/office/drawing/2014/main" val="2412339729"/>
                    </a:ext>
                  </a:extLst>
                </a:gridCol>
              </a:tblGrid>
              <a:tr h="261848">
                <a:tc>
                  <a:txBody>
                    <a:bodyPr/>
                    <a:lstStyle/>
                    <a:p>
                      <a:pPr algn="ctr"/>
                      <a:r>
                        <a:rPr lang="fr-FR" sz="900" b="1" i="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</a:rPr>
                        <a:t>Delta uniquement</a:t>
                      </a:r>
                    </a:p>
                  </a:txBody>
                  <a:tcPr marL="36000" marR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Calibri" panose="020F0502020204030204" pitchFamily="34" charset="0"/>
                        </a:rPr>
                        <a:t>OK</a:t>
                      </a:r>
                    </a:p>
                  </a:txBody>
                  <a:tcPr marL="36000" marR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Calibri" panose="020F0502020204030204" pitchFamily="34" charset="0"/>
                        </a:rPr>
                        <a:t>NOK</a:t>
                      </a:r>
                    </a:p>
                  </a:txBody>
                  <a:tcPr marL="36000" marR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Calibri" panose="020F0502020204030204" pitchFamily="34" charset="0"/>
                        </a:rPr>
                        <a:t>N/A</a:t>
                      </a:r>
                    </a:p>
                  </a:txBody>
                  <a:tcPr marL="36000" marR="360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184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b="0" dirty="0">
                          <a:solidFill>
                            <a:schemeClr val="tx1"/>
                          </a:solidFill>
                          <a:latin typeface="+mn-lt"/>
                        </a:rPr>
                        <a:t>Caisse de stockage Amiante</a:t>
                      </a:r>
                    </a:p>
                  </a:txBody>
                  <a:tcPr marL="36000" marR="36000"/>
                </a:tc>
                <a:tc>
                  <a:txBody>
                    <a:bodyPr/>
                    <a:lstStyle/>
                    <a:p>
                      <a:pPr algn="ctr"/>
                      <a:endParaRPr lang="fr-FR" sz="9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36000" marR="36000"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fr-FR" sz="9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36000" marR="36000"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fr-FR" sz="9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36000" marR="36000" anchor="ctr" anchorCtr="1"/>
                </a:tc>
                <a:extLst>
                  <a:ext uri="{0D108BD9-81ED-4DB2-BD59-A6C34878D82A}">
                    <a16:rowId xmlns:a16="http://schemas.microsoft.com/office/drawing/2014/main" val="3416257909"/>
                  </a:ext>
                </a:extLst>
              </a:tr>
              <a:tr h="26184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b="0" dirty="0">
                          <a:solidFill>
                            <a:schemeClr val="tx1"/>
                          </a:solidFill>
                          <a:latin typeface="+mn-lt"/>
                        </a:rPr>
                        <a:t>Sacs déchets amiante + scotch</a:t>
                      </a:r>
                    </a:p>
                  </a:txBody>
                  <a:tcPr marL="36000" marR="36000"/>
                </a:tc>
                <a:tc>
                  <a:txBody>
                    <a:bodyPr/>
                    <a:lstStyle/>
                    <a:p>
                      <a:pPr algn="ctr"/>
                      <a:endParaRPr lang="fr-FR" sz="9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36000" marR="36000"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fr-FR" sz="9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36000" marR="36000"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fr-FR" sz="9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36000" marR="36000" anchor="ctr" anchorCtr="1"/>
                </a:tc>
                <a:extLst>
                  <a:ext uri="{0D108BD9-81ED-4DB2-BD59-A6C34878D82A}">
                    <a16:rowId xmlns:a16="http://schemas.microsoft.com/office/drawing/2014/main" val="994862798"/>
                  </a:ext>
                </a:extLst>
              </a:tr>
              <a:tr h="26184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+mn-lt"/>
                        </a:rPr>
                        <a:t> Poches</a:t>
                      </a:r>
                      <a:r>
                        <a:rPr lang="fr-FR" sz="900" baseline="0" dirty="0">
                          <a:latin typeface="+mn-lt"/>
                        </a:rPr>
                        <a:t> à gel (x5 mini)</a:t>
                      </a:r>
                      <a:endParaRPr lang="fr-FR" sz="9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36000" marR="36000"/>
                </a:tc>
                <a:tc>
                  <a:txBody>
                    <a:bodyPr/>
                    <a:lstStyle/>
                    <a:p>
                      <a:pPr algn="ctr"/>
                      <a:endParaRPr lang="fr-FR" sz="9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36000" marR="36000"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fr-FR" sz="9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36000" marR="36000"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fr-FR" sz="9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36000" marR="36000" anchor="ctr" anchorCtr="1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184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b="0" dirty="0">
                          <a:solidFill>
                            <a:schemeClr val="tx1"/>
                          </a:solidFill>
                          <a:latin typeface="+mn-lt"/>
                        </a:rPr>
                        <a:t>Cartouche Gel Hydrique</a:t>
                      </a:r>
                    </a:p>
                  </a:txBody>
                  <a:tcPr marL="36000" marR="36000"/>
                </a:tc>
                <a:tc>
                  <a:txBody>
                    <a:bodyPr/>
                    <a:lstStyle/>
                    <a:p>
                      <a:pPr algn="ctr"/>
                      <a:endParaRPr lang="fr-FR" sz="9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36000" marR="36000"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fr-FR" sz="9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36000" marR="36000"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fr-FR" sz="9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36000" marR="36000" anchor="ctr" anchorCtr="1"/>
                </a:tc>
                <a:extLst>
                  <a:ext uri="{0D108BD9-81ED-4DB2-BD59-A6C34878D82A}">
                    <a16:rowId xmlns:a16="http://schemas.microsoft.com/office/drawing/2014/main" val="2044695366"/>
                  </a:ext>
                </a:extLst>
              </a:tr>
              <a:tr h="26184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b="0" dirty="0">
                          <a:solidFill>
                            <a:schemeClr val="tx1"/>
                          </a:solidFill>
                          <a:latin typeface="+mn-lt"/>
                        </a:rPr>
                        <a:t>Foret goujure courte</a:t>
                      </a:r>
                    </a:p>
                  </a:txBody>
                  <a:tcPr marL="36000" marR="36000"/>
                </a:tc>
                <a:tc>
                  <a:txBody>
                    <a:bodyPr/>
                    <a:lstStyle/>
                    <a:p>
                      <a:pPr algn="ctr"/>
                      <a:endParaRPr lang="fr-FR" sz="9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36000" marR="36000"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fr-FR" sz="9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36000" marR="36000"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fr-FR" sz="9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36000" marR="36000" anchor="ctr" anchorCtr="1"/>
                </a:tc>
                <a:extLst>
                  <a:ext uri="{0D108BD9-81ED-4DB2-BD59-A6C34878D82A}">
                    <a16:rowId xmlns:a16="http://schemas.microsoft.com/office/drawing/2014/main" val="312238434"/>
                  </a:ext>
                </a:extLst>
              </a:tr>
            </a:tbl>
          </a:graphicData>
        </a:graphic>
      </p:graphicFrame>
      <p:sp>
        <p:nvSpPr>
          <p:cNvPr id="49" name="Rectangle 48">
            <a:extLst>
              <a:ext uri="{FF2B5EF4-FFF2-40B4-BE49-F238E27FC236}">
                <a16:creationId xmlns:a16="http://schemas.microsoft.com/office/drawing/2014/main" id="{0D6D2FA5-42C6-4D1E-A17F-06552C2AD3D6}"/>
              </a:ext>
            </a:extLst>
          </p:cNvPr>
          <p:cNvSpPr/>
          <p:nvPr/>
        </p:nvSpPr>
        <p:spPr>
          <a:xfrm>
            <a:off x="2401356" y="1039086"/>
            <a:ext cx="72000" cy="72000"/>
          </a:xfrm>
          <a:prstGeom prst="rect">
            <a:avLst/>
          </a:prstGeom>
          <a:ln w="19050">
            <a:solidFill>
              <a:srgbClr val="95373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just"/>
            <a:endParaRPr lang="fr-FR" sz="1000" dirty="0"/>
          </a:p>
        </p:txBody>
      </p:sp>
      <p:sp>
        <p:nvSpPr>
          <p:cNvPr id="51" name="ZoneTexte 50">
            <a:extLst>
              <a:ext uri="{FF2B5EF4-FFF2-40B4-BE49-F238E27FC236}">
                <a16:creationId xmlns:a16="http://schemas.microsoft.com/office/drawing/2014/main" id="{0332608C-D7F2-4C2D-9BE3-7A6AE04F3A39}"/>
              </a:ext>
            </a:extLst>
          </p:cNvPr>
          <p:cNvSpPr txBox="1"/>
          <p:nvPr/>
        </p:nvSpPr>
        <p:spPr>
          <a:xfrm>
            <a:off x="2564904" y="1483606"/>
            <a:ext cx="224983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fr-FR" sz="1000" b="1" u="sng" dirty="0"/>
              <a:t>Fonction :</a:t>
            </a:r>
            <a:endParaRPr lang="fr-FR" sz="9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A2FDD10-41D9-F5C6-18DB-99B06F6E2729}"/>
              </a:ext>
            </a:extLst>
          </p:cNvPr>
          <p:cNvSpPr/>
          <p:nvPr/>
        </p:nvSpPr>
        <p:spPr>
          <a:xfrm>
            <a:off x="680472" y="7004248"/>
            <a:ext cx="1462611" cy="2231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600" dirty="0"/>
              <a:t>Merci de bien retranscrire ces actions dans votre tableau de bord agence</a:t>
            </a:r>
            <a:endParaRPr lang="fr-FR" sz="1400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4B53E558-902A-3472-E4C1-6E275AD31AC2}"/>
              </a:ext>
            </a:extLst>
          </p:cNvPr>
          <p:cNvSpPr txBox="1"/>
          <p:nvPr/>
        </p:nvSpPr>
        <p:spPr>
          <a:xfrm>
            <a:off x="5085184" y="378059"/>
            <a:ext cx="18448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fr-FR" sz="800" i="1" dirty="0"/>
              <a:t>FOR FS 011  v5 – 10/01/2024 - Page 1/2</a:t>
            </a:r>
          </a:p>
        </p:txBody>
      </p:sp>
      <p:pic>
        <p:nvPicPr>
          <p:cNvPr id="27" name="Picture 2">
            <a:extLst>
              <a:ext uri="{FF2B5EF4-FFF2-40B4-BE49-F238E27FC236}">
                <a16:creationId xmlns:a16="http://schemas.microsoft.com/office/drawing/2014/main" id="{DF173F9B-DE29-485D-BB8E-B2AC3B033CC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9191" r="35746"/>
          <a:stretch/>
        </p:blipFill>
        <p:spPr bwMode="auto">
          <a:xfrm>
            <a:off x="2276872" y="3948324"/>
            <a:ext cx="2042737" cy="9117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46" name="Connecteur droit 45">
            <a:extLst>
              <a:ext uri="{FF2B5EF4-FFF2-40B4-BE49-F238E27FC236}">
                <a16:creationId xmlns:a16="http://schemas.microsoft.com/office/drawing/2014/main" id="{6597A3CC-F609-939B-7C7C-FD6AB53699DA}"/>
              </a:ext>
            </a:extLst>
          </p:cNvPr>
          <p:cNvCxnSpPr>
            <a:cxnSpLocks/>
          </p:cNvCxnSpPr>
          <p:nvPr/>
        </p:nvCxnSpPr>
        <p:spPr>
          <a:xfrm flipV="1">
            <a:off x="3689823" y="4516322"/>
            <a:ext cx="20485" cy="31927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1" name="Connecteur droit 30">
            <a:extLst>
              <a:ext uri="{FF2B5EF4-FFF2-40B4-BE49-F238E27FC236}">
                <a16:creationId xmlns:a16="http://schemas.microsoft.com/office/drawing/2014/main" id="{B6E26797-097E-4445-9361-BA6DF21CFEA8}"/>
              </a:ext>
            </a:extLst>
          </p:cNvPr>
          <p:cNvCxnSpPr>
            <a:cxnSpLocks/>
          </p:cNvCxnSpPr>
          <p:nvPr/>
        </p:nvCxnSpPr>
        <p:spPr>
          <a:xfrm flipH="1">
            <a:off x="2862308" y="2861579"/>
            <a:ext cx="827516" cy="1451282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01825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ZoneTexte 6">
            <a:extLst>
              <a:ext uri="{FF2B5EF4-FFF2-40B4-BE49-F238E27FC236}">
                <a16:creationId xmlns:a16="http://schemas.microsoft.com/office/drawing/2014/main" id="{CE12C3FD-DE35-BB5B-2D60-82CC81B52E52}"/>
              </a:ext>
            </a:extLst>
          </p:cNvPr>
          <p:cNvSpPr txBox="1"/>
          <p:nvPr/>
        </p:nvSpPr>
        <p:spPr>
          <a:xfrm>
            <a:off x="5824538" y="6460529"/>
            <a:ext cx="387668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fr-FR" sz="800" dirty="0"/>
              <a:t>N/A</a:t>
            </a:r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3D4DA0B6-316B-C6A0-9AC1-BB8EA1940B43}"/>
              </a:ext>
            </a:extLst>
          </p:cNvPr>
          <p:cNvSpPr txBox="1"/>
          <p:nvPr/>
        </p:nvSpPr>
        <p:spPr>
          <a:xfrm>
            <a:off x="4980261" y="6455723"/>
            <a:ext cx="387668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fr-FR" sz="800" dirty="0"/>
              <a:t>OK</a:t>
            </a:r>
          </a:p>
        </p:txBody>
      </p:sp>
      <p:sp>
        <p:nvSpPr>
          <p:cNvPr id="35" name="ZoneTexte 34">
            <a:extLst>
              <a:ext uri="{FF2B5EF4-FFF2-40B4-BE49-F238E27FC236}">
                <a16:creationId xmlns:a16="http://schemas.microsoft.com/office/drawing/2014/main" id="{9D457397-B689-FC68-CC8E-E5CFB6715A10}"/>
              </a:ext>
            </a:extLst>
          </p:cNvPr>
          <p:cNvSpPr txBox="1"/>
          <p:nvPr/>
        </p:nvSpPr>
        <p:spPr>
          <a:xfrm>
            <a:off x="5436870" y="6460529"/>
            <a:ext cx="387668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fr-FR" sz="800" dirty="0"/>
              <a:t>NOK</a:t>
            </a:r>
          </a:p>
        </p:txBody>
      </p:sp>
      <p:graphicFrame>
        <p:nvGraphicFramePr>
          <p:cNvPr id="15" name="Tableau 14">
            <a:extLst>
              <a:ext uri="{FF2B5EF4-FFF2-40B4-BE49-F238E27FC236}">
                <a16:creationId xmlns:a16="http://schemas.microsoft.com/office/drawing/2014/main" id="{BACE9A19-49DE-461D-98DB-390B38956A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2270084"/>
              </p:ext>
            </p:extLst>
          </p:nvPr>
        </p:nvGraphicFramePr>
        <p:xfrm>
          <a:off x="28442" y="2364512"/>
          <a:ext cx="2288037" cy="3352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624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45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93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51859">
                <a:tc>
                  <a:txBody>
                    <a:bodyPr/>
                    <a:lstStyle/>
                    <a:p>
                      <a:r>
                        <a:rPr lang="fr-FR" sz="8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Chaussures de sécurité S3-SRC Montantes</a:t>
                      </a:r>
                    </a:p>
                  </a:txBody>
                  <a:tcPr marL="36000" marR="3600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800" b="0" dirty="0">
                          <a:solidFill>
                            <a:schemeClr val="tx1"/>
                          </a:solidFill>
                        </a:rPr>
                        <a:t>OK</a:t>
                      </a:r>
                    </a:p>
                  </a:txBody>
                  <a:tcPr marL="36000" marR="3600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800" b="0" dirty="0">
                          <a:solidFill>
                            <a:schemeClr val="tx1"/>
                          </a:solidFill>
                        </a:rPr>
                        <a:t>NOK</a:t>
                      </a:r>
                    </a:p>
                  </a:txBody>
                  <a:tcPr marL="36000" marR="3600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8" name="Tableau 17">
            <a:extLst>
              <a:ext uri="{FF2B5EF4-FFF2-40B4-BE49-F238E27FC236}">
                <a16:creationId xmlns:a16="http://schemas.microsoft.com/office/drawing/2014/main" id="{79B8F92D-4E85-4658-B04F-FA17869730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749287"/>
              </p:ext>
            </p:extLst>
          </p:nvPr>
        </p:nvGraphicFramePr>
        <p:xfrm>
          <a:off x="44624" y="2699792"/>
          <a:ext cx="2629458" cy="39014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8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60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0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5202">
                  <a:extLst>
                    <a:ext uri="{9D8B030D-6E8A-4147-A177-3AD203B41FA5}">
                      <a16:colId xmlns:a16="http://schemas.microsoft.com/office/drawing/2014/main" val="1668753635"/>
                    </a:ext>
                  </a:extLst>
                </a:gridCol>
              </a:tblGrid>
              <a:tr h="205645">
                <a:tc gridSpan="4">
                  <a:txBody>
                    <a:bodyPr/>
                    <a:lstStyle/>
                    <a:p>
                      <a:pPr algn="ctr"/>
                      <a:r>
                        <a:rPr lang="fr-FR" sz="800" b="1" i="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</a:rPr>
                        <a:t>ACTIVITE ELECTRIQUE</a:t>
                      </a:r>
                    </a:p>
                  </a:txBody>
                  <a:tcPr marL="36000" marR="36000"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 sz="800" b="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anchor="ctr" anchorCtr="1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 sz="800" b="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anchor="ctr" anchorCtr="1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fr-FR" sz="800" b="1" i="0" dirty="0">
                        <a:solidFill>
                          <a:schemeClr val="bg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36000" marR="36000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157">
                <a:tc>
                  <a:txBody>
                    <a:bodyPr/>
                    <a:lstStyle/>
                    <a:p>
                      <a:r>
                        <a:rPr lang="fr-FR" sz="8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Ecran facial avec protection de la tête (Contrôle Visuel) </a:t>
                      </a:r>
                      <a:r>
                        <a:rPr kumimoji="0" lang="fr-F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  <a:endParaRPr lang="fr-FR" sz="800" b="0" i="1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36000" marR="3600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b="0" dirty="0">
                          <a:solidFill>
                            <a:schemeClr val="tx1"/>
                          </a:solidFill>
                        </a:rPr>
                        <a:t>OK</a:t>
                      </a:r>
                    </a:p>
                  </a:txBody>
                  <a:tcPr marL="36000" marR="36000" anchor="ctr" anchorCtr="1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b="0" dirty="0">
                          <a:solidFill>
                            <a:schemeClr val="tx1"/>
                          </a:solidFill>
                        </a:rPr>
                        <a:t>NOK</a:t>
                      </a:r>
                    </a:p>
                  </a:txBody>
                  <a:tcPr marL="36000" marR="36000" anchor="ctr" anchorCtr="1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b="0" dirty="0">
                          <a:solidFill>
                            <a:schemeClr val="tx1"/>
                          </a:solidFill>
                        </a:rPr>
                        <a:t>N/A</a:t>
                      </a:r>
                    </a:p>
                  </a:txBody>
                  <a:tcPr marL="36000" marR="36000" anchor="ctr" anchorCtr="1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315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Visière Petzl VIZEN de moins de 5 ans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Validité : </a:t>
                      </a:r>
                    </a:p>
                  </a:txBody>
                  <a:tcPr marL="36000" marR="3600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solidFill>
                            <a:schemeClr val="tx1"/>
                          </a:solidFill>
                        </a:rPr>
                        <a:t>OK</a:t>
                      </a:r>
                    </a:p>
                  </a:txBody>
                  <a:tcPr marL="36000" marR="36000" anchor="ctr" anchorCtr="1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solidFill>
                            <a:schemeClr val="tx1"/>
                          </a:solidFill>
                        </a:rPr>
                        <a:t>NOK</a:t>
                      </a:r>
                    </a:p>
                  </a:txBody>
                  <a:tcPr marL="36000" marR="36000" anchor="ctr" anchorCtr="1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N/A</a:t>
                      </a:r>
                    </a:p>
                  </a:txBody>
                  <a:tcPr marL="36000" marR="36000" anchor="ctr" anchorCtr="1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438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Casque IDRA de moins de 4 ans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b="1" baseline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Validité : </a:t>
                      </a:r>
                      <a:endParaRPr lang="fr-FR" sz="800" b="1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36000" marR="3600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solidFill>
                            <a:schemeClr val="tx1"/>
                          </a:solidFill>
                        </a:rPr>
                        <a:t>OK</a:t>
                      </a:r>
                    </a:p>
                  </a:txBody>
                  <a:tcPr marL="36000" marR="36000" anchor="ctr" anchorCtr="1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solidFill>
                            <a:schemeClr val="tx1"/>
                          </a:solidFill>
                        </a:rPr>
                        <a:t>NOK</a:t>
                      </a:r>
                    </a:p>
                  </a:txBody>
                  <a:tcPr marL="36000" marR="36000" anchor="ctr" anchorCtr="1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N/A</a:t>
                      </a:r>
                    </a:p>
                  </a:txBody>
                  <a:tcPr marL="36000" marR="36000" anchor="ctr" anchorCtr="1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3157">
                <a:tc>
                  <a:txBody>
                    <a:bodyPr/>
                    <a:lstStyle/>
                    <a:p>
                      <a:r>
                        <a:rPr lang="fr-FR" sz="8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Détecteur de Tension sans contact</a:t>
                      </a:r>
                    </a:p>
                    <a:p>
                      <a:r>
                        <a:rPr lang="fr-FR" sz="8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(50V-1000V)</a:t>
                      </a:r>
                    </a:p>
                  </a:txBody>
                  <a:tcPr marL="36000" marR="3600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solidFill>
                            <a:schemeClr val="tx1"/>
                          </a:solidFill>
                        </a:rPr>
                        <a:t>OK</a:t>
                      </a:r>
                    </a:p>
                  </a:txBody>
                  <a:tcPr marL="36000" marR="36000" anchor="ctr" anchorCtr="1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solidFill>
                            <a:schemeClr val="tx1"/>
                          </a:solidFill>
                        </a:rPr>
                        <a:t>NOK</a:t>
                      </a:r>
                    </a:p>
                  </a:txBody>
                  <a:tcPr marL="36000" marR="36000" anchor="ctr" anchorCtr="1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fr-FR" sz="80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anchor="ctr" anchorCtr="1">
                    <a:solidFill>
                      <a:srgbClr val="9537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5645">
                <a:tc>
                  <a:txBody>
                    <a:bodyPr/>
                    <a:lstStyle/>
                    <a:p>
                      <a:r>
                        <a:rPr lang="fr-FR" sz="8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Outillage isolé 1000</a:t>
                      </a:r>
                      <a:r>
                        <a:rPr lang="fr-FR" sz="800" b="0" baseline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fr-FR" sz="8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V</a:t>
                      </a:r>
                    </a:p>
                  </a:txBody>
                  <a:tcPr marL="36000" marR="3600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solidFill>
                            <a:schemeClr val="tx1"/>
                          </a:solidFill>
                        </a:rPr>
                        <a:t>OK</a:t>
                      </a:r>
                    </a:p>
                  </a:txBody>
                  <a:tcPr marL="36000" marR="36000" anchor="ctr" anchorCtr="1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solidFill>
                            <a:schemeClr val="tx1"/>
                          </a:solidFill>
                        </a:rPr>
                        <a:t>NOK</a:t>
                      </a:r>
                    </a:p>
                  </a:txBody>
                  <a:tcPr marL="36000" marR="36000" anchor="ctr" anchorCtr="1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b="0" dirty="0">
                          <a:solidFill>
                            <a:schemeClr val="tx1"/>
                          </a:solidFill>
                        </a:rPr>
                        <a:t>N/A</a:t>
                      </a:r>
                    </a:p>
                  </a:txBody>
                  <a:tcPr marL="36000" marR="36000" anchor="ctr" anchorCtr="1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315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VAT (pointes de touche IP2X) + étiquette</a:t>
                      </a:r>
                      <a:r>
                        <a:rPr lang="fr-FR" sz="800" b="0" baseline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 de contrôle visuel &lt; 1an)</a:t>
                      </a:r>
                    </a:p>
                  </a:txBody>
                  <a:tcPr marL="36000" marR="3600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solidFill>
                            <a:schemeClr val="tx1"/>
                          </a:solidFill>
                        </a:rPr>
                        <a:t>OK</a:t>
                      </a:r>
                    </a:p>
                  </a:txBody>
                  <a:tcPr marL="36000" marR="36000" anchor="ctr" anchorCtr="1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solidFill>
                            <a:schemeClr val="tx1"/>
                          </a:solidFill>
                        </a:rPr>
                        <a:t>NOK</a:t>
                      </a:r>
                    </a:p>
                  </a:txBody>
                  <a:tcPr marL="36000" marR="36000" anchor="ctr" anchorCtr="1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b="0" dirty="0">
                          <a:solidFill>
                            <a:schemeClr val="tx1"/>
                          </a:solidFill>
                        </a:rPr>
                        <a:t>N/A</a:t>
                      </a:r>
                    </a:p>
                  </a:txBody>
                  <a:tcPr marL="36000" marR="36000" anchor="ctr" anchorCtr="1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066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Gants isolants 500V (moins de 5 ans) </a:t>
                      </a:r>
                      <a:r>
                        <a:rPr lang="fr-FR" sz="800" b="0" kern="1200" dirty="0">
                          <a:solidFill>
                            <a:srgbClr val="0070C0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à la bonne taille du technicien 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b="1" kern="1200" baseline="0" noProof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Validité : </a:t>
                      </a:r>
                    </a:p>
                  </a:txBody>
                  <a:tcPr marL="36000" marR="3600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solidFill>
                            <a:schemeClr val="tx1"/>
                          </a:solidFill>
                        </a:rPr>
                        <a:t>OK</a:t>
                      </a:r>
                    </a:p>
                  </a:txBody>
                  <a:tcPr marL="36000" marR="36000" anchor="ctr" anchorCtr="1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solidFill>
                            <a:schemeClr val="tx1"/>
                          </a:solidFill>
                        </a:rPr>
                        <a:t>NOK</a:t>
                      </a:r>
                    </a:p>
                  </a:txBody>
                  <a:tcPr marL="36000" marR="36000" anchor="ctr" anchorCtr="1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b="0" dirty="0">
                          <a:solidFill>
                            <a:schemeClr val="tx1"/>
                          </a:solidFill>
                        </a:rPr>
                        <a:t>N/A</a:t>
                      </a:r>
                    </a:p>
                  </a:txBody>
                  <a:tcPr marL="36000" marR="36000" anchor="ctr" anchorCtr="1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315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Multimètre (pointes de touche</a:t>
                      </a:r>
                      <a:r>
                        <a:rPr lang="fr-FR" sz="800" b="0" baseline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 IP2X </a:t>
                      </a:r>
                      <a:r>
                        <a:rPr lang="fr-FR" sz="8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+ étiquette</a:t>
                      </a:r>
                      <a:r>
                        <a:rPr lang="fr-FR" sz="800" b="0" baseline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 de contrôle visuel &lt; 1an)</a:t>
                      </a:r>
                      <a:endParaRPr lang="fr-FR" sz="8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36000" marR="3600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solidFill>
                            <a:schemeClr val="tx1"/>
                          </a:solidFill>
                        </a:rPr>
                        <a:t>OK</a:t>
                      </a:r>
                    </a:p>
                  </a:txBody>
                  <a:tcPr marL="36000" marR="36000" anchor="ctr" anchorCtr="1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solidFill>
                            <a:schemeClr val="tx1"/>
                          </a:solidFill>
                        </a:rPr>
                        <a:t>NOK</a:t>
                      </a:r>
                    </a:p>
                  </a:txBody>
                  <a:tcPr marL="36000" marR="36000" anchor="ctr" anchorCtr="1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solidFill>
                            <a:schemeClr val="tx1"/>
                          </a:solidFill>
                        </a:rPr>
                        <a:t>N/A</a:t>
                      </a:r>
                    </a:p>
                  </a:txBody>
                  <a:tcPr marL="36000" marR="36000" anchor="ctr" anchorCtr="1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3157">
                <a:tc>
                  <a:txBody>
                    <a:bodyPr/>
                    <a:lstStyle/>
                    <a:p>
                      <a:r>
                        <a:rPr lang="fr-FR" sz="8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Kit de consignation complet (à minima 2 cadenas, 2</a:t>
                      </a:r>
                      <a:r>
                        <a:rPr lang="fr-FR" sz="800" b="0" baseline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 affichettes, 2 condamnateurs)</a:t>
                      </a:r>
                      <a:endParaRPr lang="fr-FR" sz="8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36000" marR="3600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solidFill>
                            <a:schemeClr val="tx1"/>
                          </a:solidFill>
                        </a:rPr>
                        <a:t>OK</a:t>
                      </a:r>
                    </a:p>
                  </a:txBody>
                  <a:tcPr marL="36000" marR="36000" anchor="ctr" anchorCtr="1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solidFill>
                            <a:schemeClr val="tx1"/>
                          </a:solidFill>
                        </a:rPr>
                        <a:t>NOK</a:t>
                      </a:r>
                    </a:p>
                  </a:txBody>
                  <a:tcPr marL="36000" marR="36000" anchor="ctr" anchorCtr="1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solidFill>
                            <a:schemeClr val="tx1"/>
                          </a:solidFill>
                        </a:rPr>
                        <a:t>N/A</a:t>
                      </a:r>
                    </a:p>
                  </a:txBody>
                  <a:tcPr marL="36000" marR="36000" anchor="ctr" anchorCtr="1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05645">
                <a:tc>
                  <a:txBody>
                    <a:bodyPr/>
                    <a:lstStyle/>
                    <a:p>
                      <a:r>
                        <a:rPr lang="fr-FR" sz="8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Tapis isolant (si présent)</a:t>
                      </a:r>
                    </a:p>
                  </a:txBody>
                  <a:tcPr marL="36000" marR="3600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solidFill>
                            <a:schemeClr val="tx1"/>
                          </a:solidFill>
                        </a:rPr>
                        <a:t>OK</a:t>
                      </a:r>
                    </a:p>
                  </a:txBody>
                  <a:tcPr marL="36000" marR="36000" anchor="ctr" anchorCtr="1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solidFill>
                            <a:schemeClr val="tx1"/>
                          </a:solidFill>
                        </a:rPr>
                        <a:t>NOK</a:t>
                      </a:r>
                    </a:p>
                  </a:txBody>
                  <a:tcPr marL="36000" marR="36000" anchor="ctr" anchorCtr="1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solidFill>
                            <a:schemeClr val="tx1"/>
                          </a:solidFill>
                        </a:rPr>
                        <a:t>N/A</a:t>
                      </a:r>
                    </a:p>
                  </a:txBody>
                  <a:tcPr marL="36000" marR="36000" anchor="ctr" anchorCtr="1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4066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Disjoncteur différentiel </a:t>
                      </a:r>
                      <a:r>
                        <a:rPr lang="fr-FR" sz="800" b="0" baseline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(+ étiquette de contrôle visuel &lt; 1an)</a:t>
                      </a:r>
                      <a:endParaRPr lang="fr-FR" sz="8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  <a:p>
                      <a:endParaRPr lang="fr-FR" sz="8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36000" marR="3600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solidFill>
                            <a:schemeClr val="tx1"/>
                          </a:solidFill>
                        </a:rPr>
                        <a:t>OK</a:t>
                      </a:r>
                    </a:p>
                  </a:txBody>
                  <a:tcPr marL="36000" marR="36000" anchor="ctr" anchorCtr="1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solidFill>
                            <a:schemeClr val="tx1"/>
                          </a:solidFill>
                        </a:rPr>
                        <a:t>NOK</a:t>
                      </a:r>
                    </a:p>
                  </a:txBody>
                  <a:tcPr marL="36000" marR="36000" anchor="ctr" anchorCtr="1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solidFill>
                            <a:schemeClr val="tx1"/>
                          </a:solidFill>
                        </a:rPr>
                        <a:t>N/A</a:t>
                      </a:r>
                    </a:p>
                  </a:txBody>
                  <a:tcPr marL="36000" marR="36000" anchor="ctr" anchorCtr="1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3578B883-9AE1-4D37-BC7D-D7D0730843BE}"/>
              </a:ext>
            </a:extLst>
          </p:cNvPr>
          <p:cNvSpPr/>
          <p:nvPr/>
        </p:nvSpPr>
        <p:spPr>
          <a:xfrm>
            <a:off x="36105" y="539552"/>
            <a:ext cx="681337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ctr"/>
            <a:r>
              <a:rPr lang="fr-FR" sz="800" b="1" i="1" u="sng" dirty="0">
                <a:solidFill>
                  <a:srgbClr val="953735"/>
                </a:solidFill>
              </a:rPr>
              <a:t>Chaque théme doit comporter une réponse et Toute case cochée « NOK » doit faire l’objet d’une action corrective, à traiter dans les plus brefs délais. </a:t>
            </a:r>
            <a:r>
              <a:rPr lang="fr-FR" sz="800" b="1" i="1" u="sng" dirty="0">
                <a:solidFill>
                  <a:srgbClr val="953735"/>
                </a:solidFill>
                <a:highlight>
                  <a:srgbClr val="00FFFF"/>
                </a:highlight>
              </a:rPr>
              <a:t>« OK » signifiant « présent » ET « bon état »</a:t>
            </a:r>
          </a:p>
          <a:p>
            <a:pPr algn="ctr" fontAlgn="ctr"/>
            <a:r>
              <a:rPr lang="fr-FR" sz="800" b="1" i="1" u="sng" dirty="0">
                <a:solidFill>
                  <a:srgbClr val="953735"/>
                </a:solidFill>
              </a:rPr>
              <a:t>Toujours récupérer l’ancien EPI, outillage ou équipement lorsque vous le remplacez. Cocher N/A les EPI non nécessaires/exigés au technicien.</a:t>
            </a:r>
            <a:endParaRPr lang="fr-FR" sz="800" b="1" i="1" u="sng" dirty="0">
              <a:solidFill>
                <a:srgbClr val="953735"/>
              </a:solidFill>
              <a:uFill>
                <a:solidFill>
                  <a:srgbClr val="663300"/>
                </a:solidFill>
              </a:uFill>
            </a:endParaRPr>
          </a:p>
        </p:txBody>
      </p:sp>
      <p:graphicFrame>
        <p:nvGraphicFramePr>
          <p:cNvPr id="6" name="Tableau 5">
            <a:extLst>
              <a:ext uri="{FF2B5EF4-FFF2-40B4-BE49-F238E27FC236}">
                <a16:creationId xmlns:a16="http://schemas.microsoft.com/office/drawing/2014/main" id="{019B4059-2BB3-4D10-A321-B9D3CE974E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4322614"/>
              </p:ext>
            </p:extLst>
          </p:nvPr>
        </p:nvGraphicFramePr>
        <p:xfrm>
          <a:off x="36105" y="6606511"/>
          <a:ext cx="6785790" cy="13716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701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605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81744">
                <a:tc>
                  <a:txBody>
                    <a:bodyPr/>
                    <a:lstStyle/>
                    <a:p>
                      <a:r>
                        <a:rPr lang="fr-FR" sz="900" dirty="0">
                          <a:latin typeface="Calibri" panose="020F0502020204030204" pitchFamily="34" charset="0"/>
                        </a:rPr>
                        <a:t>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900" dirty="0">
                          <a:latin typeface="Calibri" panose="020F0502020204030204" pitchFamily="34" charset="0"/>
                        </a:rPr>
                        <a:t>Responsable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900" dirty="0">
                          <a:latin typeface="Calibri" panose="020F0502020204030204" pitchFamily="34" charset="0"/>
                        </a:rPr>
                        <a:t>Délai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900" dirty="0">
                          <a:latin typeface="Calibri" panose="020F0502020204030204" pitchFamily="34" charset="0"/>
                        </a:rPr>
                        <a:t>Soldée 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endParaRPr lang="fr-FR" sz="9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9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9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9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endParaRPr lang="fr-FR" sz="9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9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9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9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3448">
                <a:tc>
                  <a:txBody>
                    <a:bodyPr/>
                    <a:lstStyle/>
                    <a:p>
                      <a:endParaRPr lang="fr-FR" sz="9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9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9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9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3448">
                <a:tc>
                  <a:txBody>
                    <a:bodyPr/>
                    <a:lstStyle/>
                    <a:p>
                      <a:endParaRPr lang="fr-FR" sz="9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9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9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9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3448">
                <a:tc>
                  <a:txBody>
                    <a:bodyPr/>
                    <a:lstStyle/>
                    <a:p>
                      <a:endParaRPr lang="fr-FR" sz="9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9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9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9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3686717"/>
                  </a:ext>
                </a:extLst>
              </a:tr>
            </a:tbl>
          </a:graphicData>
        </a:graphic>
      </p:graphicFrame>
      <p:graphicFrame>
        <p:nvGraphicFramePr>
          <p:cNvPr id="12" name="Tableau 11">
            <a:extLst>
              <a:ext uri="{FF2B5EF4-FFF2-40B4-BE49-F238E27FC236}">
                <a16:creationId xmlns:a16="http://schemas.microsoft.com/office/drawing/2014/main" id="{2D008E25-B5AC-4BA6-9542-9B1B179E72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2339223"/>
              </p:ext>
            </p:extLst>
          </p:nvPr>
        </p:nvGraphicFramePr>
        <p:xfrm>
          <a:off x="38572" y="971600"/>
          <a:ext cx="2664295" cy="21336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0162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51859">
                <a:tc>
                  <a:txBody>
                    <a:bodyPr/>
                    <a:lstStyle/>
                    <a:p>
                      <a:r>
                        <a:rPr lang="fr-FR" sz="8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Lunettes de sécurité (et/ou</a:t>
                      </a:r>
                      <a:r>
                        <a:rPr lang="fr-FR" sz="800" b="0" baseline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 sur-lunettes) + étui</a:t>
                      </a:r>
                      <a:endParaRPr lang="fr-FR" sz="8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36000" marR="3600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800" b="0" dirty="0">
                          <a:solidFill>
                            <a:schemeClr val="tx1"/>
                          </a:solidFill>
                        </a:rPr>
                        <a:t>OK</a:t>
                      </a:r>
                    </a:p>
                  </a:txBody>
                  <a:tcPr marL="36000" marR="3600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800" b="0" dirty="0">
                          <a:solidFill>
                            <a:schemeClr val="tx1"/>
                          </a:solidFill>
                        </a:rPr>
                        <a:t>NOK</a:t>
                      </a:r>
                    </a:p>
                  </a:txBody>
                  <a:tcPr marL="36000" marR="3600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" name="Tableau 12">
            <a:extLst>
              <a:ext uri="{FF2B5EF4-FFF2-40B4-BE49-F238E27FC236}">
                <a16:creationId xmlns:a16="http://schemas.microsoft.com/office/drawing/2014/main" id="{E805323A-F15C-4B67-BC47-524A608966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7042554"/>
              </p:ext>
            </p:extLst>
          </p:nvPr>
        </p:nvGraphicFramePr>
        <p:xfrm>
          <a:off x="44624" y="1174375"/>
          <a:ext cx="1908518" cy="853440"/>
        </p:xfrm>
        <a:graphic>
          <a:graphicData uri="http://schemas.openxmlformats.org/drawingml/2006/table">
            <a:tbl>
              <a:tblPr firstRow="1" bandRow="1">
                <a:tableStyleId>{22838BEF-8BB2-4498-84A7-C5851F593DF1}</a:tableStyleId>
              </a:tblPr>
              <a:tblGrid>
                <a:gridCol w="11587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44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26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2645">
                  <a:extLst>
                    <a:ext uri="{9D8B030D-6E8A-4147-A177-3AD203B41FA5}">
                      <a16:colId xmlns:a16="http://schemas.microsoft.com/office/drawing/2014/main" val="2255787646"/>
                    </a:ext>
                  </a:extLst>
                </a:gridCol>
              </a:tblGrid>
              <a:tr h="151859">
                <a:tc>
                  <a:txBody>
                    <a:bodyPr/>
                    <a:lstStyle/>
                    <a:p>
                      <a:r>
                        <a:rPr lang="fr-FR" sz="800" b="0" dirty="0"/>
                        <a:t>Gants de manutention</a:t>
                      </a:r>
                      <a:endParaRPr lang="fr-FR" sz="8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36000" marR="360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800" b="0" dirty="0"/>
                        <a:t>OK</a:t>
                      </a:r>
                      <a:endParaRPr lang="fr-FR" sz="800" b="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800" b="0" dirty="0"/>
                        <a:t>NOK</a:t>
                      </a:r>
                      <a:endParaRPr lang="fr-FR" sz="800" b="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800" b="0" dirty="0">
                          <a:solidFill>
                            <a:schemeClr val="tx1"/>
                          </a:solidFill>
                        </a:rPr>
                        <a:t>N/A</a:t>
                      </a:r>
                    </a:p>
                  </a:txBody>
                  <a:tcPr marL="36000" marR="360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1859">
                <a:tc>
                  <a:txBody>
                    <a:bodyPr/>
                    <a:lstStyle/>
                    <a:p>
                      <a:r>
                        <a:rPr lang="fr-FR" sz="800" dirty="0"/>
                        <a:t>Gants anti-coupure</a:t>
                      </a:r>
                      <a:endParaRPr lang="fr-FR" sz="8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36000" marR="360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800" dirty="0"/>
                        <a:t>OK</a:t>
                      </a:r>
                      <a:endParaRPr lang="fr-FR" sz="800" b="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800" dirty="0"/>
                        <a:t>NOK</a:t>
                      </a:r>
                      <a:endParaRPr lang="fr-FR" sz="800" b="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800" b="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1859">
                <a:tc>
                  <a:txBody>
                    <a:bodyPr/>
                    <a:lstStyle/>
                    <a:p>
                      <a:r>
                        <a:rPr lang="fr-FR" sz="800" dirty="0"/>
                        <a:t>Gants thermiques</a:t>
                      </a:r>
                      <a:endParaRPr lang="fr-FR" sz="8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36000" marR="360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800" dirty="0"/>
                        <a:t>OK</a:t>
                      </a:r>
                      <a:endParaRPr lang="fr-FR" sz="80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800" dirty="0"/>
                        <a:t>NOK</a:t>
                      </a:r>
                      <a:endParaRPr lang="fr-FR" sz="80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800" dirty="0">
                          <a:solidFill>
                            <a:schemeClr val="tx1"/>
                          </a:solidFill>
                        </a:rPr>
                        <a:t>N/A</a:t>
                      </a:r>
                    </a:p>
                  </a:txBody>
                  <a:tcPr marL="36000" marR="360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1859">
                <a:tc>
                  <a:txBody>
                    <a:bodyPr/>
                    <a:lstStyle/>
                    <a:p>
                      <a:r>
                        <a:rPr lang="fr-FR" sz="800" dirty="0"/>
                        <a:t>Gants Chimiques</a:t>
                      </a:r>
                      <a:endParaRPr lang="fr-FR" sz="8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36000" marR="360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800" dirty="0"/>
                        <a:t>OK</a:t>
                      </a:r>
                      <a:endParaRPr lang="fr-FR" sz="80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800" dirty="0"/>
                        <a:t>NOK</a:t>
                      </a:r>
                      <a:endParaRPr lang="fr-FR" sz="80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800" dirty="0">
                          <a:solidFill>
                            <a:schemeClr val="tx1"/>
                          </a:solidFill>
                        </a:rPr>
                        <a:t>N/A</a:t>
                      </a:r>
                    </a:p>
                  </a:txBody>
                  <a:tcPr marL="36000" marR="360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4" name="Tableau 13">
            <a:extLst>
              <a:ext uri="{FF2B5EF4-FFF2-40B4-BE49-F238E27FC236}">
                <a16:creationId xmlns:a16="http://schemas.microsoft.com/office/drawing/2014/main" id="{3E48FD8E-2727-4E6F-A6A0-72F115C169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1279346"/>
              </p:ext>
            </p:extLst>
          </p:nvPr>
        </p:nvGraphicFramePr>
        <p:xfrm>
          <a:off x="28443" y="2051720"/>
          <a:ext cx="2288307" cy="3352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6208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60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13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51859">
                <a:tc>
                  <a:txBody>
                    <a:bodyPr/>
                    <a:lstStyle/>
                    <a:p>
                      <a:r>
                        <a:rPr lang="fr-FR" sz="8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Masques </a:t>
                      </a:r>
                      <a:r>
                        <a:rPr lang="fr-FR" sz="800" b="0" dirty="0">
                          <a:solidFill>
                            <a:srgbClr val="0070C0"/>
                          </a:solidFill>
                          <a:latin typeface="Calibri" panose="020F0502020204030204" pitchFamily="34" charset="0"/>
                        </a:rPr>
                        <a:t>FFP2</a:t>
                      </a:r>
                      <a:r>
                        <a:rPr lang="fr-FR" sz="8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fr-FR" sz="800" b="0" strike="noStrik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et/ou FFP3 </a:t>
                      </a:r>
                      <a:endParaRPr lang="fr-FR" sz="800" b="1" strike="noStrike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  <a:p>
                      <a:r>
                        <a:rPr lang="fr-FR" sz="800" b="1" baseline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Validité </a:t>
                      </a:r>
                      <a:r>
                        <a:rPr lang="fr-FR" sz="800" b="0" baseline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:</a:t>
                      </a:r>
                      <a:endParaRPr lang="fr-FR" sz="8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36000" marR="3600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800" b="0" dirty="0">
                          <a:solidFill>
                            <a:schemeClr val="tx1"/>
                          </a:solidFill>
                        </a:rPr>
                        <a:t>OK</a:t>
                      </a:r>
                    </a:p>
                  </a:txBody>
                  <a:tcPr marL="36000" marR="3600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800" b="0" dirty="0">
                          <a:solidFill>
                            <a:schemeClr val="tx1"/>
                          </a:solidFill>
                        </a:rPr>
                        <a:t>NOK</a:t>
                      </a:r>
                    </a:p>
                  </a:txBody>
                  <a:tcPr marL="36000" marR="3600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6" name="Tableau 15">
            <a:extLst>
              <a:ext uri="{FF2B5EF4-FFF2-40B4-BE49-F238E27FC236}">
                <a16:creationId xmlns:a16="http://schemas.microsoft.com/office/drawing/2014/main" id="{2DA6F9C6-D4F3-4724-A95B-0A32C91C96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1456267"/>
              </p:ext>
            </p:extLst>
          </p:nvPr>
        </p:nvGraphicFramePr>
        <p:xfrm>
          <a:off x="4240138" y="1043608"/>
          <a:ext cx="2580234" cy="5486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9442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79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51859">
                <a:tc>
                  <a:txBody>
                    <a:bodyPr/>
                    <a:lstStyle/>
                    <a:p>
                      <a:r>
                        <a:rPr lang="fr-FR" sz="800" b="0" dirty="0"/>
                        <a:t>Casquette</a:t>
                      </a:r>
                      <a:r>
                        <a:rPr lang="fr-FR" sz="800" b="0" baseline="0" dirty="0"/>
                        <a:t> </a:t>
                      </a:r>
                      <a:r>
                        <a:rPr lang="fr-FR" sz="800" b="0" dirty="0"/>
                        <a:t>de sécurité</a:t>
                      </a:r>
                      <a:endParaRPr lang="fr-FR" sz="8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36000" marR="360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800" b="0" dirty="0"/>
                        <a:t>OK</a:t>
                      </a:r>
                      <a:endParaRPr lang="fr-FR" sz="800" b="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anchor="ctr" anchorCtr="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800" b="0" dirty="0"/>
                        <a:t>NOK</a:t>
                      </a:r>
                      <a:endParaRPr lang="fr-FR" sz="800" b="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anchor="ctr" anchorCtr="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1859">
                <a:tc>
                  <a:txBody>
                    <a:bodyPr/>
                    <a:lstStyle/>
                    <a:p>
                      <a:r>
                        <a:rPr lang="fr-FR" sz="800" b="0" dirty="0"/>
                        <a:t>Casque</a:t>
                      </a:r>
                      <a:r>
                        <a:rPr lang="fr-FR" sz="800" b="0" baseline="0" dirty="0"/>
                        <a:t> de sécurité avec jugulaire</a:t>
                      </a:r>
                    </a:p>
                    <a:p>
                      <a:r>
                        <a:rPr lang="fr-FR" sz="800" b="1" baseline="0" dirty="0"/>
                        <a:t>Validité :</a:t>
                      </a:r>
                      <a:endParaRPr lang="fr-FR" sz="800" b="1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36000" marR="360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800" b="0" dirty="0"/>
                        <a:t>OK</a:t>
                      </a:r>
                      <a:endParaRPr lang="fr-FR" sz="800" b="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anchor="ctr" anchorCtr="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800" b="0" dirty="0"/>
                        <a:t>NOK</a:t>
                      </a:r>
                      <a:endParaRPr lang="fr-FR" sz="800" b="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anchor="ctr" anchorCtr="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7" name="Tableau 16">
            <a:extLst>
              <a:ext uri="{FF2B5EF4-FFF2-40B4-BE49-F238E27FC236}">
                <a16:creationId xmlns:a16="http://schemas.microsoft.com/office/drawing/2014/main" id="{DD5CC570-57D8-4EA9-92D9-1DDDA1E7BC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0505816"/>
              </p:ext>
            </p:extLst>
          </p:nvPr>
        </p:nvGraphicFramePr>
        <p:xfrm>
          <a:off x="4869160" y="1619672"/>
          <a:ext cx="1953740" cy="64008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0936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8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910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9106">
                  <a:extLst>
                    <a:ext uri="{9D8B030D-6E8A-4147-A177-3AD203B41FA5}">
                      <a16:colId xmlns:a16="http://schemas.microsoft.com/office/drawing/2014/main" val="4256703467"/>
                    </a:ext>
                  </a:extLst>
                </a:gridCol>
              </a:tblGrid>
              <a:tr h="151859">
                <a:tc>
                  <a:txBody>
                    <a:bodyPr/>
                    <a:lstStyle/>
                    <a:p>
                      <a:r>
                        <a:rPr lang="fr-FR" sz="800" b="0" dirty="0"/>
                        <a:t>Vêtements</a:t>
                      </a:r>
                      <a:r>
                        <a:rPr lang="fr-FR" sz="800" b="0" baseline="0" dirty="0"/>
                        <a:t> ATEX (&lt;1an)</a:t>
                      </a:r>
                      <a:endParaRPr lang="fr-FR" sz="8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36000" marR="360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b="0" dirty="0"/>
                        <a:t>OK</a:t>
                      </a:r>
                      <a:endParaRPr lang="fr-FR" sz="800" b="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b="0" dirty="0"/>
                        <a:t>NOK</a:t>
                      </a:r>
                      <a:endParaRPr lang="fr-FR" sz="800" b="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b="0" dirty="0">
                          <a:solidFill>
                            <a:schemeClr val="tx1"/>
                          </a:solidFill>
                        </a:rPr>
                        <a:t>N/A</a:t>
                      </a:r>
                    </a:p>
                  </a:txBody>
                  <a:tcPr marL="36000" marR="360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1859">
                <a:tc>
                  <a:txBody>
                    <a:bodyPr/>
                    <a:lstStyle/>
                    <a:p>
                      <a:r>
                        <a:rPr lang="fr-FR" sz="800" b="0" dirty="0"/>
                        <a:t>Combinaison</a:t>
                      </a:r>
                      <a:endParaRPr lang="fr-FR" sz="8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36000" marR="360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b="0" dirty="0"/>
                        <a:t>OK</a:t>
                      </a:r>
                      <a:endParaRPr lang="fr-FR" sz="800" b="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b="0" dirty="0"/>
                        <a:t>NOK</a:t>
                      </a:r>
                      <a:endParaRPr lang="fr-FR" sz="800" b="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b="0" dirty="0">
                          <a:solidFill>
                            <a:schemeClr val="tx1"/>
                          </a:solidFill>
                        </a:rPr>
                        <a:t>N/A</a:t>
                      </a:r>
                    </a:p>
                  </a:txBody>
                  <a:tcPr marL="36000" marR="360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1859">
                <a:tc>
                  <a:txBody>
                    <a:bodyPr/>
                    <a:lstStyle/>
                    <a:p>
                      <a:r>
                        <a:rPr lang="fr-FR" sz="800" b="0" dirty="0"/>
                        <a:t>Vêtements « froids »</a:t>
                      </a:r>
                      <a:endParaRPr lang="fr-FR" sz="8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36000" marR="360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b="0" dirty="0"/>
                        <a:t>OK</a:t>
                      </a:r>
                      <a:endParaRPr lang="fr-FR" sz="800" b="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b="0" dirty="0"/>
                        <a:t>NOK</a:t>
                      </a:r>
                      <a:endParaRPr lang="fr-FR" sz="800" b="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b="0" dirty="0">
                          <a:solidFill>
                            <a:schemeClr val="tx1"/>
                          </a:solidFill>
                        </a:rPr>
                        <a:t>N/A</a:t>
                      </a:r>
                    </a:p>
                  </a:txBody>
                  <a:tcPr marL="36000" marR="360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9" name="Tableau 18">
            <a:extLst>
              <a:ext uri="{FF2B5EF4-FFF2-40B4-BE49-F238E27FC236}">
                <a16:creationId xmlns:a16="http://schemas.microsoft.com/office/drawing/2014/main" id="{A8343E65-9531-4FE3-98F9-545746154F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2493849"/>
              </p:ext>
            </p:extLst>
          </p:nvPr>
        </p:nvGraphicFramePr>
        <p:xfrm>
          <a:off x="2714026" y="2933758"/>
          <a:ext cx="2115190" cy="34290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2842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66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21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2170">
                  <a:extLst>
                    <a:ext uri="{9D8B030D-6E8A-4147-A177-3AD203B41FA5}">
                      <a16:colId xmlns:a16="http://schemas.microsoft.com/office/drawing/2014/main" val="4263525691"/>
                    </a:ext>
                  </a:extLst>
                </a:gridCol>
              </a:tblGrid>
              <a:tr h="207902">
                <a:tc gridSpan="4">
                  <a:txBody>
                    <a:bodyPr/>
                    <a:lstStyle/>
                    <a:p>
                      <a:pPr algn="ctr"/>
                      <a:r>
                        <a:rPr lang="fr-FR" sz="800" b="1" i="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</a:rPr>
                        <a:t>TRAVAIL EN HAUTEUR</a:t>
                      </a:r>
                    </a:p>
                  </a:txBody>
                  <a:tcPr marL="36000" marR="36000"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 sz="800" b="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anchor="ctr" anchorCtr="1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 sz="800" b="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anchor="ctr" anchorCtr="1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fr-FR" sz="800" b="1" i="0" dirty="0">
                        <a:solidFill>
                          <a:schemeClr val="bg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36000" marR="36000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7902">
                <a:tc>
                  <a:txBody>
                    <a:bodyPr/>
                    <a:lstStyle/>
                    <a:p>
                      <a:r>
                        <a:rPr lang="fr-FR" sz="8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Harnais </a:t>
                      </a:r>
                      <a:r>
                        <a:rPr lang="fr-FR" sz="6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(vérifié depuis moins d’1</a:t>
                      </a:r>
                      <a:r>
                        <a:rPr lang="fr-FR" sz="600" b="0" baseline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 an)</a:t>
                      </a:r>
                      <a:endParaRPr lang="fr-FR" sz="600" b="0" i="1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36000" marR="3600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b="0" dirty="0">
                          <a:solidFill>
                            <a:schemeClr val="tx1"/>
                          </a:solidFill>
                        </a:rPr>
                        <a:t>OK</a:t>
                      </a:r>
                    </a:p>
                  </a:txBody>
                  <a:tcPr marL="36000" marR="36000" anchor="ctr" anchorCtr="1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b="0" dirty="0">
                          <a:solidFill>
                            <a:schemeClr val="tx1"/>
                          </a:solidFill>
                        </a:rPr>
                        <a:t>NOK</a:t>
                      </a:r>
                    </a:p>
                  </a:txBody>
                  <a:tcPr marL="36000" marR="36000" anchor="ctr" anchorCtr="1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b="0" dirty="0">
                          <a:solidFill>
                            <a:schemeClr val="tx1"/>
                          </a:solidFill>
                        </a:rPr>
                        <a:t>N/A</a:t>
                      </a:r>
                    </a:p>
                  </a:txBody>
                  <a:tcPr marL="36000" marR="36000" anchor="ctr" anchorCtr="1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7902">
                <a:tc>
                  <a:txBody>
                    <a:bodyPr/>
                    <a:lstStyle/>
                    <a:p>
                      <a:r>
                        <a:rPr lang="fr-FR" sz="8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Longe simple sans absorbeur</a:t>
                      </a:r>
                      <a:endParaRPr lang="fr-FR" sz="6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36000" marR="3600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solidFill>
                            <a:schemeClr val="tx1"/>
                          </a:solidFill>
                        </a:rPr>
                        <a:t>OK</a:t>
                      </a:r>
                    </a:p>
                  </a:txBody>
                  <a:tcPr marL="36000" marR="36000" anchor="ctr" anchorCtr="1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solidFill>
                            <a:schemeClr val="tx1"/>
                          </a:solidFill>
                        </a:rPr>
                        <a:t>NOK</a:t>
                      </a:r>
                    </a:p>
                  </a:txBody>
                  <a:tcPr marL="36000" marR="36000" anchor="ctr" anchorCtr="1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N/A</a:t>
                      </a:r>
                    </a:p>
                  </a:txBody>
                  <a:tcPr marL="36000" marR="36000" anchor="ctr" anchorCtr="1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7902">
                <a:tc>
                  <a:txBody>
                    <a:bodyPr/>
                    <a:lstStyle/>
                    <a:p>
                      <a:r>
                        <a:rPr lang="fr-FR" sz="8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Longe double avec</a:t>
                      </a:r>
                      <a:r>
                        <a:rPr lang="fr-FR" sz="800" b="0" baseline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 absorbeur</a:t>
                      </a:r>
                      <a:endParaRPr lang="fr-FR" sz="7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36000" marR="3600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solidFill>
                            <a:schemeClr val="tx1"/>
                          </a:solidFill>
                        </a:rPr>
                        <a:t>OK</a:t>
                      </a:r>
                    </a:p>
                  </a:txBody>
                  <a:tcPr marL="36000" marR="36000" anchor="ctr" anchorCtr="1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solidFill>
                            <a:schemeClr val="tx1"/>
                          </a:solidFill>
                        </a:rPr>
                        <a:t>NOK</a:t>
                      </a:r>
                    </a:p>
                  </a:txBody>
                  <a:tcPr marL="36000" marR="36000" anchor="ctr" anchorCtr="1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N/A</a:t>
                      </a:r>
                    </a:p>
                  </a:txBody>
                  <a:tcPr marL="36000" marR="36000" anchor="ctr" anchorCtr="1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7902">
                <a:tc>
                  <a:txBody>
                    <a:bodyPr/>
                    <a:lstStyle/>
                    <a:p>
                      <a:r>
                        <a:rPr lang="fr-FR" sz="8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Mousquetons</a:t>
                      </a:r>
                      <a:r>
                        <a:rPr lang="fr-FR" sz="800" b="0" baseline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 à fermeture auto.</a:t>
                      </a:r>
                      <a:endParaRPr lang="fr-FR" sz="6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36000" marR="3600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solidFill>
                            <a:schemeClr val="tx1"/>
                          </a:solidFill>
                        </a:rPr>
                        <a:t>OK</a:t>
                      </a:r>
                    </a:p>
                  </a:txBody>
                  <a:tcPr marL="36000" marR="36000" anchor="ctr" anchorCtr="1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solidFill>
                            <a:schemeClr val="tx1"/>
                          </a:solidFill>
                        </a:rPr>
                        <a:t>NOK</a:t>
                      </a:r>
                    </a:p>
                  </a:txBody>
                  <a:tcPr marL="36000" marR="36000" anchor="ctr" anchorCtr="1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N/A</a:t>
                      </a:r>
                    </a:p>
                  </a:txBody>
                  <a:tcPr marL="36000" marR="36000" anchor="ctr" anchorCtr="1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7902">
                <a:tc>
                  <a:txBody>
                    <a:bodyPr/>
                    <a:lstStyle/>
                    <a:p>
                      <a:r>
                        <a:rPr lang="fr-FR" sz="8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Anneaux de sangle</a:t>
                      </a:r>
                    </a:p>
                  </a:txBody>
                  <a:tcPr marL="36000" marR="3600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solidFill>
                            <a:schemeClr val="tx1"/>
                          </a:solidFill>
                        </a:rPr>
                        <a:t>OK</a:t>
                      </a:r>
                    </a:p>
                  </a:txBody>
                  <a:tcPr marL="36000" marR="36000" anchor="ctr" anchorCtr="1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solidFill>
                            <a:schemeClr val="tx1"/>
                          </a:solidFill>
                        </a:rPr>
                        <a:t>NOK</a:t>
                      </a:r>
                    </a:p>
                  </a:txBody>
                  <a:tcPr marL="36000" marR="36000" anchor="ctr" anchorCtr="1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N/A</a:t>
                      </a:r>
                    </a:p>
                  </a:txBody>
                  <a:tcPr marL="36000" marR="36000" anchor="ctr" anchorCtr="1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7902">
                <a:tc>
                  <a:txBody>
                    <a:bodyPr/>
                    <a:lstStyle/>
                    <a:p>
                      <a:r>
                        <a:rPr lang="fr-FR" sz="8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Corde</a:t>
                      </a:r>
                    </a:p>
                  </a:txBody>
                  <a:tcPr marL="36000" marR="3600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solidFill>
                            <a:schemeClr val="tx1"/>
                          </a:solidFill>
                        </a:rPr>
                        <a:t>OK</a:t>
                      </a:r>
                    </a:p>
                  </a:txBody>
                  <a:tcPr marL="36000" marR="36000" anchor="ctr" anchorCtr="1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solidFill>
                            <a:schemeClr val="tx1"/>
                          </a:solidFill>
                        </a:rPr>
                        <a:t>NOK</a:t>
                      </a:r>
                    </a:p>
                  </a:txBody>
                  <a:tcPr marL="36000" marR="36000" anchor="ctr" anchorCtr="1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N/A</a:t>
                      </a:r>
                    </a:p>
                  </a:txBody>
                  <a:tcPr marL="36000" marR="36000" anchor="ctr" anchorCtr="1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7902">
                <a:tc>
                  <a:txBody>
                    <a:bodyPr/>
                    <a:lstStyle/>
                    <a:p>
                      <a:r>
                        <a:rPr lang="fr-FR" sz="8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Antichute (stop chute)</a:t>
                      </a:r>
                    </a:p>
                  </a:txBody>
                  <a:tcPr marL="36000" marR="3600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solidFill>
                            <a:schemeClr val="tx1"/>
                          </a:solidFill>
                        </a:rPr>
                        <a:t>OK</a:t>
                      </a:r>
                    </a:p>
                  </a:txBody>
                  <a:tcPr marL="36000" marR="36000" anchor="ctr" anchorCtr="1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solidFill>
                            <a:schemeClr val="tx1"/>
                          </a:solidFill>
                        </a:rPr>
                        <a:t>NOK</a:t>
                      </a:r>
                    </a:p>
                  </a:txBody>
                  <a:tcPr marL="36000" marR="36000" anchor="ctr" anchorCtr="1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N/A</a:t>
                      </a:r>
                    </a:p>
                  </a:txBody>
                  <a:tcPr marL="36000" marR="36000" anchor="ctr" anchorCtr="1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7902">
                <a:tc>
                  <a:txBody>
                    <a:bodyPr/>
                    <a:lstStyle/>
                    <a:p>
                      <a:r>
                        <a:rPr lang="fr-FR" sz="8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Sac de transport</a:t>
                      </a:r>
                      <a:endParaRPr lang="fr-FR" sz="6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36000" marR="3600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solidFill>
                            <a:schemeClr val="tx1"/>
                          </a:solidFill>
                        </a:rPr>
                        <a:t>OK</a:t>
                      </a:r>
                    </a:p>
                  </a:txBody>
                  <a:tcPr marL="36000" marR="36000" anchor="ctr" anchorCtr="1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solidFill>
                            <a:schemeClr val="tx1"/>
                          </a:solidFill>
                        </a:rPr>
                        <a:t>NOK</a:t>
                      </a:r>
                    </a:p>
                  </a:txBody>
                  <a:tcPr marL="36000" marR="36000" anchor="ctr" anchorCtr="1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N/A</a:t>
                      </a:r>
                    </a:p>
                  </a:txBody>
                  <a:tcPr marL="36000" marR="36000" anchor="ctr" anchorCtr="1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64305">
                <a:tc>
                  <a:txBody>
                    <a:bodyPr/>
                    <a:lstStyle/>
                    <a:p>
                      <a:r>
                        <a:rPr lang="fr-FR" sz="8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Echelles </a:t>
                      </a:r>
                      <a:r>
                        <a:rPr lang="fr-FR" sz="6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(Vérifié depuis moins</a:t>
                      </a:r>
                      <a:r>
                        <a:rPr lang="fr-FR" sz="600" b="0" baseline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 d’1 an + étiquette) A</a:t>
                      </a:r>
                      <a:r>
                        <a:rPr lang="fr-FR" sz="600" i="1" dirty="0"/>
                        <a:t>bsence éléments</a:t>
                      </a:r>
                      <a:r>
                        <a:rPr lang="fr-FR" sz="600" i="1" baseline="0" dirty="0"/>
                        <a:t> tordus/abimés</a:t>
                      </a:r>
                    </a:p>
                    <a:p>
                      <a:r>
                        <a:rPr lang="fr-FR" sz="600" i="1" baseline="0" dirty="0"/>
                        <a:t>Présence + état patins Système verrouillage</a:t>
                      </a:r>
                      <a:endParaRPr lang="fr-FR" sz="600" i="1" dirty="0"/>
                    </a:p>
                  </a:txBody>
                  <a:tcPr marL="36000" marR="3600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solidFill>
                            <a:schemeClr val="tx1"/>
                          </a:solidFill>
                        </a:rPr>
                        <a:t>OK</a:t>
                      </a:r>
                    </a:p>
                  </a:txBody>
                  <a:tcPr marL="36000" marR="36000" anchor="ctr" anchorCtr="1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solidFill>
                            <a:schemeClr val="tx1"/>
                          </a:solidFill>
                        </a:rPr>
                        <a:t>NOK</a:t>
                      </a:r>
                    </a:p>
                  </a:txBody>
                  <a:tcPr marL="36000" marR="36000" anchor="ctr" anchorCtr="1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N/A</a:t>
                      </a:r>
                    </a:p>
                  </a:txBody>
                  <a:tcPr marL="36000" marR="36000" anchor="ctr" anchorCtr="1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57915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Escabeaux </a:t>
                      </a:r>
                      <a:r>
                        <a:rPr lang="fr-FR" sz="7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(Vérifié depuis moins</a:t>
                      </a:r>
                      <a:r>
                        <a:rPr lang="fr-FR" sz="700" b="0" baseline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 d’1 an + étiquette)</a:t>
                      </a:r>
                      <a:r>
                        <a:rPr lang="fr-FR" sz="600" i="1" dirty="0"/>
                        <a:t>Absence éléments</a:t>
                      </a:r>
                      <a:r>
                        <a:rPr lang="fr-FR" sz="600" i="1" baseline="0" dirty="0"/>
                        <a:t> tordus/abimés</a:t>
                      </a:r>
                    </a:p>
                    <a:p>
                      <a:r>
                        <a:rPr lang="fr-FR" sz="600" i="1" baseline="0" dirty="0"/>
                        <a:t>Présence + état patins Système verrouillage</a:t>
                      </a:r>
                      <a:endParaRPr lang="fr-FR" sz="600" i="1" dirty="0"/>
                    </a:p>
                  </a:txBody>
                  <a:tcPr marL="36000" marR="3600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solidFill>
                            <a:schemeClr val="tx1"/>
                          </a:solidFill>
                        </a:rPr>
                        <a:t>OK</a:t>
                      </a:r>
                    </a:p>
                  </a:txBody>
                  <a:tcPr marL="36000" marR="36000" anchor="ctr" anchorCtr="1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solidFill>
                            <a:schemeClr val="tx1"/>
                          </a:solidFill>
                        </a:rPr>
                        <a:t>NOK</a:t>
                      </a:r>
                    </a:p>
                  </a:txBody>
                  <a:tcPr marL="36000" marR="36000" anchor="ctr" anchorCtr="1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N/A</a:t>
                      </a:r>
                    </a:p>
                  </a:txBody>
                  <a:tcPr marL="36000" marR="36000" anchor="ctr" anchorCtr="1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10" name="ZoneTexte 9">
            <a:extLst>
              <a:ext uri="{FF2B5EF4-FFF2-40B4-BE49-F238E27FC236}">
                <a16:creationId xmlns:a16="http://schemas.microsoft.com/office/drawing/2014/main" id="{B6F46C8C-6E0C-4D61-A437-B4776127336B}"/>
              </a:ext>
            </a:extLst>
          </p:cNvPr>
          <p:cNvSpPr txBox="1"/>
          <p:nvPr/>
        </p:nvSpPr>
        <p:spPr>
          <a:xfrm>
            <a:off x="2722431" y="6404406"/>
            <a:ext cx="219729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/>
              <a:t>Les écarts du précédent contrôle ont été levés :</a:t>
            </a:r>
          </a:p>
        </p:txBody>
      </p:sp>
      <p:pic>
        <p:nvPicPr>
          <p:cNvPr id="24" name="Picture 2">
            <a:extLst>
              <a:ext uri="{FF2B5EF4-FFF2-40B4-BE49-F238E27FC236}">
                <a16:creationId xmlns:a16="http://schemas.microsoft.com/office/drawing/2014/main" id="{82542B9C-A9E1-47F2-8A81-C2F5DCE610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3889" y="1259632"/>
            <a:ext cx="1908518" cy="14184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7" name="ZoneTexte 26">
            <a:extLst>
              <a:ext uri="{FF2B5EF4-FFF2-40B4-BE49-F238E27FC236}">
                <a16:creationId xmlns:a16="http://schemas.microsoft.com/office/drawing/2014/main" id="{BD6EC8FA-91F2-49B8-A096-13CA075888E1}"/>
              </a:ext>
            </a:extLst>
          </p:cNvPr>
          <p:cNvSpPr txBox="1"/>
          <p:nvPr/>
        </p:nvSpPr>
        <p:spPr>
          <a:xfrm>
            <a:off x="44624" y="7987724"/>
            <a:ext cx="2272126" cy="576064"/>
          </a:xfrm>
          <a:prstGeom prst="rect">
            <a:avLst/>
          </a:prstGeom>
          <a:noFill/>
          <a:ln>
            <a:solidFill>
              <a:srgbClr val="953735"/>
            </a:solidFill>
          </a:ln>
        </p:spPr>
        <p:txBody>
          <a:bodyPr wrap="square" lIns="36000" tIns="0" rIns="36000" bIns="0" rtlCol="0">
            <a:noAutofit/>
          </a:bodyPr>
          <a:lstStyle/>
          <a:p>
            <a:pPr algn="ctr"/>
            <a:r>
              <a:rPr lang="fr-FR" sz="800" b="1" dirty="0"/>
              <a:t>Vérificateur</a:t>
            </a:r>
          </a:p>
          <a:p>
            <a:r>
              <a:rPr lang="fr-FR" sz="800" dirty="0"/>
              <a:t>Nom-Prénom : 	</a:t>
            </a:r>
          </a:p>
          <a:p>
            <a:r>
              <a:rPr lang="fr-FR" sz="800" dirty="0"/>
              <a:t>Fonction : 	         </a:t>
            </a:r>
          </a:p>
          <a:p>
            <a:r>
              <a:rPr lang="fr-FR" sz="800" dirty="0"/>
              <a:t>Visa : </a:t>
            </a: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4B518455-7908-4006-B22F-7BFA8C7E4786}"/>
              </a:ext>
            </a:extLst>
          </p:cNvPr>
          <p:cNvSpPr txBox="1"/>
          <p:nvPr/>
        </p:nvSpPr>
        <p:spPr>
          <a:xfrm>
            <a:off x="2316750" y="7987724"/>
            <a:ext cx="2303008" cy="576064"/>
          </a:xfrm>
          <a:prstGeom prst="rect">
            <a:avLst/>
          </a:prstGeom>
          <a:noFill/>
          <a:ln>
            <a:solidFill>
              <a:srgbClr val="953735"/>
            </a:solidFill>
          </a:ln>
        </p:spPr>
        <p:txBody>
          <a:bodyPr wrap="square" lIns="36000" tIns="0" rIns="36000" bIns="0" rtlCol="0">
            <a:noAutofit/>
          </a:bodyPr>
          <a:lstStyle/>
          <a:p>
            <a:pPr algn="ctr"/>
            <a:r>
              <a:rPr lang="fr-FR" sz="800" b="1" dirty="0"/>
              <a:t>Collaborateur</a:t>
            </a:r>
          </a:p>
          <a:p>
            <a:r>
              <a:rPr lang="fr-FR" sz="800" dirty="0"/>
              <a:t>Nom-Prénom : 	</a:t>
            </a:r>
          </a:p>
          <a:p>
            <a:r>
              <a:rPr lang="fr-FR" sz="800" dirty="0"/>
              <a:t>Fonction :</a:t>
            </a:r>
          </a:p>
          <a:p>
            <a:r>
              <a:rPr lang="fr-FR" sz="800" dirty="0"/>
              <a:t>Visa : </a:t>
            </a: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F9F25356-C8C6-46DA-8A6F-46F678D38E0C}"/>
              </a:ext>
            </a:extLst>
          </p:cNvPr>
          <p:cNvSpPr txBox="1"/>
          <p:nvPr/>
        </p:nvSpPr>
        <p:spPr>
          <a:xfrm>
            <a:off x="4619758" y="7987724"/>
            <a:ext cx="2193617" cy="576064"/>
          </a:xfrm>
          <a:prstGeom prst="rect">
            <a:avLst/>
          </a:prstGeom>
          <a:noFill/>
          <a:ln>
            <a:solidFill>
              <a:srgbClr val="953735"/>
            </a:solidFill>
          </a:ln>
        </p:spPr>
        <p:txBody>
          <a:bodyPr wrap="square" lIns="36000" tIns="0" rIns="36000" bIns="0" rtlCol="0">
            <a:noAutofit/>
          </a:bodyPr>
          <a:lstStyle/>
          <a:p>
            <a:pPr algn="ctr"/>
            <a:r>
              <a:rPr lang="fr-FR" sz="800" b="1" dirty="0"/>
              <a:t>Directeur d’agence</a:t>
            </a:r>
          </a:p>
          <a:p>
            <a:r>
              <a:rPr lang="fr-FR" sz="800" dirty="0"/>
              <a:t>Nom-Prénom : 	</a:t>
            </a:r>
          </a:p>
          <a:p>
            <a:r>
              <a:rPr lang="fr-FR" sz="800" dirty="0"/>
              <a:t>	         </a:t>
            </a:r>
          </a:p>
          <a:p>
            <a:r>
              <a:rPr lang="fr-FR" sz="800" dirty="0"/>
              <a:t>Visa : </a:t>
            </a:r>
          </a:p>
        </p:txBody>
      </p:sp>
      <p:graphicFrame>
        <p:nvGraphicFramePr>
          <p:cNvPr id="30" name="Tableau 29">
            <a:extLst>
              <a:ext uri="{FF2B5EF4-FFF2-40B4-BE49-F238E27FC236}">
                <a16:creationId xmlns:a16="http://schemas.microsoft.com/office/drawing/2014/main" id="{C026DBEF-8855-4B55-BF0C-D37436F3E2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6888805"/>
              </p:ext>
            </p:extLst>
          </p:nvPr>
        </p:nvGraphicFramePr>
        <p:xfrm>
          <a:off x="4869160" y="2267744"/>
          <a:ext cx="1969790" cy="35052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1991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1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02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0232">
                  <a:extLst>
                    <a:ext uri="{9D8B030D-6E8A-4147-A177-3AD203B41FA5}">
                      <a16:colId xmlns:a16="http://schemas.microsoft.com/office/drawing/2014/main" val="3623871295"/>
                    </a:ext>
                  </a:extLst>
                </a:gridCol>
              </a:tblGrid>
              <a:tr h="151859">
                <a:tc gridSpan="4">
                  <a:txBody>
                    <a:bodyPr/>
                    <a:lstStyle/>
                    <a:p>
                      <a:pPr algn="ctr"/>
                      <a:r>
                        <a:rPr lang="fr-FR" sz="800" b="1" i="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</a:rPr>
                        <a:t>DIVERS</a:t>
                      </a:r>
                    </a:p>
                  </a:txBody>
                  <a:tcPr marL="36000" marR="36000"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 sz="800" b="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anchor="ctr" anchorCtr="1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 sz="800" b="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anchor="ctr" anchorCtr="1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fr-FR" sz="800" b="1" i="0" dirty="0">
                        <a:solidFill>
                          <a:schemeClr val="bg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36000" marR="36000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1859">
                <a:tc>
                  <a:txBody>
                    <a:bodyPr/>
                    <a:lstStyle/>
                    <a:p>
                      <a:r>
                        <a:rPr lang="fr-FR" sz="8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Cutter à lame auto-rétractable</a:t>
                      </a:r>
                    </a:p>
                  </a:txBody>
                  <a:tcPr marL="36000" marR="3600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800" dirty="0">
                          <a:solidFill>
                            <a:schemeClr val="tx1"/>
                          </a:solidFill>
                        </a:rPr>
                        <a:t>OK</a:t>
                      </a:r>
                    </a:p>
                  </a:txBody>
                  <a:tcPr marL="36000" marR="3600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800" dirty="0">
                          <a:solidFill>
                            <a:schemeClr val="tx1"/>
                          </a:solidFill>
                        </a:rPr>
                        <a:t>NOK</a:t>
                      </a:r>
                    </a:p>
                  </a:txBody>
                  <a:tcPr marL="36000" marR="3600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800" dirty="0">
                          <a:solidFill>
                            <a:schemeClr val="tx1"/>
                          </a:solidFill>
                        </a:rPr>
                        <a:t>N/A</a:t>
                      </a:r>
                    </a:p>
                  </a:txBody>
                  <a:tcPr marL="36000" marR="3600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1859">
                <a:tc>
                  <a:txBody>
                    <a:bodyPr/>
                    <a:lstStyle/>
                    <a:p>
                      <a:r>
                        <a:rPr lang="fr-FR" sz="8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Accessoire porte-outils</a:t>
                      </a:r>
                    </a:p>
                  </a:txBody>
                  <a:tcPr marL="36000" marR="3600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800" dirty="0">
                          <a:solidFill>
                            <a:schemeClr val="tx1"/>
                          </a:solidFill>
                        </a:rPr>
                        <a:t>OK</a:t>
                      </a:r>
                    </a:p>
                  </a:txBody>
                  <a:tcPr marL="36000" marR="3600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800" dirty="0">
                          <a:solidFill>
                            <a:schemeClr val="tx1"/>
                          </a:solidFill>
                        </a:rPr>
                        <a:t>NOK</a:t>
                      </a:r>
                    </a:p>
                  </a:txBody>
                  <a:tcPr marL="36000" marR="3600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N/A</a:t>
                      </a:r>
                    </a:p>
                  </a:txBody>
                  <a:tcPr marL="36000" marR="3600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1859">
                <a:tc>
                  <a:txBody>
                    <a:bodyPr/>
                    <a:lstStyle/>
                    <a:p>
                      <a:r>
                        <a:rPr lang="fr-FR" sz="8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Gilet HV</a:t>
                      </a:r>
                    </a:p>
                  </a:txBody>
                  <a:tcPr marL="36000" marR="3600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800" dirty="0">
                          <a:solidFill>
                            <a:schemeClr val="tx1"/>
                          </a:solidFill>
                        </a:rPr>
                        <a:t>OK</a:t>
                      </a:r>
                    </a:p>
                  </a:txBody>
                  <a:tcPr marL="36000" marR="3600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800" dirty="0">
                          <a:solidFill>
                            <a:schemeClr val="tx1"/>
                          </a:solidFill>
                        </a:rPr>
                        <a:t>NOK</a:t>
                      </a:r>
                    </a:p>
                  </a:txBody>
                  <a:tcPr marL="36000" marR="3600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953735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N/A</a:t>
                      </a:r>
                    </a:p>
                  </a:txBody>
                  <a:tcPr marL="36000" marR="36000">
                    <a:solidFill>
                      <a:srgbClr val="9537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1859">
                <a:tc>
                  <a:txBody>
                    <a:bodyPr/>
                    <a:lstStyle/>
                    <a:p>
                      <a:r>
                        <a:rPr lang="fr-FR" sz="8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Balisage</a:t>
                      </a:r>
                    </a:p>
                  </a:txBody>
                  <a:tcPr marL="36000" marR="3600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800" dirty="0">
                          <a:solidFill>
                            <a:schemeClr val="tx1"/>
                          </a:solidFill>
                        </a:rPr>
                        <a:t>OK</a:t>
                      </a:r>
                    </a:p>
                  </a:txBody>
                  <a:tcPr marL="36000" marR="3600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800" dirty="0">
                          <a:solidFill>
                            <a:schemeClr val="tx1"/>
                          </a:solidFill>
                        </a:rPr>
                        <a:t>NOK</a:t>
                      </a:r>
                    </a:p>
                  </a:txBody>
                  <a:tcPr marL="36000" marR="3600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N/A</a:t>
                      </a:r>
                    </a:p>
                  </a:txBody>
                  <a:tcPr marL="36000" marR="3600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1859">
                <a:tc>
                  <a:txBody>
                    <a:bodyPr/>
                    <a:lstStyle/>
                    <a:p>
                      <a:r>
                        <a:rPr lang="fr-FR" sz="8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Protections auditives</a:t>
                      </a:r>
                    </a:p>
                  </a:txBody>
                  <a:tcPr marL="36000" marR="3600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800" dirty="0">
                          <a:solidFill>
                            <a:schemeClr val="tx1"/>
                          </a:solidFill>
                        </a:rPr>
                        <a:t>OK</a:t>
                      </a:r>
                    </a:p>
                  </a:txBody>
                  <a:tcPr marL="36000" marR="3600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800" dirty="0">
                          <a:solidFill>
                            <a:schemeClr val="tx1"/>
                          </a:solidFill>
                        </a:rPr>
                        <a:t>NOK</a:t>
                      </a:r>
                    </a:p>
                  </a:txBody>
                  <a:tcPr marL="36000" marR="3600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36000" marR="36000">
                    <a:solidFill>
                      <a:srgbClr val="9537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1859">
                <a:tc>
                  <a:txBody>
                    <a:bodyPr/>
                    <a:lstStyle/>
                    <a:p>
                      <a:r>
                        <a:rPr lang="fr-FR" sz="8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Lampe frontale</a:t>
                      </a:r>
                    </a:p>
                  </a:txBody>
                  <a:tcPr marL="36000" marR="3600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800" dirty="0">
                          <a:solidFill>
                            <a:schemeClr val="tx1"/>
                          </a:solidFill>
                        </a:rPr>
                        <a:t>OK</a:t>
                      </a:r>
                    </a:p>
                  </a:txBody>
                  <a:tcPr marL="36000" marR="3600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800" dirty="0">
                          <a:solidFill>
                            <a:schemeClr val="tx1"/>
                          </a:solidFill>
                        </a:rPr>
                        <a:t>NOK</a:t>
                      </a:r>
                    </a:p>
                  </a:txBody>
                  <a:tcPr marL="36000" marR="3600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N/A</a:t>
                      </a:r>
                    </a:p>
                  </a:txBody>
                  <a:tcPr marL="36000" marR="3600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1859">
                <a:tc>
                  <a:txBody>
                    <a:bodyPr/>
                    <a:lstStyle/>
                    <a:p>
                      <a:r>
                        <a:rPr lang="fr-FR" sz="8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Outillages coupants possédant leurs protections de lame</a:t>
                      </a:r>
                    </a:p>
                  </a:txBody>
                  <a:tcPr marL="36000" marR="3600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800" dirty="0">
                          <a:solidFill>
                            <a:schemeClr val="tx1"/>
                          </a:solidFill>
                        </a:rPr>
                        <a:t>OK</a:t>
                      </a:r>
                    </a:p>
                  </a:txBody>
                  <a:tcPr marL="36000" marR="3600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800" dirty="0">
                          <a:solidFill>
                            <a:schemeClr val="tx1"/>
                          </a:solidFill>
                        </a:rPr>
                        <a:t>NOK</a:t>
                      </a:r>
                    </a:p>
                  </a:txBody>
                  <a:tcPr marL="36000" marR="3600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N/A</a:t>
                      </a:r>
                    </a:p>
                  </a:txBody>
                  <a:tcPr marL="36000" marR="3600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51859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Rallonges / enrouleurs</a:t>
                      </a:r>
                    </a:p>
                  </a:txBody>
                  <a:tcPr marL="36000" marR="3600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800" dirty="0">
                          <a:solidFill>
                            <a:schemeClr val="tx1"/>
                          </a:solidFill>
                        </a:rPr>
                        <a:t>OK</a:t>
                      </a:r>
                    </a:p>
                  </a:txBody>
                  <a:tcPr marL="36000" marR="3600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800" dirty="0">
                          <a:solidFill>
                            <a:schemeClr val="tx1"/>
                          </a:solidFill>
                        </a:rPr>
                        <a:t>NOK</a:t>
                      </a:r>
                    </a:p>
                  </a:txBody>
                  <a:tcPr marL="36000" marR="3600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N/A</a:t>
                      </a:r>
                    </a:p>
                  </a:txBody>
                  <a:tcPr marL="36000" marR="3600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51859">
                <a:tc>
                  <a:txBody>
                    <a:bodyPr/>
                    <a:lstStyle/>
                    <a:p>
                      <a:r>
                        <a:rPr lang="fr-FR" sz="8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Perceuse,</a:t>
                      </a:r>
                      <a:r>
                        <a:rPr lang="fr-FR" sz="800" b="0" baseline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 perforateur, visseuse</a:t>
                      </a:r>
                      <a:endParaRPr lang="fr-FR" sz="8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36000" marR="3600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800" dirty="0">
                          <a:solidFill>
                            <a:schemeClr val="tx1"/>
                          </a:solidFill>
                        </a:rPr>
                        <a:t>OK</a:t>
                      </a:r>
                    </a:p>
                  </a:txBody>
                  <a:tcPr marL="36000" marR="3600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800" dirty="0">
                          <a:solidFill>
                            <a:schemeClr val="tx1"/>
                          </a:solidFill>
                        </a:rPr>
                        <a:t>NOK</a:t>
                      </a:r>
                    </a:p>
                  </a:txBody>
                  <a:tcPr marL="36000" marR="3600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N/A</a:t>
                      </a:r>
                    </a:p>
                  </a:txBody>
                  <a:tcPr marL="36000" marR="3600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51859">
                <a:tc>
                  <a:txBody>
                    <a:bodyPr/>
                    <a:lstStyle/>
                    <a:p>
                      <a:r>
                        <a:rPr lang="fr-FR" sz="8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Détecteur de gaz (+ étiquette de contrôle</a:t>
                      </a:r>
                      <a:r>
                        <a:rPr lang="fr-FR" sz="800" b="0" baseline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 &lt; 1an)</a:t>
                      </a:r>
                      <a:endParaRPr lang="fr-FR" sz="8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36000" marR="3600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800" dirty="0">
                          <a:solidFill>
                            <a:schemeClr val="tx1"/>
                          </a:solidFill>
                        </a:rPr>
                        <a:t>OK</a:t>
                      </a:r>
                    </a:p>
                  </a:txBody>
                  <a:tcPr marL="36000" marR="3600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800" dirty="0">
                          <a:solidFill>
                            <a:schemeClr val="tx1"/>
                          </a:solidFill>
                        </a:rPr>
                        <a:t>NOK</a:t>
                      </a:r>
                    </a:p>
                  </a:txBody>
                  <a:tcPr marL="36000" marR="3600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N/A</a:t>
                      </a:r>
                    </a:p>
                  </a:txBody>
                  <a:tcPr marL="36000" marR="3600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51859">
                <a:tc>
                  <a:txBody>
                    <a:bodyPr/>
                    <a:lstStyle/>
                    <a:p>
                      <a:r>
                        <a:rPr lang="fr-FR" sz="8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Scotch isolant</a:t>
                      </a:r>
                    </a:p>
                  </a:txBody>
                  <a:tcPr marL="36000" marR="3600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800" dirty="0">
                          <a:solidFill>
                            <a:schemeClr val="tx1"/>
                          </a:solidFill>
                        </a:rPr>
                        <a:t>OK</a:t>
                      </a:r>
                    </a:p>
                  </a:txBody>
                  <a:tcPr marL="36000" marR="3600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800" dirty="0">
                          <a:solidFill>
                            <a:schemeClr val="tx1"/>
                          </a:solidFill>
                        </a:rPr>
                        <a:t>NOK</a:t>
                      </a:r>
                    </a:p>
                  </a:txBody>
                  <a:tcPr marL="36000" marR="3600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N/A</a:t>
                      </a:r>
                    </a:p>
                  </a:txBody>
                  <a:tcPr marL="36000" marR="3600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51859">
                <a:tc>
                  <a:txBody>
                    <a:bodyPr/>
                    <a:lstStyle/>
                    <a:p>
                      <a:r>
                        <a:rPr lang="fr-FR" sz="8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Autre :</a:t>
                      </a:r>
                    </a:p>
                  </a:txBody>
                  <a:tcPr marL="36000" marR="3600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800" dirty="0">
                          <a:solidFill>
                            <a:schemeClr val="tx1"/>
                          </a:solidFill>
                        </a:rPr>
                        <a:t>OK</a:t>
                      </a:r>
                    </a:p>
                  </a:txBody>
                  <a:tcPr marL="36000" marR="3600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800" dirty="0">
                          <a:solidFill>
                            <a:schemeClr val="tx1"/>
                          </a:solidFill>
                        </a:rPr>
                        <a:t>NOK</a:t>
                      </a:r>
                    </a:p>
                  </a:txBody>
                  <a:tcPr marL="36000" marR="3600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N/A</a:t>
                      </a:r>
                    </a:p>
                  </a:txBody>
                  <a:tcPr marL="36000" marR="3600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31" name="ZoneTexte 30">
            <a:extLst>
              <a:ext uri="{FF2B5EF4-FFF2-40B4-BE49-F238E27FC236}">
                <a16:creationId xmlns:a16="http://schemas.microsoft.com/office/drawing/2014/main" id="{595F35D0-F84E-4C23-B579-38E438C059DA}"/>
              </a:ext>
            </a:extLst>
          </p:cNvPr>
          <p:cNvSpPr txBox="1"/>
          <p:nvPr/>
        </p:nvSpPr>
        <p:spPr>
          <a:xfrm>
            <a:off x="2265326" y="50317"/>
            <a:ext cx="42484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solidFill>
                  <a:schemeClr val="accent2">
                    <a:lumMod val="50000"/>
                  </a:schemeClr>
                </a:solidFill>
              </a:rPr>
              <a:t>Contrôle véhicule et EPI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DE386B9A-968E-4A1A-A4E0-7708CB06C023}"/>
              </a:ext>
            </a:extLst>
          </p:cNvPr>
          <p:cNvSpPr txBox="1"/>
          <p:nvPr/>
        </p:nvSpPr>
        <p:spPr>
          <a:xfrm>
            <a:off x="5085184" y="378059"/>
            <a:ext cx="18448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fr-FR" sz="800" i="1" dirty="0"/>
              <a:t>FOR FS 011  v5 – 10/01/2024 - Page 2/2</a:t>
            </a:r>
          </a:p>
        </p:txBody>
      </p:sp>
      <p:graphicFrame>
        <p:nvGraphicFramePr>
          <p:cNvPr id="9" name="Tableau 8">
            <a:extLst>
              <a:ext uri="{FF2B5EF4-FFF2-40B4-BE49-F238E27FC236}">
                <a16:creationId xmlns:a16="http://schemas.microsoft.com/office/drawing/2014/main" id="{FE47C945-8D73-22B6-697F-8061530EAC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7986257"/>
              </p:ext>
            </p:extLst>
          </p:nvPr>
        </p:nvGraphicFramePr>
        <p:xfrm>
          <a:off x="4864395" y="5781393"/>
          <a:ext cx="1944216" cy="6400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128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8032">
                  <a:extLst>
                    <a:ext uri="{9D8B030D-6E8A-4147-A177-3AD203B41FA5}">
                      <a16:colId xmlns:a16="http://schemas.microsoft.com/office/drawing/2014/main" val="659165225"/>
                    </a:ext>
                  </a:extLst>
                </a:gridCol>
                <a:gridCol w="355275">
                  <a:extLst>
                    <a:ext uri="{9D8B030D-6E8A-4147-A177-3AD203B41FA5}">
                      <a16:colId xmlns:a16="http://schemas.microsoft.com/office/drawing/2014/main" val="1161178566"/>
                    </a:ext>
                  </a:extLst>
                </a:gridCol>
              </a:tblGrid>
              <a:tr h="132430">
                <a:tc gridSpan="4"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Calibri" panose="020F0502020204030204" pitchFamily="34" charset="0"/>
                        </a:rPr>
                        <a:t>AMIANTE Delta</a:t>
                      </a:r>
                    </a:p>
                  </a:txBody>
                  <a:tcPr marL="36000" marR="36000"/>
                </a:tc>
                <a:tc hMerge="1">
                  <a:txBody>
                    <a:bodyPr/>
                    <a:lstStyle/>
                    <a:p>
                      <a:pPr algn="ctr"/>
                      <a:endParaRPr lang="fr-FR" sz="900" dirty="0">
                        <a:latin typeface="Calibri" panose="020F0502020204030204" pitchFamily="34" charset="0"/>
                      </a:endParaRPr>
                    </a:p>
                  </a:txBody>
                  <a:tcPr marL="36000" marR="36000"/>
                </a:tc>
                <a:tc hMerge="1">
                  <a:txBody>
                    <a:bodyPr/>
                    <a:lstStyle/>
                    <a:p>
                      <a:pPr algn="ctr"/>
                      <a:endParaRPr lang="fr-FR" sz="900" dirty="0">
                        <a:latin typeface="Calibri" panose="020F0502020204030204" pitchFamily="34" charset="0"/>
                      </a:endParaRPr>
                    </a:p>
                  </a:txBody>
                  <a:tcPr marL="36000" marR="36000"/>
                </a:tc>
                <a:tc hMerge="1">
                  <a:txBody>
                    <a:bodyPr/>
                    <a:lstStyle/>
                    <a:p>
                      <a:pPr algn="ctr"/>
                      <a:endParaRPr lang="fr-FR" sz="800" dirty="0">
                        <a:latin typeface="Calibri" panose="020F0502020204030204" pitchFamily="34" charset="0"/>
                      </a:endParaRPr>
                    </a:p>
                  </a:txBody>
                  <a:tcPr marL="36000" marR="360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105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800" b="0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Gants Nitriles</a:t>
                      </a:r>
                    </a:p>
                  </a:txBody>
                  <a:tcPr marL="36000" marR="36000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800" b="0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OK</a:t>
                      </a:r>
                    </a:p>
                  </a:txBody>
                  <a:tcPr marL="36000" marR="36000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800" b="0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NOK</a:t>
                      </a:r>
                    </a:p>
                  </a:txBody>
                  <a:tcPr marL="36000" marR="36000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800" b="0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N/A</a:t>
                      </a:r>
                    </a:p>
                  </a:txBody>
                  <a:tcPr marL="36000" marR="36000"/>
                </a:tc>
                <a:extLst>
                  <a:ext uri="{0D108BD9-81ED-4DB2-BD59-A6C34878D82A}">
                    <a16:rowId xmlns:a16="http://schemas.microsoft.com/office/drawing/2014/main" val="2965768443"/>
                  </a:ext>
                </a:extLst>
              </a:tr>
              <a:tr h="208105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800" b="0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Demi-masque filtre P3</a:t>
                      </a:r>
                    </a:p>
                  </a:txBody>
                  <a:tcPr marL="36000" marR="36000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800" b="0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OK</a:t>
                      </a:r>
                    </a:p>
                  </a:txBody>
                  <a:tcPr marL="36000" marR="36000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800" b="0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NOK</a:t>
                      </a:r>
                    </a:p>
                  </a:txBody>
                  <a:tcPr marL="36000" marR="36000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800" b="0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N/A</a:t>
                      </a:r>
                    </a:p>
                  </a:txBody>
                  <a:tcPr marL="36000" marR="36000"/>
                </a:tc>
                <a:extLst>
                  <a:ext uri="{0D108BD9-81ED-4DB2-BD59-A6C34878D82A}">
                    <a16:rowId xmlns:a16="http://schemas.microsoft.com/office/drawing/2014/main" val="1875925373"/>
                  </a:ext>
                </a:extLst>
              </a:tr>
            </a:tbl>
          </a:graphicData>
        </a:graphic>
      </p:graphicFrame>
      <p:sp>
        <p:nvSpPr>
          <p:cNvPr id="20" name="Rectangle 19">
            <a:extLst>
              <a:ext uri="{FF2B5EF4-FFF2-40B4-BE49-F238E27FC236}">
                <a16:creationId xmlns:a16="http://schemas.microsoft.com/office/drawing/2014/main" id="{75636151-771C-984C-9BB6-1B1EACDDE66E}"/>
              </a:ext>
            </a:extLst>
          </p:cNvPr>
          <p:cNvSpPr/>
          <p:nvPr/>
        </p:nvSpPr>
        <p:spPr>
          <a:xfrm>
            <a:off x="717473" y="6606511"/>
            <a:ext cx="1462611" cy="2231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600" dirty="0"/>
              <a:t>Merci de bien retranscrire ces actions dans votre tableau de bord agence</a:t>
            </a:r>
            <a:endParaRPr lang="fr-FR" sz="14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DCD0A28-DBB5-1C14-3DEB-1D67C579B009}"/>
              </a:ext>
            </a:extLst>
          </p:cNvPr>
          <p:cNvSpPr/>
          <p:nvPr/>
        </p:nvSpPr>
        <p:spPr>
          <a:xfrm>
            <a:off x="5719597" y="6486085"/>
            <a:ext cx="72000" cy="72000"/>
          </a:xfrm>
          <a:prstGeom prst="rect">
            <a:avLst/>
          </a:prstGeom>
          <a:ln w="19050">
            <a:solidFill>
              <a:srgbClr val="95373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endParaRPr lang="fr-FR" sz="900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1070839-7C70-D7DE-5AAF-F09702F1FC64}"/>
              </a:ext>
            </a:extLst>
          </p:cNvPr>
          <p:cNvSpPr/>
          <p:nvPr/>
        </p:nvSpPr>
        <p:spPr>
          <a:xfrm>
            <a:off x="4875320" y="6481279"/>
            <a:ext cx="72000" cy="72000"/>
          </a:xfrm>
          <a:prstGeom prst="rect">
            <a:avLst/>
          </a:prstGeom>
          <a:ln w="19050">
            <a:solidFill>
              <a:srgbClr val="95373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endParaRPr lang="fr-FR" sz="90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04D45E9-EC21-3399-7CEB-BDB81235BCB8}"/>
              </a:ext>
            </a:extLst>
          </p:cNvPr>
          <p:cNvSpPr/>
          <p:nvPr/>
        </p:nvSpPr>
        <p:spPr>
          <a:xfrm>
            <a:off x="5331929" y="6486085"/>
            <a:ext cx="72000" cy="72000"/>
          </a:xfrm>
          <a:prstGeom prst="rect">
            <a:avLst/>
          </a:prstGeom>
          <a:ln w="19050">
            <a:solidFill>
              <a:srgbClr val="95373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endParaRPr lang="fr-FR" sz="900" dirty="0"/>
          </a:p>
        </p:txBody>
      </p:sp>
    </p:spTree>
    <p:extLst>
      <p:ext uri="{BB962C8B-B14F-4D97-AF65-F5344CB8AC3E}">
        <p14:creationId xmlns:p14="http://schemas.microsoft.com/office/powerpoint/2010/main" val="3473304857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482</TotalTime>
  <Words>1079</Words>
  <Application>Microsoft Office PowerPoint</Application>
  <PresentationFormat>Affichage à l'écran (4:3)</PresentationFormat>
  <Paragraphs>292</Paragraphs>
  <Slides>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</vt:i4>
      </vt:variant>
    </vt:vector>
  </HeadingPairs>
  <TitlesOfParts>
    <vt:vector size="6" baseType="lpstr">
      <vt:lpstr>Arial</vt:lpstr>
      <vt:lpstr>Calibri</vt:lpstr>
      <vt:lpstr>Wingdings</vt:lpstr>
      <vt:lpstr>Thème Office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Giblaine, Anais           UTC CCS</dc:creator>
  <cp:lastModifiedBy>DHAINAUT, Aymeric</cp:lastModifiedBy>
  <cp:revision>68</cp:revision>
  <cp:lastPrinted>2023-11-14T16:08:18Z</cp:lastPrinted>
  <dcterms:created xsi:type="dcterms:W3CDTF">2017-01-04T15:17:33Z</dcterms:created>
  <dcterms:modified xsi:type="dcterms:W3CDTF">2024-02-15T21:38:54Z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2023-09-22T09:35:32Z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47995fc2-1f56-47ce-9137-a87caef4be74</vt:lpwstr>
  </property>
  <property fmtid="{D5CDD505-2E9C-101B-9397-08002B2CF9AE}" pid="7" name="MSIP_Label_defa4170-0d19-0005-0004-bc88714345d2_ActionId">
    <vt:lpwstr>cb3f0d02-8756-4cfa-8153-9b90d57b92e5</vt:lpwstr>
  </property>
  <property fmtid="{D5CDD505-2E9C-101B-9397-08002B2CF9AE}" pid="8" name="MSIP_Label_defa4170-0d19-0005-0004-bc88714345d2_ContentBits">
    <vt:lpwstr>0</vt:lpwstr>
  </property>
</Properties>
</file>