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</p:sldIdLst>
  <p:sldSz cx="6858000" cy="9144000" type="screen4x3"/>
  <p:notesSz cx="6645275" cy="97758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39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Modifiez le style des sous-titres du masque</a:t>
            </a:r>
            <a:endParaRPr lang="en-US" dirty="0"/>
          </a:p>
        </p:txBody>
      </p:sp>
      <p:sp>
        <p:nvSpPr>
          <p:cNvPr id="32" name="Forme libre 31"/>
          <p:cNvSpPr/>
          <p:nvPr userDrawn="1"/>
        </p:nvSpPr>
        <p:spPr>
          <a:xfrm>
            <a:off x="-15192" y="935389"/>
            <a:ext cx="376518" cy="147918"/>
          </a:xfrm>
          <a:custGeom>
            <a:avLst/>
            <a:gdLst>
              <a:gd name="connsiteX0" fmla="*/ 0 w 376518"/>
              <a:gd name="connsiteY0" fmla="*/ 0 h 147918"/>
              <a:gd name="connsiteX1" fmla="*/ 376518 w 376518"/>
              <a:gd name="connsiteY1" fmla="*/ 0 h 147918"/>
              <a:gd name="connsiteX2" fmla="*/ 376518 w 376518"/>
              <a:gd name="connsiteY2" fmla="*/ 147918 h 147918"/>
              <a:gd name="connsiteX3" fmla="*/ 0 w 376518"/>
              <a:gd name="connsiteY3" fmla="*/ 0 h 14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518" h="147918">
                <a:moveTo>
                  <a:pt x="0" y="0"/>
                </a:moveTo>
                <a:lnTo>
                  <a:pt x="376518" y="0"/>
                </a:lnTo>
                <a:lnTo>
                  <a:pt x="376518" y="1479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Organigramme : Processus 32"/>
          <p:cNvSpPr/>
          <p:nvPr userDrawn="1"/>
        </p:nvSpPr>
        <p:spPr>
          <a:xfrm>
            <a:off x="-1745" y="731560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4" name="Organigramme : Processus 33"/>
          <p:cNvSpPr/>
          <p:nvPr userDrawn="1"/>
        </p:nvSpPr>
        <p:spPr>
          <a:xfrm>
            <a:off x="330911" y="443528"/>
            <a:ext cx="2034730" cy="792088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5" name="Connecteur droit 34"/>
          <p:cNvCxnSpPr/>
          <p:nvPr userDrawn="1"/>
        </p:nvCxnSpPr>
        <p:spPr>
          <a:xfrm>
            <a:off x="978983" y="587544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 userDrawn="1"/>
        </p:nvSpPr>
        <p:spPr>
          <a:xfrm>
            <a:off x="1101614" y="467544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H</a:t>
            </a:r>
          </a:p>
        </p:txBody>
      </p:sp>
      <p:sp>
        <p:nvSpPr>
          <p:cNvPr id="37" name="ZoneTexte 36"/>
          <p:cNvSpPr txBox="1"/>
          <p:nvPr userDrawn="1"/>
        </p:nvSpPr>
        <p:spPr>
          <a:xfrm>
            <a:off x="1821694" y="479738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accent2">
                    <a:lumMod val="75000"/>
                  </a:schemeClr>
                </a:solidFill>
              </a:rPr>
              <a:t>S</a:t>
            </a:r>
          </a:p>
        </p:txBody>
      </p:sp>
      <p:sp>
        <p:nvSpPr>
          <p:cNvPr id="38" name="ZoneTexte 37"/>
          <p:cNvSpPr txBox="1"/>
          <p:nvPr userDrawn="1"/>
        </p:nvSpPr>
        <p:spPr>
          <a:xfrm>
            <a:off x="453542" y="487348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/>
              <a:t>E</a:t>
            </a:r>
            <a:endParaRPr lang="fr-FR" sz="4000" dirty="0"/>
          </a:p>
        </p:txBody>
      </p:sp>
      <p:cxnSp>
        <p:nvCxnSpPr>
          <p:cNvPr id="39" name="Connecteur droit 38"/>
          <p:cNvCxnSpPr/>
          <p:nvPr userDrawn="1"/>
        </p:nvCxnSpPr>
        <p:spPr>
          <a:xfrm>
            <a:off x="1699063" y="587544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 userDrawn="1"/>
        </p:nvSpPr>
        <p:spPr>
          <a:xfrm>
            <a:off x="2477459" y="731560"/>
            <a:ext cx="3974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smtClean="0">
                <a:solidFill>
                  <a:schemeClr val="bg1"/>
                </a:solidFill>
              </a:rPr>
              <a:t>Hygiène    Environnement    Management </a:t>
            </a:r>
            <a:endParaRPr lang="fr-FR" sz="1100" i="1" dirty="0">
              <a:solidFill>
                <a:schemeClr val="bg1"/>
              </a:solidFill>
            </a:endParaRPr>
          </a:p>
        </p:txBody>
      </p:sp>
      <p:sp>
        <p:nvSpPr>
          <p:cNvPr id="41" name="Pentagone 40"/>
          <p:cNvSpPr/>
          <p:nvPr userDrawn="1"/>
        </p:nvSpPr>
        <p:spPr>
          <a:xfrm>
            <a:off x="318238" y="732766"/>
            <a:ext cx="115686" cy="214818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2" name="Image 41"/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660" y="83488"/>
            <a:ext cx="837236" cy="563523"/>
          </a:xfrm>
          <a:prstGeom prst="rect">
            <a:avLst/>
          </a:prstGeom>
        </p:spPr>
      </p:pic>
      <p:grpSp>
        <p:nvGrpSpPr>
          <p:cNvPr id="2" name="Groupe 1"/>
          <p:cNvGrpSpPr/>
          <p:nvPr userDrawn="1"/>
        </p:nvGrpSpPr>
        <p:grpSpPr>
          <a:xfrm>
            <a:off x="9468" y="8532440"/>
            <a:ext cx="6854400" cy="529570"/>
            <a:chOff x="9468" y="8532440"/>
            <a:chExt cx="6854400" cy="529570"/>
          </a:xfrm>
        </p:grpSpPr>
        <p:sp>
          <p:nvSpPr>
            <p:cNvPr id="44" name="Rectangle 43"/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5" name="Image 4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9474" y="8761256"/>
              <a:ext cx="594000" cy="178971"/>
            </a:xfrm>
            <a:prstGeom prst="rect">
              <a:avLst/>
            </a:prstGeom>
          </p:spPr>
        </p:pic>
        <p:pic>
          <p:nvPicPr>
            <p:cNvPr id="46" name="Image 45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648" y="8656272"/>
              <a:ext cx="459354" cy="327600"/>
            </a:xfrm>
            <a:prstGeom prst="rect">
              <a:avLst/>
            </a:prstGeom>
          </p:spPr>
        </p:pic>
        <p:pic>
          <p:nvPicPr>
            <p:cNvPr id="47" name="Image 4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13410" y="8700638"/>
              <a:ext cx="627842" cy="237600"/>
            </a:xfrm>
            <a:prstGeom prst="rect">
              <a:avLst/>
            </a:prstGeom>
          </p:spPr>
        </p:pic>
        <p:pic>
          <p:nvPicPr>
            <p:cNvPr id="48" name="Image 4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052" y="8777359"/>
              <a:ext cx="460800" cy="163472"/>
            </a:xfrm>
            <a:prstGeom prst="rect">
              <a:avLst/>
            </a:prstGeom>
          </p:spPr>
        </p:pic>
        <p:pic>
          <p:nvPicPr>
            <p:cNvPr id="49" name="Image 48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7786" y="8733629"/>
              <a:ext cx="849600" cy="205186"/>
            </a:xfrm>
            <a:prstGeom prst="rect">
              <a:avLst/>
            </a:prstGeom>
          </p:spPr>
        </p:pic>
        <p:sp>
          <p:nvSpPr>
            <p:cNvPr id="51" name="ZoneTexte 50"/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sp>
        <p:nvSpPr>
          <p:cNvPr id="30" name="Rectangle 29"/>
          <p:cNvSpPr/>
          <p:nvPr userDrawn="1"/>
        </p:nvSpPr>
        <p:spPr>
          <a:xfrm rot="21419042">
            <a:off x="4984400" y="771237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 userDrawn="1"/>
        </p:nvSpPr>
        <p:spPr>
          <a:xfrm rot="21336737">
            <a:off x="6034285" y="721175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2900" y="2133601"/>
            <a:ext cx="6172200" cy="6034617"/>
          </a:xfrm>
        </p:spPr>
        <p:txBody>
          <a:bodyPr/>
          <a:lstStyle>
            <a:lvl1pPr>
              <a:defRPr sz="2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31178" y="8622284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71670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12" name="Organigramme : Processus 11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Modifiez le style des sous-titres du masque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45976" y="8640298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4995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245976" y="8628370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0929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13/06/2017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6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 de texte 13"/>
          <p:cNvSpPr txBox="1"/>
          <p:nvPr/>
        </p:nvSpPr>
        <p:spPr>
          <a:xfrm>
            <a:off x="2482304" y="187846"/>
            <a:ext cx="3683000" cy="338454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effectLst/>
                <a:ea typeface="Calibri"/>
                <a:cs typeface="Arial"/>
              </a:rPr>
              <a:t>ESPACES CONFINES – Permis d’accès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2420888" y="1043608"/>
            <a:ext cx="45365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u="sng" dirty="0" smtClean="0"/>
              <a:t>1</a:t>
            </a:r>
            <a:r>
              <a:rPr lang="fr-FR" sz="900" i="1" u="sng" baseline="30000" dirty="0" smtClean="0"/>
              <a:t>ère</a:t>
            </a:r>
            <a:r>
              <a:rPr lang="fr-FR" sz="900" i="1" u="sng" dirty="0" smtClean="0"/>
              <a:t> partie – A remplir par le service EHS</a:t>
            </a:r>
            <a:endParaRPr lang="en-US" sz="900" i="1" u="sng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736016"/>
              </p:ext>
            </p:extLst>
          </p:nvPr>
        </p:nvGraphicFramePr>
        <p:xfrm>
          <a:off x="44625" y="1293540"/>
          <a:ext cx="6764703" cy="20831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1634"/>
                <a:gridCol w="751634"/>
                <a:gridCol w="751634"/>
                <a:gridCol w="751634"/>
                <a:gridCol w="371910"/>
                <a:gridCol w="1131357"/>
                <a:gridCol w="427924"/>
                <a:gridCol w="643154"/>
                <a:gridCol w="1183822"/>
              </a:tblGrid>
              <a:tr h="221260">
                <a:tc gridSpan="2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Identification de l’espace confiné</a:t>
                      </a:r>
                      <a:endParaRPr lang="en-US" sz="700" dirty="0"/>
                    </a:p>
                  </a:txBody>
                  <a:tcPr marT="42203" marB="42203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Numéro du permis</a:t>
                      </a:r>
                    </a:p>
                    <a:p>
                      <a:pPr algn="ctr"/>
                      <a:r>
                        <a:rPr lang="fr-FR" sz="500" i="1" dirty="0" smtClean="0"/>
                        <a:t>(date du jour en format </a:t>
                      </a:r>
                      <a:r>
                        <a:rPr lang="fr-FR" sz="500" i="1" dirty="0" err="1" smtClean="0"/>
                        <a:t>jjmmaa</a:t>
                      </a:r>
                      <a:r>
                        <a:rPr lang="fr-FR" sz="500" i="1" dirty="0" smtClean="0"/>
                        <a:t> + trois premières</a:t>
                      </a:r>
                      <a:r>
                        <a:rPr lang="fr-FR" sz="500" i="1" baseline="0" dirty="0" smtClean="0"/>
                        <a:t> lettre du nom de la ville + n° d’incrémentation)</a:t>
                      </a:r>
                      <a:endParaRPr lang="fr-FR" sz="500" i="1" dirty="0" smtClean="0"/>
                    </a:p>
                  </a:txBody>
                  <a:tcPr marT="42203" marB="42203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800" dirty="0" smtClean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</a:tr>
              <a:tr h="221260">
                <a:tc gridSpan="2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Site </a:t>
                      </a:r>
                      <a:endParaRPr lang="en-US" sz="700" dirty="0"/>
                    </a:p>
                  </a:txBody>
                  <a:tcPr marT="42203" marB="42203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Temps estimé d’intervention</a:t>
                      </a:r>
                      <a:endParaRPr lang="en-US" sz="700" dirty="0"/>
                    </a:p>
                  </a:txBody>
                  <a:tcPr marT="42203" marB="42203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</a:tr>
              <a:tr h="268611">
                <a:tc gridSpan="2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Description de l’intervention à réaliser</a:t>
                      </a:r>
                      <a:r>
                        <a:rPr lang="fr-FR" sz="700" baseline="0" dirty="0" smtClean="0"/>
                        <a:t> :</a:t>
                      </a:r>
                      <a:endParaRPr lang="en-US" sz="700" dirty="0"/>
                    </a:p>
                  </a:txBody>
                  <a:tcPr marT="42203" marB="42203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2376">
                <a:tc rowSpan="2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Validité</a:t>
                      </a:r>
                      <a:r>
                        <a:rPr lang="fr-FR" sz="700" baseline="0" dirty="0" smtClean="0"/>
                        <a:t> du permis</a:t>
                      </a:r>
                      <a:endParaRPr lang="en-US" sz="700" dirty="0"/>
                    </a:p>
                  </a:txBody>
                  <a:tcPr marT="42203" marB="42203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De</a:t>
                      </a:r>
                      <a:endParaRPr lang="en-US" sz="700" dirty="0"/>
                    </a:p>
                  </a:txBody>
                  <a:tcPr marT="42203" marB="42203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Date :</a:t>
                      </a:r>
                      <a:endParaRPr lang="en-US" sz="700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A</a:t>
                      </a:r>
                      <a:endParaRPr lang="en-US" sz="700" dirty="0"/>
                    </a:p>
                  </a:txBody>
                  <a:tcPr marT="42203" marB="42203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Date :</a:t>
                      </a:r>
                      <a:endParaRPr lang="en-US" sz="700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Clôture du permis</a:t>
                      </a:r>
                      <a:endParaRPr lang="en-US" sz="700" dirty="0"/>
                    </a:p>
                  </a:txBody>
                  <a:tcPr marT="42203" marB="42203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Date :</a:t>
                      </a:r>
                      <a:endParaRPr lang="en-US" sz="700" dirty="0"/>
                    </a:p>
                  </a:txBody>
                  <a:tcPr marT="42203" marB="42203" anchor="ctr"/>
                </a:tc>
              </a:tr>
              <a:tr h="1723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Heure :</a:t>
                      </a:r>
                      <a:endParaRPr lang="en-US" sz="700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Heure :</a:t>
                      </a:r>
                      <a:endParaRPr lang="en-US" sz="700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Heure :</a:t>
                      </a:r>
                      <a:endParaRPr lang="en-US" sz="700" dirty="0"/>
                    </a:p>
                  </a:txBody>
                  <a:tcPr marT="42203" marB="42203" anchor="ctr"/>
                </a:tc>
              </a:tr>
              <a:tr h="172376">
                <a:tc gridSpan="9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Liste</a:t>
                      </a:r>
                      <a:r>
                        <a:rPr lang="fr-FR" sz="700" baseline="0" dirty="0" smtClean="0"/>
                        <a:t> des intervenants et des participants :</a:t>
                      </a:r>
                      <a:endParaRPr lang="en-US" sz="700" dirty="0"/>
                    </a:p>
                  </a:txBody>
                  <a:tcPr marT="42203" marB="42203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4863">
                <a:tc gridSpan="3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Manager(s) en charge du travail</a:t>
                      </a:r>
                    </a:p>
                    <a:p>
                      <a:pPr algn="ctr"/>
                      <a:r>
                        <a:rPr lang="fr-FR" sz="600" i="1" dirty="0" smtClean="0"/>
                        <a:t>(Nom,</a:t>
                      </a:r>
                      <a:r>
                        <a:rPr lang="fr-FR" sz="600" i="1" baseline="0" dirty="0" smtClean="0"/>
                        <a:t> fonction, numéro de téléphone)</a:t>
                      </a:r>
                      <a:endParaRPr lang="en-US" sz="600" i="1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Rédacteur(s) du permis</a:t>
                      </a:r>
                    </a:p>
                    <a:p>
                      <a:pPr algn="ctr"/>
                      <a:r>
                        <a:rPr lang="fr-FR" sz="600" i="1" dirty="0" smtClean="0"/>
                        <a:t>(Nom,</a:t>
                      </a:r>
                      <a:r>
                        <a:rPr lang="fr-FR" sz="600" i="1" baseline="0" dirty="0" smtClean="0"/>
                        <a:t> fonction, numéro de téléphone)</a:t>
                      </a:r>
                      <a:endParaRPr lang="en-US" sz="600" i="1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Intervenant(s) en espace</a:t>
                      </a:r>
                      <a:r>
                        <a:rPr lang="fr-FR" sz="700" baseline="0" dirty="0" smtClean="0"/>
                        <a:t> confiné</a:t>
                      </a:r>
                      <a:endParaRPr lang="fr-FR" sz="700" dirty="0" smtClean="0"/>
                    </a:p>
                    <a:p>
                      <a:pPr algn="ctr"/>
                      <a:r>
                        <a:rPr lang="fr-FR" sz="600" i="1" dirty="0" smtClean="0"/>
                        <a:t>(Nom,</a:t>
                      </a:r>
                      <a:r>
                        <a:rPr lang="fr-FR" sz="600" i="1" baseline="0" dirty="0" smtClean="0"/>
                        <a:t> fonction, numéro de téléphone)</a:t>
                      </a:r>
                      <a:endParaRPr lang="en-US" sz="600" i="1" dirty="0" smtClean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4846">
                <a:tc gridSpan="3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fr-FR" sz="1000" dirty="0" smtClean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373377"/>
              </p:ext>
            </p:extLst>
          </p:nvPr>
        </p:nvGraphicFramePr>
        <p:xfrm>
          <a:off x="49108" y="3995936"/>
          <a:ext cx="6760220" cy="20445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60220"/>
              </a:tblGrid>
              <a:tr h="483281">
                <a:tc>
                  <a:txBody>
                    <a:bodyPr/>
                    <a:lstStyle/>
                    <a:p>
                      <a:r>
                        <a:rPr lang="fr-FR" sz="700" b="0" u="sng" dirty="0" smtClean="0"/>
                        <a:t>Liste de l’équipement et du matériel à utiliser :</a:t>
                      </a:r>
                    </a:p>
                    <a:p>
                      <a:endParaRPr lang="fr-FR" sz="700" dirty="0" smtClean="0"/>
                    </a:p>
                    <a:p>
                      <a:endParaRPr lang="fr-FR" sz="700" dirty="0" smtClean="0"/>
                    </a:p>
                    <a:p>
                      <a:endParaRPr lang="en-US" sz="700" dirty="0"/>
                    </a:p>
                  </a:txBody>
                  <a:tcPr marT="42203" marB="42203"/>
                </a:tc>
              </a:tr>
              <a:tr h="483281">
                <a:tc>
                  <a:txBody>
                    <a:bodyPr/>
                    <a:lstStyle/>
                    <a:p>
                      <a:r>
                        <a:rPr lang="fr-FR" sz="700" u="sng" dirty="0" smtClean="0"/>
                        <a:t>EPI à porter</a:t>
                      </a:r>
                      <a:r>
                        <a:rPr lang="fr-FR" sz="700" u="sng" baseline="0" dirty="0" smtClean="0"/>
                        <a:t> et règles de sécurité à respecter :</a:t>
                      </a:r>
                    </a:p>
                    <a:p>
                      <a:endParaRPr lang="fr-FR" sz="700" baseline="0" dirty="0" smtClean="0"/>
                    </a:p>
                    <a:p>
                      <a:endParaRPr lang="fr-FR" sz="700" baseline="0" dirty="0" smtClean="0"/>
                    </a:p>
                    <a:p>
                      <a:endParaRPr lang="en-US" sz="700" dirty="0"/>
                    </a:p>
                  </a:txBody>
                  <a:tcPr marT="42203" marB="42203"/>
                </a:tc>
              </a:tr>
              <a:tr h="483281">
                <a:tc>
                  <a:txBody>
                    <a:bodyPr/>
                    <a:lstStyle/>
                    <a:p>
                      <a:r>
                        <a:rPr lang="fr-FR" sz="700" u="sng" dirty="0" smtClean="0"/>
                        <a:t>Méthode de communication mise en place :</a:t>
                      </a:r>
                    </a:p>
                    <a:p>
                      <a:endParaRPr lang="fr-FR" sz="700" dirty="0" smtClean="0"/>
                    </a:p>
                    <a:p>
                      <a:endParaRPr lang="fr-FR" sz="700" dirty="0" smtClean="0"/>
                    </a:p>
                    <a:p>
                      <a:endParaRPr lang="en-US" sz="700" dirty="0"/>
                    </a:p>
                  </a:txBody>
                  <a:tcPr marT="42203" marB="42203"/>
                </a:tc>
              </a:tr>
              <a:tr h="505450">
                <a:tc>
                  <a:txBody>
                    <a:bodyPr/>
                    <a:lstStyle/>
                    <a:p>
                      <a:r>
                        <a:rPr lang="fr-FR" sz="700" u="sng" dirty="0" smtClean="0"/>
                        <a:t>Description de la procédure de secours et d’urgence :</a:t>
                      </a:r>
                    </a:p>
                    <a:p>
                      <a:endParaRPr lang="fr-FR" sz="700" dirty="0" smtClean="0"/>
                    </a:p>
                    <a:p>
                      <a:endParaRPr lang="fr-FR" sz="700" dirty="0" smtClean="0"/>
                    </a:p>
                    <a:p>
                      <a:endParaRPr lang="en-US" sz="700" dirty="0"/>
                    </a:p>
                  </a:txBody>
                  <a:tcPr marT="42203" marB="42203"/>
                </a:tc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923996"/>
              </p:ext>
            </p:extLst>
          </p:nvPr>
        </p:nvGraphicFramePr>
        <p:xfrm>
          <a:off x="44624" y="6084168"/>
          <a:ext cx="6768752" cy="2447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280"/>
                <a:gridCol w="864096"/>
                <a:gridCol w="2592288"/>
                <a:gridCol w="792088"/>
              </a:tblGrid>
              <a:tr h="196948">
                <a:tc gridSpan="4">
                  <a:txBody>
                    <a:bodyPr/>
                    <a:lstStyle/>
                    <a:p>
                      <a:pPr algn="ctr"/>
                      <a:r>
                        <a:rPr lang="fr-FR" sz="7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Cette partie doit être complétée avant</a:t>
                      </a:r>
                      <a:r>
                        <a:rPr lang="fr-FR" sz="700" baseline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de commencer à travailler. Toutes les questions doivent être répondues par OUI,  NON ou NA</a:t>
                      </a:r>
                    </a:p>
                  </a:txBody>
                  <a:tcPr marT="42203" marB="42203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  <a:tr h="196948">
                <a:tc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Points de vérification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OUI/NON/NA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Points de vérification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 smtClean="0"/>
                        <a:t>OUI/NON/NA</a:t>
                      </a:r>
                      <a:endParaRPr lang="en-US" sz="700" dirty="0"/>
                    </a:p>
                  </a:txBody>
                  <a:tcPr marT="42203" marB="42203"/>
                </a:tc>
              </a:tr>
              <a:tr h="326184"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Le(s) collaborateur(s) est/</a:t>
                      </a:r>
                      <a:r>
                        <a:rPr lang="fr-FR" sz="600" dirty="0" err="1" smtClean="0"/>
                        <a:t>sont-il</a:t>
                      </a:r>
                      <a:r>
                        <a:rPr lang="fr-FR" sz="600" dirty="0" smtClean="0"/>
                        <a:t>(s)</a:t>
                      </a:r>
                      <a:r>
                        <a:rPr lang="fr-FR" sz="600" baseline="0" dirty="0" smtClean="0"/>
                        <a:t> formé(s) et qualifié(s) pour réaliser ce travail et pour entrer dans cet espace confiné ?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Le(s)</a:t>
                      </a:r>
                      <a:r>
                        <a:rPr lang="fr-FR" sz="600" baseline="0" dirty="0" smtClean="0"/>
                        <a:t> collaborateurs(s) dispose(nt)-il(s) </a:t>
                      </a:r>
                      <a:r>
                        <a:rPr lang="fr-FR" sz="600" dirty="0" smtClean="0"/>
                        <a:t>de l’analyse des risques réalisée avant l’entrée dans cet espace,</a:t>
                      </a:r>
                      <a:r>
                        <a:rPr lang="fr-FR" sz="600" baseline="0" dirty="0" smtClean="0"/>
                        <a:t> une copie de la fiche pratique espace confiné FP FS 004 et comprennent-ils les mesures de sécurité à appliquer et les EPI à porter ?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T="42203" marB="42203"/>
                </a:tc>
              </a:tr>
              <a:tr h="281354"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Existe-t-il un moyen d’accès sécurité</a:t>
                      </a:r>
                      <a:r>
                        <a:rPr lang="fr-FR" sz="600" baseline="0" dirty="0" smtClean="0"/>
                        <a:t> et un moyen de sortie facilement accessible ?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Est-ce que la température</a:t>
                      </a:r>
                      <a:r>
                        <a:rPr lang="fr-FR" sz="600" baseline="0" dirty="0" smtClean="0"/>
                        <a:t> à l’intérieur de cet espace confiné peut être maintenue à un niveau acceptable pour travailler ?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T="42203" marB="42203"/>
                </a:tc>
              </a:tr>
              <a:tr h="281354"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Y’</a:t>
                      </a:r>
                      <a:r>
                        <a:rPr lang="fr-FR" sz="600" dirty="0" err="1" smtClean="0"/>
                        <a:t>a-t-il</a:t>
                      </a:r>
                      <a:r>
                        <a:rPr lang="fr-FR" sz="600" dirty="0" smtClean="0"/>
                        <a:t> un</a:t>
                      </a:r>
                      <a:r>
                        <a:rPr lang="fr-FR" sz="600" baseline="0" dirty="0" smtClean="0"/>
                        <a:t> éclairage suffisant pour assurer le travail en toute sécurité ?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Est-ce qu’une procédure d’urgence adéquate est</a:t>
                      </a:r>
                      <a:r>
                        <a:rPr lang="fr-FR" sz="600" baseline="0" dirty="0" smtClean="0"/>
                        <a:t> en place (incluant le fait de travailler à 2) ?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T="42203" marB="42203"/>
                </a:tc>
              </a:tr>
              <a:tr h="281354"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Est-ce que l’espace confiné est isolé et consigné de toute tuyauterie de raccordement ?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Est-ce</a:t>
                      </a:r>
                      <a:r>
                        <a:rPr lang="fr-FR" sz="600" baseline="0" dirty="0" smtClean="0"/>
                        <a:t> qu’une ligne de vie, un treuil et un harnais sont disponibles ?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T="42203" marB="42203"/>
                </a:tc>
              </a:tr>
              <a:tr h="281354"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Est-ce que l’espace confiné a été</a:t>
                      </a:r>
                      <a:r>
                        <a:rPr lang="fr-FR" sz="600" baseline="0" dirty="0" smtClean="0"/>
                        <a:t> purgé à l’eau/air/vapeur ?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Est-ce qu’un Appareil</a:t>
                      </a:r>
                      <a:r>
                        <a:rPr lang="fr-FR" sz="600" baseline="0" dirty="0" smtClean="0"/>
                        <a:t> Respiratoire Isolant (ARI) est disponible et les collaborateurs sont-ils formés à son utilisation ?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T="42203" marB="42203"/>
                </a:tc>
              </a:tr>
              <a:tr h="281354"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Est-ce que l’espace confiné a été isolé</a:t>
                      </a:r>
                      <a:r>
                        <a:rPr lang="fr-FR" sz="600" baseline="0" dirty="0" smtClean="0"/>
                        <a:t> et consigné électriquement ?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Est-ce qu’un apport d’air est assuré, ou une ventilation en place ?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 marT="42203" marB="42203"/>
                </a:tc>
              </a:tr>
              <a:tr h="196948">
                <a:tc gridSpan="4">
                  <a:txBody>
                    <a:bodyPr/>
                    <a:lstStyle/>
                    <a:p>
                      <a:pPr algn="ctr"/>
                      <a:r>
                        <a:rPr lang="fr-FR" sz="7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Si vous avez</a:t>
                      </a:r>
                      <a:r>
                        <a:rPr lang="fr-FR" sz="700" baseline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répondu NON à une de ces questions, le travail ne doit pas être réalisé jusqu’à ce que les actions nécessaires soient en place </a:t>
                      </a:r>
                      <a:endParaRPr lang="en-US" sz="7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T="42203" marB="42203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au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227183"/>
              </p:ext>
            </p:extLst>
          </p:nvPr>
        </p:nvGraphicFramePr>
        <p:xfrm>
          <a:off x="44624" y="3375832"/>
          <a:ext cx="6760220" cy="5943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60220"/>
              </a:tblGrid>
              <a:tr h="594342">
                <a:tc>
                  <a:txBody>
                    <a:bodyPr/>
                    <a:lstStyle/>
                    <a:p>
                      <a:r>
                        <a:rPr lang="fr-FR" sz="700" b="0" u="sng" dirty="0" smtClean="0"/>
                        <a:t>Risques présents</a:t>
                      </a:r>
                      <a:r>
                        <a:rPr lang="fr-FR" sz="700" b="0" u="sng" baseline="0" dirty="0" smtClean="0"/>
                        <a:t> dans l’espace confiné concerné </a:t>
                      </a:r>
                      <a:r>
                        <a:rPr lang="fr-FR" sz="700" b="0" u="sng" dirty="0" smtClean="0"/>
                        <a:t>:</a:t>
                      </a:r>
                    </a:p>
                    <a:p>
                      <a:endParaRPr lang="fr-FR" sz="700" dirty="0" smtClean="0"/>
                    </a:p>
                    <a:p>
                      <a:endParaRPr lang="fr-FR" sz="700" dirty="0" smtClean="0"/>
                    </a:p>
                    <a:p>
                      <a:endParaRPr lang="en-US" sz="700" dirty="0"/>
                    </a:p>
                  </a:txBody>
                  <a:tcPr marT="42203" marB="42203"/>
                </a:tc>
              </a:tr>
            </a:tbl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73090" y="3493588"/>
            <a:ext cx="12829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/>
              <a:buChar char="q"/>
            </a:pPr>
            <a:r>
              <a:rPr lang="fr-FR" sz="700" dirty="0" smtClean="0"/>
              <a:t>Atmosphère dangereuse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1416877" y="3488241"/>
            <a:ext cx="180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/>
              <a:buChar char="q"/>
            </a:pPr>
            <a:r>
              <a:rPr lang="fr-FR" sz="700" dirty="0" smtClean="0"/>
              <a:t>Dispositifs mécaniques et/ou électriques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285755" y="3493069"/>
            <a:ext cx="1711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/>
              <a:buChar char="q"/>
            </a:pPr>
            <a:r>
              <a:rPr lang="fr-FR" sz="700" dirty="0" smtClean="0"/>
              <a:t>Gaz / Vapeurs inflammables ou toxiques</a:t>
            </a:r>
            <a:endParaRPr lang="en-US" sz="700" dirty="0"/>
          </a:p>
        </p:txBody>
      </p:sp>
      <p:sp>
        <p:nvSpPr>
          <p:cNvPr id="26" name="ZoneTexte 25"/>
          <p:cNvSpPr txBox="1"/>
          <p:nvPr/>
        </p:nvSpPr>
        <p:spPr>
          <a:xfrm>
            <a:off x="5058220" y="3493588"/>
            <a:ext cx="17116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/>
              <a:buChar char="q"/>
            </a:pPr>
            <a:r>
              <a:rPr lang="fr-FR" sz="700" dirty="0" smtClean="0"/>
              <a:t>Absence de cheminement sécurisé</a:t>
            </a:r>
            <a:endParaRPr lang="en-US" sz="700" dirty="0"/>
          </a:p>
        </p:txBody>
      </p:sp>
      <p:sp>
        <p:nvSpPr>
          <p:cNvPr id="3" name="ZoneTexte 2"/>
          <p:cNvSpPr txBox="1"/>
          <p:nvPr/>
        </p:nvSpPr>
        <p:spPr>
          <a:xfrm flipH="1">
            <a:off x="11201" y="3746066"/>
            <a:ext cx="67981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 smtClean="0"/>
              <a:t>Commentaires : …………………………………………………………………………………………………………………………………………………………………………………</a:t>
            </a:r>
            <a:endParaRPr lang="en-US" sz="700" dirty="0"/>
          </a:p>
        </p:txBody>
      </p:sp>
      <p:sp>
        <p:nvSpPr>
          <p:cNvPr id="4" name="ZoneTexte 3"/>
          <p:cNvSpPr txBox="1"/>
          <p:nvPr/>
        </p:nvSpPr>
        <p:spPr>
          <a:xfrm>
            <a:off x="4509120" y="540132"/>
            <a:ext cx="23488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800" i="1" dirty="0" smtClean="0"/>
              <a:t>FOR FS 006 v1 – 23/05/17 - Page 1/2</a:t>
            </a:r>
            <a:endParaRPr lang="fr-FR" sz="800" i="1" dirty="0"/>
          </a:p>
        </p:txBody>
      </p:sp>
    </p:spTree>
    <p:extLst>
      <p:ext uri="{BB962C8B-B14F-4D97-AF65-F5344CB8AC3E}">
        <p14:creationId xmlns:p14="http://schemas.microsoft.com/office/powerpoint/2010/main" val="34804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794790"/>
              </p:ext>
            </p:extLst>
          </p:nvPr>
        </p:nvGraphicFramePr>
        <p:xfrm>
          <a:off x="44624" y="2051720"/>
          <a:ext cx="6764704" cy="4220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1176"/>
                <a:gridCol w="1691176"/>
                <a:gridCol w="1691176"/>
                <a:gridCol w="1691176"/>
              </a:tblGrid>
              <a:tr h="182880">
                <a:tc rowSpan="2">
                  <a:txBody>
                    <a:bodyPr/>
                    <a:lstStyle/>
                    <a:p>
                      <a:r>
                        <a:rPr lang="fr-FR" sz="700" dirty="0" smtClean="0"/>
                        <a:t>Renseignements</a:t>
                      </a:r>
                      <a:r>
                        <a:rPr lang="fr-FR" sz="700" baseline="0" dirty="0" smtClean="0"/>
                        <a:t> sur l’appareil mesurant l’air de l’espace confiné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Type :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N° de Série : </a:t>
                      </a:r>
                      <a:endParaRPr lang="en-US" sz="6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600" dirty="0" smtClean="0"/>
                        <a:t>Date de dernière</a:t>
                      </a:r>
                      <a:r>
                        <a:rPr lang="fr-FR" sz="600" baseline="0" dirty="0" smtClean="0"/>
                        <a:t> calibration :</a:t>
                      </a:r>
                      <a:endParaRPr lang="en-US" sz="600" dirty="0"/>
                    </a:p>
                  </a:txBody>
                  <a:tcPr marT="42203" marB="42203"/>
                </a:tc>
              </a:tr>
              <a:tr h="239151">
                <a:tc v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</a:tr>
            </a:tbl>
          </a:graphicData>
        </a:graphic>
      </p:graphicFrame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118208"/>
              </p:ext>
            </p:extLst>
          </p:nvPr>
        </p:nvGraphicFramePr>
        <p:xfrm>
          <a:off x="44624" y="2555776"/>
          <a:ext cx="6764707" cy="2094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857"/>
                <a:gridCol w="635297"/>
                <a:gridCol w="747077"/>
                <a:gridCol w="855113"/>
                <a:gridCol w="625371"/>
                <a:gridCol w="760748"/>
                <a:gridCol w="918137"/>
                <a:gridCol w="603359"/>
                <a:gridCol w="760748"/>
              </a:tblGrid>
              <a:tr h="473630">
                <a:tc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1</a:t>
                      </a:r>
                      <a:r>
                        <a:rPr lang="fr-FR" sz="700" baseline="30000" dirty="0" smtClean="0"/>
                        <a:t>ère</a:t>
                      </a:r>
                      <a:r>
                        <a:rPr lang="fr-FR" sz="700" dirty="0" smtClean="0"/>
                        <a:t> série de mesures</a:t>
                      </a:r>
                    </a:p>
                    <a:p>
                      <a:pPr algn="l"/>
                      <a:r>
                        <a:rPr lang="fr-FR" sz="700" dirty="0" smtClean="0"/>
                        <a:t>Durée :</a:t>
                      </a:r>
                    </a:p>
                    <a:p>
                      <a:pPr algn="l"/>
                      <a:r>
                        <a:rPr kumimoji="0" lang="fr-FR" sz="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(Min 1min.)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Heures :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Minutes :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baseline="0" dirty="0" smtClean="0"/>
                        <a:t>2</a:t>
                      </a:r>
                      <a:r>
                        <a:rPr lang="fr-FR" sz="700" baseline="30000" dirty="0" smtClean="0"/>
                        <a:t>ème</a:t>
                      </a:r>
                      <a:r>
                        <a:rPr lang="fr-FR" sz="700" dirty="0" smtClean="0"/>
                        <a:t> série de mesures</a:t>
                      </a:r>
                    </a:p>
                    <a:p>
                      <a:pPr algn="l"/>
                      <a:r>
                        <a:rPr lang="fr-FR" sz="700" dirty="0" smtClean="0"/>
                        <a:t>Durée :</a:t>
                      </a:r>
                    </a:p>
                    <a:p>
                      <a:pPr algn="l"/>
                      <a:r>
                        <a:rPr kumimoji="0" lang="fr-FR" sz="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(Min 1min.)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Heures :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Minutes :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baseline="0" dirty="0" smtClean="0"/>
                        <a:t>3</a:t>
                      </a:r>
                      <a:r>
                        <a:rPr lang="fr-FR" sz="700" baseline="30000" dirty="0" smtClean="0"/>
                        <a:t>ème</a:t>
                      </a:r>
                      <a:r>
                        <a:rPr lang="fr-FR" sz="700" dirty="0" smtClean="0"/>
                        <a:t> série de mesures</a:t>
                      </a:r>
                    </a:p>
                    <a:p>
                      <a:pPr algn="l"/>
                      <a:r>
                        <a:rPr lang="fr-FR" sz="700" dirty="0" smtClean="0"/>
                        <a:t>Durée :</a:t>
                      </a:r>
                    </a:p>
                    <a:p>
                      <a:pPr algn="l"/>
                      <a:r>
                        <a:rPr lang="fr-FR" sz="600" i="1" dirty="0" smtClean="0"/>
                        <a:t>(Min 1min.)</a:t>
                      </a:r>
                      <a:endParaRPr lang="en-US" sz="700" i="1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Heures :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Minutes :</a:t>
                      </a:r>
                      <a:endParaRPr lang="en-US" sz="700" dirty="0"/>
                    </a:p>
                  </a:txBody>
                  <a:tcPr marT="42203" marB="42203" anchor="ctr"/>
                </a:tc>
              </a:tr>
              <a:tr h="444518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Oxygène</a:t>
                      </a:r>
                    </a:p>
                    <a:p>
                      <a:r>
                        <a:rPr lang="fr-FR" sz="600" i="1" dirty="0" smtClean="0"/>
                        <a:t>(entre 19,5 et 23</a:t>
                      </a:r>
                      <a:r>
                        <a:rPr lang="fr-FR" sz="600" i="1" baseline="0" dirty="0" smtClean="0"/>
                        <a:t>% ou port d’ARI obligatoire si inf. ou sup.)</a:t>
                      </a:r>
                      <a:endParaRPr lang="fr-FR" sz="600" i="1" dirty="0" smtClean="0"/>
                    </a:p>
                  </a:txBody>
                  <a:tcPr marT="42203" marB="4220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700" dirty="0" smtClean="0"/>
                        <a:t>%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r>
                        <a:rPr lang="fr-FR" sz="700" b="1" dirty="0" smtClean="0">
                          <a:solidFill>
                            <a:srgbClr val="00B050"/>
                          </a:solidFill>
                        </a:rPr>
                        <a:t>OK</a:t>
                      </a:r>
                      <a:r>
                        <a:rPr lang="fr-FR" sz="700" dirty="0" smtClean="0"/>
                        <a:t>            </a:t>
                      </a:r>
                      <a:r>
                        <a:rPr lang="fr-FR" sz="700" b="1" dirty="0" smtClean="0">
                          <a:solidFill>
                            <a:srgbClr val="FF0000"/>
                          </a:solidFill>
                        </a:rPr>
                        <a:t>NOK</a:t>
                      </a:r>
                      <a:endParaRPr lang="en-US" sz="700" b="1" dirty="0">
                        <a:solidFill>
                          <a:srgbClr val="FF0000"/>
                        </a:solidFill>
                      </a:endParaRPr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 smtClean="0"/>
                        <a:t>Oxygène</a:t>
                      </a:r>
                    </a:p>
                    <a:p>
                      <a:r>
                        <a:rPr lang="fr-FR" sz="600" i="1" dirty="0" smtClean="0"/>
                        <a:t>(entre 19,5 et 23</a:t>
                      </a:r>
                      <a:r>
                        <a:rPr lang="fr-FR" sz="600" i="1" baseline="0" dirty="0" smtClean="0"/>
                        <a:t>% ou port d’ARI obligatoire si inf. ou sup.)</a:t>
                      </a:r>
                      <a:endParaRPr lang="fr-FR" sz="600" i="1" dirty="0" smtClean="0"/>
                    </a:p>
                  </a:txBody>
                  <a:tcPr marT="42203" marB="4220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700" dirty="0" smtClean="0"/>
                        <a:t>%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r>
                        <a:rPr lang="fr-FR" sz="700" b="1" dirty="0" smtClean="0">
                          <a:solidFill>
                            <a:srgbClr val="00B050"/>
                          </a:solidFill>
                        </a:rPr>
                        <a:t>OK</a:t>
                      </a:r>
                      <a:r>
                        <a:rPr lang="fr-FR" sz="700" dirty="0" smtClean="0"/>
                        <a:t>              </a:t>
                      </a:r>
                      <a:r>
                        <a:rPr lang="fr-FR" sz="700" b="1" dirty="0" smtClean="0">
                          <a:solidFill>
                            <a:srgbClr val="FF0000"/>
                          </a:solidFill>
                        </a:rPr>
                        <a:t>NOK</a:t>
                      </a:r>
                      <a:endParaRPr lang="en-US" sz="700" b="1" dirty="0">
                        <a:solidFill>
                          <a:srgbClr val="FF0000"/>
                        </a:solidFill>
                      </a:endParaRPr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 smtClean="0"/>
                        <a:t>Oxygène</a:t>
                      </a:r>
                    </a:p>
                    <a:p>
                      <a:r>
                        <a:rPr lang="fr-FR" sz="600" i="1" dirty="0" smtClean="0"/>
                        <a:t>(entre 19,5 et 23</a:t>
                      </a:r>
                      <a:r>
                        <a:rPr lang="fr-FR" sz="600" i="1" baseline="0" dirty="0" smtClean="0"/>
                        <a:t>% ou port d’ARI obligatoire si inf. ou sup.)</a:t>
                      </a:r>
                      <a:endParaRPr lang="fr-FR" sz="600" i="1" dirty="0" smtClean="0"/>
                    </a:p>
                  </a:txBody>
                  <a:tcPr marT="42203" marB="4220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700" dirty="0" smtClean="0"/>
                        <a:t>%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r>
                        <a:rPr lang="fr-FR" sz="700" b="1" dirty="0" smtClean="0">
                          <a:solidFill>
                            <a:srgbClr val="00B050"/>
                          </a:solidFill>
                        </a:rPr>
                        <a:t>OK</a:t>
                      </a:r>
                      <a:r>
                        <a:rPr lang="fr-FR" sz="700" dirty="0" smtClean="0"/>
                        <a:t>              </a:t>
                      </a:r>
                      <a:r>
                        <a:rPr lang="fr-FR" sz="700" b="1" dirty="0" smtClean="0">
                          <a:solidFill>
                            <a:srgbClr val="FF0000"/>
                          </a:solidFill>
                        </a:rPr>
                        <a:t>NOK</a:t>
                      </a:r>
                      <a:endParaRPr lang="en-US" sz="700" b="1" dirty="0">
                        <a:solidFill>
                          <a:srgbClr val="FF0000"/>
                        </a:solidFill>
                      </a:endParaRPr>
                    </a:p>
                  </a:txBody>
                  <a:tcPr marT="42203" marB="42203" anchor="ctr"/>
                </a:tc>
              </a:tr>
              <a:tr h="371738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Monoxyde de Carbone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(VLEP : 50 PPM)</a:t>
                      </a:r>
                    </a:p>
                  </a:txBody>
                  <a:tcPr marT="42203" marB="4220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700" dirty="0" smtClean="0"/>
                        <a:t>%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 smtClean="0">
                          <a:solidFill>
                            <a:srgbClr val="00B050"/>
                          </a:solidFill>
                        </a:rPr>
                        <a:t>OK</a:t>
                      </a:r>
                      <a:r>
                        <a:rPr lang="fr-FR" sz="700" dirty="0" smtClean="0"/>
                        <a:t>            </a:t>
                      </a:r>
                      <a:r>
                        <a:rPr lang="fr-FR" sz="700" b="1" dirty="0" smtClean="0">
                          <a:solidFill>
                            <a:srgbClr val="FF0000"/>
                          </a:solidFill>
                        </a:rPr>
                        <a:t>NOK</a:t>
                      </a:r>
                      <a:endParaRPr lang="en-US" sz="7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Monoxyde de Carbone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(VLEP : 50 PPM)</a:t>
                      </a:r>
                    </a:p>
                  </a:txBody>
                  <a:tcPr marT="42203" marB="4220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700" dirty="0" smtClean="0"/>
                        <a:t>%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 smtClean="0">
                          <a:solidFill>
                            <a:srgbClr val="00B050"/>
                          </a:solidFill>
                        </a:rPr>
                        <a:t>OK</a:t>
                      </a:r>
                      <a:r>
                        <a:rPr lang="fr-FR" sz="700" dirty="0" smtClean="0"/>
                        <a:t>              </a:t>
                      </a:r>
                      <a:r>
                        <a:rPr lang="fr-FR" sz="700" b="1" dirty="0" smtClean="0">
                          <a:solidFill>
                            <a:srgbClr val="FF0000"/>
                          </a:solidFill>
                        </a:rPr>
                        <a:t>NOK</a:t>
                      </a:r>
                      <a:endParaRPr lang="en-US" sz="7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Monoxyde de Carbone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(VLEP : 50 PPM)</a:t>
                      </a:r>
                    </a:p>
                  </a:txBody>
                  <a:tcPr marT="42203" marB="4220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700" dirty="0" smtClean="0"/>
                        <a:t>%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 smtClean="0">
                          <a:solidFill>
                            <a:srgbClr val="00B050"/>
                          </a:solidFill>
                        </a:rPr>
                        <a:t>OK</a:t>
                      </a:r>
                      <a:r>
                        <a:rPr lang="fr-FR" sz="700" dirty="0" smtClean="0"/>
                        <a:t>              </a:t>
                      </a:r>
                      <a:r>
                        <a:rPr lang="fr-FR" sz="700" b="1" dirty="0" smtClean="0">
                          <a:solidFill>
                            <a:srgbClr val="FF0000"/>
                          </a:solidFill>
                        </a:rPr>
                        <a:t>NOK</a:t>
                      </a:r>
                      <a:endParaRPr lang="en-US" sz="7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 marT="42203" marB="42203" anchor="ctr"/>
                </a:tc>
              </a:tr>
              <a:tr h="371738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Dioxyde de Carbone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(VLEP : 5000 PPM)</a:t>
                      </a:r>
                      <a:endParaRPr lang="en-US" sz="60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2203" marB="4220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700" dirty="0" smtClean="0"/>
                        <a:t>%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 smtClean="0">
                          <a:solidFill>
                            <a:srgbClr val="00B050"/>
                          </a:solidFill>
                        </a:rPr>
                        <a:t>OK</a:t>
                      </a:r>
                      <a:r>
                        <a:rPr lang="fr-FR" sz="700" dirty="0" smtClean="0"/>
                        <a:t>            </a:t>
                      </a:r>
                      <a:r>
                        <a:rPr lang="fr-FR" sz="700" b="1" dirty="0" smtClean="0">
                          <a:solidFill>
                            <a:srgbClr val="FF0000"/>
                          </a:solidFill>
                        </a:rPr>
                        <a:t>NOK</a:t>
                      </a:r>
                      <a:endParaRPr lang="en-US" sz="7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Dioxyde de Carbone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(VLEP : 5000 PPM)</a:t>
                      </a:r>
                    </a:p>
                  </a:txBody>
                  <a:tcPr marT="42203" marB="4220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700" dirty="0" smtClean="0"/>
                        <a:t>%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 smtClean="0">
                          <a:solidFill>
                            <a:srgbClr val="00B050"/>
                          </a:solidFill>
                        </a:rPr>
                        <a:t>OK</a:t>
                      </a:r>
                      <a:r>
                        <a:rPr lang="fr-FR" sz="700" dirty="0" smtClean="0"/>
                        <a:t>              </a:t>
                      </a:r>
                      <a:r>
                        <a:rPr lang="fr-FR" sz="700" b="1" dirty="0" smtClean="0">
                          <a:solidFill>
                            <a:srgbClr val="FF0000"/>
                          </a:solidFill>
                        </a:rPr>
                        <a:t>NOK</a:t>
                      </a:r>
                      <a:endParaRPr lang="en-US" sz="7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Dioxyde de Carbone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(VLEP : 5000 PPM)</a:t>
                      </a:r>
                    </a:p>
                  </a:txBody>
                  <a:tcPr marT="42203" marB="4220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700" dirty="0" smtClean="0"/>
                        <a:t>%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 smtClean="0">
                          <a:solidFill>
                            <a:srgbClr val="00B050"/>
                          </a:solidFill>
                        </a:rPr>
                        <a:t>OK</a:t>
                      </a:r>
                      <a:r>
                        <a:rPr lang="fr-FR" sz="700" dirty="0" smtClean="0"/>
                        <a:t>              </a:t>
                      </a:r>
                      <a:r>
                        <a:rPr lang="fr-FR" sz="700" b="1" dirty="0" smtClean="0">
                          <a:solidFill>
                            <a:srgbClr val="FF0000"/>
                          </a:solidFill>
                        </a:rPr>
                        <a:t>NOK</a:t>
                      </a:r>
                      <a:endParaRPr lang="en-US" sz="7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 marT="42203" marB="42203" anchor="ctr"/>
                </a:tc>
              </a:tr>
              <a:tr h="354601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Autres :</a:t>
                      </a:r>
                    </a:p>
                  </a:txBody>
                  <a:tcPr marT="42203" marB="4220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700" dirty="0" smtClean="0"/>
                        <a:t>%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r>
                        <a:rPr lang="fr-FR" sz="700" b="1" dirty="0" smtClean="0">
                          <a:solidFill>
                            <a:srgbClr val="00B050"/>
                          </a:solidFill>
                        </a:rPr>
                        <a:t>OK</a:t>
                      </a:r>
                      <a:r>
                        <a:rPr lang="fr-FR" sz="700" dirty="0" smtClean="0"/>
                        <a:t>            </a:t>
                      </a:r>
                      <a:r>
                        <a:rPr lang="fr-FR" sz="700" b="1" dirty="0" smtClean="0">
                          <a:solidFill>
                            <a:srgbClr val="FF0000"/>
                          </a:solidFill>
                        </a:rPr>
                        <a:t>NOK</a:t>
                      </a:r>
                      <a:endParaRPr lang="en-US" sz="700" b="1" dirty="0">
                        <a:solidFill>
                          <a:srgbClr val="FF0000"/>
                        </a:solidFill>
                      </a:endParaRPr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Autres :</a:t>
                      </a:r>
                    </a:p>
                  </a:txBody>
                  <a:tcPr marT="42203" marB="4220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700" dirty="0" smtClean="0"/>
                        <a:t>%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r>
                        <a:rPr lang="fr-FR" sz="700" b="1" dirty="0" smtClean="0">
                          <a:solidFill>
                            <a:srgbClr val="00B050"/>
                          </a:solidFill>
                        </a:rPr>
                        <a:t>OK</a:t>
                      </a:r>
                      <a:r>
                        <a:rPr lang="fr-FR" sz="700" dirty="0" smtClean="0"/>
                        <a:t>              </a:t>
                      </a:r>
                      <a:r>
                        <a:rPr lang="fr-FR" sz="700" b="1" dirty="0" smtClean="0">
                          <a:solidFill>
                            <a:srgbClr val="FF0000"/>
                          </a:solidFill>
                        </a:rPr>
                        <a:t>NOK</a:t>
                      </a:r>
                      <a:endParaRPr lang="en-US" sz="700" b="1" dirty="0">
                        <a:solidFill>
                          <a:srgbClr val="FF0000"/>
                        </a:solidFill>
                      </a:endParaRPr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Autres :</a:t>
                      </a:r>
                    </a:p>
                  </a:txBody>
                  <a:tcPr marT="42203" marB="4220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700" dirty="0" smtClean="0"/>
                        <a:t>%</a:t>
                      </a:r>
                      <a:endParaRPr lang="en-US" sz="700" dirty="0"/>
                    </a:p>
                  </a:txBody>
                  <a:tcPr marT="42203" marB="42203" anchor="ctr"/>
                </a:tc>
                <a:tc>
                  <a:txBody>
                    <a:bodyPr/>
                    <a:lstStyle/>
                    <a:p>
                      <a:r>
                        <a:rPr lang="fr-FR" sz="700" b="1" dirty="0" smtClean="0">
                          <a:solidFill>
                            <a:srgbClr val="00B050"/>
                          </a:solidFill>
                        </a:rPr>
                        <a:t>OK</a:t>
                      </a:r>
                      <a:r>
                        <a:rPr lang="fr-FR" sz="700" dirty="0" smtClean="0"/>
                        <a:t>              </a:t>
                      </a:r>
                      <a:r>
                        <a:rPr lang="fr-FR" sz="700" b="1" dirty="0" smtClean="0">
                          <a:solidFill>
                            <a:srgbClr val="FF0000"/>
                          </a:solidFill>
                        </a:rPr>
                        <a:t>NOK</a:t>
                      </a:r>
                      <a:endParaRPr lang="en-US" sz="700" b="1" dirty="0">
                        <a:solidFill>
                          <a:srgbClr val="FF0000"/>
                        </a:solidFill>
                      </a:endParaRPr>
                    </a:p>
                  </a:txBody>
                  <a:tcPr marT="42203" marB="42203" anchor="ctr"/>
                </a:tc>
              </a:tr>
            </a:tbl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-27384" y="4712314"/>
            <a:ext cx="4536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u="sng" dirty="0" smtClean="0"/>
              <a:t>2</a:t>
            </a:r>
            <a:r>
              <a:rPr lang="fr-FR" sz="1000" i="1" u="sng" baseline="30000" dirty="0" smtClean="0"/>
              <a:t>ème</a:t>
            </a:r>
            <a:r>
              <a:rPr lang="fr-FR" sz="1000" i="1" u="sng" dirty="0" smtClean="0"/>
              <a:t> partie – Manager en charge du travail</a:t>
            </a:r>
            <a:endParaRPr lang="en-US" sz="1000" i="1" u="sng" dirty="0"/>
          </a:p>
        </p:txBody>
      </p:sp>
      <p:sp>
        <p:nvSpPr>
          <p:cNvPr id="7" name="ZoneTexte 6"/>
          <p:cNvSpPr txBox="1"/>
          <p:nvPr/>
        </p:nvSpPr>
        <p:spPr>
          <a:xfrm>
            <a:off x="-27384" y="4912256"/>
            <a:ext cx="68367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dirty="0" smtClean="0"/>
              <a:t>Je confirme que j’ai vérifié le travail détaillé dans ce permis d’accès en espaces confinés, et que toutes les précautions nécessaires ont été prises pour éliminer ou amener à un niveau acceptable et durable tous les risques et dangers identifiés. La procédure de travail a été communiquée à toutes les personnes concernées et les procédures d’urgence sont en place. </a:t>
            </a:r>
            <a:endParaRPr lang="en-US" sz="1000" dirty="0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316902"/>
              </p:ext>
            </p:extLst>
          </p:nvPr>
        </p:nvGraphicFramePr>
        <p:xfrm>
          <a:off x="44624" y="5576410"/>
          <a:ext cx="4608512" cy="5908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88"/>
                <a:gridCol w="1493912"/>
                <a:gridCol w="738336"/>
                <a:gridCol w="1584176"/>
              </a:tblGrid>
              <a:tr h="196948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Nom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Signature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T="42203" marB="42203"/>
                </a:tc>
              </a:tr>
              <a:tr h="196948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Fonction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Date</a:t>
                      </a:r>
                      <a:r>
                        <a:rPr lang="fr-FR" sz="700" baseline="0" dirty="0" smtClean="0"/>
                        <a:t>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T="42203" marB="42203"/>
                </a:tc>
              </a:tr>
              <a:tr h="196948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Téléphone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Mail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</a:tr>
            </a:tbl>
          </a:graphicData>
        </a:graphic>
      </p:graphicFrame>
      <p:sp>
        <p:nvSpPr>
          <p:cNvPr id="9" name="ZoneTexte 8"/>
          <p:cNvSpPr txBox="1"/>
          <p:nvPr/>
        </p:nvSpPr>
        <p:spPr>
          <a:xfrm>
            <a:off x="-27384" y="6314946"/>
            <a:ext cx="4536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u="sng" dirty="0"/>
              <a:t>3</a:t>
            </a:r>
            <a:r>
              <a:rPr lang="fr-FR" sz="1000" i="1" u="sng" baseline="30000" dirty="0" smtClean="0"/>
              <a:t>ème</a:t>
            </a:r>
            <a:r>
              <a:rPr lang="fr-FR" sz="1000" i="1" u="sng" dirty="0" smtClean="0"/>
              <a:t> partie – Rédacteur du permis</a:t>
            </a:r>
            <a:endParaRPr lang="en-US" sz="1000" i="1" u="sng" dirty="0"/>
          </a:p>
        </p:txBody>
      </p:sp>
      <p:sp>
        <p:nvSpPr>
          <p:cNvPr id="10" name="ZoneTexte 9"/>
          <p:cNvSpPr txBox="1"/>
          <p:nvPr/>
        </p:nvSpPr>
        <p:spPr>
          <a:xfrm>
            <a:off x="-27384" y="6514888"/>
            <a:ext cx="683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dirty="0" smtClean="0"/>
              <a:t>Le permis a été établi sur la base d’informations correctes et vérifiées.</a:t>
            </a:r>
          </a:p>
          <a:p>
            <a:pPr algn="just"/>
            <a:r>
              <a:rPr lang="fr-FR" sz="1000" dirty="0" smtClean="0"/>
              <a:t>Tous les dangers et risques ont été éliminés ou réduits au niveau le plus bas possible. </a:t>
            </a:r>
            <a:endParaRPr lang="en-US" sz="1000" dirty="0"/>
          </a:p>
        </p:txBody>
      </p:sp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583385"/>
              </p:ext>
            </p:extLst>
          </p:nvPr>
        </p:nvGraphicFramePr>
        <p:xfrm>
          <a:off x="44624" y="6905788"/>
          <a:ext cx="4608512" cy="5908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88"/>
                <a:gridCol w="1493912"/>
                <a:gridCol w="738336"/>
                <a:gridCol w="1584176"/>
              </a:tblGrid>
              <a:tr h="196948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Nom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Signature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T="42203" marB="42203"/>
                </a:tc>
              </a:tr>
              <a:tr h="196948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Fonction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Date</a:t>
                      </a:r>
                      <a:r>
                        <a:rPr lang="fr-FR" sz="700" baseline="0" dirty="0" smtClean="0"/>
                        <a:t>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</a:tr>
              <a:tr h="196948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Téléphone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Mail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</a:tr>
            </a:tbl>
          </a:graphicData>
        </a:graphic>
      </p:graphicFrame>
      <p:sp>
        <p:nvSpPr>
          <p:cNvPr id="12" name="ZoneTexte 11"/>
          <p:cNvSpPr txBox="1"/>
          <p:nvPr/>
        </p:nvSpPr>
        <p:spPr>
          <a:xfrm>
            <a:off x="-27384" y="7710793"/>
            <a:ext cx="4536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u="sng" dirty="0"/>
              <a:t>4</a:t>
            </a:r>
            <a:r>
              <a:rPr lang="fr-FR" sz="1000" i="1" u="sng" baseline="30000" dirty="0" smtClean="0"/>
              <a:t>ème</a:t>
            </a:r>
            <a:r>
              <a:rPr lang="fr-FR" sz="1000" i="1" u="sng" dirty="0" smtClean="0"/>
              <a:t> partie – Personne en charge de la fermeture du permis</a:t>
            </a:r>
            <a:endParaRPr lang="en-US" sz="1000" i="1" u="sng" dirty="0"/>
          </a:p>
        </p:txBody>
      </p:sp>
      <p:sp>
        <p:nvSpPr>
          <p:cNvPr id="13" name="ZoneTexte 12"/>
          <p:cNvSpPr txBox="1"/>
          <p:nvPr/>
        </p:nvSpPr>
        <p:spPr>
          <a:xfrm>
            <a:off x="-27384" y="7910735"/>
            <a:ext cx="683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dirty="0" smtClean="0"/>
              <a:t>Je confirme que le travail est terminé et que l’espace confiné est revenu à son état normal de fonctionnement. La zone de travail a été laissée propre et sécurisé.</a:t>
            </a:r>
            <a:endParaRPr lang="en-US" sz="1000" dirty="0"/>
          </a:p>
        </p:txBody>
      </p:sp>
      <p:graphicFrame>
        <p:nvGraphicFramePr>
          <p:cNvPr id="14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035300"/>
              </p:ext>
            </p:extLst>
          </p:nvPr>
        </p:nvGraphicFramePr>
        <p:xfrm>
          <a:off x="44624" y="1598215"/>
          <a:ext cx="6764704" cy="3094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8773"/>
                <a:gridCol w="863579"/>
                <a:gridCol w="1730216"/>
                <a:gridCol w="1652136"/>
              </a:tblGrid>
              <a:tr h="309489">
                <a:tc gridSpan="3">
                  <a:txBody>
                    <a:bodyPr/>
                    <a:lstStyle/>
                    <a:p>
                      <a:pPr algn="l"/>
                      <a:r>
                        <a:rPr lang="fr-FR" sz="700" dirty="0" smtClean="0"/>
                        <a:t>Est-ce qu’un test de l’atmosphère à l’intérieur</a:t>
                      </a:r>
                      <a:r>
                        <a:rPr lang="fr-FR" sz="700" baseline="0" dirty="0" smtClean="0"/>
                        <a:t> de l’espace confiné est nécessaire ?</a:t>
                      </a:r>
                    </a:p>
                    <a:p>
                      <a:pPr algn="l"/>
                      <a:r>
                        <a:rPr lang="fr-FR" sz="700" i="1" baseline="0" dirty="0" smtClean="0"/>
                        <a:t>Si OUI, la section suivante doit être remplie</a:t>
                      </a:r>
                      <a:endParaRPr lang="en-US" sz="700" i="1" dirty="0"/>
                    </a:p>
                  </a:txBody>
                  <a:tcPr marT="42203" marB="42203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235053"/>
              </p:ext>
            </p:extLst>
          </p:nvPr>
        </p:nvGraphicFramePr>
        <p:xfrm>
          <a:off x="44624" y="8301636"/>
          <a:ext cx="4608512" cy="5908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88"/>
                <a:gridCol w="1493912"/>
                <a:gridCol w="738336"/>
                <a:gridCol w="1584176"/>
              </a:tblGrid>
              <a:tr h="196948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Nom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Signature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T="42203" marB="42203"/>
                </a:tc>
              </a:tr>
              <a:tr h="196948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Fonction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Date</a:t>
                      </a:r>
                      <a:r>
                        <a:rPr lang="fr-FR" sz="700" baseline="0" dirty="0" smtClean="0"/>
                        <a:t>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T="42203" marB="42203"/>
                </a:tc>
              </a:tr>
              <a:tr h="196948"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Téléphone :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r>
                        <a:rPr lang="fr-FR" sz="700" dirty="0" smtClean="0"/>
                        <a:t>Mail</a:t>
                      </a:r>
                      <a:endParaRPr lang="en-US" sz="700" dirty="0"/>
                    </a:p>
                  </a:txBody>
                  <a:tcPr marT="42203" marB="42203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T="42203" marB="42203"/>
                </a:tc>
              </a:tr>
            </a:tbl>
          </a:graphicData>
        </a:graphic>
      </p:graphicFrame>
      <p:sp>
        <p:nvSpPr>
          <p:cNvPr id="16" name="Zone de texte 13"/>
          <p:cNvSpPr txBox="1"/>
          <p:nvPr/>
        </p:nvSpPr>
        <p:spPr>
          <a:xfrm>
            <a:off x="1690216" y="539552"/>
            <a:ext cx="3683000" cy="338454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b="1" dirty="0" smtClean="0">
                <a:solidFill>
                  <a:schemeClr val="accent2">
                    <a:lumMod val="50000"/>
                  </a:schemeClr>
                </a:solidFill>
                <a:effectLst/>
                <a:ea typeface="Calibri"/>
                <a:cs typeface="Arial"/>
              </a:rPr>
              <a:t>ESPACES CONFINES – Permis d’accès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493637" y="956792"/>
            <a:ext cx="23488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900" i="1" dirty="0" smtClean="0"/>
              <a:t>FOR FS </a:t>
            </a:r>
            <a:r>
              <a:rPr lang="fr-FR" sz="900" i="1" dirty="0" smtClean="0"/>
              <a:t>006 </a:t>
            </a:r>
            <a:r>
              <a:rPr lang="fr-FR" sz="900" i="1" dirty="0" smtClean="0"/>
              <a:t>v1 – 23/05/17 - Page 2/2</a:t>
            </a:r>
            <a:endParaRPr lang="fr-FR" sz="900" i="1" dirty="0"/>
          </a:p>
        </p:txBody>
      </p:sp>
    </p:spTree>
    <p:extLst>
      <p:ext uri="{BB962C8B-B14F-4D97-AF65-F5344CB8AC3E}">
        <p14:creationId xmlns:p14="http://schemas.microsoft.com/office/powerpoint/2010/main" val="13941845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</Words>
  <Application>Microsoft Office PowerPoint</Application>
  <PresentationFormat>Affichage à l'écran (4:3)</PresentationFormat>
  <Paragraphs>152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Giblaine, Anais           UTC CCS</dc:creator>
  <cp:lastModifiedBy>Aurelie Montfort</cp:lastModifiedBy>
  <cp:revision>26</cp:revision>
  <cp:lastPrinted>2017-05-22T08:55:11Z</cp:lastPrinted>
  <dcterms:created xsi:type="dcterms:W3CDTF">2017-01-04T15:17:33Z</dcterms:created>
  <dcterms:modified xsi:type="dcterms:W3CDTF">2017-06-13T14:42:33Z</dcterms:modified>
</cp:coreProperties>
</file>