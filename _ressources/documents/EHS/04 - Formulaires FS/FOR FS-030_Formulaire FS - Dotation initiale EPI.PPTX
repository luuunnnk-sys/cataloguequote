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6858000" cy="9144000" type="screen4x3"/>
  <p:notesSz cx="6645275" cy="977582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74">
          <p15:clr>
            <a:srgbClr val="A4A3A4"/>
          </p15:clr>
        </p15:guide>
        <p15:guide id="2" pos="13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37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4FDBDC-1F97-46E2-8607-6D51BD5D3741}" v="1" dt="2024-09-10T12:52:44.1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2580" autoAdjust="0"/>
  </p:normalViewPr>
  <p:slideViewPr>
    <p:cSldViewPr>
      <p:cViewPr varScale="1">
        <p:scale>
          <a:sx n="45" d="100"/>
          <a:sy n="45" d="100"/>
        </p:scale>
        <p:origin x="1788" y="64"/>
      </p:cViewPr>
      <p:guideLst>
        <p:guide orient="horz" pos="1474"/>
        <p:guide pos="13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763963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21B015-A35C-4BDC-BFF9-859D4739424F}" type="datetimeFigureOut">
              <a:rPr lang="en-US" smtClean="0"/>
              <a:t>9/11/2024</a:t>
            </a:fld>
            <a:endParaRPr lang="en-US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947863" y="733425"/>
            <a:ext cx="2749550" cy="3665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65163" y="4643438"/>
            <a:ext cx="5314950" cy="43989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285288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763963" y="9285288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3277A-AD6E-45BB-8F1A-CC83C99C4391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070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C3277A-AD6E-45BB-8F1A-CC83C99C439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26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514350" y="3572074"/>
            <a:ext cx="5829300" cy="196003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  <p:sp>
        <p:nvSpPr>
          <p:cNvPr id="32" name="Forme libre 31"/>
          <p:cNvSpPr/>
          <p:nvPr userDrawn="1"/>
        </p:nvSpPr>
        <p:spPr>
          <a:xfrm>
            <a:off x="-15192" y="935389"/>
            <a:ext cx="376518" cy="147918"/>
          </a:xfrm>
          <a:custGeom>
            <a:avLst/>
            <a:gdLst>
              <a:gd name="connsiteX0" fmla="*/ 0 w 376518"/>
              <a:gd name="connsiteY0" fmla="*/ 0 h 147918"/>
              <a:gd name="connsiteX1" fmla="*/ 376518 w 376518"/>
              <a:gd name="connsiteY1" fmla="*/ 0 h 147918"/>
              <a:gd name="connsiteX2" fmla="*/ 376518 w 376518"/>
              <a:gd name="connsiteY2" fmla="*/ 147918 h 147918"/>
              <a:gd name="connsiteX3" fmla="*/ 0 w 376518"/>
              <a:gd name="connsiteY3" fmla="*/ 0 h 14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518" h="147918">
                <a:moveTo>
                  <a:pt x="0" y="0"/>
                </a:moveTo>
                <a:lnTo>
                  <a:pt x="376518" y="0"/>
                </a:lnTo>
                <a:lnTo>
                  <a:pt x="376518" y="1479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Organigramme : Processus 32"/>
          <p:cNvSpPr/>
          <p:nvPr userDrawn="1"/>
        </p:nvSpPr>
        <p:spPr>
          <a:xfrm>
            <a:off x="-1745" y="731560"/>
            <a:ext cx="6858000" cy="216024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4" name="Organigramme : Processus 33"/>
          <p:cNvSpPr/>
          <p:nvPr userDrawn="1"/>
        </p:nvSpPr>
        <p:spPr>
          <a:xfrm>
            <a:off x="330911" y="443528"/>
            <a:ext cx="2034730" cy="792088"/>
          </a:xfrm>
          <a:prstGeom prst="flowChartProcess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35" name="Connecteur droit 34"/>
          <p:cNvCxnSpPr/>
          <p:nvPr userDrawn="1"/>
        </p:nvCxnSpPr>
        <p:spPr>
          <a:xfrm>
            <a:off x="978983" y="587544"/>
            <a:ext cx="0" cy="5040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 userDrawn="1"/>
        </p:nvSpPr>
        <p:spPr>
          <a:xfrm>
            <a:off x="1101614" y="467544"/>
            <a:ext cx="383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H</a:t>
            </a:r>
          </a:p>
        </p:txBody>
      </p:sp>
      <p:sp>
        <p:nvSpPr>
          <p:cNvPr id="37" name="ZoneTexte 36"/>
          <p:cNvSpPr txBox="1"/>
          <p:nvPr userDrawn="1"/>
        </p:nvSpPr>
        <p:spPr>
          <a:xfrm>
            <a:off x="1821694" y="479738"/>
            <a:ext cx="383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chemeClr val="accent2">
                    <a:lumMod val="75000"/>
                  </a:schemeClr>
                </a:solidFill>
              </a:rPr>
              <a:t>S</a:t>
            </a:r>
          </a:p>
        </p:txBody>
      </p:sp>
      <p:sp>
        <p:nvSpPr>
          <p:cNvPr id="38" name="ZoneTexte 37"/>
          <p:cNvSpPr txBox="1"/>
          <p:nvPr userDrawn="1"/>
        </p:nvSpPr>
        <p:spPr>
          <a:xfrm>
            <a:off x="453542" y="487348"/>
            <a:ext cx="383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E</a:t>
            </a:r>
          </a:p>
        </p:txBody>
      </p:sp>
      <p:cxnSp>
        <p:nvCxnSpPr>
          <p:cNvPr id="39" name="Connecteur droit 38"/>
          <p:cNvCxnSpPr/>
          <p:nvPr userDrawn="1"/>
        </p:nvCxnSpPr>
        <p:spPr>
          <a:xfrm>
            <a:off x="1699063" y="587544"/>
            <a:ext cx="0" cy="5040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/>
          <p:cNvSpPr txBox="1"/>
          <p:nvPr userDrawn="1"/>
        </p:nvSpPr>
        <p:spPr>
          <a:xfrm>
            <a:off x="2477459" y="731560"/>
            <a:ext cx="3974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>
                <a:solidFill>
                  <a:schemeClr val="bg1"/>
                </a:solidFill>
              </a:rPr>
              <a:t>Hygiène    Environnement    Management </a:t>
            </a:r>
          </a:p>
        </p:txBody>
      </p:sp>
      <p:sp>
        <p:nvSpPr>
          <p:cNvPr id="41" name="Pentagone 40"/>
          <p:cNvSpPr/>
          <p:nvPr userDrawn="1"/>
        </p:nvSpPr>
        <p:spPr>
          <a:xfrm>
            <a:off x="318238" y="732766"/>
            <a:ext cx="115686" cy="214818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2" name="Image 41"/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660" y="83488"/>
            <a:ext cx="837236" cy="563523"/>
          </a:xfrm>
          <a:prstGeom prst="rect">
            <a:avLst/>
          </a:prstGeom>
        </p:spPr>
      </p:pic>
      <p:grpSp>
        <p:nvGrpSpPr>
          <p:cNvPr id="2" name="Groupe 1"/>
          <p:cNvGrpSpPr/>
          <p:nvPr userDrawn="1"/>
        </p:nvGrpSpPr>
        <p:grpSpPr>
          <a:xfrm>
            <a:off x="9468" y="8532440"/>
            <a:ext cx="6854400" cy="529570"/>
            <a:chOff x="9468" y="8532440"/>
            <a:chExt cx="6854400" cy="529570"/>
          </a:xfrm>
        </p:grpSpPr>
        <p:sp>
          <p:nvSpPr>
            <p:cNvPr id="44" name="Rectangle 43"/>
            <p:cNvSpPr/>
            <p:nvPr/>
          </p:nvSpPr>
          <p:spPr>
            <a:xfrm>
              <a:off x="9468" y="8532440"/>
              <a:ext cx="6854400" cy="529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1" name="ZoneTexte 50"/>
            <p:cNvSpPr txBox="1"/>
            <p:nvPr/>
          </p:nvSpPr>
          <p:spPr>
            <a:xfrm>
              <a:off x="4797152" y="8609549"/>
              <a:ext cx="1841416" cy="447197"/>
            </a:xfrm>
            <a:prstGeom prst="rect">
              <a:avLst/>
            </a:prstGeom>
            <a:noFill/>
          </p:spPr>
          <p:txBody>
            <a:bodyPr wrap="square" lIns="77111" tIns="38556" rIns="77111" bIns="38556" rtlCol="0">
              <a:spAutoFit/>
            </a:bodyPr>
            <a:lstStyle/>
            <a:p>
              <a:r>
                <a:rPr lang="fr-FR" sz="800" i="1" dirty="0">
                  <a:latin typeface="Calibri" panose="020F0502020204030204" pitchFamily="34" charset="0"/>
                </a:rPr>
                <a:t>Ce document est confidentiel. Toute reproduction, même partielle est interdite.</a:t>
              </a:r>
            </a:p>
          </p:txBody>
        </p:sp>
      </p:grpSp>
      <p:sp>
        <p:nvSpPr>
          <p:cNvPr id="30" name="Rectangle 29"/>
          <p:cNvSpPr/>
          <p:nvPr userDrawn="1"/>
        </p:nvSpPr>
        <p:spPr>
          <a:xfrm rot="21419042">
            <a:off x="4984400" y="771237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Rectangle 30"/>
          <p:cNvSpPr/>
          <p:nvPr userDrawn="1"/>
        </p:nvSpPr>
        <p:spPr>
          <a:xfrm rot="21336737">
            <a:off x="6034285" y="721175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3E46042-FA2F-93E1-E9CA-5DEE70DF84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32" y="8639915"/>
            <a:ext cx="3654425" cy="3492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42900" y="2133601"/>
            <a:ext cx="6172200" cy="6034617"/>
          </a:xfrm>
        </p:spPr>
        <p:txBody>
          <a:bodyPr/>
          <a:lstStyle>
            <a:lvl1pPr>
              <a:defRPr sz="2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  <a:lvl2pPr marL="742950" indent="-2857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buClr>
                <a:schemeClr val="accent2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buClr>
                <a:schemeClr val="accent2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buClr>
                <a:schemeClr val="accent2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231178" y="8622284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71670"/>
            <a:ext cx="6172200" cy="851925"/>
          </a:xfrm>
        </p:spPr>
        <p:txBody>
          <a:bodyPr>
            <a:normAutofit/>
          </a:bodyPr>
          <a:lstStyle>
            <a:lvl1pPr>
              <a:defRPr sz="22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12" name="Organigramme : Processus 11"/>
          <p:cNvSpPr/>
          <p:nvPr userDrawn="1"/>
        </p:nvSpPr>
        <p:spPr>
          <a:xfrm>
            <a:off x="-1745" y="1187624"/>
            <a:ext cx="6858000" cy="216024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 rot="21419042">
            <a:off x="4984400" y="1224801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Rectangle 13"/>
          <p:cNvSpPr/>
          <p:nvPr userDrawn="1"/>
        </p:nvSpPr>
        <p:spPr>
          <a:xfrm rot="21336737">
            <a:off x="6034285" y="1174739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514350" y="3572074"/>
            <a:ext cx="5829300" cy="196003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  <p:sp>
        <p:nvSpPr>
          <p:cNvPr id="9" name="Organigramme : Processus 8"/>
          <p:cNvSpPr/>
          <p:nvPr userDrawn="1"/>
        </p:nvSpPr>
        <p:spPr>
          <a:xfrm>
            <a:off x="-1745" y="1187624"/>
            <a:ext cx="6858000" cy="216024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rot="21419042">
            <a:off x="4984400" y="1224801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 10"/>
          <p:cNvSpPr/>
          <p:nvPr userDrawn="1"/>
        </p:nvSpPr>
        <p:spPr>
          <a:xfrm rot="21336737">
            <a:off x="6034285" y="1174739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245976" y="8640298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24995"/>
            <a:ext cx="6172200" cy="851925"/>
          </a:xfrm>
        </p:spPr>
        <p:txBody>
          <a:bodyPr>
            <a:normAutofit/>
          </a:bodyPr>
          <a:lstStyle>
            <a:lvl1pPr>
              <a:defRPr sz="22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9" name="Organigramme : Processus 8"/>
          <p:cNvSpPr/>
          <p:nvPr userDrawn="1"/>
        </p:nvSpPr>
        <p:spPr>
          <a:xfrm>
            <a:off x="-1745" y="1187624"/>
            <a:ext cx="6858000" cy="216024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rot="21419042">
            <a:off x="4984400" y="1224801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 10"/>
          <p:cNvSpPr/>
          <p:nvPr userDrawn="1"/>
        </p:nvSpPr>
        <p:spPr>
          <a:xfrm rot="21336737">
            <a:off x="6034285" y="1174739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245976" y="8628370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092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11/09/2024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6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hyperlink" Target="https://www.google.com/url?sa=i&amp;rct=j&amp;q=&amp;esrc=s&amp;source=images&amp;cd=&amp;cad=rja&amp;uact=8&amp;ved=&amp;url=https://www.actifeu.net/&amp;psig=AOvVaw2fbnFfSh5qNUEze00cPtNE&amp;ust=1523347947420695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0.png"/><Relationship Id="rId17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6" Type="http://schemas.openxmlformats.org/officeDocument/2006/relationships/hyperlink" Target="https://www.google.com/url?sa=i&amp;source=images&amp;cd=&amp;cad=rja&amp;uact=8&amp;ved=2ahUKEwjMnouKiIjbAhUHrRQKHfKKBlwQjRx6BAgBEAU&amp;url=https://engie-axima.fr/securite-incendie/nos-solutions/desenfumage/&amp;psig=AOvVaw24omDrkWlKduUyzO1JkYvh&amp;ust=1526485580494558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hyperlink" Target="http://www.google.com/url?sa=i&amp;rct=j&amp;q=&amp;esrc=s&amp;source=images&amp;cd=&amp;cad=rja&amp;uact=8&amp;ved=2ahUKEwjfs9zx3qzaAhWKQBQKHYwYDBMQjRx6BAgAEAU&amp;url=http://www.rpons.fr/fr/gamme-ria-pia&amp;psig=AOvVaw16EyksjClFi5C-GxjOj48v&amp;ust=1523347759350999" TargetMode="External"/><Relationship Id="rId5" Type="http://schemas.openxmlformats.org/officeDocument/2006/relationships/image" Target="../media/image5.png"/><Relationship Id="rId15" Type="http://schemas.openxmlformats.org/officeDocument/2006/relationships/image" Target="../media/image12.png"/><Relationship Id="rId10" Type="http://schemas.openxmlformats.org/officeDocument/2006/relationships/image" Target="../media/image9.jpeg"/><Relationship Id="rId4" Type="http://schemas.openxmlformats.org/officeDocument/2006/relationships/image" Target="../media/image4.jpeg"/><Relationship Id="rId9" Type="http://schemas.openxmlformats.org/officeDocument/2006/relationships/hyperlink" Target="http://www.google.com/url?sa=i&amp;rct=j&amp;q=&amp;esrc=s&amp;source=images&amp;cd=&amp;cad=rja&amp;uact=8&amp;ved=2ahUKEwjSxbfG3qzaAhXBaFAKHYKmCMMQjRx6BAgAEAU&amp;url=http://www.sicli.com/Pages/Sicli-extinguishers-safe-and-reliable-products.aspx&amp;psig=AOvVaw1VPvuahRKoeO0A3HfumXEq&amp;ust=1523347692723492" TargetMode="External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hyperlink" Target="https://www.google.com/url?sa=i&amp;rct=j&amp;q=&amp;esrc=s&amp;source=images&amp;cd=&amp;cad=rja&amp;uact=8&amp;ved=&amp;url=https://www.actifeu.net/&amp;psig=AOvVaw2fbnFfSh5qNUEze00cPtNE&amp;ust=1523347947420695" TargetMode="External"/><Relationship Id="rId7" Type="http://schemas.openxmlformats.org/officeDocument/2006/relationships/hyperlink" Target="https://www.google.com/url?sa=i&amp;source=images&amp;cd=&amp;cad=rja&amp;uact=8&amp;ved=&amp;url=http://www.wdcnet.com.br/produto/axis-camera-ip-fixa-p1354-e/&amp;psig=AOvVaw0eYl1iJ2D-Gpj5TWrGDc9A&amp;ust=1526487147250279" TargetMode="External"/><Relationship Id="rId2" Type="http://schemas.openxmlformats.org/officeDocument/2006/relationships/hyperlink" Target="http://www.google.com/url?sa=i&amp;rct=j&amp;q=&amp;esrc=s&amp;source=images&amp;cd=&amp;cad=rja&amp;uact=8&amp;ved=2ahUKEwjfs9zx3qzaAhWKQBQKHYwYDBMQjRx6BAgAEAU&amp;url=http://www.rpons.fr/fr/gamme-ria-pia&amp;psig=AOvVaw16EyksjClFi5C-GxjOj48v&amp;ust=1523347759350999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11" Type="http://schemas.openxmlformats.org/officeDocument/2006/relationships/image" Target="../media/image18.jpeg"/><Relationship Id="rId5" Type="http://schemas.openxmlformats.org/officeDocument/2006/relationships/image" Target="../media/image14.jpeg"/><Relationship Id="rId10" Type="http://schemas.openxmlformats.org/officeDocument/2006/relationships/hyperlink" Target="http://www.google.com/url?sa=i&amp;rct=j&amp;q=&amp;esrc=s&amp;source=images&amp;cd=&amp;cad=rja&amp;uact=8&amp;ved=2ahUKEwiZ2oiV2IDcAhWCa1AKHS92CncQjRx6BAgBEAU&amp;url=http://xn--nacellelvatrice-hnbb.be/location-nacelle-elevatrice-liege-namur/&amp;psig=AOvVaw0T89kj6Z4G0YffHZx1nQbN&amp;ust=1530630235287675" TargetMode="External"/><Relationship Id="rId4" Type="http://schemas.openxmlformats.org/officeDocument/2006/relationships/hyperlink" Target="https://www.google.com/url?sa=i&amp;source=images&amp;cd=&amp;cad=rja&amp;uact=8&amp;ved=2ahUKEwjxr6e_iIjbAhXCwxQKHZDnAHgQjRx6BAgBEAU&amp;url=http://distribution.accessfrance.fr/78-d%C3%A9tecteur-optique-collectif.html&amp;psig=AOvVaw1GTHRq5pw-2iDR9lQCtOJn&amp;ust=1526485659278663" TargetMode="External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ableau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920837"/>
              </p:ext>
            </p:extLst>
          </p:nvPr>
        </p:nvGraphicFramePr>
        <p:xfrm>
          <a:off x="1747639" y="2143622"/>
          <a:ext cx="2329061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69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688">
                <a:tc>
                  <a:txBody>
                    <a:bodyPr/>
                    <a:lstStyle/>
                    <a:p>
                      <a:r>
                        <a:rPr lang="fr-FR" sz="800" dirty="0"/>
                        <a:t>Lunettes</a:t>
                      </a:r>
                      <a:r>
                        <a:rPr lang="fr-FR" sz="800" baseline="0" dirty="0"/>
                        <a:t> </a:t>
                      </a:r>
                      <a:r>
                        <a:rPr lang="fr-FR" sz="800" dirty="0"/>
                        <a:t>de sécurité (ou surlunettes)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ZoneTexte 13"/>
          <p:cNvSpPr txBox="1"/>
          <p:nvPr/>
        </p:nvSpPr>
        <p:spPr>
          <a:xfrm>
            <a:off x="2708920" y="242228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2">
                    <a:lumMod val="50000"/>
                  </a:schemeClr>
                </a:solidFill>
              </a:rPr>
              <a:t>DOTATION INITIALE EPI</a:t>
            </a:r>
          </a:p>
        </p:txBody>
      </p:sp>
      <p:sp>
        <p:nvSpPr>
          <p:cNvPr id="181" name="ZoneTexte 180"/>
          <p:cNvSpPr txBox="1"/>
          <p:nvPr/>
        </p:nvSpPr>
        <p:spPr>
          <a:xfrm>
            <a:off x="1700809" y="1276484"/>
            <a:ext cx="5760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u="sng" dirty="0"/>
              <a:t>Entité :</a:t>
            </a:r>
          </a:p>
        </p:txBody>
      </p:sp>
      <p:sp>
        <p:nvSpPr>
          <p:cNvPr id="207" name="ZoneTexte 206"/>
          <p:cNvSpPr txBox="1"/>
          <p:nvPr/>
        </p:nvSpPr>
        <p:spPr>
          <a:xfrm>
            <a:off x="66111" y="1279854"/>
            <a:ext cx="10942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u="sng" dirty="0"/>
              <a:t>Agence :</a:t>
            </a:r>
          </a:p>
        </p:txBody>
      </p:sp>
      <p:sp>
        <p:nvSpPr>
          <p:cNvPr id="214" name="ZoneTexte 213"/>
          <p:cNvSpPr txBox="1"/>
          <p:nvPr/>
        </p:nvSpPr>
        <p:spPr>
          <a:xfrm>
            <a:off x="5301208" y="1011478"/>
            <a:ext cx="864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/>
              <a:t>Date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5958798" y="1043608"/>
            <a:ext cx="864096" cy="252364"/>
          </a:xfrm>
          <a:prstGeom prst="rect">
            <a:avLst/>
          </a:prstGeom>
          <a:noFill/>
          <a:ln>
            <a:solidFill>
              <a:srgbClr val="953735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Rectangle 73"/>
          <p:cNvSpPr/>
          <p:nvPr/>
        </p:nvSpPr>
        <p:spPr>
          <a:xfrm>
            <a:off x="3573024" y="1358150"/>
            <a:ext cx="72000" cy="72000"/>
          </a:xfrm>
          <a:prstGeom prst="rect">
            <a:avLst/>
          </a:prstGeom>
          <a:ln w="19050">
            <a:solidFill>
              <a:srgbClr val="95373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00" dirty="0"/>
          </a:p>
        </p:txBody>
      </p:sp>
      <p:sp>
        <p:nvSpPr>
          <p:cNvPr id="84" name="ZoneTexte 83"/>
          <p:cNvSpPr txBox="1"/>
          <p:nvPr/>
        </p:nvSpPr>
        <p:spPr>
          <a:xfrm>
            <a:off x="3573016" y="1270794"/>
            <a:ext cx="8674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 Chubb Delta</a:t>
            </a:r>
          </a:p>
        </p:txBody>
      </p:sp>
      <p:sp>
        <p:nvSpPr>
          <p:cNvPr id="86" name="ZoneTexte 85"/>
          <p:cNvSpPr txBox="1"/>
          <p:nvPr/>
        </p:nvSpPr>
        <p:spPr>
          <a:xfrm>
            <a:off x="2229083" y="1270420"/>
            <a:ext cx="6680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Chubb PI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204864" y="1358150"/>
            <a:ext cx="72000" cy="72000"/>
          </a:xfrm>
          <a:prstGeom prst="rect">
            <a:avLst/>
          </a:prstGeom>
          <a:ln w="19050">
            <a:solidFill>
              <a:srgbClr val="95373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00" dirty="0"/>
          </a:p>
        </p:txBody>
      </p:sp>
      <p:sp>
        <p:nvSpPr>
          <p:cNvPr id="90" name="Rectangle 89"/>
          <p:cNvSpPr/>
          <p:nvPr/>
        </p:nvSpPr>
        <p:spPr>
          <a:xfrm>
            <a:off x="2852936" y="1358150"/>
            <a:ext cx="72000" cy="72000"/>
          </a:xfrm>
          <a:prstGeom prst="rect">
            <a:avLst/>
          </a:prstGeom>
          <a:ln w="19050">
            <a:solidFill>
              <a:srgbClr val="95373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00" dirty="0"/>
          </a:p>
        </p:txBody>
      </p:sp>
      <p:sp>
        <p:nvSpPr>
          <p:cNvPr id="91" name="ZoneTexte 90"/>
          <p:cNvSpPr txBox="1"/>
          <p:nvPr/>
        </p:nvSpPr>
        <p:spPr>
          <a:xfrm>
            <a:off x="2887664" y="1271040"/>
            <a:ext cx="8426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Chubb SSI</a:t>
            </a:r>
          </a:p>
        </p:txBody>
      </p:sp>
      <p:pic>
        <p:nvPicPr>
          <p:cNvPr id="18" name="Image 17" descr="http://ssepi.csq.qc.net/uploads/RTEmagicC_bonhomme-blanc.png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2610"/>
          <a:stretch/>
        </p:blipFill>
        <p:spPr bwMode="auto">
          <a:xfrm>
            <a:off x="-871597" y="2035906"/>
            <a:ext cx="1996341" cy="1944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Image 18"/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752" y="2032718"/>
            <a:ext cx="432000" cy="432000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752" y="3131888"/>
            <a:ext cx="432000" cy="432000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752" y="3635944"/>
            <a:ext cx="432000" cy="432000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752" y="4101900"/>
            <a:ext cx="432000" cy="432000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752" y="1547712"/>
            <a:ext cx="432000" cy="432000"/>
          </a:xfrm>
          <a:prstGeom prst="rect">
            <a:avLst/>
          </a:prstGeom>
        </p:spPr>
      </p:pic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158972"/>
              </p:ext>
            </p:extLst>
          </p:nvPr>
        </p:nvGraphicFramePr>
        <p:xfrm>
          <a:off x="1746680" y="1525426"/>
          <a:ext cx="2330392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7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688">
                <a:tc>
                  <a:txBody>
                    <a:bodyPr/>
                    <a:lstStyle/>
                    <a:p>
                      <a:r>
                        <a:rPr lang="fr-FR" sz="800" dirty="0"/>
                        <a:t>Casque de sécurité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708">
                <a:tc>
                  <a:txBody>
                    <a:bodyPr/>
                    <a:lstStyle/>
                    <a:p>
                      <a:r>
                        <a:rPr lang="fr-FR" sz="800" dirty="0"/>
                        <a:t>Casquette de sécurité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" name="Tableau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881399"/>
              </p:ext>
            </p:extLst>
          </p:nvPr>
        </p:nvGraphicFramePr>
        <p:xfrm>
          <a:off x="1747639" y="3230829"/>
          <a:ext cx="2329433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69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688">
                <a:tc>
                  <a:txBody>
                    <a:bodyPr/>
                    <a:lstStyle/>
                    <a:p>
                      <a:r>
                        <a:rPr lang="fr-FR" sz="800" dirty="0"/>
                        <a:t>Gants fin anti-coupure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Tableau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775667"/>
              </p:ext>
            </p:extLst>
          </p:nvPr>
        </p:nvGraphicFramePr>
        <p:xfrm>
          <a:off x="1743447" y="3635664"/>
          <a:ext cx="2333625" cy="42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67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688">
                <a:tc>
                  <a:txBody>
                    <a:bodyPr/>
                    <a:lstStyle/>
                    <a:p>
                      <a:r>
                        <a:rPr lang="fr-FR" sz="800" dirty="0"/>
                        <a:t>Dotation standard selon</a:t>
                      </a:r>
                      <a:r>
                        <a:rPr lang="fr-FR" sz="800" baseline="0" dirty="0"/>
                        <a:t> fonction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708">
                <a:tc>
                  <a:txBody>
                    <a:bodyPr/>
                    <a:lstStyle/>
                    <a:p>
                      <a:r>
                        <a:rPr lang="fr-FR" sz="800" dirty="0"/>
                        <a:t>Gilet de Haute Visibilité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" name="Tableau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900593"/>
              </p:ext>
            </p:extLst>
          </p:nvPr>
        </p:nvGraphicFramePr>
        <p:xfrm>
          <a:off x="1747639" y="4219957"/>
          <a:ext cx="2329433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69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688">
                <a:tc>
                  <a:txBody>
                    <a:bodyPr/>
                    <a:lstStyle/>
                    <a:p>
                      <a:r>
                        <a:rPr lang="fr-FR" sz="800" dirty="0"/>
                        <a:t>Chaussures de sécurité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ZoneTexte 2"/>
          <p:cNvSpPr txBox="1"/>
          <p:nvPr/>
        </p:nvSpPr>
        <p:spPr>
          <a:xfrm>
            <a:off x="4305150" y="1736393"/>
            <a:ext cx="22922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Ces EPI sont la dotation minimale pour tout nouvel arrivant (sauf assistant(e)s et personnel du siège)</a:t>
            </a:r>
            <a:endParaRPr lang="en-US" sz="1600" b="1" dirty="0"/>
          </a:p>
        </p:txBody>
      </p:sp>
      <p:cxnSp>
        <p:nvCxnSpPr>
          <p:cNvPr id="5" name="Connecteur droit 4"/>
          <p:cNvCxnSpPr/>
          <p:nvPr/>
        </p:nvCxnSpPr>
        <p:spPr>
          <a:xfrm>
            <a:off x="198581" y="4572000"/>
            <a:ext cx="6470779" cy="0"/>
          </a:xfrm>
          <a:prstGeom prst="line">
            <a:avLst/>
          </a:prstGeom>
          <a:ln w="38100">
            <a:solidFill>
              <a:srgbClr val="9537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/>
          <p:cNvCxnSpPr>
            <a:stCxn id="23" idx="1"/>
          </p:cNvCxnSpPr>
          <p:nvPr/>
        </p:nvCxnSpPr>
        <p:spPr>
          <a:xfrm flipH="1">
            <a:off x="126573" y="1763712"/>
            <a:ext cx="1070179" cy="432024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>
            <a:stCxn id="19" idx="1"/>
          </p:cNvCxnSpPr>
          <p:nvPr/>
        </p:nvCxnSpPr>
        <p:spPr>
          <a:xfrm flipH="1">
            <a:off x="93832" y="2248718"/>
            <a:ext cx="1102920" cy="21600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/>
          <p:cNvCxnSpPr>
            <a:stCxn id="20" idx="1"/>
          </p:cNvCxnSpPr>
          <p:nvPr/>
        </p:nvCxnSpPr>
        <p:spPr>
          <a:xfrm flipH="1" flipV="1">
            <a:off x="715255" y="3203848"/>
            <a:ext cx="481497" cy="14404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/>
          <p:cNvCxnSpPr>
            <a:stCxn id="21" idx="1"/>
          </p:cNvCxnSpPr>
          <p:nvPr/>
        </p:nvCxnSpPr>
        <p:spPr>
          <a:xfrm flipH="1" flipV="1">
            <a:off x="93832" y="3203848"/>
            <a:ext cx="1102920" cy="648096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/>
          <p:cNvCxnSpPr>
            <a:stCxn id="22" idx="1"/>
          </p:cNvCxnSpPr>
          <p:nvPr/>
        </p:nvCxnSpPr>
        <p:spPr>
          <a:xfrm flipH="1" flipV="1">
            <a:off x="278974" y="3819380"/>
            <a:ext cx="917778" cy="49852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98581" y="5126819"/>
            <a:ext cx="1934275" cy="2037469"/>
          </a:xfrm>
          <a:prstGeom prst="rect">
            <a:avLst/>
          </a:prstGeom>
          <a:noFill/>
          <a:ln>
            <a:solidFill>
              <a:srgbClr val="9537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/>
          <p:cNvSpPr/>
          <p:nvPr/>
        </p:nvSpPr>
        <p:spPr>
          <a:xfrm>
            <a:off x="2466833" y="5126819"/>
            <a:ext cx="1934275" cy="2037469"/>
          </a:xfrm>
          <a:prstGeom prst="rect">
            <a:avLst/>
          </a:prstGeom>
          <a:noFill/>
          <a:ln>
            <a:solidFill>
              <a:srgbClr val="9537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4735085" y="5126819"/>
            <a:ext cx="1934275" cy="2037469"/>
          </a:xfrm>
          <a:prstGeom prst="rect">
            <a:avLst/>
          </a:prstGeom>
          <a:noFill/>
          <a:ln>
            <a:solidFill>
              <a:srgbClr val="9537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ZoneTexte 29"/>
          <p:cNvSpPr txBox="1"/>
          <p:nvPr/>
        </p:nvSpPr>
        <p:spPr>
          <a:xfrm>
            <a:off x="715255" y="5135947"/>
            <a:ext cx="13949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/>
              <a:t>Extincteurs</a:t>
            </a:r>
            <a:endParaRPr lang="en-US" sz="1600" b="1" u="sng" dirty="0"/>
          </a:p>
        </p:txBody>
      </p:sp>
      <p:pic>
        <p:nvPicPr>
          <p:cNvPr id="1030" name="Picture 6" descr="Résultat de recherche d'images pour &quot;extincteur sicli&quot;">
            <a:hlinkClick r:id="rId9"/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32" y="4933870"/>
            <a:ext cx="588817" cy="606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AutoShape 8" descr="Résultat de recherche d'images pour &quot;RIA sicli&quot;">
            <a:hlinkClick r:id="rId11"/>
          </p:cNvPr>
          <p:cNvSpPr>
            <a:spLocks noChangeAspect="1" noChangeArrowheads="1"/>
          </p:cNvSpPr>
          <p:nvPr/>
        </p:nvSpPr>
        <p:spPr bwMode="auto">
          <a:xfrm>
            <a:off x="39688" y="-1028700"/>
            <a:ext cx="2676525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2" name="AutoShape 10" descr="Résultat de recherche d'images pour &quot;RIA sicli&quot;">
            <a:hlinkClick r:id="rId11"/>
          </p:cNvPr>
          <p:cNvSpPr>
            <a:spLocks noChangeAspect="1" noChangeArrowheads="1"/>
          </p:cNvSpPr>
          <p:nvPr/>
        </p:nvSpPr>
        <p:spPr bwMode="auto">
          <a:xfrm>
            <a:off x="192088" y="-876300"/>
            <a:ext cx="2676525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035" name="Picture 11"/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67" t="8918" r="19600" b="5829"/>
          <a:stretch/>
        </p:blipFill>
        <p:spPr bwMode="auto">
          <a:xfrm>
            <a:off x="2319693" y="4932040"/>
            <a:ext cx="535519" cy="60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ZoneTexte 58"/>
          <p:cNvSpPr txBox="1"/>
          <p:nvPr/>
        </p:nvSpPr>
        <p:spPr>
          <a:xfrm>
            <a:off x="2848177" y="5135947"/>
            <a:ext cx="161334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u="sng" dirty="0"/>
              <a:t>Activité </a:t>
            </a:r>
            <a:r>
              <a:rPr lang="fr-FR" sz="1600" b="1" u="sng" dirty="0"/>
              <a:t>hydraulique</a:t>
            </a:r>
            <a:endParaRPr lang="fr-FR" sz="1400" b="1" u="sng" dirty="0"/>
          </a:p>
          <a:p>
            <a:r>
              <a:rPr lang="fr-FR" sz="1000" i="1" dirty="0"/>
              <a:t>(RIA, poteau incendie, colonnes sèches)</a:t>
            </a:r>
            <a:endParaRPr lang="en-US" sz="1000" i="1" dirty="0"/>
          </a:p>
        </p:txBody>
      </p:sp>
      <p:sp>
        <p:nvSpPr>
          <p:cNvPr id="34" name="AutoShape 13" descr="Résultat de recherche d'images pour &quot;BAES sicli&quot;">
            <a:hlinkClick r:id="rId13"/>
          </p:cNvPr>
          <p:cNvSpPr>
            <a:spLocks noChangeAspect="1" noChangeArrowheads="1"/>
          </p:cNvSpPr>
          <p:nvPr/>
        </p:nvSpPr>
        <p:spPr bwMode="auto">
          <a:xfrm>
            <a:off x="39688" y="-914400"/>
            <a:ext cx="288607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841" y="4989416"/>
            <a:ext cx="754367" cy="497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ZoneTexte 61"/>
          <p:cNvSpPr txBox="1"/>
          <p:nvPr/>
        </p:nvSpPr>
        <p:spPr>
          <a:xfrm>
            <a:off x="5274367" y="5126819"/>
            <a:ext cx="13949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/>
              <a:t>BAES</a:t>
            </a:r>
            <a:endParaRPr lang="en-US" sz="1600" b="1" u="sng" dirty="0"/>
          </a:p>
        </p:txBody>
      </p:sp>
      <p:sp>
        <p:nvSpPr>
          <p:cNvPr id="4" name="ZoneTexte 3"/>
          <p:cNvSpPr txBox="1"/>
          <p:nvPr/>
        </p:nvSpPr>
        <p:spPr>
          <a:xfrm>
            <a:off x="4391945" y="3308955"/>
            <a:ext cx="22054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>
                <a:solidFill>
                  <a:srgbClr val="FF0000"/>
                </a:solidFill>
              </a:rPr>
              <a:t>Tous les EPI doivent être commandés par l’intermédiaire du catalogue  EPI valable dans chaque entité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98581" y="7329789"/>
            <a:ext cx="6470779" cy="1087209"/>
          </a:xfrm>
          <a:prstGeom prst="rect">
            <a:avLst/>
          </a:prstGeom>
          <a:noFill/>
          <a:ln>
            <a:solidFill>
              <a:srgbClr val="9537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ZoneTexte 55"/>
          <p:cNvSpPr txBox="1"/>
          <p:nvPr/>
        </p:nvSpPr>
        <p:spPr>
          <a:xfrm>
            <a:off x="721271" y="7329790"/>
            <a:ext cx="59576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/>
              <a:t>Désenfumage, travail en toiture et intervention à l’échelle</a:t>
            </a:r>
            <a:endParaRPr lang="en-US" sz="1600" b="1" u="sng" dirty="0"/>
          </a:p>
        </p:txBody>
      </p:sp>
      <p:sp>
        <p:nvSpPr>
          <p:cNvPr id="57" name="ZoneTexte 56"/>
          <p:cNvSpPr txBox="1"/>
          <p:nvPr/>
        </p:nvSpPr>
        <p:spPr>
          <a:xfrm>
            <a:off x="476672" y="7682111"/>
            <a:ext cx="19491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/>
              <a:t>Harnais de sécurité</a:t>
            </a:r>
            <a:endParaRPr lang="en-US" sz="1600" dirty="0"/>
          </a:p>
        </p:txBody>
      </p:sp>
      <p:sp>
        <p:nvSpPr>
          <p:cNvPr id="58" name="ZoneTexte 57"/>
          <p:cNvSpPr txBox="1"/>
          <p:nvPr/>
        </p:nvSpPr>
        <p:spPr>
          <a:xfrm>
            <a:off x="476672" y="7934139"/>
            <a:ext cx="19491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/>
              <a:t>Longe simple sans absorbeur</a:t>
            </a:r>
            <a:endParaRPr lang="en-US" sz="1600" dirty="0"/>
          </a:p>
        </p:txBody>
      </p:sp>
      <p:sp>
        <p:nvSpPr>
          <p:cNvPr id="6" name="ZoneTexte 5"/>
          <p:cNvSpPr txBox="1"/>
          <p:nvPr/>
        </p:nvSpPr>
        <p:spPr>
          <a:xfrm>
            <a:off x="198581" y="4572000"/>
            <a:ext cx="648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b="1" i="1" dirty="0"/>
              <a:t>Selon les activités du technicien, les équipements ci-dessous sont à distribuer. La liste n’est pas exhaustive, il s’agit </a:t>
            </a:r>
            <a:r>
              <a:rPr lang="fr-FR" sz="900" b="1" i="1" u="sng" dirty="0"/>
              <a:t>du minimum </a:t>
            </a:r>
            <a:r>
              <a:rPr lang="fr-FR" sz="900" b="1" i="1" dirty="0"/>
              <a:t>demandé pour chaque activité. D’autres équipements non listés, ou faisant partie d’une autre activité peuvent être nécessaires </a:t>
            </a:r>
            <a:endParaRPr lang="en-US" sz="900" b="1" i="1" dirty="0"/>
          </a:p>
        </p:txBody>
      </p:sp>
      <p:sp>
        <p:nvSpPr>
          <p:cNvPr id="63" name="ZoneTexte 62"/>
          <p:cNvSpPr txBox="1"/>
          <p:nvPr/>
        </p:nvSpPr>
        <p:spPr>
          <a:xfrm>
            <a:off x="476672" y="8186167"/>
            <a:ext cx="19491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/>
              <a:t>Longe double avec absorbeur</a:t>
            </a:r>
            <a:endParaRPr lang="en-US" sz="1600" dirty="0"/>
          </a:p>
        </p:txBody>
      </p:sp>
      <p:sp>
        <p:nvSpPr>
          <p:cNvPr id="66" name="ZoneTexte 65"/>
          <p:cNvSpPr txBox="1"/>
          <p:nvPr/>
        </p:nvSpPr>
        <p:spPr>
          <a:xfrm>
            <a:off x="2301281" y="7682061"/>
            <a:ext cx="22078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/>
              <a:t>Mousquetons à fermeture automatique</a:t>
            </a:r>
            <a:endParaRPr lang="en-US" sz="1600" dirty="0"/>
          </a:p>
        </p:txBody>
      </p:sp>
      <p:sp>
        <p:nvSpPr>
          <p:cNvPr id="67" name="ZoneTexte 66"/>
          <p:cNvSpPr txBox="1"/>
          <p:nvPr/>
        </p:nvSpPr>
        <p:spPr>
          <a:xfrm>
            <a:off x="2301281" y="7922468"/>
            <a:ext cx="22078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/>
              <a:t>Anneaux de sangles</a:t>
            </a:r>
            <a:endParaRPr lang="en-US" sz="1600" dirty="0"/>
          </a:p>
        </p:txBody>
      </p:sp>
      <p:sp>
        <p:nvSpPr>
          <p:cNvPr id="68" name="ZoneTexte 67"/>
          <p:cNvSpPr txBox="1"/>
          <p:nvPr/>
        </p:nvSpPr>
        <p:spPr>
          <a:xfrm>
            <a:off x="2301281" y="8157542"/>
            <a:ext cx="22078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/>
              <a:t>Corde</a:t>
            </a:r>
            <a:endParaRPr lang="en-US" sz="1600" dirty="0"/>
          </a:p>
        </p:txBody>
      </p:sp>
      <p:sp>
        <p:nvSpPr>
          <p:cNvPr id="69" name="ZoneTexte 68"/>
          <p:cNvSpPr txBox="1"/>
          <p:nvPr/>
        </p:nvSpPr>
        <p:spPr>
          <a:xfrm>
            <a:off x="4605537" y="7665908"/>
            <a:ext cx="17757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/>
              <a:t>Coulisseau antichute automatique</a:t>
            </a:r>
            <a:endParaRPr lang="en-US" sz="1600" dirty="0"/>
          </a:p>
        </p:txBody>
      </p:sp>
      <p:sp>
        <p:nvSpPr>
          <p:cNvPr id="70" name="ZoneTexte 69"/>
          <p:cNvSpPr txBox="1"/>
          <p:nvPr/>
        </p:nvSpPr>
        <p:spPr>
          <a:xfrm>
            <a:off x="4605537" y="7906265"/>
            <a:ext cx="22078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/>
              <a:t>Sac de transport</a:t>
            </a:r>
            <a:endParaRPr lang="en-US" sz="1600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242" y="2483768"/>
            <a:ext cx="432000" cy="432000"/>
          </a:xfrm>
          <a:prstGeom prst="rect">
            <a:avLst/>
          </a:prstGeom>
        </p:spPr>
      </p:pic>
      <p:graphicFrame>
        <p:nvGraphicFramePr>
          <p:cNvPr id="79" name="Tableau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918406"/>
              </p:ext>
            </p:extLst>
          </p:nvPr>
        </p:nvGraphicFramePr>
        <p:xfrm>
          <a:off x="1748011" y="2586919"/>
          <a:ext cx="2329061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69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688">
                <a:tc>
                  <a:txBody>
                    <a:bodyPr/>
                    <a:lstStyle/>
                    <a:p>
                      <a:r>
                        <a:rPr lang="fr-FR" sz="800" dirty="0"/>
                        <a:t>Protections auditives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6" name="Groupe 15"/>
          <p:cNvGrpSpPr/>
          <p:nvPr/>
        </p:nvGrpSpPr>
        <p:grpSpPr>
          <a:xfrm>
            <a:off x="315897" y="5509295"/>
            <a:ext cx="1800367" cy="230832"/>
            <a:chOff x="315897" y="5474246"/>
            <a:chExt cx="1800367" cy="230832"/>
          </a:xfrm>
        </p:grpSpPr>
        <p:sp>
          <p:nvSpPr>
            <p:cNvPr id="60" name="ZoneTexte 59"/>
            <p:cNvSpPr txBox="1"/>
            <p:nvPr/>
          </p:nvSpPr>
          <p:spPr>
            <a:xfrm>
              <a:off x="474200" y="5474246"/>
              <a:ext cx="16420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Gants de manutention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15897" y="5517662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e 12"/>
          <p:cNvGrpSpPr/>
          <p:nvPr/>
        </p:nvGrpSpPr>
        <p:grpSpPr>
          <a:xfrm>
            <a:off x="315897" y="5725828"/>
            <a:ext cx="1800367" cy="230832"/>
            <a:chOff x="315897" y="5684162"/>
            <a:chExt cx="1800367" cy="230832"/>
          </a:xfrm>
        </p:grpSpPr>
        <p:sp>
          <p:nvSpPr>
            <p:cNvPr id="61" name="ZoneTexte 60"/>
            <p:cNvSpPr txBox="1"/>
            <p:nvPr/>
          </p:nvSpPr>
          <p:spPr>
            <a:xfrm>
              <a:off x="474200" y="5684162"/>
              <a:ext cx="16420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Masque FFP3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315897" y="5724144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e 11"/>
          <p:cNvGrpSpPr/>
          <p:nvPr/>
        </p:nvGrpSpPr>
        <p:grpSpPr>
          <a:xfrm>
            <a:off x="315897" y="5942361"/>
            <a:ext cx="1800367" cy="230832"/>
            <a:chOff x="315897" y="5899411"/>
            <a:chExt cx="1800367" cy="230832"/>
          </a:xfrm>
        </p:grpSpPr>
        <p:sp>
          <p:nvSpPr>
            <p:cNvPr id="72" name="ZoneTexte 71"/>
            <p:cNvSpPr txBox="1"/>
            <p:nvPr/>
          </p:nvSpPr>
          <p:spPr>
            <a:xfrm>
              <a:off x="474200" y="5899411"/>
              <a:ext cx="16420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Cutter à lame rétractable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315897" y="5940168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e 8"/>
          <p:cNvGrpSpPr/>
          <p:nvPr/>
        </p:nvGrpSpPr>
        <p:grpSpPr>
          <a:xfrm>
            <a:off x="315897" y="6158894"/>
            <a:ext cx="1800367" cy="230832"/>
            <a:chOff x="315897" y="6112743"/>
            <a:chExt cx="1800367" cy="230832"/>
          </a:xfrm>
        </p:grpSpPr>
        <p:sp>
          <p:nvSpPr>
            <p:cNvPr id="73" name="ZoneTexte 72"/>
            <p:cNvSpPr txBox="1"/>
            <p:nvPr/>
          </p:nvSpPr>
          <p:spPr>
            <a:xfrm>
              <a:off x="474200" y="6112743"/>
              <a:ext cx="16420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Chariot de vérification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315897" y="6159608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" name="Groupe 7"/>
          <p:cNvGrpSpPr/>
          <p:nvPr/>
        </p:nvGrpSpPr>
        <p:grpSpPr>
          <a:xfrm>
            <a:off x="315897" y="6375427"/>
            <a:ext cx="1800367" cy="230832"/>
            <a:chOff x="315897" y="6338292"/>
            <a:chExt cx="1800367" cy="230832"/>
          </a:xfrm>
        </p:grpSpPr>
        <p:sp>
          <p:nvSpPr>
            <p:cNvPr id="76" name="ZoneTexte 75"/>
            <p:cNvSpPr txBox="1"/>
            <p:nvPr/>
          </p:nvSpPr>
          <p:spPr>
            <a:xfrm>
              <a:off x="474200" y="6338292"/>
              <a:ext cx="16420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Balisage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315897" y="6381708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e 26"/>
          <p:cNvGrpSpPr/>
          <p:nvPr/>
        </p:nvGrpSpPr>
        <p:grpSpPr>
          <a:xfrm>
            <a:off x="2569263" y="6069360"/>
            <a:ext cx="1774057" cy="230832"/>
            <a:chOff x="2593479" y="5536729"/>
            <a:chExt cx="1774057" cy="230832"/>
          </a:xfrm>
        </p:grpSpPr>
        <p:sp>
          <p:nvSpPr>
            <p:cNvPr id="54" name="ZoneTexte 53"/>
            <p:cNvSpPr txBox="1"/>
            <p:nvPr/>
          </p:nvSpPr>
          <p:spPr>
            <a:xfrm>
              <a:off x="2751577" y="5536729"/>
              <a:ext cx="161595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Gants étanches</a:t>
              </a:r>
              <a:endParaRPr lang="en-US" sz="1600" dirty="0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2593479" y="5580112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e 16"/>
          <p:cNvGrpSpPr/>
          <p:nvPr/>
        </p:nvGrpSpPr>
        <p:grpSpPr>
          <a:xfrm>
            <a:off x="2569263" y="6285384"/>
            <a:ext cx="1774057" cy="230832"/>
            <a:chOff x="2593479" y="5752703"/>
            <a:chExt cx="1774057" cy="230832"/>
          </a:xfrm>
        </p:grpSpPr>
        <p:sp>
          <p:nvSpPr>
            <p:cNvPr id="77" name="ZoneTexte 76"/>
            <p:cNvSpPr txBox="1"/>
            <p:nvPr/>
          </p:nvSpPr>
          <p:spPr>
            <a:xfrm>
              <a:off x="2751577" y="5752703"/>
              <a:ext cx="161595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Balisage</a:t>
              </a: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2593479" y="5796086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8" name="Groupe 37"/>
          <p:cNvGrpSpPr/>
          <p:nvPr/>
        </p:nvGrpSpPr>
        <p:grpSpPr>
          <a:xfrm>
            <a:off x="4812018" y="5445621"/>
            <a:ext cx="1924750" cy="230832"/>
            <a:chOff x="4812018" y="5767561"/>
            <a:chExt cx="1924750" cy="230832"/>
          </a:xfrm>
        </p:grpSpPr>
        <p:sp>
          <p:nvSpPr>
            <p:cNvPr id="64" name="ZoneTexte 63"/>
            <p:cNvSpPr txBox="1"/>
            <p:nvPr/>
          </p:nvSpPr>
          <p:spPr>
            <a:xfrm>
              <a:off x="4927043" y="5767561"/>
              <a:ext cx="1809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Gants isolants 500V </a:t>
              </a:r>
              <a:endParaRPr lang="en-US" sz="1600" dirty="0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4812018" y="5805677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0" name="Groupe 39"/>
          <p:cNvGrpSpPr/>
          <p:nvPr/>
        </p:nvGrpSpPr>
        <p:grpSpPr>
          <a:xfrm>
            <a:off x="4812018" y="5645041"/>
            <a:ext cx="1924750" cy="230832"/>
            <a:chOff x="4812018" y="6019599"/>
            <a:chExt cx="1924750" cy="230832"/>
          </a:xfrm>
        </p:grpSpPr>
        <p:sp>
          <p:nvSpPr>
            <p:cNvPr id="65" name="ZoneTexte 64"/>
            <p:cNvSpPr txBox="1"/>
            <p:nvPr/>
          </p:nvSpPr>
          <p:spPr>
            <a:xfrm>
              <a:off x="4927043" y="6019599"/>
              <a:ext cx="1809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VAT IP2X</a:t>
              </a:r>
              <a:endParaRPr lang="en-US" sz="1600" dirty="0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4812018" y="6055609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1" name="Groupe 40"/>
          <p:cNvGrpSpPr/>
          <p:nvPr/>
        </p:nvGrpSpPr>
        <p:grpSpPr>
          <a:xfrm>
            <a:off x="4812018" y="5844461"/>
            <a:ext cx="1924750" cy="230832"/>
            <a:chOff x="4812018" y="6271637"/>
            <a:chExt cx="1924750" cy="230832"/>
          </a:xfrm>
        </p:grpSpPr>
        <p:sp>
          <p:nvSpPr>
            <p:cNvPr id="51" name="ZoneTexte 50"/>
            <p:cNvSpPr txBox="1"/>
            <p:nvPr/>
          </p:nvSpPr>
          <p:spPr>
            <a:xfrm>
              <a:off x="4927043" y="6271637"/>
              <a:ext cx="1809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Ecran facial</a:t>
              </a:r>
              <a:endParaRPr lang="en-US" sz="1600" dirty="0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4812018" y="6309733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" name="Groupe 42"/>
          <p:cNvGrpSpPr/>
          <p:nvPr/>
        </p:nvGrpSpPr>
        <p:grpSpPr>
          <a:xfrm>
            <a:off x="4812018" y="6024831"/>
            <a:ext cx="1924750" cy="338554"/>
            <a:chOff x="4812018" y="6472875"/>
            <a:chExt cx="1924750" cy="338554"/>
          </a:xfrm>
        </p:grpSpPr>
        <p:sp>
          <p:nvSpPr>
            <p:cNvPr id="52" name="ZoneTexte 51"/>
            <p:cNvSpPr txBox="1"/>
            <p:nvPr/>
          </p:nvSpPr>
          <p:spPr>
            <a:xfrm>
              <a:off x="4927043" y="6472875"/>
              <a:ext cx="18097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Kit de consignation </a:t>
              </a:r>
              <a:r>
                <a:rPr lang="fr-FR" sz="700" dirty="0"/>
                <a:t>(à minima 2 cadenas, 2 étiquettes, 2 condamnateurs) </a:t>
              </a:r>
              <a:endParaRPr lang="en-US" sz="1200" dirty="0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4812018" y="6569190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4" name="Groupe 43"/>
          <p:cNvGrpSpPr/>
          <p:nvPr/>
        </p:nvGrpSpPr>
        <p:grpSpPr>
          <a:xfrm>
            <a:off x="4812018" y="6325623"/>
            <a:ext cx="1924750" cy="230832"/>
            <a:chOff x="4812018" y="6775711"/>
            <a:chExt cx="1924750" cy="230832"/>
          </a:xfrm>
        </p:grpSpPr>
        <p:sp>
          <p:nvSpPr>
            <p:cNvPr id="71" name="ZoneTexte 70"/>
            <p:cNvSpPr txBox="1"/>
            <p:nvPr/>
          </p:nvSpPr>
          <p:spPr>
            <a:xfrm>
              <a:off x="4927043" y="6775711"/>
              <a:ext cx="1809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Escabeau isolant</a:t>
              </a:r>
              <a:endParaRPr lang="en-US" sz="1600" dirty="0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4812018" y="6813789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0" name="Rectangle 99"/>
          <p:cNvSpPr/>
          <p:nvPr/>
        </p:nvSpPr>
        <p:spPr>
          <a:xfrm>
            <a:off x="4461521" y="7709324"/>
            <a:ext cx="144000" cy="14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Rectangle 100"/>
          <p:cNvSpPr/>
          <p:nvPr/>
        </p:nvSpPr>
        <p:spPr>
          <a:xfrm>
            <a:off x="4461521" y="7949681"/>
            <a:ext cx="144000" cy="14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Rectangle 101"/>
          <p:cNvSpPr/>
          <p:nvPr/>
        </p:nvSpPr>
        <p:spPr>
          <a:xfrm>
            <a:off x="2132856" y="7706394"/>
            <a:ext cx="144000" cy="14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Rectangle 102"/>
          <p:cNvSpPr/>
          <p:nvPr/>
        </p:nvSpPr>
        <p:spPr>
          <a:xfrm>
            <a:off x="2132856" y="7951009"/>
            <a:ext cx="144000" cy="14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" name="Rectangle 103"/>
          <p:cNvSpPr/>
          <p:nvPr/>
        </p:nvSpPr>
        <p:spPr>
          <a:xfrm>
            <a:off x="2132856" y="8200958"/>
            <a:ext cx="144000" cy="14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Rectangle 104"/>
          <p:cNvSpPr/>
          <p:nvPr/>
        </p:nvSpPr>
        <p:spPr>
          <a:xfrm>
            <a:off x="332656" y="7706444"/>
            <a:ext cx="144000" cy="14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Rectangle 105"/>
          <p:cNvSpPr/>
          <p:nvPr/>
        </p:nvSpPr>
        <p:spPr>
          <a:xfrm>
            <a:off x="332656" y="7951059"/>
            <a:ext cx="144000" cy="14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Rectangle 106"/>
          <p:cNvSpPr/>
          <p:nvPr/>
        </p:nvSpPr>
        <p:spPr>
          <a:xfrm>
            <a:off x="332656" y="8200991"/>
            <a:ext cx="144000" cy="14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e 6"/>
          <p:cNvGrpSpPr/>
          <p:nvPr/>
        </p:nvGrpSpPr>
        <p:grpSpPr>
          <a:xfrm>
            <a:off x="313439" y="6591960"/>
            <a:ext cx="1800367" cy="230832"/>
            <a:chOff x="313439" y="6554366"/>
            <a:chExt cx="1800367" cy="230832"/>
          </a:xfrm>
        </p:grpSpPr>
        <p:sp>
          <p:nvSpPr>
            <p:cNvPr id="108" name="ZoneTexte 107"/>
            <p:cNvSpPr txBox="1"/>
            <p:nvPr/>
          </p:nvSpPr>
          <p:spPr>
            <a:xfrm>
              <a:off x="471742" y="6554366"/>
              <a:ext cx="16420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Gants chimiques</a:t>
              </a:r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313439" y="6597782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0" name="Groupe 109"/>
          <p:cNvGrpSpPr/>
          <p:nvPr/>
        </p:nvGrpSpPr>
        <p:grpSpPr>
          <a:xfrm>
            <a:off x="313606" y="6808490"/>
            <a:ext cx="1800367" cy="230832"/>
            <a:chOff x="313439" y="6554366"/>
            <a:chExt cx="1800367" cy="230832"/>
          </a:xfrm>
        </p:grpSpPr>
        <p:sp>
          <p:nvSpPr>
            <p:cNvPr id="111" name="ZoneTexte 110"/>
            <p:cNvSpPr txBox="1"/>
            <p:nvPr/>
          </p:nvSpPr>
          <p:spPr>
            <a:xfrm>
              <a:off x="471742" y="6554366"/>
              <a:ext cx="16420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Lampe frontale</a:t>
              </a:r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313439" y="6597782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3" name="Groupe 112"/>
          <p:cNvGrpSpPr/>
          <p:nvPr/>
        </p:nvGrpSpPr>
        <p:grpSpPr>
          <a:xfrm>
            <a:off x="2564904" y="6501408"/>
            <a:ext cx="1800367" cy="230832"/>
            <a:chOff x="313439" y="6554366"/>
            <a:chExt cx="1800367" cy="230832"/>
          </a:xfrm>
        </p:grpSpPr>
        <p:sp>
          <p:nvSpPr>
            <p:cNvPr id="114" name="ZoneTexte 113"/>
            <p:cNvSpPr txBox="1"/>
            <p:nvPr/>
          </p:nvSpPr>
          <p:spPr>
            <a:xfrm>
              <a:off x="471742" y="6554366"/>
              <a:ext cx="16420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Lampe frontale</a:t>
              </a:r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313439" y="6597782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8" name="Groupe 117"/>
          <p:cNvGrpSpPr/>
          <p:nvPr/>
        </p:nvGrpSpPr>
        <p:grpSpPr>
          <a:xfrm>
            <a:off x="4806677" y="6518693"/>
            <a:ext cx="1924750" cy="230832"/>
            <a:chOff x="4812018" y="6775711"/>
            <a:chExt cx="1924750" cy="230832"/>
          </a:xfrm>
        </p:grpSpPr>
        <p:sp>
          <p:nvSpPr>
            <p:cNvPr id="119" name="ZoneTexte 118"/>
            <p:cNvSpPr txBox="1"/>
            <p:nvPr/>
          </p:nvSpPr>
          <p:spPr>
            <a:xfrm>
              <a:off x="4927043" y="6775711"/>
              <a:ext cx="1809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Outillages isolés </a:t>
              </a:r>
              <a:r>
                <a:rPr lang="fr-FR" sz="700" dirty="0"/>
                <a:t>(tournevis et pinces)</a:t>
              </a:r>
              <a:endParaRPr lang="en-US" sz="1200" dirty="0"/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4812018" y="6813789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1" name="Groupe 120"/>
          <p:cNvGrpSpPr/>
          <p:nvPr/>
        </p:nvGrpSpPr>
        <p:grpSpPr>
          <a:xfrm>
            <a:off x="4807093" y="6711763"/>
            <a:ext cx="1924750" cy="230832"/>
            <a:chOff x="4812018" y="6775711"/>
            <a:chExt cx="1924750" cy="230832"/>
          </a:xfrm>
        </p:grpSpPr>
        <p:sp>
          <p:nvSpPr>
            <p:cNvPr id="122" name="ZoneTexte 121"/>
            <p:cNvSpPr txBox="1"/>
            <p:nvPr/>
          </p:nvSpPr>
          <p:spPr>
            <a:xfrm>
              <a:off x="4927043" y="6775711"/>
              <a:ext cx="1809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Lampe frontale</a:t>
              </a:r>
              <a:endParaRPr lang="en-US" sz="1600" dirty="0"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4812018" y="6813789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4" name="ZoneTexte 123"/>
          <p:cNvSpPr txBox="1"/>
          <p:nvPr/>
        </p:nvSpPr>
        <p:spPr>
          <a:xfrm>
            <a:off x="4605537" y="8161784"/>
            <a:ext cx="22078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/>
              <a:t>Lampe frontale</a:t>
            </a:r>
            <a:endParaRPr lang="en-US" sz="1600" dirty="0"/>
          </a:p>
        </p:txBody>
      </p:sp>
      <p:sp>
        <p:nvSpPr>
          <p:cNvPr id="125" name="Rectangle 124"/>
          <p:cNvSpPr/>
          <p:nvPr/>
        </p:nvSpPr>
        <p:spPr>
          <a:xfrm>
            <a:off x="4461521" y="8205200"/>
            <a:ext cx="144000" cy="14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6" name="ZoneTexte 125"/>
          <p:cNvSpPr txBox="1"/>
          <p:nvPr/>
        </p:nvSpPr>
        <p:spPr>
          <a:xfrm>
            <a:off x="5973689" y="8167117"/>
            <a:ext cx="22078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/>
              <a:t>Balisage</a:t>
            </a:r>
            <a:endParaRPr lang="en-US" sz="1600" dirty="0"/>
          </a:p>
        </p:txBody>
      </p:sp>
      <p:sp>
        <p:nvSpPr>
          <p:cNvPr id="127" name="Rectangle 126"/>
          <p:cNvSpPr/>
          <p:nvPr/>
        </p:nvSpPr>
        <p:spPr>
          <a:xfrm>
            <a:off x="5829673" y="8200958"/>
            <a:ext cx="144000" cy="14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8" name="Picture 4" descr="Résultat de recherche d'images pour &quot;désenfumage&quot;">
            <a:hlinkClick r:id="rId16"/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39" y="7236296"/>
            <a:ext cx="584482" cy="390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Rectangle 128"/>
          <p:cNvSpPr/>
          <p:nvPr/>
        </p:nvSpPr>
        <p:spPr>
          <a:xfrm>
            <a:off x="4365104" y="1358150"/>
            <a:ext cx="72000" cy="72000"/>
          </a:xfrm>
          <a:prstGeom prst="rect">
            <a:avLst/>
          </a:prstGeom>
          <a:ln w="19050">
            <a:solidFill>
              <a:srgbClr val="95373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000" dirty="0"/>
          </a:p>
        </p:txBody>
      </p:sp>
      <p:sp>
        <p:nvSpPr>
          <p:cNvPr id="130" name="ZoneTexte 129"/>
          <p:cNvSpPr txBox="1"/>
          <p:nvPr/>
        </p:nvSpPr>
        <p:spPr>
          <a:xfrm>
            <a:off x="4437528" y="1269396"/>
            <a:ext cx="6476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CEMIS</a:t>
            </a:r>
          </a:p>
        </p:txBody>
      </p:sp>
      <p:sp>
        <p:nvSpPr>
          <p:cNvPr id="131" name="ZoneTexte 130"/>
          <p:cNvSpPr txBox="1"/>
          <p:nvPr/>
        </p:nvSpPr>
        <p:spPr>
          <a:xfrm>
            <a:off x="4509120" y="540132"/>
            <a:ext cx="23488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800" i="1" dirty="0"/>
              <a:t>FOR FS 030  v 2 – 25/03/24  - Page 1/2</a:t>
            </a:r>
          </a:p>
        </p:txBody>
      </p:sp>
      <p:grpSp>
        <p:nvGrpSpPr>
          <p:cNvPr id="135" name="Groupe 134"/>
          <p:cNvGrpSpPr/>
          <p:nvPr/>
        </p:nvGrpSpPr>
        <p:grpSpPr>
          <a:xfrm>
            <a:off x="4812010" y="6904831"/>
            <a:ext cx="1735592" cy="230832"/>
            <a:chOff x="2593479" y="5752703"/>
            <a:chExt cx="1735592" cy="230832"/>
          </a:xfrm>
        </p:grpSpPr>
        <p:sp>
          <p:nvSpPr>
            <p:cNvPr id="136" name="ZoneTexte 135"/>
            <p:cNvSpPr txBox="1"/>
            <p:nvPr/>
          </p:nvSpPr>
          <p:spPr>
            <a:xfrm>
              <a:off x="2713112" y="5752703"/>
              <a:ext cx="161595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Balisage</a:t>
              </a:r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2593479" y="5796086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38" name="Connecteur droit avec flèche 137"/>
          <p:cNvCxnSpPr>
            <a:stCxn id="10" idx="1"/>
          </p:cNvCxnSpPr>
          <p:nvPr/>
        </p:nvCxnSpPr>
        <p:spPr>
          <a:xfrm flipH="1" flipV="1">
            <a:off x="332656" y="2483768"/>
            <a:ext cx="860586" cy="21600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0" name="Tableau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520724"/>
              </p:ext>
            </p:extLst>
          </p:nvPr>
        </p:nvGraphicFramePr>
        <p:xfrm>
          <a:off x="1748011" y="2915816"/>
          <a:ext cx="2329061" cy="21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69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688">
                <a:tc>
                  <a:txBody>
                    <a:bodyPr/>
                    <a:lstStyle/>
                    <a:p>
                      <a:r>
                        <a:rPr lang="fr-FR" sz="800" dirty="0"/>
                        <a:t>Détecteur de tension sans contact</a:t>
                      </a:r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ZoneTexte 14">
            <a:extLst>
              <a:ext uri="{FF2B5EF4-FFF2-40B4-BE49-F238E27FC236}">
                <a16:creationId xmlns:a16="http://schemas.microsoft.com/office/drawing/2014/main" id="{D790EB69-EB0F-1A90-FEF8-3EF60D025593}"/>
              </a:ext>
            </a:extLst>
          </p:cNvPr>
          <p:cNvSpPr txBox="1"/>
          <p:nvPr/>
        </p:nvSpPr>
        <p:spPr>
          <a:xfrm>
            <a:off x="2384784" y="1039486"/>
            <a:ext cx="10942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u="sng" dirty="0"/>
              <a:t>Nom et prénom :</a:t>
            </a:r>
          </a:p>
        </p:txBody>
      </p:sp>
    </p:spTree>
    <p:extLst>
      <p:ext uri="{BB962C8B-B14F-4D97-AF65-F5344CB8AC3E}">
        <p14:creationId xmlns:p14="http://schemas.microsoft.com/office/powerpoint/2010/main" val="2000904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/>
          <p:cNvSpPr txBox="1"/>
          <p:nvPr/>
        </p:nvSpPr>
        <p:spPr>
          <a:xfrm>
            <a:off x="2708920" y="242228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accent2">
                    <a:lumMod val="50000"/>
                  </a:schemeClr>
                </a:solidFill>
              </a:rPr>
              <a:t>DOTATION INITIALE EPI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8582" y="1958467"/>
            <a:ext cx="2087816" cy="2901565"/>
          </a:xfrm>
          <a:prstGeom prst="rect">
            <a:avLst/>
          </a:prstGeom>
          <a:noFill/>
          <a:ln>
            <a:solidFill>
              <a:srgbClr val="9537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AutoShape 8" descr="Résultat de recherche d'images pour &quot;RIA sicli&quot;">
            <a:hlinkClick r:id="rId2"/>
          </p:cNvPr>
          <p:cNvSpPr>
            <a:spLocks noChangeAspect="1" noChangeArrowheads="1"/>
          </p:cNvSpPr>
          <p:nvPr/>
        </p:nvSpPr>
        <p:spPr bwMode="auto">
          <a:xfrm>
            <a:off x="39688" y="-1028700"/>
            <a:ext cx="2676525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2" name="AutoShape 10" descr="Résultat de recherche d'images pour &quot;RIA sicli&quot;">
            <a:hlinkClick r:id="rId2"/>
          </p:cNvPr>
          <p:cNvSpPr>
            <a:spLocks noChangeAspect="1" noChangeArrowheads="1"/>
          </p:cNvSpPr>
          <p:nvPr/>
        </p:nvSpPr>
        <p:spPr bwMode="auto">
          <a:xfrm>
            <a:off x="192088" y="-876300"/>
            <a:ext cx="2676525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4" name="AutoShape 13" descr="Résultat de recherche d'images pour &quot;BAES sicli&quot;">
            <a:hlinkClick r:id="rId3"/>
          </p:cNvPr>
          <p:cNvSpPr>
            <a:spLocks noChangeAspect="1" noChangeArrowheads="1"/>
          </p:cNvSpPr>
          <p:nvPr/>
        </p:nvSpPr>
        <p:spPr bwMode="auto">
          <a:xfrm>
            <a:off x="39688" y="-914400"/>
            <a:ext cx="288607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" name="ZoneTexte 61"/>
          <p:cNvSpPr txBox="1"/>
          <p:nvPr/>
        </p:nvSpPr>
        <p:spPr>
          <a:xfrm>
            <a:off x="548680" y="1958467"/>
            <a:ext cx="1985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/>
              <a:t>Détection incendie</a:t>
            </a:r>
            <a:endParaRPr lang="en-US" sz="1600" b="1" u="sng" dirty="0"/>
          </a:p>
        </p:txBody>
      </p:sp>
      <p:sp>
        <p:nvSpPr>
          <p:cNvPr id="6" name="ZoneTexte 5"/>
          <p:cNvSpPr txBox="1"/>
          <p:nvPr/>
        </p:nvSpPr>
        <p:spPr>
          <a:xfrm>
            <a:off x="198581" y="1403648"/>
            <a:ext cx="648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b="1" i="1" dirty="0"/>
              <a:t>Selon les activités du technicien, les équipements ci-dessous sont à distribuer. La liste n’est pas exhaustive, il s’agit </a:t>
            </a:r>
            <a:r>
              <a:rPr lang="fr-FR" sz="900" b="1" i="1" u="sng" dirty="0"/>
              <a:t>du minimum </a:t>
            </a:r>
            <a:r>
              <a:rPr lang="fr-FR" sz="900" b="1" i="1" dirty="0"/>
              <a:t>demandé pour chaque activité. D’autres équipements non listés, ou faisant partie d’une autre activité peuvent être nécessaires </a:t>
            </a:r>
            <a:endParaRPr lang="en-US" sz="900" b="1" i="1" dirty="0"/>
          </a:p>
        </p:txBody>
      </p:sp>
      <p:grpSp>
        <p:nvGrpSpPr>
          <p:cNvPr id="3" name="Groupe 2"/>
          <p:cNvGrpSpPr/>
          <p:nvPr/>
        </p:nvGrpSpPr>
        <p:grpSpPr>
          <a:xfrm>
            <a:off x="260648" y="2293144"/>
            <a:ext cx="1924750" cy="230832"/>
            <a:chOff x="260648" y="2699792"/>
            <a:chExt cx="1924750" cy="230832"/>
          </a:xfrm>
        </p:grpSpPr>
        <p:sp>
          <p:nvSpPr>
            <p:cNvPr id="64" name="ZoneTexte 63"/>
            <p:cNvSpPr txBox="1"/>
            <p:nvPr/>
          </p:nvSpPr>
          <p:spPr>
            <a:xfrm>
              <a:off x="375673" y="2699792"/>
              <a:ext cx="1809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Gants isolants 500V </a:t>
              </a:r>
              <a:endParaRPr lang="en-US" sz="1600" dirty="0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260648" y="2737908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" name="Groupe 3"/>
          <p:cNvGrpSpPr/>
          <p:nvPr/>
        </p:nvGrpSpPr>
        <p:grpSpPr>
          <a:xfrm>
            <a:off x="260648" y="2540430"/>
            <a:ext cx="1924750" cy="230832"/>
            <a:chOff x="260648" y="2915816"/>
            <a:chExt cx="1924750" cy="230832"/>
          </a:xfrm>
        </p:grpSpPr>
        <p:sp>
          <p:nvSpPr>
            <p:cNvPr id="65" name="ZoneTexte 64"/>
            <p:cNvSpPr txBox="1"/>
            <p:nvPr/>
          </p:nvSpPr>
          <p:spPr>
            <a:xfrm>
              <a:off x="375673" y="2915816"/>
              <a:ext cx="1809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VAT IP2X</a:t>
              </a:r>
              <a:endParaRPr lang="en-US" sz="1600" dirty="0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260648" y="2951826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" name="Groupe 4"/>
          <p:cNvGrpSpPr/>
          <p:nvPr/>
        </p:nvGrpSpPr>
        <p:grpSpPr>
          <a:xfrm>
            <a:off x="260648" y="2787716"/>
            <a:ext cx="1924750" cy="230832"/>
            <a:chOff x="260648" y="3131840"/>
            <a:chExt cx="1924750" cy="230832"/>
          </a:xfrm>
        </p:grpSpPr>
        <p:sp>
          <p:nvSpPr>
            <p:cNvPr id="51" name="ZoneTexte 50"/>
            <p:cNvSpPr txBox="1"/>
            <p:nvPr/>
          </p:nvSpPr>
          <p:spPr>
            <a:xfrm>
              <a:off x="375673" y="3131840"/>
              <a:ext cx="1809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Ecran facial</a:t>
              </a:r>
              <a:endParaRPr lang="en-US" sz="1600" dirty="0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260648" y="3169936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e 6"/>
          <p:cNvGrpSpPr/>
          <p:nvPr/>
        </p:nvGrpSpPr>
        <p:grpSpPr>
          <a:xfrm>
            <a:off x="260648" y="3022674"/>
            <a:ext cx="2034876" cy="353943"/>
            <a:chOff x="260648" y="3303414"/>
            <a:chExt cx="2034876" cy="353943"/>
          </a:xfrm>
        </p:grpSpPr>
        <p:sp>
          <p:nvSpPr>
            <p:cNvPr id="52" name="ZoneTexte 51"/>
            <p:cNvSpPr txBox="1"/>
            <p:nvPr/>
          </p:nvSpPr>
          <p:spPr>
            <a:xfrm>
              <a:off x="375673" y="3303414"/>
              <a:ext cx="1919851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Kit de consignation</a:t>
              </a:r>
              <a:r>
                <a:rPr lang="fr-FR" sz="800" dirty="0"/>
                <a:t> (à minima 2 cadenas, 2 étiquettes, 2 condamnateurs) </a:t>
              </a:r>
              <a:endParaRPr lang="en-US" sz="1600" dirty="0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260648" y="3393379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" name="Groupe 7"/>
          <p:cNvGrpSpPr/>
          <p:nvPr/>
        </p:nvGrpSpPr>
        <p:grpSpPr>
          <a:xfrm>
            <a:off x="260648" y="3352510"/>
            <a:ext cx="1924750" cy="230832"/>
            <a:chOff x="260648" y="3563888"/>
            <a:chExt cx="1924750" cy="230832"/>
          </a:xfrm>
        </p:grpSpPr>
        <p:sp>
          <p:nvSpPr>
            <p:cNvPr id="71" name="ZoneTexte 70"/>
            <p:cNvSpPr txBox="1"/>
            <p:nvPr/>
          </p:nvSpPr>
          <p:spPr>
            <a:xfrm>
              <a:off x="375673" y="3563888"/>
              <a:ext cx="1809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Multimètre IP2X </a:t>
              </a:r>
              <a:endParaRPr lang="en-US" sz="1600" dirty="0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260648" y="3601966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e 8"/>
          <p:cNvGrpSpPr/>
          <p:nvPr/>
        </p:nvGrpSpPr>
        <p:grpSpPr>
          <a:xfrm>
            <a:off x="4005064" y="6588224"/>
            <a:ext cx="1924750" cy="230832"/>
            <a:chOff x="260648" y="3779912"/>
            <a:chExt cx="1924750" cy="230832"/>
          </a:xfrm>
        </p:grpSpPr>
        <p:sp>
          <p:nvSpPr>
            <p:cNvPr id="108" name="ZoneTexte 107"/>
            <p:cNvSpPr txBox="1"/>
            <p:nvPr/>
          </p:nvSpPr>
          <p:spPr>
            <a:xfrm>
              <a:off x="375673" y="3779912"/>
              <a:ext cx="1809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Casque IDRA</a:t>
              </a:r>
              <a:endParaRPr lang="en-US" sz="1600" dirty="0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260648" y="3817990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Groupe 9"/>
          <p:cNvGrpSpPr/>
          <p:nvPr/>
        </p:nvGrpSpPr>
        <p:grpSpPr>
          <a:xfrm>
            <a:off x="260648" y="3599796"/>
            <a:ext cx="1924750" cy="230832"/>
            <a:chOff x="260648" y="3995936"/>
            <a:chExt cx="1924750" cy="230832"/>
          </a:xfrm>
        </p:grpSpPr>
        <p:sp>
          <p:nvSpPr>
            <p:cNvPr id="110" name="ZoneTexte 109"/>
            <p:cNvSpPr txBox="1"/>
            <p:nvPr/>
          </p:nvSpPr>
          <p:spPr>
            <a:xfrm>
              <a:off x="375673" y="3995936"/>
              <a:ext cx="1809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Lampe frontale</a:t>
              </a:r>
              <a:endParaRPr lang="en-US" sz="1600" dirty="0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260648" y="4034014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" name="Groupe 10"/>
          <p:cNvGrpSpPr/>
          <p:nvPr/>
        </p:nvGrpSpPr>
        <p:grpSpPr>
          <a:xfrm>
            <a:off x="260648" y="3847082"/>
            <a:ext cx="1924750" cy="230832"/>
            <a:chOff x="260648" y="4211960"/>
            <a:chExt cx="1924750" cy="230832"/>
          </a:xfrm>
        </p:grpSpPr>
        <p:sp>
          <p:nvSpPr>
            <p:cNvPr id="112" name="ZoneTexte 111"/>
            <p:cNvSpPr txBox="1"/>
            <p:nvPr/>
          </p:nvSpPr>
          <p:spPr>
            <a:xfrm>
              <a:off x="375673" y="4211960"/>
              <a:ext cx="1809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Gants chimiques</a:t>
              </a:r>
              <a:endParaRPr lang="en-US" sz="1600" dirty="0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260648" y="4250038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e 11"/>
          <p:cNvGrpSpPr/>
          <p:nvPr/>
        </p:nvGrpSpPr>
        <p:grpSpPr>
          <a:xfrm>
            <a:off x="2295922" y="6829891"/>
            <a:ext cx="3813323" cy="230832"/>
            <a:chOff x="260648" y="4413176"/>
            <a:chExt cx="3813323" cy="230832"/>
          </a:xfrm>
        </p:grpSpPr>
        <p:sp>
          <p:nvSpPr>
            <p:cNvPr id="42" name="ZoneTexte 41"/>
            <p:cNvSpPr txBox="1"/>
            <p:nvPr/>
          </p:nvSpPr>
          <p:spPr>
            <a:xfrm>
              <a:off x="375673" y="4413176"/>
              <a:ext cx="369829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Disjoncteur différentiel 10mA  (Pour tout équipement filaire)</a:t>
              </a:r>
              <a:endParaRPr lang="en-US" sz="1600" dirty="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60648" y="4451254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4" name="Groupe 43"/>
          <p:cNvGrpSpPr/>
          <p:nvPr/>
        </p:nvGrpSpPr>
        <p:grpSpPr>
          <a:xfrm>
            <a:off x="260648" y="4588942"/>
            <a:ext cx="1735957" cy="230832"/>
            <a:chOff x="2593479" y="5752703"/>
            <a:chExt cx="1735957" cy="230832"/>
          </a:xfrm>
        </p:grpSpPr>
        <p:sp>
          <p:nvSpPr>
            <p:cNvPr id="45" name="ZoneTexte 44"/>
            <p:cNvSpPr txBox="1"/>
            <p:nvPr/>
          </p:nvSpPr>
          <p:spPr>
            <a:xfrm>
              <a:off x="2713477" y="5752703"/>
              <a:ext cx="161595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Balisage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2593479" y="5796086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7" name="Groupe 46"/>
          <p:cNvGrpSpPr/>
          <p:nvPr/>
        </p:nvGrpSpPr>
        <p:grpSpPr>
          <a:xfrm>
            <a:off x="255723" y="4341654"/>
            <a:ext cx="1924750" cy="230832"/>
            <a:chOff x="4812018" y="6775711"/>
            <a:chExt cx="1924750" cy="230832"/>
          </a:xfrm>
        </p:grpSpPr>
        <p:sp>
          <p:nvSpPr>
            <p:cNvPr id="48" name="ZoneTexte 47"/>
            <p:cNvSpPr txBox="1"/>
            <p:nvPr/>
          </p:nvSpPr>
          <p:spPr>
            <a:xfrm>
              <a:off x="4927043" y="6775711"/>
              <a:ext cx="1809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Outillages isolés </a:t>
              </a:r>
              <a:r>
                <a:rPr lang="fr-FR" sz="700" dirty="0"/>
                <a:t>(tournevis et pinces)</a:t>
              </a:r>
              <a:endParaRPr lang="en-US" sz="1200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812018" y="6813789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3" name="Rectangle 62"/>
          <p:cNvSpPr/>
          <p:nvPr/>
        </p:nvSpPr>
        <p:spPr>
          <a:xfrm>
            <a:off x="2708920" y="1958468"/>
            <a:ext cx="3888432" cy="1366198"/>
          </a:xfrm>
          <a:prstGeom prst="rect">
            <a:avLst/>
          </a:prstGeom>
          <a:noFill/>
          <a:ln>
            <a:solidFill>
              <a:srgbClr val="9537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/>
          <p:cNvSpPr/>
          <p:nvPr/>
        </p:nvSpPr>
        <p:spPr>
          <a:xfrm>
            <a:off x="2708920" y="3493834"/>
            <a:ext cx="3888432" cy="1366198"/>
          </a:xfrm>
          <a:prstGeom prst="rect">
            <a:avLst/>
          </a:prstGeom>
          <a:noFill/>
          <a:ln>
            <a:solidFill>
              <a:srgbClr val="9537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ZoneTexte 68"/>
          <p:cNvSpPr txBox="1"/>
          <p:nvPr/>
        </p:nvSpPr>
        <p:spPr>
          <a:xfrm>
            <a:off x="2996952" y="1969048"/>
            <a:ext cx="34260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/>
              <a:t>Intervention en nacelle</a:t>
            </a:r>
            <a:endParaRPr lang="en-US" sz="1600" b="1" u="sng" dirty="0"/>
          </a:p>
        </p:txBody>
      </p:sp>
      <p:sp>
        <p:nvSpPr>
          <p:cNvPr id="70" name="ZoneTexte 69"/>
          <p:cNvSpPr txBox="1"/>
          <p:nvPr/>
        </p:nvSpPr>
        <p:spPr>
          <a:xfrm>
            <a:off x="3027253" y="3491880"/>
            <a:ext cx="32100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/>
              <a:t>Formation</a:t>
            </a:r>
            <a:endParaRPr lang="en-US" sz="1600" b="1" u="sng" dirty="0"/>
          </a:p>
        </p:txBody>
      </p:sp>
      <p:sp>
        <p:nvSpPr>
          <p:cNvPr id="72" name="Rectangle 71"/>
          <p:cNvSpPr/>
          <p:nvPr/>
        </p:nvSpPr>
        <p:spPr>
          <a:xfrm>
            <a:off x="188640" y="5054811"/>
            <a:ext cx="6408712" cy="957349"/>
          </a:xfrm>
          <a:prstGeom prst="rect">
            <a:avLst/>
          </a:prstGeom>
          <a:noFill/>
          <a:ln>
            <a:solidFill>
              <a:srgbClr val="9537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/>
          <p:cNvSpPr/>
          <p:nvPr/>
        </p:nvSpPr>
        <p:spPr>
          <a:xfrm>
            <a:off x="188640" y="6288472"/>
            <a:ext cx="6408712" cy="1200001"/>
          </a:xfrm>
          <a:prstGeom prst="rect">
            <a:avLst/>
          </a:prstGeom>
          <a:noFill/>
          <a:ln>
            <a:solidFill>
              <a:srgbClr val="9537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e 12"/>
          <p:cNvGrpSpPr/>
          <p:nvPr/>
        </p:nvGrpSpPr>
        <p:grpSpPr>
          <a:xfrm>
            <a:off x="2852936" y="2771800"/>
            <a:ext cx="2347689" cy="230832"/>
            <a:chOff x="2857922" y="3227858"/>
            <a:chExt cx="2347689" cy="230832"/>
          </a:xfrm>
        </p:grpSpPr>
        <p:sp>
          <p:nvSpPr>
            <p:cNvPr id="79" name="ZoneTexte 78"/>
            <p:cNvSpPr txBox="1"/>
            <p:nvPr/>
          </p:nvSpPr>
          <p:spPr>
            <a:xfrm>
              <a:off x="2997772" y="3227858"/>
              <a:ext cx="220783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Mousquetons à fermeture automatique</a:t>
              </a:r>
              <a:endParaRPr lang="en-US" sz="1600" dirty="0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2857922" y="3271274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e 17"/>
          <p:cNvGrpSpPr/>
          <p:nvPr/>
        </p:nvGrpSpPr>
        <p:grpSpPr>
          <a:xfrm>
            <a:off x="2852936" y="2267794"/>
            <a:ext cx="2093174" cy="230832"/>
            <a:chOff x="2852936" y="2483818"/>
            <a:chExt cx="2093174" cy="230832"/>
          </a:xfrm>
        </p:grpSpPr>
        <p:sp>
          <p:nvSpPr>
            <p:cNvPr id="76" name="ZoneTexte 75"/>
            <p:cNvSpPr txBox="1"/>
            <p:nvPr/>
          </p:nvSpPr>
          <p:spPr>
            <a:xfrm>
              <a:off x="2996952" y="2483818"/>
              <a:ext cx="194915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Harnais de sécurité</a:t>
              </a:r>
              <a:endParaRPr lang="en-US" sz="1600" dirty="0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2852936" y="2527234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e 16"/>
          <p:cNvGrpSpPr/>
          <p:nvPr/>
        </p:nvGrpSpPr>
        <p:grpSpPr>
          <a:xfrm>
            <a:off x="2852936" y="2515807"/>
            <a:ext cx="2093174" cy="230832"/>
            <a:chOff x="2852936" y="2735846"/>
            <a:chExt cx="2093174" cy="230832"/>
          </a:xfrm>
        </p:grpSpPr>
        <p:sp>
          <p:nvSpPr>
            <p:cNvPr id="77" name="ZoneTexte 76"/>
            <p:cNvSpPr txBox="1"/>
            <p:nvPr/>
          </p:nvSpPr>
          <p:spPr>
            <a:xfrm>
              <a:off x="2996952" y="2735846"/>
              <a:ext cx="194915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Longe simple sans absorbeur (1,5m)</a:t>
              </a:r>
              <a:endParaRPr lang="en-US" sz="1600" dirty="0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2852936" y="2779262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2" name="Groupe 91"/>
          <p:cNvGrpSpPr/>
          <p:nvPr/>
        </p:nvGrpSpPr>
        <p:grpSpPr>
          <a:xfrm>
            <a:off x="2860029" y="3798962"/>
            <a:ext cx="1774057" cy="230832"/>
            <a:chOff x="2593479" y="5546254"/>
            <a:chExt cx="1774057" cy="230832"/>
          </a:xfrm>
        </p:grpSpPr>
        <p:sp>
          <p:nvSpPr>
            <p:cNvPr id="93" name="ZoneTexte 92"/>
            <p:cNvSpPr txBox="1"/>
            <p:nvPr/>
          </p:nvSpPr>
          <p:spPr>
            <a:xfrm>
              <a:off x="2751577" y="5546254"/>
              <a:ext cx="161595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Gants étanches</a:t>
              </a:r>
              <a:endParaRPr lang="en-US" sz="1600" dirty="0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2593479" y="5580112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1" name="Groupe 100"/>
          <p:cNvGrpSpPr/>
          <p:nvPr/>
        </p:nvGrpSpPr>
        <p:grpSpPr>
          <a:xfrm>
            <a:off x="2860029" y="4054880"/>
            <a:ext cx="2873627" cy="230832"/>
            <a:chOff x="2593479" y="5762228"/>
            <a:chExt cx="2873627" cy="230832"/>
          </a:xfrm>
        </p:grpSpPr>
        <p:sp>
          <p:nvSpPr>
            <p:cNvPr id="102" name="ZoneTexte 101"/>
            <p:cNvSpPr txBox="1"/>
            <p:nvPr/>
          </p:nvSpPr>
          <p:spPr>
            <a:xfrm>
              <a:off x="2751577" y="5762228"/>
              <a:ext cx="271552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Gants feu (si formation manipulation extincteur)</a:t>
              </a: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2593479" y="5796086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e 18"/>
          <p:cNvGrpSpPr/>
          <p:nvPr/>
        </p:nvGrpSpPr>
        <p:grpSpPr>
          <a:xfrm>
            <a:off x="2852936" y="4566717"/>
            <a:ext cx="1774057" cy="230832"/>
            <a:chOff x="2852936" y="4701208"/>
            <a:chExt cx="1774057" cy="230832"/>
          </a:xfrm>
        </p:grpSpPr>
        <p:sp>
          <p:nvSpPr>
            <p:cNvPr id="104" name="ZoneTexte 103"/>
            <p:cNvSpPr txBox="1"/>
            <p:nvPr/>
          </p:nvSpPr>
          <p:spPr>
            <a:xfrm>
              <a:off x="3011034" y="4701208"/>
              <a:ext cx="161595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Balisage</a:t>
              </a:r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2852936" y="4744591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6" name="Groupe 105"/>
          <p:cNvGrpSpPr/>
          <p:nvPr/>
        </p:nvGrpSpPr>
        <p:grpSpPr>
          <a:xfrm>
            <a:off x="2852936" y="4310798"/>
            <a:ext cx="2880720" cy="230832"/>
            <a:chOff x="2593479" y="5762228"/>
            <a:chExt cx="2880720" cy="230832"/>
          </a:xfrm>
        </p:grpSpPr>
        <p:sp>
          <p:nvSpPr>
            <p:cNvPr id="107" name="ZoneTexte 106"/>
            <p:cNvSpPr txBox="1"/>
            <p:nvPr/>
          </p:nvSpPr>
          <p:spPr>
            <a:xfrm>
              <a:off x="2751577" y="5762228"/>
              <a:ext cx="272262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Veste  ignifugé (si formation extincteur) </a:t>
              </a: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2593479" y="5796086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5" name="ZoneTexte 114"/>
          <p:cNvSpPr txBox="1"/>
          <p:nvPr/>
        </p:nvSpPr>
        <p:spPr>
          <a:xfrm>
            <a:off x="548680" y="5035059"/>
            <a:ext cx="31549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/>
              <a:t>Sûreté / Systèmes (Delta)</a:t>
            </a:r>
            <a:endParaRPr lang="en-US" sz="1600" b="1" u="sng" dirty="0"/>
          </a:p>
        </p:txBody>
      </p:sp>
      <p:grpSp>
        <p:nvGrpSpPr>
          <p:cNvPr id="116" name="Groupe 115"/>
          <p:cNvGrpSpPr/>
          <p:nvPr/>
        </p:nvGrpSpPr>
        <p:grpSpPr>
          <a:xfrm>
            <a:off x="258747" y="5320655"/>
            <a:ext cx="1800367" cy="230832"/>
            <a:chOff x="315897" y="5474246"/>
            <a:chExt cx="1800367" cy="230832"/>
          </a:xfrm>
        </p:grpSpPr>
        <p:sp>
          <p:nvSpPr>
            <p:cNvPr id="117" name="ZoneTexte 116"/>
            <p:cNvSpPr txBox="1"/>
            <p:nvPr/>
          </p:nvSpPr>
          <p:spPr>
            <a:xfrm>
              <a:off x="474200" y="5474246"/>
              <a:ext cx="16420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Gants de manutention</a:t>
              </a:r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315897" y="5517662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9" name="Groupe 118"/>
          <p:cNvGrpSpPr/>
          <p:nvPr/>
        </p:nvGrpSpPr>
        <p:grpSpPr>
          <a:xfrm>
            <a:off x="258747" y="5546229"/>
            <a:ext cx="1800367" cy="230832"/>
            <a:chOff x="315897" y="5684162"/>
            <a:chExt cx="1800367" cy="230832"/>
          </a:xfrm>
        </p:grpSpPr>
        <p:sp>
          <p:nvSpPr>
            <p:cNvPr id="120" name="ZoneTexte 119"/>
            <p:cNvSpPr txBox="1"/>
            <p:nvPr/>
          </p:nvSpPr>
          <p:spPr>
            <a:xfrm>
              <a:off x="474200" y="5684162"/>
              <a:ext cx="16420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Masque FFP3</a:t>
              </a:r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315897" y="5724144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5" name="Groupe 124"/>
          <p:cNvGrpSpPr/>
          <p:nvPr/>
        </p:nvGrpSpPr>
        <p:grpSpPr>
          <a:xfrm>
            <a:off x="260648" y="5781328"/>
            <a:ext cx="1924750" cy="230832"/>
            <a:chOff x="260648" y="2699792"/>
            <a:chExt cx="1924750" cy="230832"/>
          </a:xfrm>
        </p:grpSpPr>
        <p:sp>
          <p:nvSpPr>
            <p:cNvPr id="126" name="ZoneTexte 125"/>
            <p:cNvSpPr txBox="1"/>
            <p:nvPr/>
          </p:nvSpPr>
          <p:spPr>
            <a:xfrm>
              <a:off x="375673" y="2699792"/>
              <a:ext cx="1809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Gants isolants 500V </a:t>
              </a:r>
              <a:endParaRPr lang="en-US" sz="1600" dirty="0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260648" y="2737908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8" name="Groupe 127"/>
          <p:cNvGrpSpPr/>
          <p:nvPr/>
        </p:nvGrpSpPr>
        <p:grpSpPr>
          <a:xfrm>
            <a:off x="1694458" y="5554272"/>
            <a:ext cx="1924750" cy="230832"/>
            <a:chOff x="260648" y="2915816"/>
            <a:chExt cx="1924750" cy="230832"/>
          </a:xfrm>
        </p:grpSpPr>
        <p:sp>
          <p:nvSpPr>
            <p:cNvPr id="129" name="ZoneTexte 128"/>
            <p:cNvSpPr txBox="1"/>
            <p:nvPr/>
          </p:nvSpPr>
          <p:spPr>
            <a:xfrm>
              <a:off x="375673" y="2915816"/>
              <a:ext cx="1809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VAT IP2X</a:t>
              </a:r>
              <a:endParaRPr lang="en-US" sz="1600" dirty="0"/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260648" y="2951826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1" name="Groupe 130"/>
          <p:cNvGrpSpPr/>
          <p:nvPr/>
        </p:nvGrpSpPr>
        <p:grpSpPr>
          <a:xfrm>
            <a:off x="1692716" y="5771803"/>
            <a:ext cx="1924750" cy="230832"/>
            <a:chOff x="260648" y="3131840"/>
            <a:chExt cx="1924750" cy="230832"/>
          </a:xfrm>
        </p:grpSpPr>
        <p:sp>
          <p:nvSpPr>
            <p:cNvPr id="132" name="ZoneTexte 131"/>
            <p:cNvSpPr txBox="1"/>
            <p:nvPr/>
          </p:nvSpPr>
          <p:spPr>
            <a:xfrm>
              <a:off x="375673" y="3131840"/>
              <a:ext cx="1809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Ecran facial</a:t>
              </a:r>
              <a:endParaRPr lang="en-US" sz="1600" dirty="0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260648" y="3169936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4" name="Groupe 133"/>
          <p:cNvGrpSpPr/>
          <p:nvPr/>
        </p:nvGrpSpPr>
        <p:grpSpPr>
          <a:xfrm>
            <a:off x="1700808" y="5269855"/>
            <a:ext cx="2053943" cy="353943"/>
            <a:chOff x="260648" y="3297064"/>
            <a:chExt cx="2146483" cy="353943"/>
          </a:xfrm>
        </p:grpSpPr>
        <p:sp>
          <p:nvSpPr>
            <p:cNvPr id="135" name="ZoneTexte 134"/>
            <p:cNvSpPr txBox="1"/>
            <p:nvPr/>
          </p:nvSpPr>
          <p:spPr>
            <a:xfrm>
              <a:off x="375673" y="3297064"/>
              <a:ext cx="2031458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Kit de consignation</a:t>
              </a:r>
              <a:r>
                <a:rPr lang="fr-FR" sz="800" dirty="0"/>
                <a:t> (à minima 2 cadenas, 2 étiquettes, 2 condamnateurs) </a:t>
              </a:r>
              <a:endParaRPr lang="en-US" sz="1600" dirty="0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260648" y="3393379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0" name="Groupe 139"/>
          <p:cNvGrpSpPr/>
          <p:nvPr/>
        </p:nvGrpSpPr>
        <p:grpSpPr>
          <a:xfrm>
            <a:off x="3712107" y="5323502"/>
            <a:ext cx="1924750" cy="230832"/>
            <a:chOff x="4812018" y="6775711"/>
            <a:chExt cx="1924750" cy="230832"/>
          </a:xfrm>
        </p:grpSpPr>
        <p:sp>
          <p:nvSpPr>
            <p:cNvPr id="141" name="ZoneTexte 140"/>
            <p:cNvSpPr txBox="1"/>
            <p:nvPr/>
          </p:nvSpPr>
          <p:spPr>
            <a:xfrm>
              <a:off x="4927043" y="6775711"/>
              <a:ext cx="1809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Outillages isolés </a:t>
              </a:r>
              <a:r>
                <a:rPr lang="fr-FR" sz="700" dirty="0"/>
                <a:t>(tournevis et pinces)</a:t>
              </a:r>
              <a:endParaRPr lang="en-US" sz="1200" dirty="0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4812018" y="6813789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9" name="Groupe 148"/>
          <p:cNvGrpSpPr/>
          <p:nvPr/>
        </p:nvGrpSpPr>
        <p:grpSpPr>
          <a:xfrm>
            <a:off x="3713187" y="5550496"/>
            <a:ext cx="1924750" cy="230832"/>
            <a:chOff x="260648" y="3995936"/>
            <a:chExt cx="1924750" cy="230832"/>
          </a:xfrm>
        </p:grpSpPr>
        <p:sp>
          <p:nvSpPr>
            <p:cNvPr id="150" name="ZoneTexte 149"/>
            <p:cNvSpPr txBox="1"/>
            <p:nvPr/>
          </p:nvSpPr>
          <p:spPr>
            <a:xfrm>
              <a:off x="375673" y="3995936"/>
              <a:ext cx="1809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Lampe frontale</a:t>
              </a:r>
              <a:endParaRPr lang="en-US" sz="1600" dirty="0"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260648" y="4034014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2" name="Groupe 151"/>
          <p:cNvGrpSpPr/>
          <p:nvPr/>
        </p:nvGrpSpPr>
        <p:grpSpPr>
          <a:xfrm>
            <a:off x="5589240" y="5320705"/>
            <a:ext cx="1735957" cy="230832"/>
            <a:chOff x="2593479" y="5752703"/>
            <a:chExt cx="1735957" cy="230832"/>
          </a:xfrm>
        </p:grpSpPr>
        <p:sp>
          <p:nvSpPr>
            <p:cNvPr id="153" name="ZoneTexte 152"/>
            <p:cNvSpPr txBox="1"/>
            <p:nvPr/>
          </p:nvSpPr>
          <p:spPr>
            <a:xfrm>
              <a:off x="2713477" y="5752703"/>
              <a:ext cx="161595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Balisage</a:t>
              </a:r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2593479" y="5796086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5" name="ZoneTexte 154"/>
          <p:cNvSpPr txBox="1"/>
          <p:nvPr/>
        </p:nvSpPr>
        <p:spPr>
          <a:xfrm>
            <a:off x="548680" y="6259195"/>
            <a:ext cx="4738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u="sng" dirty="0"/>
              <a:t>Matériels et équipements divers selon activité</a:t>
            </a:r>
            <a:endParaRPr lang="en-US" sz="1600" b="1" u="sng" dirty="0"/>
          </a:p>
        </p:txBody>
      </p:sp>
      <p:grpSp>
        <p:nvGrpSpPr>
          <p:cNvPr id="156" name="Groupe 155"/>
          <p:cNvGrpSpPr/>
          <p:nvPr/>
        </p:nvGrpSpPr>
        <p:grpSpPr>
          <a:xfrm>
            <a:off x="260648" y="6589110"/>
            <a:ext cx="1800367" cy="230832"/>
            <a:chOff x="315897" y="5474246"/>
            <a:chExt cx="1800367" cy="230832"/>
          </a:xfrm>
        </p:grpSpPr>
        <p:sp>
          <p:nvSpPr>
            <p:cNvPr id="157" name="ZoneTexte 156"/>
            <p:cNvSpPr txBox="1"/>
            <p:nvPr/>
          </p:nvSpPr>
          <p:spPr>
            <a:xfrm>
              <a:off x="474200" y="5474246"/>
              <a:ext cx="16420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Echelle</a:t>
              </a:r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315897" y="5517662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9" name="Groupe 158"/>
          <p:cNvGrpSpPr/>
          <p:nvPr/>
        </p:nvGrpSpPr>
        <p:grpSpPr>
          <a:xfrm>
            <a:off x="1278726" y="6597799"/>
            <a:ext cx="1800367" cy="230832"/>
            <a:chOff x="315897" y="5684162"/>
            <a:chExt cx="1800367" cy="230832"/>
          </a:xfrm>
        </p:grpSpPr>
        <p:sp>
          <p:nvSpPr>
            <p:cNvPr id="160" name="ZoneTexte 159"/>
            <p:cNvSpPr txBox="1"/>
            <p:nvPr/>
          </p:nvSpPr>
          <p:spPr>
            <a:xfrm>
              <a:off x="474200" y="5684162"/>
              <a:ext cx="16420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Escabeau</a:t>
              </a:r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315897" y="5724144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2" name="Groupe 161"/>
          <p:cNvGrpSpPr/>
          <p:nvPr/>
        </p:nvGrpSpPr>
        <p:grpSpPr>
          <a:xfrm>
            <a:off x="2296804" y="6592813"/>
            <a:ext cx="1929350" cy="230832"/>
            <a:chOff x="260648" y="2468910"/>
            <a:chExt cx="1929350" cy="230832"/>
          </a:xfrm>
        </p:grpSpPr>
        <p:sp>
          <p:nvSpPr>
            <p:cNvPr id="163" name="ZoneTexte 162"/>
            <p:cNvSpPr txBox="1"/>
            <p:nvPr/>
          </p:nvSpPr>
          <p:spPr>
            <a:xfrm>
              <a:off x="375673" y="2468910"/>
              <a:ext cx="18143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Rallonge électrique</a:t>
              </a:r>
              <a:endParaRPr lang="en-US" sz="1600" dirty="0"/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260648" y="2514449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8" name="ZoneTexte 167"/>
          <p:cNvSpPr txBox="1"/>
          <p:nvPr/>
        </p:nvSpPr>
        <p:spPr>
          <a:xfrm>
            <a:off x="76754" y="7740352"/>
            <a:ext cx="2272126" cy="654644"/>
          </a:xfrm>
          <a:prstGeom prst="rect">
            <a:avLst/>
          </a:prstGeom>
          <a:noFill/>
          <a:ln>
            <a:solidFill>
              <a:srgbClr val="953735"/>
            </a:solidFill>
          </a:ln>
        </p:spPr>
        <p:txBody>
          <a:bodyPr wrap="square" lIns="36000" tIns="0" rIns="36000" bIns="0" rtlCol="0">
            <a:noAutofit/>
          </a:bodyPr>
          <a:lstStyle/>
          <a:p>
            <a:pPr algn="ctr"/>
            <a:r>
              <a:rPr lang="fr-FR" sz="1000" b="1" dirty="0"/>
              <a:t>Manager</a:t>
            </a:r>
          </a:p>
          <a:p>
            <a:r>
              <a:rPr lang="fr-FR" sz="1000" dirty="0"/>
              <a:t>Nom-Prénom :	</a:t>
            </a:r>
          </a:p>
          <a:p>
            <a:r>
              <a:rPr lang="fr-FR" sz="1000" dirty="0"/>
              <a:t>Fonction : 	         </a:t>
            </a:r>
          </a:p>
          <a:p>
            <a:r>
              <a:rPr lang="fr-FR" sz="1000" dirty="0"/>
              <a:t>Visa : </a:t>
            </a:r>
          </a:p>
        </p:txBody>
      </p:sp>
      <p:sp>
        <p:nvSpPr>
          <p:cNvPr id="169" name="ZoneTexte 168"/>
          <p:cNvSpPr txBox="1"/>
          <p:nvPr/>
        </p:nvSpPr>
        <p:spPr>
          <a:xfrm>
            <a:off x="2348880" y="7740352"/>
            <a:ext cx="2261220" cy="654644"/>
          </a:xfrm>
          <a:prstGeom prst="rect">
            <a:avLst/>
          </a:prstGeom>
          <a:noFill/>
          <a:ln>
            <a:solidFill>
              <a:srgbClr val="953735"/>
            </a:solidFill>
          </a:ln>
        </p:spPr>
        <p:txBody>
          <a:bodyPr wrap="square" lIns="36000" tIns="0" rIns="36000" bIns="0" rtlCol="0">
            <a:noAutofit/>
          </a:bodyPr>
          <a:lstStyle/>
          <a:p>
            <a:pPr algn="ctr"/>
            <a:r>
              <a:rPr lang="fr-FR" sz="1000" b="1" dirty="0"/>
              <a:t>Collaborateur</a:t>
            </a:r>
          </a:p>
          <a:p>
            <a:r>
              <a:rPr lang="fr-FR" sz="1000" dirty="0"/>
              <a:t>Nom-Prénom :	</a:t>
            </a:r>
          </a:p>
          <a:p>
            <a:r>
              <a:rPr lang="fr-FR" sz="1000" dirty="0"/>
              <a:t>Fonction : 	         </a:t>
            </a:r>
          </a:p>
          <a:p>
            <a:r>
              <a:rPr lang="fr-FR" sz="1000" dirty="0"/>
              <a:t>Visa : </a:t>
            </a:r>
          </a:p>
        </p:txBody>
      </p:sp>
      <p:sp>
        <p:nvSpPr>
          <p:cNvPr id="170" name="ZoneTexte 169"/>
          <p:cNvSpPr txBox="1"/>
          <p:nvPr/>
        </p:nvSpPr>
        <p:spPr>
          <a:xfrm>
            <a:off x="4610100" y="7740352"/>
            <a:ext cx="2203277" cy="654644"/>
          </a:xfrm>
          <a:prstGeom prst="rect">
            <a:avLst/>
          </a:prstGeom>
          <a:noFill/>
          <a:ln>
            <a:solidFill>
              <a:srgbClr val="953735"/>
            </a:solidFill>
          </a:ln>
        </p:spPr>
        <p:txBody>
          <a:bodyPr wrap="square" lIns="36000" tIns="0" rIns="36000" bIns="0" rtlCol="0">
            <a:noAutofit/>
          </a:bodyPr>
          <a:lstStyle/>
          <a:p>
            <a:pPr algn="ctr"/>
            <a:r>
              <a:rPr lang="fr-FR" sz="1000" b="1" dirty="0"/>
              <a:t>Directeur d’agence</a:t>
            </a:r>
          </a:p>
          <a:p>
            <a:r>
              <a:rPr lang="fr-FR" sz="1000" dirty="0"/>
              <a:t>Nom-Prénom :	</a:t>
            </a:r>
          </a:p>
          <a:p>
            <a:r>
              <a:rPr lang="fr-FR" sz="1000" dirty="0"/>
              <a:t>	         </a:t>
            </a:r>
          </a:p>
          <a:p>
            <a:r>
              <a:rPr lang="fr-FR" sz="1000" dirty="0"/>
              <a:t>Visa : </a:t>
            </a:r>
          </a:p>
        </p:txBody>
      </p:sp>
      <p:sp>
        <p:nvSpPr>
          <p:cNvPr id="21" name="AutoShape 4" descr="Résultat de recherche d'images pour &quot;détecteur CHUBB&quot;">
            <a:hlinkClick r:id="rId4"/>
          </p:cNvPr>
          <p:cNvSpPr>
            <a:spLocks noChangeAspect="1" noChangeArrowheads="1"/>
          </p:cNvSpPr>
          <p:nvPr/>
        </p:nvSpPr>
        <p:spPr bwMode="auto">
          <a:xfrm>
            <a:off x="39688" y="-1608138"/>
            <a:ext cx="2924175" cy="336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" name="AutoShape 6" descr="Résultat de recherche d'images pour &quot;détecteur CHUBB&quot;">
            <a:hlinkClick r:id="rId4"/>
          </p:cNvPr>
          <p:cNvSpPr>
            <a:spLocks noChangeAspect="1" noChangeArrowheads="1"/>
          </p:cNvSpPr>
          <p:nvPr/>
        </p:nvSpPr>
        <p:spPr bwMode="auto">
          <a:xfrm>
            <a:off x="192088" y="-1455738"/>
            <a:ext cx="2924175" cy="336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2056" name="Picture 8" descr="Détecteur optique collectif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87" b="18643"/>
          <a:stretch/>
        </p:blipFill>
        <p:spPr bwMode="auto">
          <a:xfrm>
            <a:off x="60133" y="1835696"/>
            <a:ext cx="488547" cy="35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BCFTP formation à la sécurité incendie : équipier d'intervention en région PACA 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875" y="3400822"/>
            <a:ext cx="582155" cy="39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AutoShape 16" descr="Caméra de Surveillance marrakech"/>
          <p:cNvSpPr>
            <a:spLocks noChangeAspect="1" noChangeArrowheads="1"/>
          </p:cNvSpPr>
          <p:nvPr/>
        </p:nvSpPr>
        <p:spPr bwMode="auto">
          <a:xfrm>
            <a:off x="63500" y="-136525"/>
            <a:ext cx="28575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" name="AutoShape 18" descr="Caméra de Surveillance marrakech"/>
          <p:cNvSpPr>
            <a:spLocks noChangeAspect="1" noChangeArrowheads="1"/>
          </p:cNvSpPr>
          <p:nvPr/>
        </p:nvSpPr>
        <p:spPr bwMode="auto">
          <a:xfrm>
            <a:off x="215900" y="15875"/>
            <a:ext cx="28575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2068" name="Picture 20" descr="Image associée">
            <a:hlinkClick r:id="rId7"/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8" t="15560" r="5222" b="19038"/>
          <a:stretch/>
        </p:blipFill>
        <p:spPr bwMode="auto">
          <a:xfrm>
            <a:off x="44450" y="4942186"/>
            <a:ext cx="510891" cy="367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37" t="11676" r="32290" b="22347"/>
          <a:stretch/>
        </p:blipFill>
        <p:spPr bwMode="auto">
          <a:xfrm>
            <a:off x="146795" y="6156176"/>
            <a:ext cx="329877" cy="340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1" name="ZoneTexte 170"/>
          <p:cNvSpPr txBox="1"/>
          <p:nvPr/>
        </p:nvSpPr>
        <p:spPr>
          <a:xfrm>
            <a:off x="4509120" y="540132"/>
            <a:ext cx="23488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800" i="1" dirty="0"/>
              <a:t>FOR FS 030  v 2 – 25/03/24  - Page 2/2</a:t>
            </a:r>
          </a:p>
        </p:txBody>
      </p:sp>
      <p:grpSp>
        <p:nvGrpSpPr>
          <p:cNvPr id="146" name="Groupe 145"/>
          <p:cNvGrpSpPr/>
          <p:nvPr/>
        </p:nvGrpSpPr>
        <p:grpSpPr>
          <a:xfrm>
            <a:off x="3721632" y="5771803"/>
            <a:ext cx="1924750" cy="230832"/>
            <a:chOff x="260648" y="4211960"/>
            <a:chExt cx="1924750" cy="230832"/>
          </a:xfrm>
        </p:grpSpPr>
        <p:sp>
          <p:nvSpPr>
            <p:cNvPr id="147" name="ZoneTexte 146"/>
            <p:cNvSpPr txBox="1"/>
            <p:nvPr/>
          </p:nvSpPr>
          <p:spPr>
            <a:xfrm>
              <a:off x="375673" y="4211960"/>
              <a:ext cx="1809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Gants chimiques</a:t>
              </a:r>
              <a:endParaRPr lang="en-US" sz="1600" dirty="0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260648" y="4250038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5" name="Groupe 174"/>
          <p:cNvGrpSpPr/>
          <p:nvPr/>
        </p:nvGrpSpPr>
        <p:grpSpPr>
          <a:xfrm>
            <a:off x="260648" y="4094368"/>
            <a:ext cx="1924750" cy="230832"/>
            <a:chOff x="260648" y="4211960"/>
            <a:chExt cx="1924750" cy="230832"/>
          </a:xfrm>
        </p:grpSpPr>
        <p:sp>
          <p:nvSpPr>
            <p:cNvPr id="176" name="ZoneTexte 175"/>
            <p:cNvSpPr txBox="1"/>
            <p:nvPr/>
          </p:nvSpPr>
          <p:spPr>
            <a:xfrm>
              <a:off x="375673" y="4211960"/>
              <a:ext cx="18097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Gants  jetables (ionique)</a:t>
              </a:r>
              <a:endParaRPr lang="en-US" sz="1600" dirty="0"/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260648" y="4250038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8" name="Groupe 177"/>
          <p:cNvGrpSpPr/>
          <p:nvPr/>
        </p:nvGrpSpPr>
        <p:grpSpPr>
          <a:xfrm>
            <a:off x="256048" y="6828631"/>
            <a:ext cx="1929350" cy="230832"/>
            <a:chOff x="260648" y="2468910"/>
            <a:chExt cx="1929350" cy="230832"/>
          </a:xfrm>
        </p:grpSpPr>
        <p:sp>
          <p:nvSpPr>
            <p:cNvPr id="179" name="ZoneTexte 178"/>
            <p:cNvSpPr txBox="1"/>
            <p:nvPr/>
          </p:nvSpPr>
          <p:spPr>
            <a:xfrm>
              <a:off x="375673" y="2468910"/>
              <a:ext cx="18143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Balisage pour DAC</a:t>
              </a:r>
              <a:endParaRPr lang="en-US" sz="1600" dirty="0"/>
            </a:p>
          </p:txBody>
        </p:sp>
        <p:sp>
          <p:nvSpPr>
            <p:cNvPr id="180" name="Rectangle 179"/>
            <p:cNvSpPr/>
            <p:nvPr/>
          </p:nvSpPr>
          <p:spPr>
            <a:xfrm>
              <a:off x="260648" y="2514449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1" name="Groupe 180"/>
          <p:cNvGrpSpPr/>
          <p:nvPr/>
        </p:nvGrpSpPr>
        <p:grpSpPr>
          <a:xfrm>
            <a:off x="5316074" y="6590347"/>
            <a:ext cx="1929350" cy="230832"/>
            <a:chOff x="260648" y="2478435"/>
            <a:chExt cx="1929350" cy="230832"/>
          </a:xfrm>
        </p:grpSpPr>
        <p:sp>
          <p:nvSpPr>
            <p:cNvPr id="182" name="ZoneTexte 181"/>
            <p:cNvSpPr txBox="1"/>
            <p:nvPr/>
          </p:nvSpPr>
          <p:spPr>
            <a:xfrm>
              <a:off x="375673" y="2478435"/>
              <a:ext cx="181432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Genouillère</a:t>
              </a:r>
              <a:endParaRPr lang="en-US" sz="1600" dirty="0"/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260648" y="2514449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ZoneTexte 14"/>
          <p:cNvSpPr txBox="1"/>
          <p:nvPr/>
        </p:nvSpPr>
        <p:spPr>
          <a:xfrm>
            <a:off x="198582" y="7092280"/>
            <a:ext cx="63987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/>
              <a:t>Autres équipements  (sauf outillage) …………………………………………………………………………………………………………………………………………………….</a:t>
            </a:r>
            <a:endParaRPr lang="en-US" sz="900" dirty="0"/>
          </a:p>
        </p:txBody>
      </p:sp>
      <p:sp>
        <p:nvSpPr>
          <p:cNvPr id="189" name="ZoneTexte 188"/>
          <p:cNvSpPr txBox="1"/>
          <p:nvPr/>
        </p:nvSpPr>
        <p:spPr>
          <a:xfrm>
            <a:off x="2996952" y="3045024"/>
            <a:ext cx="22078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/>
              <a:t>Sac de transport</a:t>
            </a:r>
            <a:endParaRPr lang="en-US" sz="1600" dirty="0"/>
          </a:p>
        </p:txBody>
      </p:sp>
      <p:sp>
        <p:nvSpPr>
          <p:cNvPr id="190" name="Rectangle 189"/>
          <p:cNvSpPr/>
          <p:nvPr/>
        </p:nvSpPr>
        <p:spPr>
          <a:xfrm>
            <a:off x="2852936" y="3088440"/>
            <a:ext cx="144000" cy="14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2" name="Groupe 171"/>
          <p:cNvGrpSpPr/>
          <p:nvPr/>
        </p:nvGrpSpPr>
        <p:grpSpPr>
          <a:xfrm>
            <a:off x="4175223" y="3798962"/>
            <a:ext cx="1774057" cy="230832"/>
            <a:chOff x="2593479" y="5546254"/>
            <a:chExt cx="1774057" cy="230832"/>
          </a:xfrm>
        </p:grpSpPr>
        <p:sp>
          <p:nvSpPr>
            <p:cNvPr id="173" name="ZoneTexte 172"/>
            <p:cNvSpPr txBox="1"/>
            <p:nvPr/>
          </p:nvSpPr>
          <p:spPr>
            <a:xfrm>
              <a:off x="2751577" y="5546254"/>
              <a:ext cx="161595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Côtes de travail</a:t>
              </a:r>
              <a:endParaRPr lang="en-US" sz="1600" dirty="0"/>
            </a:p>
          </p:txBody>
        </p:sp>
        <p:sp>
          <p:nvSpPr>
            <p:cNvPr id="174" name="Rectangle 173"/>
            <p:cNvSpPr/>
            <p:nvPr/>
          </p:nvSpPr>
          <p:spPr>
            <a:xfrm>
              <a:off x="2593479" y="5580112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4" name="Groupe 183"/>
          <p:cNvGrpSpPr/>
          <p:nvPr/>
        </p:nvGrpSpPr>
        <p:grpSpPr>
          <a:xfrm>
            <a:off x="4327623" y="4572000"/>
            <a:ext cx="2351262" cy="230832"/>
            <a:chOff x="2593479" y="5546254"/>
            <a:chExt cx="2351262" cy="230832"/>
          </a:xfrm>
        </p:grpSpPr>
        <p:sp>
          <p:nvSpPr>
            <p:cNvPr id="185" name="ZoneTexte 184"/>
            <p:cNvSpPr txBox="1"/>
            <p:nvPr/>
          </p:nvSpPr>
          <p:spPr>
            <a:xfrm>
              <a:off x="2751577" y="5546254"/>
              <a:ext cx="21931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Bottes de feu (si formation extincteur)</a:t>
              </a:r>
              <a:endParaRPr lang="en-US" sz="1600" dirty="0"/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2593479" y="5580112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7" name="Groupe 186"/>
          <p:cNvGrpSpPr/>
          <p:nvPr/>
        </p:nvGrpSpPr>
        <p:grpSpPr>
          <a:xfrm>
            <a:off x="5301041" y="4283968"/>
            <a:ext cx="1800367" cy="230832"/>
            <a:chOff x="315897" y="5684162"/>
            <a:chExt cx="1800367" cy="230832"/>
          </a:xfrm>
        </p:grpSpPr>
        <p:sp>
          <p:nvSpPr>
            <p:cNvPr id="188" name="ZoneTexte 187"/>
            <p:cNvSpPr txBox="1"/>
            <p:nvPr/>
          </p:nvSpPr>
          <p:spPr>
            <a:xfrm>
              <a:off x="474200" y="5684162"/>
              <a:ext cx="16420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Masque FFP3</a:t>
              </a: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315897" y="5724144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2" name="ZoneTexte 191"/>
          <p:cNvSpPr txBox="1"/>
          <p:nvPr/>
        </p:nvSpPr>
        <p:spPr>
          <a:xfrm>
            <a:off x="188640" y="7263730"/>
            <a:ext cx="63987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/>
              <a:t>………………………………………………………..…………………………………………………………………………………………………………………………………………………….</a:t>
            </a:r>
            <a:endParaRPr lang="en-US" sz="900" dirty="0"/>
          </a:p>
        </p:txBody>
      </p:sp>
      <p:pic>
        <p:nvPicPr>
          <p:cNvPr id="1026" name="Picture 2" descr="Résultat de recherche d'images pour &quot;nacelle&quot;">
            <a:hlinkClick r:id="rId10"/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39" b="4485"/>
          <a:stretch/>
        </p:blipFill>
        <p:spPr bwMode="auto">
          <a:xfrm>
            <a:off x="2661295" y="1782738"/>
            <a:ext cx="321135" cy="470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3" name="Groupe 192"/>
          <p:cNvGrpSpPr/>
          <p:nvPr/>
        </p:nvGrpSpPr>
        <p:grpSpPr>
          <a:xfrm>
            <a:off x="4437112" y="2275099"/>
            <a:ext cx="2093174" cy="230832"/>
            <a:chOff x="2852936" y="2483818"/>
            <a:chExt cx="2093174" cy="230832"/>
          </a:xfrm>
        </p:grpSpPr>
        <p:sp>
          <p:nvSpPr>
            <p:cNvPr id="194" name="ZoneTexte 193"/>
            <p:cNvSpPr txBox="1"/>
            <p:nvPr/>
          </p:nvSpPr>
          <p:spPr>
            <a:xfrm>
              <a:off x="2996952" y="2483818"/>
              <a:ext cx="194915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/>
                <a:t>Casque avec jugulaire</a:t>
              </a:r>
              <a:endParaRPr lang="en-US" sz="1600" dirty="0"/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2852936" y="2527234"/>
              <a:ext cx="144000" cy="14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15032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510</Words>
  <Application>Microsoft Office PowerPoint</Application>
  <PresentationFormat>Affichage à l'écran (4:3)</PresentationFormat>
  <Paragraphs>117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Wingdings</vt:lpstr>
      <vt:lpstr>Thème Office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Giblaine, Anais           UTC CCS</dc:creator>
  <cp:lastModifiedBy>LACHAUME, Veronique</cp:lastModifiedBy>
  <cp:revision>108</cp:revision>
  <cp:lastPrinted>2017-12-14T14:51:45Z</cp:lastPrinted>
  <dcterms:created xsi:type="dcterms:W3CDTF">2017-01-04T15:17:33Z</dcterms:created>
  <dcterms:modified xsi:type="dcterms:W3CDTF">2024-09-11T13:03:46Z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2024-03-25T14:34:55Z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47995fc2-1f56-47ce-9137-a87caef4be74</vt:lpwstr>
  </property>
  <property fmtid="{D5CDD505-2E9C-101B-9397-08002B2CF9AE}" pid="7" name="MSIP_Label_defa4170-0d19-0005-0004-bc88714345d2_ActionId">
    <vt:lpwstr>b1173cd5-dc7f-47d1-a93d-92a9eb52b2c9</vt:lpwstr>
  </property>
  <property fmtid="{D5CDD505-2E9C-101B-9397-08002B2CF9AE}" pid="8" name="MSIP_Label_defa4170-0d19-0005-0004-bc88714345d2_ContentBits">
    <vt:lpwstr>0</vt:lpwstr>
  </property>
</Properties>
</file>