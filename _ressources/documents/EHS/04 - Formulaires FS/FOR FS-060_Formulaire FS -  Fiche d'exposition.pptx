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801600" cy="9601200" type="A3"/>
  <p:notesSz cx="6858000" cy="9144000"/>
  <p:defaultTextStyle>
    <a:defPPr>
      <a:defRPr lang="fr-FR"/>
    </a:defPPr>
    <a:lvl1pPr marL="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1pPr>
    <a:lvl2pPr marL="64008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2pPr>
    <a:lvl3pPr marL="128016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3pPr>
    <a:lvl4pPr marL="192024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4pPr>
    <a:lvl5pPr marL="256032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5pPr>
    <a:lvl6pPr marL="320040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6pPr>
    <a:lvl7pPr marL="384048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7pPr>
    <a:lvl8pPr marL="448056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8pPr>
    <a:lvl9pPr marL="5120640" algn="l" defTabSz="1280160" rtl="0" eaLnBrk="1" latinLnBrk="0" hangingPunct="1">
      <a:defRPr sz="252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024" userDrawn="1">
          <p15:clr>
            <a:srgbClr val="A4A3A4"/>
          </p15:clr>
        </p15:guide>
        <p15:guide id="2" pos="40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14" autoAdjust="0"/>
  </p:normalViewPr>
  <p:slideViewPr>
    <p:cSldViewPr>
      <p:cViewPr varScale="1">
        <p:scale>
          <a:sx n="45" d="100"/>
          <a:sy n="45" d="100"/>
        </p:scale>
        <p:origin x="1388" y="48"/>
      </p:cViewPr>
      <p:guideLst>
        <p:guide orient="horz" pos="3024"/>
        <p:guide pos="403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F5FB8-24E2-48EE-A6A3-8E15B38E24A0}" type="datetimeFigureOut">
              <a:rPr lang="fr-FR" smtClean="0"/>
              <a:t>17/09/2023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6D7F84-CBB6-4296-8F1F-45380FC4361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6969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60120" y="2982599"/>
            <a:ext cx="10881360" cy="205803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920240" y="5440680"/>
            <a:ext cx="8961120" cy="24536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800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600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4401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9201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8802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3603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8403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17/09/2023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17/09/2023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11238" y="6169661"/>
            <a:ext cx="10881360" cy="1906905"/>
          </a:xfrm>
        </p:spPr>
        <p:txBody>
          <a:bodyPr anchor="t"/>
          <a:lstStyle>
            <a:lvl1pPr algn="l">
              <a:defRPr sz="42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1011238" y="4069402"/>
            <a:ext cx="10881360" cy="2100262"/>
          </a:xfrm>
        </p:spPr>
        <p:txBody>
          <a:bodyPr anchor="b"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480049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2pPr>
            <a:lvl3pPr marL="960098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3pPr>
            <a:lvl4pPr marL="1440145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4pPr>
            <a:lvl5pPr marL="1920192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5pPr>
            <a:lvl6pPr marL="2400240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6pPr>
            <a:lvl7pPr marL="2880289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7pPr>
            <a:lvl8pPr marL="3360336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8pPr>
            <a:lvl9pPr marL="3840385" indent="0">
              <a:buNone/>
              <a:defRPr sz="14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17/09/2023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40080" y="2240284"/>
            <a:ext cx="5654040" cy="6336348"/>
          </a:xfrm>
        </p:spPr>
        <p:txBody>
          <a:bodyPr/>
          <a:lstStyle>
            <a:lvl1pPr>
              <a:defRPr sz="2940"/>
            </a:lvl1pPr>
            <a:lvl2pPr>
              <a:defRPr sz="2520"/>
            </a:lvl2pPr>
            <a:lvl3pPr>
              <a:defRPr sz="2100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507480" y="2240284"/>
            <a:ext cx="5654040" cy="6336348"/>
          </a:xfrm>
        </p:spPr>
        <p:txBody>
          <a:bodyPr/>
          <a:lstStyle>
            <a:lvl1pPr>
              <a:defRPr sz="2940"/>
            </a:lvl1pPr>
            <a:lvl2pPr>
              <a:defRPr sz="2520"/>
            </a:lvl2pPr>
            <a:lvl3pPr>
              <a:defRPr sz="2100"/>
            </a:lvl3pPr>
            <a:lvl4pPr>
              <a:defRPr sz="1890"/>
            </a:lvl4pPr>
            <a:lvl5pPr>
              <a:defRPr sz="1890"/>
            </a:lvl5pPr>
            <a:lvl6pPr>
              <a:defRPr sz="1890"/>
            </a:lvl6pPr>
            <a:lvl7pPr>
              <a:defRPr sz="1890"/>
            </a:lvl7pPr>
            <a:lvl8pPr>
              <a:defRPr sz="1890"/>
            </a:lvl8pPr>
            <a:lvl9pPr>
              <a:defRPr sz="189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17/09/2023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40083" y="2149158"/>
            <a:ext cx="5656263" cy="89566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49" indent="0">
              <a:buNone/>
              <a:defRPr sz="2100" b="1"/>
            </a:lvl2pPr>
            <a:lvl3pPr marL="960098" indent="0">
              <a:buNone/>
              <a:defRPr sz="1890" b="1"/>
            </a:lvl3pPr>
            <a:lvl4pPr marL="1440145" indent="0">
              <a:buNone/>
              <a:defRPr sz="1680" b="1"/>
            </a:lvl4pPr>
            <a:lvl5pPr marL="1920192" indent="0">
              <a:buNone/>
              <a:defRPr sz="1680" b="1"/>
            </a:lvl5pPr>
            <a:lvl6pPr marL="2400240" indent="0">
              <a:buNone/>
              <a:defRPr sz="1680" b="1"/>
            </a:lvl6pPr>
            <a:lvl7pPr marL="2880289" indent="0">
              <a:buNone/>
              <a:defRPr sz="1680" b="1"/>
            </a:lvl7pPr>
            <a:lvl8pPr marL="3360336" indent="0">
              <a:buNone/>
              <a:defRPr sz="1680" b="1"/>
            </a:lvl8pPr>
            <a:lvl9pPr marL="3840385" indent="0">
              <a:buNone/>
              <a:defRPr sz="168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40083" y="3044825"/>
            <a:ext cx="5656263" cy="5531803"/>
          </a:xfrm>
        </p:spPr>
        <p:txBody>
          <a:bodyPr/>
          <a:lstStyle>
            <a:lvl1pPr>
              <a:defRPr sz="2520"/>
            </a:lvl1pPr>
            <a:lvl2pPr>
              <a:defRPr sz="2100"/>
            </a:lvl2pPr>
            <a:lvl3pPr>
              <a:defRPr sz="189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503039" y="2149158"/>
            <a:ext cx="5658485" cy="895667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49" indent="0">
              <a:buNone/>
              <a:defRPr sz="2100" b="1"/>
            </a:lvl2pPr>
            <a:lvl3pPr marL="960098" indent="0">
              <a:buNone/>
              <a:defRPr sz="1890" b="1"/>
            </a:lvl3pPr>
            <a:lvl4pPr marL="1440145" indent="0">
              <a:buNone/>
              <a:defRPr sz="1680" b="1"/>
            </a:lvl4pPr>
            <a:lvl5pPr marL="1920192" indent="0">
              <a:buNone/>
              <a:defRPr sz="1680" b="1"/>
            </a:lvl5pPr>
            <a:lvl6pPr marL="2400240" indent="0">
              <a:buNone/>
              <a:defRPr sz="1680" b="1"/>
            </a:lvl6pPr>
            <a:lvl7pPr marL="2880289" indent="0">
              <a:buNone/>
              <a:defRPr sz="1680" b="1"/>
            </a:lvl7pPr>
            <a:lvl8pPr marL="3360336" indent="0">
              <a:buNone/>
              <a:defRPr sz="1680" b="1"/>
            </a:lvl8pPr>
            <a:lvl9pPr marL="3840385" indent="0">
              <a:buNone/>
              <a:defRPr sz="168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503039" y="3044825"/>
            <a:ext cx="5658485" cy="5531803"/>
          </a:xfrm>
        </p:spPr>
        <p:txBody>
          <a:bodyPr/>
          <a:lstStyle>
            <a:lvl1pPr>
              <a:defRPr sz="2520"/>
            </a:lvl1pPr>
            <a:lvl2pPr>
              <a:defRPr sz="2100"/>
            </a:lvl2pPr>
            <a:lvl3pPr>
              <a:defRPr sz="189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17/09/2023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17/09/2023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17/09/2023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40084" y="382270"/>
            <a:ext cx="4211638" cy="1626870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005072" y="382274"/>
            <a:ext cx="7156451" cy="8194358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40084" y="2009144"/>
            <a:ext cx="4211638" cy="6567488"/>
          </a:xfrm>
        </p:spPr>
        <p:txBody>
          <a:bodyPr/>
          <a:lstStyle>
            <a:lvl1pPr marL="0" indent="0">
              <a:buNone/>
              <a:defRPr sz="1470"/>
            </a:lvl1pPr>
            <a:lvl2pPr marL="480049" indent="0">
              <a:buNone/>
              <a:defRPr sz="1260"/>
            </a:lvl2pPr>
            <a:lvl3pPr marL="960098" indent="0">
              <a:buNone/>
              <a:defRPr sz="1050"/>
            </a:lvl3pPr>
            <a:lvl4pPr marL="1440145" indent="0">
              <a:buNone/>
              <a:defRPr sz="945"/>
            </a:lvl4pPr>
            <a:lvl5pPr marL="1920192" indent="0">
              <a:buNone/>
              <a:defRPr sz="945"/>
            </a:lvl5pPr>
            <a:lvl6pPr marL="2400240" indent="0">
              <a:buNone/>
              <a:defRPr sz="945"/>
            </a:lvl6pPr>
            <a:lvl7pPr marL="2880289" indent="0">
              <a:buNone/>
              <a:defRPr sz="945"/>
            </a:lvl7pPr>
            <a:lvl8pPr marL="3360336" indent="0">
              <a:buNone/>
              <a:defRPr sz="945"/>
            </a:lvl8pPr>
            <a:lvl9pPr marL="3840385" indent="0">
              <a:buNone/>
              <a:defRPr sz="94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17/09/2023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509203" y="6720842"/>
            <a:ext cx="7680960" cy="793433"/>
          </a:xfrm>
        </p:spPr>
        <p:txBody>
          <a:bodyPr anchor="b"/>
          <a:lstStyle>
            <a:lvl1pPr algn="l">
              <a:defRPr sz="21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509203" y="857885"/>
            <a:ext cx="7680960" cy="5760720"/>
          </a:xfrm>
        </p:spPr>
        <p:txBody>
          <a:bodyPr/>
          <a:lstStyle>
            <a:lvl1pPr marL="0" indent="0">
              <a:buNone/>
              <a:defRPr sz="3360"/>
            </a:lvl1pPr>
            <a:lvl2pPr marL="480049" indent="0">
              <a:buNone/>
              <a:defRPr sz="2940"/>
            </a:lvl2pPr>
            <a:lvl3pPr marL="960098" indent="0">
              <a:buNone/>
              <a:defRPr sz="2520"/>
            </a:lvl3pPr>
            <a:lvl4pPr marL="1440145" indent="0">
              <a:buNone/>
              <a:defRPr sz="2100"/>
            </a:lvl4pPr>
            <a:lvl5pPr marL="1920192" indent="0">
              <a:buNone/>
              <a:defRPr sz="2100"/>
            </a:lvl5pPr>
            <a:lvl6pPr marL="2400240" indent="0">
              <a:buNone/>
              <a:defRPr sz="2100"/>
            </a:lvl6pPr>
            <a:lvl7pPr marL="2880289" indent="0">
              <a:buNone/>
              <a:defRPr sz="2100"/>
            </a:lvl7pPr>
            <a:lvl8pPr marL="3360336" indent="0">
              <a:buNone/>
              <a:defRPr sz="2100"/>
            </a:lvl8pPr>
            <a:lvl9pPr marL="3840385" indent="0">
              <a:buNone/>
              <a:defRPr sz="21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509203" y="7514275"/>
            <a:ext cx="7680960" cy="1126807"/>
          </a:xfrm>
        </p:spPr>
        <p:txBody>
          <a:bodyPr/>
          <a:lstStyle>
            <a:lvl1pPr marL="0" indent="0">
              <a:buNone/>
              <a:defRPr sz="1470"/>
            </a:lvl1pPr>
            <a:lvl2pPr marL="480049" indent="0">
              <a:buNone/>
              <a:defRPr sz="1260"/>
            </a:lvl2pPr>
            <a:lvl3pPr marL="960098" indent="0">
              <a:buNone/>
              <a:defRPr sz="1050"/>
            </a:lvl3pPr>
            <a:lvl4pPr marL="1440145" indent="0">
              <a:buNone/>
              <a:defRPr sz="945"/>
            </a:lvl4pPr>
            <a:lvl5pPr marL="1920192" indent="0">
              <a:buNone/>
              <a:defRPr sz="945"/>
            </a:lvl5pPr>
            <a:lvl6pPr marL="2400240" indent="0">
              <a:buNone/>
              <a:defRPr sz="945"/>
            </a:lvl6pPr>
            <a:lvl7pPr marL="2880289" indent="0">
              <a:buNone/>
              <a:defRPr sz="945"/>
            </a:lvl7pPr>
            <a:lvl8pPr marL="3360336" indent="0">
              <a:buNone/>
              <a:defRPr sz="945"/>
            </a:lvl8pPr>
            <a:lvl9pPr marL="3840385" indent="0">
              <a:buNone/>
              <a:defRPr sz="94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17/09/2023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17/09/2023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9281160" y="384497"/>
            <a:ext cx="2880360" cy="819213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40080" y="384497"/>
            <a:ext cx="8427720" cy="819213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t>17/09/2023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40080" y="384493"/>
            <a:ext cx="11521440" cy="1600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40080" y="2240284"/>
            <a:ext cx="11521440" cy="6336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40080" y="8898894"/>
            <a:ext cx="29870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t>17/09/2023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373880" y="8898894"/>
            <a:ext cx="40538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9174480" y="8898894"/>
            <a:ext cx="29870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60098" rtl="0" eaLnBrk="1" latinLnBrk="0" hangingPunct="1"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37" indent="-360037" algn="l" defTabSz="960098" rtl="0" eaLnBrk="1" latinLnBrk="0" hangingPunct="1">
        <a:spcBef>
          <a:spcPct val="20000"/>
        </a:spcBef>
        <a:buFont typeface="Arial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780077" indent="-300030" algn="l" defTabSz="960098" rtl="0" eaLnBrk="1" latinLnBrk="0" hangingPunct="1">
        <a:spcBef>
          <a:spcPct val="20000"/>
        </a:spcBef>
        <a:buFont typeface="Arial" pitchFamily="34" charset="0"/>
        <a:buChar char="–"/>
        <a:defRPr sz="294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21" indent="-240024" algn="l" defTabSz="960098" rtl="0" eaLnBrk="1" latinLnBrk="0" hangingPunct="1">
        <a:spcBef>
          <a:spcPct val="20000"/>
        </a:spcBef>
        <a:buFont typeface="Arial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680168" indent="-240024" algn="l" defTabSz="960098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15" indent="-240024" algn="l" defTabSz="960098" rtl="0" eaLnBrk="1" latinLnBrk="0" hangingPunct="1">
        <a:spcBef>
          <a:spcPct val="20000"/>
        </a:spcBef>
        <a:buFont typeface="Arial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40264" indent="-240024" algn="l" defTabSz="96009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13" indent="-240024" algn="l" defTabSz="96009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360" indent="-240024" algn="l" defTabSz="96009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80408" indent="-240024" algn="l" defTabSz="960098" rtl="0" eaLnBrk="1" latinLnBrk="0" hangingPunct="1">
        <a:spcBef>
          <a:spcPct val="20000"/>
        </a:spcBef>
        <a:buFont typeface="Arial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60098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49" algn="l" defTabSz="960098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098" algn="l" defTabSz="960098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45" algn="l" defTabSz="960098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192" algn="l" defTabSz="960098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240" algn="l" defTabSz="960098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289" algn="l" defTabSz="960098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336" algn="l" defTabSz="960098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385" algn="l" defTabSz="960098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ZoneTexte 102">
            <a:extLst>
              <a:ext uri="{FF2B5EF4-FFF2-40B4-BE49-F238E27FC236}">
                <a16:creationId xmlns:a16="http://schemas.microsoft.com/office/drawing/2014/main" id="{D58CFEFF-DEB5-4733-887A-FF151D8FCF7F}"/>
              </a:ext>
            </a:extLst>
          </p:cNvPr>
          <p:cNvSpPr txBox="1"/>
          <p:nvPr/>
        </p:nvSpPr>
        <p:spPr>
          <a:xfrm>
            <a:off x="9466938" y="8599406"/>
            <a:ext cx="31414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000" i="1" dirty="0">
                <a:solidFill>
                  <a:schemeClr val="bg1">
                    <a:lumMod val="50000"/>
                  </a:schemeClr>
                </a:solidFill>
              </a:rPr>
              <a:t>FOR 060 Fiche d’exposition v2 du 06/10/2021</a:t>
            </a:r>
          </a:p>
        </p:txBody>
      </p:sp>
      <p:sp>
        <p:nvSpPr>
          <p:cNvPr id="60" name="Forme libre 37">
            <a:extLst>
              <a:ext uri="{FF2B5EF4-FFF2-40B4-BE49-F238E27FC236}">
                <a16:creationId xmlns:a16="http://schemas.microsoft.com/office/drawing/2014/main" id="{88645B5D-09ED-4CCF-9514-E9B1117DB74A}"/>
              </a:ext>
            </a:extLst>
          </p:cNvPr>
          <p:cNvSpPr/>
          <p:nvPr/>
        </p:nvSpPr>
        <p:spPr>
          <a:xfrm>
            <a:off x="-27384" y="781727"/>
            <a:ext cx="376518" cy="147918"/>
          </a:xfrm>
          <a:custGeom>
            <a:avLst/>
            <a:gdLst>
              <a:gd name="connsiteX0" fmla="*/ 0 w 376518"/>
              <a:gd name="connsiteY0" fmla="*/ 0 h 147918"/>
              <a:gd name="connsiteX1" fmla="*/ 376518 w 376518"/>
              <a:gd name="connsiteY1" fmla="*/ 0 h 147918"/>
              <a:gd name="connsiteX2" fmla="*/ 376518 w 376518"/>
              <a:gd name="connsiteY2" fmla="*/ 147918 h 147918"/>
              <a:gd name="connsiteX3" fmla="*/ 0 w 376518"/>
              <a:gd name="connsiteY3" fmla="*/ 0 h 1479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518" h="147918">
                <a:moveTo>
                  <a:pt x="0" y="0"/>
                </a:moveTo>
                <a:lnTo>
                  <a:pt x="376518" y="0"/>
                </a:lnTo>
                <a:lnTo>
                  <a:pt x="376518" y="14791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Organigramme : Processus 38">
            <a:extLst>
              <a:ext uri="{FF2B5EF4-FFF2-40B4-BE49-F238E27FC236}">
                <a16:creationId xmlns:a16="http://schemas.microsoft.com/office/drawing/2014/main" id="{D92EA90A-2B91-4742-8507-12DD19CAF160}"/>
              </a:ext>
            </a:extLst>
          </p:cNvPr>
          <p:cNvSpPr/>
          <p:nvPr/>
        </p:nvSpPr>
        <p:spPr>
          <a:xfrm>
            <a:off x="-13938" y="577897"/>
            <a:ext cx="12815537" cy="246221"/>
          </a:xfrm>
          <a:prstGeom prst="flowChartProcess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  <p:sp>
        <p:nvSpPr>
          <p:cNvPr id="62" name="Organigramme : Processus 39">
            <a:extLst>
              <a:ext uri="{FF2B5EF4-FFF2-40B4-BE49-F238E27FC236}">
                <a16:creationId xmlns:a16="http://schemas.microsoft.com/office/drawing/2014/main" id="{3E4BACC7-26D1-4719-AF84-C8550F755894}"/>
              </a:ext>
            </a:extLst>
          </p:cNvPr>
          <p:cNvSpPr/>
          <p:nvPr/>
        </p:nvSpPr>
        <p:spPr>
          <a:xfrm>
            <a:off x="318719" y="289866"/>
            <a:ext cx="2034730" cy="792088"/>
          </a:xfrm>
          <a:prstGeom prst="flowChartProcess">
            <a:avLst/>
          </a:prstGeom>
          <a:solidFill>
            <a:schemeClr val="bg1"/>
          </a:solidFill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63" name="Connecteur droit 62">
            <a:extLst>
              <a:ext uri="{FF2B5EF4-FFF2-40B4-BE49-F238E27FC236}">
                <a16:creationId xmlns:a16="http://schemas.microsoft.com/office/drawing/2014/main" id="{A4E12FBF-6C96-4BD6-9C74-3ACBAE859688}"/>
              </a:ext>
            </a:extLst>
          </p:cNvPr>
          <p:cNvCxnSpPr/>
          <p:nvPr/>
        </p:nvCxnSpPr>
        <p:spPr>
          <a:xfrm>
            <a:off x="966791" y="433882"/>
            <a:ext cx="0" cy="5040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ZoneTexte 70">
            <a:extLst>
              <a:ext uri="{FF2B5EF4-FFF2-40B4-BE49-F238E27FC236}">
                <a16:creationId xmlns:a16="http://schemas.microsoft.com/office/drawing/2014/main" id="{FFB51870-3AC6-4579-BDE8-F6E4A2C91BF7}"/>
              </a:ext>
            </a:extLst>
          </p:cNvPr>
          <p:cNvSpPr txBox="1"/>
          <p:nvPr/>
        </p:nvSpPr>
        <p:spPr>
          <a:xfrm>
            <a:off x="379710" y="345880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E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63155606-A293-4C70-9A5F-CAA00C7171BF}"/>
              </a:ext>
            </a:extLst>
          </p:cNvPr>
          <p:cNvSpPr txBox="1"/>
          <p:nvPr/>
        </p:nvSpPr>
        <p:spPr>
          <a:xfrm>
            <a:off x="1138747" y="335772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H</a:t>
            </a:r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8FBC831B-B369-454A-97D6-7437955A5913}"/>
              </a:ext>
            </a:extLst>
          </p:cNvPr>
          <p:cNvSpPr txBox="1"/>
          <p:nvPr/>
        </p:nvSpPr>
        <p:spPr>
          <a:xfrm>
            <a:off x="1810889" y="333686"/>
            <a:ext cx="3831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4000" dirty="0"/>
              <a:t>S</a:t>
            </a:r>
          </a:p>
        </p:txBody>
      </p:sp>
      <p:cxnSp>
        <p:nvCxnSpPr>
          <p:cNvPr id="74" name="Connecteur droit 73">
            <a:extLst>
              <a:ext uri="{FF2B5EF4-FFF2-40B4-BE49-F238E27FC236}">
                <a16:creationId xmlns:a16="http://schemas.microsoft.com/office/drawing/2014/main" id="{403C5C2F-1419-4F2A-807C-0BF0C7A28816}"/>
              </a:ext>
            </a:extLst>
          </p:cNvPr>
          <p:cNvCxnSpPr/>
          <p:nvPr/>
        </p:nvCxnSpPr>
        <p:spPr>
          <a:xfrm>
            <a:off x="1686871" y="433882"/>
            <a:ext cx="0" cy="504056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ZoneTexte 74">
            <a:extLst>
              <a:ext uri="{FF2B5EF4-FFF2-40B4-BE49-F238E27FC236}">
                <a16:creationId xmlns:a16="http://schemas.microsoft.com/office/drawing/2014/main" id="{9289E9E1-6AC8-4B3A-AEB5-4DA0BD464398}"/>
              </a:ext>
            </a:extLst>
          </p:cNvPr>
          <p:cNvSpPr txBox="1"/>
          <p:nvPr/>
        </p:nvSpPr>
        <p:spPr>
          <a:xfrm>
            <a:off x="2465267" y="577898"/>
            <a:ext cx="39741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i="1" dirty="0">
                <a:solidFill>
                  <a:schemeClr val="bg1"/>
                </a:solidFill>
              </a:rPr>
              <a:t>Hygiène    Sécurité</a:t>
            </a:r>
            <a:r>
              <a:rPr lang="fr-FR" sz="1000" b="1" i="1" dirty="0">
                <a:solidFill>
                  <a:schemeClr val="bg1"/>
                </a:solidFill>
              </a:rPr>
              <a:t>    </a:t>
            </a:r>
            <a:r>
              <a:rPr lang="fr-FR" sz="1000" i="1" dirty="0">
                <a:solidFill>
                  <a:schemeClr val="bg1"/>
                </a:solidFill>
              </a:rPr>
              <a:t>Environnement</a:t>
            </a:r>
            <a:endParaRPr lang="fr-FR" sz="1000" b="1" i="1" dirty="0">
              <a:solidFill>
                <a:schemeClr val="bg1"/>
              </a:solidFill>
            </a:endParaRPr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6D59DDDC-205A-4171-983F-C8DC10E3F998}"/>
              </a:ext>
            </a:extLst>
          </p:cNvPr>
          <p:cNvSpPr/>
          <p:nvPr/>
        </p:nvSpPr>
        <p:spPr>
          <a:xfrm rot="21419042">
            <a:off x="10722573" y="783107"/>
            <a:ext cx="1880561" cy="24954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600" dirty="0"/>
              <a:t>management</a:t>
            </a:r>
          </a:p>
        </p:txBody>
      </p:sp>
      <p:sp>
        <p:nvSpPr>
          <p:cNvPr id="78" name="Pentagone 55">
            <a:extLst>
              <a:ext uri="{FF2B5EF4-FFF2-40B4-BE49-F238E27FC236}">
                <a16:creationId xmlns:a16="http://schemas.microsoft.com/office/drawing/2014/main" id="{76EE70E7-0380-4FDD-883F-57318E0710A1}"/>
              </a:ext>
            </a:extLst>
          </p:cNvPr>
          <p:cNvSpPr/>
          <p:nvPr/>
        </p:nvSpPr>
        <p:spPr>
          <a:xfrm>
            <a:off x="260648" y="577898"/>
            <a:ext cx="115686" cy="218318"/>
          </a:xfrm>
          <a:prstGeom prst="homePlate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9" name="Image 78">
            <a:extLst>
              <a:ext uri="{FF2B5EF4-FFF2-40B4-BE49-F238E27FC236}">
                <a16:creationId xmlns:a16="http://schemas.microsoft.com/office/drawing/2014/main" id="{E0862373-D94B-4471-A735-A24A2901617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42" t="71915" r="73114" b="8707"/>
          <a:stretch/>
        </p:blipFill>
        <p:spPr>
          <a:xfrm>
            <a:off x="1955934" y="-25495"/>
            <a:ext cx="613362" cy="630722"/>
          </a:xfrm>
          <a:prstGeom prst="rect">
            <a:avLst/>
          </a:prstGeom>
        </p:spPr>
      </p:pic>
      <p:grpSp>
        <p:nvGrpSpPr>
          <p:cNvPr id="80" name="Groupe 79">
            <a:extLst>
              <a:ext uri="{FF2B5EF4-FFF2-40B4-BE49-F238E27FC236}">
                <a16:creationId xmlns:a16="http://schemas.microsoft.com/office/drawing/2014/main" id="{1BF73628-8A25-4E12-8B96-C00EA9158072}"/>
              </a:ext>
            </a:extLst>
          </p:cNvPr>
          <p:cNvGrpSpPr/>
          <p:nvPr/>
        </p:nvGrpSpPr>
        <p:grpSpPr>
          <a:xfrm>
            <a:off x="9468" y="8989364"/>
            <a:ext cx="12598929" cy="529570"/>
            <a:chOff x="9468" y="8532440"/>
            <a:chExt cx="6854400" cy="529570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CB4B8C30-205E-40D7-BE9C-BE0696CE220D}"/>
                </a:ext>
              </a:extLst>
            </p:cNvPr>
            <p:cNvSpPr/>
            <p:nvPr/>
          </p:nvSpPr>
          <p:spPr>
            <a:xfrm>
              <a:off x="9468" y="8532440"/>
              <a:ext cx="6854400" cy="5295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50800" dist="38100" dir="13500000" algn="b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82" name="ZoneTexte 81">
              <a:extLst>
                <a:ext uri="{FF2B5EF4-FFF2-40B4-BE49-F238E27FC236}">
                  <a16:creationId xmlns:a16="http://schemas.microsoft.com/office/drawing/2014/main" id="{9ED79770-DC12-436E-83B1-40DF7399C5E2}"/>
                </a:ext>
              </a:extLst>
            </p:cNvPr>
            <p:cNvSpPr txBox="1"/>
            <p:nvPr/>
          </p:nvSpPr>
          <p:spPr>
            <a:xfrm>
              <a:off x="4797152" y="8609549"/>
              <a:ext cx="1841416" cy="447197"/>
            </a:xfrm>
            <a:prstGeom prst="rect">
              <a:avLst/>
            </a:prstGeom>
            <a:noFill/>
          </p:spPr>
          <p:txBody>
            <a:bodyPr wrap="square" lIns="77111" tIns="38556" rIns="77111" bIns="38556" rtlCol="0">
              <a:spAutoFit/>
            </a:bodyPr>
            <a:lstStyle/>
            <a:p>
              <a:r>
                <a:rPr lang="fr-FR" sz="800" i="1" dirty="0">
                  <a:latin typeface="Calibri" panose="020F0502020204030204" pitchFamily="34" charset="0"/>
                </a:rPr>
                <a:t>Ce document est confidentiel. Toute reproduction, même partielle est interdite.</a:t>
              </a:r>
            </a:p>
          </p:txBody>
        </p:sp>
      </p:grp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6AF11E7B-71AB-4908-B826-1F67F16068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8805886"/>
              </p:ext>
            </p:extLst>
          </p:nvPr>
        </p:nvGraphicFramePr>
        <p:xfrm>
          <a:off x="341520" y="1295890"/>
          <a:ext cx="12266877" cy="12004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87072">
                  <a:extLst>
                    <a:ext uri="{9D8B030D-6E8A-4147-A177-3AD203B41FA5}">
                      <a16:colId xmlns:a16="http://schemas.microsoft.com/office/drawing/2014/main" val="1282416578"/>
                    </a:ext>
                  </a:extLst>
                </a:gridCol>
                <a:gridCol w="1842940">
                  <a:extLst>
                    <a:ext uri="{9D8B030D-6E8A-4147-A177-3AD203B41FA5}">
                      <a16:colId xmlns:a16="http://schemas.microsoft.com/office/drawing/2014/main" val="444064775"/>
                    </a:ext>
                  </a:extLst>
                </a:gridCol>
                <a:gridCol w="2981596">
                  <a:extLst>
                    <a:ext uri="{9D8B030D-6E8A-4147-A177-3AD203B41FA5}">
                      <a16:colId xmlns:a16="http://schemas.microsoft.com/office/drawing/2014/main" val="2734370646"/>
                    </a:ext>
                  </a:extLst>
                </a:gridCol>
                <a:gridCol w="3255269">
                  <a:extLst>
                    <a:ext uri="{9D8B030D-6E8A-4147-A177-3AD203B41FA5}">
                      <a16:colId xmlns:a16="http://schemas.microsoft.com/office/drawing/2014/main" val="2800179932"/>
                    </a:ext>
                  </a:extLst>
                </a:gridCol>
              </a:tblGrid>
              <a:tr h="350590">
                <a:tc gridSpan="2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 u="sng" dirty="0">
                          <a:effectLst/>
                        </a:rPr>
                        <a:t>INFORMATIONS RELATIVES AU TRAVAILLEUR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effectLst/>
                        </a:rPr>
                        <a:t>Fiche transmise à la médecine du travail  et accessible à la DRH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5496697"/>
                  </a:ext>
                </a:extLst>
              </a:tr>
              <a:tr h="70648">
                <a:tc gridSpan="4"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300" u="none" strike="noStrike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74981893"/>
                  </a:ext>
                </a:extLst>
              </a:tr>
              <a:tr h="42862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tabLst>
                          <a:tab pos="741680" algn="l"/>
                        </a:tabLst>
                      </a:pPr>
                      <a:r>
                        <a:rPr lang="fr-FR" sz="1100" dirty="0">
                          <a:solidFill>
                            <a:schemeClr val="tx1"/>
                          </a:solidFill>
                          <a:effectLst/>
                        </a:rPr>
                        <a:t>NOM :            </a:t>
                      </a:r>
                      <a:endParaRPr lang="fr-FR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</a:rPr>
                        <a:t>CONTRAT :				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</a:rPr>
                        <a:t>DATE D’ENTREE :   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6641906"/>
                  </a:ext>
                </a:extLst>
              </a:tr>
              <a:tr h="35059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solidFill>
                            <a:schemeClr val="tx1"/>
                          </a:solidFill>
                          <a:effectLst/>
                        </a:rPr>
                        <a:t>PRENOM :    </a:t>
                      </a:r>
                      <a:endParaRPr lang="fr-FR" sz="11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bg2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</a:rPr>
                        <a:t>FONCTION :      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</a:rPr>
                        <a:t> 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257177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9E6660B9-9E9F-43EE-A239-3A960A4B3827}"/>
              </a:ext>
            </a:extLst>
          </p:cNvPr>
          <p:cNvSpPr/>
          <p:nvPr/>
        </p:nvSpPr>
        <p:spPr>
          <a:xfrm>
            <a:off x="376333" y="2663392"/>
            <a:ext cx="12232063" cy="5732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15000"/>
              </a:lnSpc>
              <a:buFont typeface="Symbol" panose="05050102010706020507" pitchFamily="18" charset="2"/>
              <a:buChar char=""/>
              <a:tabLst>
                <a:tab pos="5062855" algn="l"/>
              </a:tabLst>
            </a:pPr>
            <a:r>
              <a:rPr lang="fr-FR" sz="1400" i="1" dirty="0">
                <a:solidFill>
                  <a:srgbClr val="000000"/>
                </a:solidFill>
                <a:latin typeface="GE Inspira"/>
                <a:ea typeface="Calibri" panose="020F0502020204030204" pitchFamily="34" charset="0"/>
                <a:cs typeface="Calibri" panose="020F0502020204030204" pitchFamily="34" charset="0"/>
              </a:rPr>
              <a:t>Contact Hygiène Sécurité </a:t>
            </a:r>
            <a:r>
              <a:rPr lang="fr-FR" sz="1400" i="1" dirty="0">
                <a:solidFill>
                  <a:srgbClr val="000000"/>
                </a:solidFill>
                <a:highlight>
                  <a:srgbClr val="FFFF00"/>
                </a:highlight>
                <a:latin typeface="GE Inspira"/>
                <a:ea typeface="Calibri" panose="020F0502020204030204" pitchFamily="34" charset="0"/>
                <a:cs typeface="Calibri" panose="020F0502020204030204" pitchFamily="34" charset="0"/>
              </a:rPr>
              <a:t>: R EHS Régional</a:t>
            </a:r>
            <a:endParaRPr lang="fr-FR" sz="2400" dirty="0">
              <a:highlight>
                <a:srgbClr val="FFFF00"/>
              </a:highlight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spcAft>
                <a:spcPts val="1000"/>
              </a:spcAft>
              <a:buFont typeface="Symbol" panose="05050102010706020507" pitchFamily="18" charset="2"/>
              <a:buChar char=""/>
              <a:tabLst>
                <a:tab pos="5062855" algn="l"/>
              </a:tabLst>
            </a:pPr>
            <a:r>
              <a:rPr lang="fr-FR" sz="1400" i="1" dirty="0">
                <a:solidFill>
                  <a:srgbClr val="000000"/>
                </a:solidFill>
                <a:latin typeface="GE Inspira"/>
                <a:ea typeface="Calibri" panose="020F0502020204030204" pitchFamily="34" charset="0"/>
                <a:cs typeface="Calibri" panose="020F0502020204030204" pitchFamily="34" charset="0"/>
              </a:rPr>
              <a:t>Contact  Radioprotection : Personne Compétente en Radioprotection Philippe JOUEN </a:t>
            </a:r>
            <a:r>
              <a:rPr lang="en-US" sz="1400" i="1" dirty="0">
                <a:solidFill>
                  <a:srgbClr val="000000"/>
                </a:solidFill>
                <a:latin typeface="GE Inspira"/>
                <a:cs typeface="Calibri" panose="020F0502020204030204" pitchFamily="34" charset="0"/>
              </a:rPr>
              <a:t>06 63 23 40 01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3B7EB326-5A5F-4ACD-9B1B-B662F74BAA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2321102"/>
              </p:ext>
            </p:extLst>
          </p:nvPr>
        </p:nvGraphicFramePr>
        <p:xfrm>
          <a:off x="376333" y="3299060"/>
          <a:ext cx="12232064" cy="48108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18910">
                  <a:extLst>
                    <a:ext uri="{9D8B030D-6E8A-4147-A177-3AD203B41FA5}">
                      <a16:colId xmlns:a16="http://schemas.microsoft.com/office/drawing/2014/main" val="3143749835"/>
                    </a:ext>
                  </a:extLst>
                </a:gridCol>
                <a:gridCol w="3501511">
                  <a:extLst>
                    <a:ext uri="{9D8B030D-6E8A-4147-A177-3AD203B41FA5}">
                      <a16:colId xmlns:a16="http://schemas.microsoft.com/office/drawing/2014/main" val="3338642458"/>
                    </a:ext>
                  </a:extLst>
                </a:gridCol>
                <a:gridCol w="1241054">
                  <a:extLst>
                    <a:ext uri="{9D8B030D-6E8A-4147-A177-3AD203B41FA5}">
                      <a16:colId xmlns:a16="http://schemas.microsoft.com/office/drawing/2014/main" val="2690531423"/>
                    </a:ext>
                  </a:extLst>
                </a:gridCol>
                <a:gridCol w="1071819">
                  <a:extLst>
                    <a:ext uri="{9D8B030D-6E8A-4147-A177-3AD203B41FA5}">
                      <a16:colId xmlns:a16="http://schemas.microsoft.com/office/drawing/2014/main" val="4102387401"/>
                    </a:ext>
                  </a:extLst>
                </a:gridCol>
                <a:gridCol w="3645084">
                  <a:extLst>
                    <a:ext uri="{9D8B030D-6E8A-4147-A177-3AD203B41FA5}">
                      <a16:colId xmlns:a16="http://schemas.microsoft.com/office/drawing/2014/main" val="1756459221"/>
                    </a:ext>
                  </a:extLst>
                </a:gridCol>
                <a:gridCol w="1653686">
                  <a:extLst>
                    <a:ext uri="{9D8B030D-6E8A-4147-A177-3AD203B41FA5}">
                      <a16:colId xmlns:a16="http://schemas.microsoft.com/office/drawing/2014/main" val="1930017418"/>
                    </a:ext>
                  </a:extLst>
                </a:gridCol>
              </a:tblGrid>
              <a:tr h="496400"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 dirty="0">
                          <a:effectLst/>
                        </a:rPr>
                        <a:t>Facteurs de risque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 dirty="0">
                          <a:effectLst/>
                        </a:rPr>
                        <a:t>Commentaires – Précisions - Mesures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 dirty="0">
                          <a:effectLst/>
                        </a:rPr>
                        <a:t>Exposition normale : période d’exposition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200" dirty="0">
                          <a:effectLst/>
                        </a:rPr>
                        <a:t>Exposition accidentelle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Validation et signature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86351952"/>
                  </a:ext>
                </a:extLst>
              </a:tr>
              <a:tr h="178374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000">
                          <a:effectLst/>
                        </a:rPr>
                        <a:t>Date de début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000">
                          <a:effectLst/>
                        </a:rPr>
                        <a:t>Date de fin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000" dirty="0">
                          <a:effectLst/>
                        </a:rPr>
                        <a:t>Date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26366876"/>
                  </a:ext>
                </a:extLst>
              </a:tr>
              <a:tr h="10124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</a:rPr>
                        <a:t>Agents chimiques dangereux 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</a:rPr>
                        <a:t>Plan de contrôle VLEP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</a:rPr>
                        <a:t> 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>
                          <a:effectLst/>
                        </a:rPr>
                        <a:t> </a:t>
                      </a:r>
                      <a:endParaRPr lang="fr-FR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</a:rPr>
                        <a:t> 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REHS Régional 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56268148"/>
                  </a:ext>
                </a:extLst>
              </a:tr>
              <a:tr h="735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</a:rPr>
                        <a:t>Rayonnements ionisants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</a:rPr>
                        <a:t> 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</a:rPr>
                        <a:t> 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</a:rPr>
                        <a:t> 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</a:rPr>
                        <a:t> 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i="1" dirty="0">
                          <a:solidFill>
                            <a:srgbClr val="000000"/>
                          </a:solidFill>
                          <a:latin typeface="GE Inspira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Personne Compétente en Radioprotection Philippe JOUEN :</a:t>
                      </a: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41304275"/>
                  </a:ext>
                </a:extLst>
              </a:tr>
              <a:tr h="73534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Amiante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Nature d’activité en contact avec matériaux amiantés : Client :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Utilisation poche à gel : OUI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 VILLET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2242498"/>
                  </a:ext>
                </a:extLst>
              </a:tr>
              <a:tr h="164986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Travail  en équipes successives alternantes 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9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Facteur de pénibilité &gt;50 nuits/an 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Déclaration DRH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endParaRPr lang="fr-FR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1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RH :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4799215"/>
                  </a:ext>
                </a:extLst>
              </a:tr>
            </a:tbl>
          </a:graphicData>
        </a:graphic>
      </p:graphicFrame>
      <p:sp>
        <p:nvSpPr>
          <p:cNvPr id="11" name="ZoneTexte 10">
            <a:extLst>
              <a:ext uri="{FF2B5EF4-FFF2-40B4-BE49-F238E27FC236}">
                <a16:creationId xmlns:a16="http://schemas.microsoft.com/office/drawing/2014/main" id="{715B9485-D063-480F-BAF1-8A7BF57EACB7}"/>
              </a:ext>
            </a:extLst>
          </p:cNvPr>
          <p:cNvSpPr txBox="1"/>
          <p:nvPr/>
        </p:nvSpPr>
        <p:spPr>
          <a:xfrm>
            <a:off x="352194" y="8134145"/>
            <a:ext cx="4601714" cy="83099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fr-FR" sz="1200" u="sng" dirty="0"/>
              <a:t>Signature du salarié :</a:t>
            </a:r>
          </a:p>
          <a:p>
            <a:endParaRPr lang="fr-FR" sz="1200" u="sng" dirty="0"/>
          </a:p>
          <a:p>
            <a:endParaRPr lang="fr-FR" sz="1200" u="sng" dirty="0"/>
          </a:p>
          <a:p>
            <a:endParaRPr lang="fr-FR" sz="1200" u="sng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5AC49556-0F55-4565-BFB4-FF81EA7252B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62" y="9165013"/>
            <a:ext cx="3096344" cy="2926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83539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263</TotalTime>
  <Words>172</Words>
  <Application>Microsoft Office PowerPoint</Application>
  <PresentationFormat>A3 (297 x 420 mm)</PresentationFormat>
  <Paragraphs>48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Arial</vt:lpstr>
      <vt:lpstr>Calibri</vt:lpstr>
      <vt:lpstr>GE Inspira</vt:lpstr>
      <vt:lpstr>Symbol</vt:lpstr>
      <vt:lpstr>Thème Office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Giblaine, Anais           UTC CCS</dc:creator>
  <cp:lastModifiedBy>FOURRIER, Sabine</cp:lastModifiedBy>
  <cp:revision>46</cp:revision>
  <dcterms:created xsi:type="dcterms:W3CDTF">2017-02-17T15:48:28Z</dcterms:created>
  <dcterms:modified xsi:type="dcterms:W3CDTF">2023-09-17T14:00:25Z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2023-09-17T14:00:10Z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47995fc2-1f56-47ce-9137-a87caef4be74</vt:lpwstr>
  </property>
  <property fmtid="{D5CDD505-2E9C-101B-9397-08002B2CF9AE}" pid="7" name="MSIP_Label_defa4170-0d19-0005-0004-bc88714345d2_ActionId">
    <vt:lpwstr>2eebbf3c-9000-4828-80f6-73ea306f56e3</vt:lpwstr>
  </property>
  <property fmtid="{D5CDD505-2E9C-101B-9397-08002B2CF9AE}" pid="8" name="MSIP_Label_defa4170-0d19-0005-0004-bc88714345d2_ContentBits">
    <vt:lpwstr>0</vt:lpwstr>
  </property>
</Properties>
</file>